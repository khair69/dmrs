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ROC-AUC</c:v>
                </c:pt>
              </c:strCache>
            </c:strRef>
          </c:tx>
          <c:spPr>
            <a:solidFill>
              <a:srgbClr val="1F6FB2"/>
            </a:solidFill>
            <a:effectLst/>
          </c:spPr>
          <c:invertIfNegative val="0"/>
          <c:dLbls>
            <c:numFmt formatCode="0.00" sourceLinked="0"/>
            <c:txPr>
              <a:bodyPr/>
              <a:lstStyle/>
              <a:p>
                <a:pPr>
                  <a:defRPr b="0" i="0" strike="noStrike" sz="1200" u="none">
                    <a:solidFill>
                      <a:srgbClr val="1E293B"/>
                    </a:solidFill>
                    <a:latin typeface="Arial"/>
                  </a:defRPr>
                </a:pPr>
              </a:p>
            </c:txPr>
            <c:showLegendKey val="0"/>
            <c:showVal val="1"/>
            <c:showCatName val="0"/>
            <c:showSerName val="0"/>
            <c:showPercent val="0"/>
            <c:showBubbleSize val="0"/>
            <c:showLeaderLines val="0"/>
          </c:dLbls>
          <c:dPt>
            <c:idx val="0"/>
            <c:invertIfNegative val="0"/>
            <c:bubble3D val="0"/>
            <c:spPr>
              <a:solidFill>
                <a:srgbClr val="1F6FB2"/>
              </a:solidFill>
              <a:effectLst/>
            </c:spPr>
          </c:dPt>
          <c:dPt>
            <c:idx val="1"/>
            <c:invertIfNegative val="0"/>
            <c:bubble3D val="0"/>
            <c:spPr>
              <a:solidFill>
                <a:srgbClr val="0E9E8E"/>
              </a:solidFill>
              <a:effectLst/>
            </c:spPr>
          </c:dPt>
          <c:dPt>
            <c:idx val="2"/>
            <c:invertIfNegative val="0"/>
            <c:bubble3D val="0"/>
            <c:spPr>
              <a:solidFill>
                <a:srgbClr val="2E8B57"/>
              </a:solidFill>
              <a:effectLst/>
            </c:spPr>
          </c:dPt>
          <c:cat>
            <c:multiLvlStrRef>
              <c:f>Sheet1!$A$2:$A$4</c:f>
              <c:multiLvlStrCache>
                <c:ptCount val="3"/>
                <c:lvl>
                  <c:pt idx="0">
                    <c:v>Diabetes</c:v>
                  </c:pt>
                  <c:pt idx="1">
                    <c:v>Cardiovascular</c:v>
                  </c:pt>
                  <c:pt idx="2">
                    <c:v>Readmission</c:v>
                  </c:pt>
                </c:lvl>
              </c:multiLvlStrCache>
            </c:multiLvlStrRef>
          </c:cat>
          <c:val>
            <c:numRef>
              <c:f>Sheet1!$B$2:$B$4</c:f>
              <c:numCache>
                <c:formatCode>General</c:formatCode>
                <c:ptCount val="3"/>
                <c:pt idx="0">
                  <c:v>0.82</c:v>
                </c:pt>
                <c:pt idx="1">
                  <c:v>0.93</c:v>
                </c:pt>
                <c:pt idx="2">
                  <c:v>0.63</c:v>
                </c:pt>
              </c:numCache>
            </c:numRef>
          </c:val>
        </c:ser>
        <c:dLbls>
          <c:numFmt formatCode="0.00" sourceLinked="0"/>
          <c:txPr>
            <a:bodyPr/>
            <a:lstStyle/>
            <a:p>
              <a:pPr>
                <a:defRPr b="0" i="0" strike="noStrike" sz="12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2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D43"/>
        </a:solidFill>
      </p:bgPr>
    </p:bg>
    <p:spTree>
      <p:nvGrpSpPr>
        <p:cNvPr id="1" name=""/>
        <p:cNvGrpSpPr/>
        <p:nvPr/>
      </p:nvGrpSpPr>
      <p:grpSpPr>
        <a:xfrm>
          <a:off x="0" y="0"/>
          <a:ext cx="0" cy="0"/>
          <a:chOff x="0" y="0"/>
          <a:chExt cx="0" cy="0"/>
        </a:xfrm>
      </p:grpSpPr>
      <p:sp>
        <p:nvSpPr>
          <p:cNvPr id="2" name="Text 0"/>
          <p:cNvSpPr/>
          <p:nvPr/>
        </p:nvSpPr>
        <p:spPr>
          <a:xfrm>
            <a:off x="548640" y="457200"/>
            <a:ext cx="11091672" cy="365760"/>
          </a:xfrm>
          <a:prstGeom prst="rect">
            <a:avLst/>
          </a:prstGeom>
          <a:noFill/>
          <a:ln/>
        </p:spPr>
        <p:txBody>
          <a:bodyPr wrap="square" rtlCol="0" anchor="ctr"/>
          <a:lstStyle/>
          <a:p>
            <a:pPr rtl="1" algn="ctr" indent="0" marL="0">
              <a:buNone/>
            </a:pPr>
            <a:r>
              <a:rPr lang="en-US" sz="1500" dirty="0">
                <a:solidFill>
                  <a:srgbClr val="AFC6DA"/>
                </a:solidFill>
                <a:latin typeface="Arial" pitchFamily="34" charset="0"/>
                <a:ea typeface="Arial" pitchFamily="34" charset="-122"/>
                <a:cs typeface="Arial" pitchFamily="34" charset="-120"/>
              </a:rPr>
              <a:t>الجمهورية العربية السورية — وزارة التعليم العالي والبحث العلمي</a:t>
            </a:r>
            <a:endParaRPr lang="en-US" sz="1500" dirty="0"/>
          </a:p>
        </p:txBody>
      </p:sp>
      <p:sp>
        <p:nvSpPr>
          <p:cNvPr id="3" name="Text 1"/>
          <p:cNvSpPr/>
          <p:nvPr/>
        </p:nvSpPr>
        <p:spPr>
          <a:xfrm>
            <a:off x="548640" y="841248"/>
            <a:ext cx="11091672" cy="365760"/>
          </a:xfrm>
          <a:prstGeom prst="rect">
            <a:avLst/>
          </a:prstGeom>
          <a:noFill/>
          <a:ln/>
        </p:spPr>
        <p:txBody>
          <a:bodyPr wrap="square" rtlCol="0" anchor="ctr"/>
          <a:lstStyle/>
          <a:p>
            <a:pPr rtl="1" algn="ctr" indent="0" marL="0">
              <a:buNone/>
            </a:pPr>
            <a:r>
              <a:rPr lang="en-US" sz="1500" dirty="0">
                <a:solidFill>
                  <a:srgbClr val="AFC6DA"/>
                </a:solidFill>
                <a:latin typeface="Arial" pitchFamily="34" charset="0"/>
                <a:ea typeface="Arial" pitchFamily="34" charset="-122"/>
                <a:cs typeface="Arial" pitchFamily="34" charset="-120"/>
              </a:rPr>
              <a:t>الجامعة الوطنية الخاصة — كلية الهندسة — قسم هندسة الحاسوب</a:t>
            </a:r>
            <a:endParaRPr lang="en-US" sz="1500" dirty="0"/>
          </a:p>
        </p:txBody>
      </p:sp>
      <p:sp>
        <p:nvSpPr>
          <p:cNvPr id="4" name="Text 2"/>
          <p:cNvSpPr/>
          <p:nvPr/>
        </p:nvSpPr>
        <p:spPr>
          <a:xfrm>
            <a:off x="548640" y="1554480"/>
            <a:ext cx="11091672" cy="365760"/>
          </a:xfrm>
          <a:prstGeom prst="rect">
            <a:avLst/>
          </a:prstGeom>
          <a:noFill/>
          <a:ln/>
        </p:spPr>
        <p:txBody>
          <a:bodyPr wrap="square" rtlCol="0" anchor="ctr"/>
          <a:lstStyle/>
          <a:p>
            <a:pPr algn="ctr" indent="0" marL="0">
              <a:buNone/>
            </a:pPr>
            <a:r>
              <a:rPr lang="en-US" sz="1600" dirty="0">
                <a:solidFill>
                  <a:srgbClr val="7FA7C4"/>
                </a:solidFill>
                <a:latin typeface="Arial" pitchFamily="34" charset="0"/>
                <a:ea typeface="Arial" pitchFamily="34" charset="-122"/>
                <a:cs typeface="Arial" pitchFamily="34" charset="-120"/>
              </a:rPr>
              <a:t>مشروع تخرّج</a:t>
            </a:r>
            <a:endParaRPr lang="en-US" sz="1600" dirty="0"/>
          </a:p>
        </p:txBody>
      </p:sp>
      <p:sp>
        <p:nvSpPr>
          <p:cNvPr id="5" name="Text 3"/>
          <p:cNvSpPr/>
          <p:nvPr/>
        </p:nvSpPr>
        <p:spPr>
          <a:xfrm>
            <a:off x="548640" y="2057400"/>
            <a:ext cx="11091672" cy="914400"/>
          </a:xfrm>
          <a:prstGeom prst="rect">
            <a:avLst/>
          </a:prstGeom>
          <a:noFill/>
          <a:ln/>
        </p:spPr>
        <p:txBody>
          <a:bodyPr wrap="square" rtlCol="0" anchor="ctr"/>
          <a:lstStyle/>
          <a:p>
            <a:pPr rtl="1" algn="ctr" indent="0" marL="0">
              <a:buNone/>
            </a:pPr>
            <a:r>
              <a:rPr lang="en-US" sz="5200" b="1" dirty="0">
                <a:solidFill>
                  <a:srgbClr val="FFFFFF"/>
                </a:solidFill>
                <a:latin typeface="Arial" pitchFamily="34" charset="0"/>
                <a:ea typeface="Arial" pitchFamily="34" charset="-122"/>
                <a:cs typeface="Arial" pitchFamily="34" charset="-120"/>
              </a:rPr>
              <a:t>نظام السجلات الطبية الرقمية</a:t>
            </a:r>
            <a:endParaRPr lang="en-US" sz="5200" dirty="0"/>
          </a:p>
        </p:txBody>
      </p:sp>
      <p:sp>
        <p:nvSpPr>
          <p:cNvPr id="6" name="Text 4"/>
          <p:cNvSpPr/>
          <p:nvPr/>
        </p:nvSpPr>
        <p:spPr>
          <a:xfrm>
            <a:off x="548640" y="3063240"/>
            <a:ext cx="11091672" cy="548640"/>
          </a:xfrm>
          <a:prstGeom prst="rect">
            <a:avLst/>
          </a:prstGeom>
          <a:noFill/>
          <a:ln/>
        </p:spPr>
        <p:txBody>
          <a:bodyPr wrap="square" rtlCol="0" anchor="ctr"/>
          <a:lstStyle/>
          <a:p>
            <a:pPr algn="ctr" indent="0" marL="0">
              <a:buNone/>
            </a:pPr>
            <a:r>
              <a:rPr lang="en-US" sz="2400" b="1" dirty="0">
                <a:solidFill>
                  <a:srgbClr val="39B3A6"/>
                </a:solidFill>
                <a:latin typeface="Arial" pitchFamily="34" charset="0"/>
                <a:ea typeface="Arial" pitchFamily="34" charset="-122"/>
                <a:cs typeface="Arial" pitchFamily="34" charset="-120"/>
              </a:rPr>
              <a:t>Digital Medical Records System — DMRS</a:t>
            </a:r>
            <a:endParaRPr lang="en-US" sz="2400" dirty="0"/>
          </a:p>
        </p:txBody>
      </p:sp>
      <p:sp>
        <p:nvSpPr>
          <p:cNvPr id="7" name="Text 5"/>
          <p:cNvSpPr/>
          <p:nvPr/>
        </p:nvSpPr>
        <p:spPr>
          <a:xfrm>
            <a:off x="548640" y="3703320"/>
            <a:ext cx="11091672" cy="457200"/>
          </a:xfrm>
          <a:prstGeom prst="rect">
            <a:avLst/>
          </a:prstGeom>
          <a:noFill/>
          <a:ln/>
        </p:spPr>
        <p:txBody>
          <a:bodyPr wrap="square" rtlCol="0" anchor="ctr"/>
          <a:lstStyle/>
          <a:p>
            <a:pPr rtl="1" algn="ctr" indent="0" marL="0">
              <a:buNone/>
            </a:pPr>
            <a:r>
              <a:rPr lang="en-US" sz="1500" dirty="0">
                <a:solidFill>
                  <a:srgbClr val="C9D9E6"/>
                </a:solidFill>
                <a:latin typeface="Arial" pitchFamily="34" charset="0"/>
                <a:ea typeface="Arial" pitchFamily="34" charset="-122"/>
                <a:cs typeface="Arial" pitchFamily="34" charset="-120"/>
              </a:rPr>
              <a:t>منصّة صحّية قائمة على معيار HL7 FHIR مع دعم القرار السريري والذكاء الاصطناعي التنبؤي</a:t>
            </a:r>
            <a:endParaRPr lang="en-US" sz="1500" dirty="0"/>
          </a:p>
        </p:txBody>
      </p:sp>
      <p:sp>
        <p:nvSpPr>
          <p:cNvPr id="8" name="Text 6"/>
          <p:cNvSpPr/>
          <p:nvPr/>
        </p:nvSpPr>
        <p:spPr>
          <a:xfrm>
            <a:off x="548640" y="4754880"/>
            <a:ext cx="11091672" cy="365760"/>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إعداد الطلاب:  </a:t>
            </a:r>
            <a:pPr algn="ctr" indent="0" marL="0">
              <a:buNone/>
            </a:pPr>
            <a:r>
              <a:rPr lang="en-US" sz="1500" dirty="0">
                <a:solidFill>
                  <a:srgbClr val="FFFFFF"/>
                </a:solidFill>
                <a:latin typeface="Arial" pitchFamily="34" charset="0"/>
                <a:ea typeface="Arial" pitchFamily="34" charset="-122"/>
                <a:cs typeface="Arial" pitchFamily="34" charset="-120"/>
              </a:rPr>
              <a:t>أمير المنصور   ·   محمد خير الحوراني   ·   ميزر عمري</a:t>
            </a:r>
            <a:endParaRPr lang="en-US" sz="1500" dirty="0"/>
          </a:p>
        </p:txBody>
      </p:sp>
      <p:sp>
        <p:nvSpPr>
          <p:cNvPr id="9" name="Text 7"/>
          <p:cNvSpPr/>
          <p:nvPr/>
        </p:nvSpPr>
        <p:spPr>
          <a:xfrm>
            <a:off x="548640" y="5212080"/>
            <a:ext cx="11091672" cy="365760"/>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بإشراف:  </a:t>
            </a:r>
            <a:pPr algn="ctr" indent="0" marL="0">
              <a:buNone/>
            </a:pPr>
            <a:r>
              <a:rPr lang="en-US" sz="1500" dirty="0">
                <a:solidFill>
                  <a:srgbClr val="FFFFFF"/>
                </a:solidFill>
                <a:latin typeface="Arial" pitchFamily="34" charset="0"/>
                <a:ea typeface="Arial" pitchFamily="34" charset="-122"/>
                <a:cs typeface="Arial" pitchFamily="34" charset="-120"/>
              </a:rPr>
              <a:t>د. وسيم رمضان</a:t>
            </a:r>
            <a:endParaRPr lang="en-US" sz="1500" dirty="0"/>
          </a:p>
        </p:txBody>
      </p:sp>
      <p:sp>
        <p:nvSpPr>
          <p:cNvPr id="10" name="Text 8"/>
          <p:cNvSpPr/>
          <p:nvPr/>
        </p:nvSpPr>
        <p:spPr>
          <a:xfrm>
            <a:off x="548640" y="5806440"/>
            <a:ext cx="11091672" cy="365760"/>
          </a:xfrm>
          <a:prstGeom prst="rect">
            <a:avLst/>
          </a:prstGeom>
          <a:noFill/>
          <a:ln/>
        </p:spPr>
        <p:txBody>
          <a:bodyPr wrap="square" rtlCol="0" anchor="ctr"/>
          <a:lstStyle/>
          <a:p>
            <a:pPr algn="ctr" indent="0" marL="0">
              <a:buNone/>
            </a:pPr>
            <a:r>
              <a:rPr lang="en-US" sz="1400" dirty="0">
                <a:solidFill>
                  <a:srgbClr val="7FA7C4"/>
                </a:solidFill>
                <a:latin typeface="Arial" pitchFamily="34" charset="0"/>
                <a:ea typeface="Arial" pitchFamily="34" charset="-122"/>
                <a:cs typeface="Arial" pitchFamily="34" charset="-120"/>
              </a:rPr>
              <a:t>العام الدراسي ٢٠٢٥ – ٢٠٢٦</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مخطّط العرض</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محاور تقديم المشروع</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a:t>
            </a:r>
            <a:endParaRPr lang="en-US" sz="1000" dirty="0"/>
          </a:p>
        </p:txBody>
      </p:sp>
      <p:sp>
        <p:nvSpPr>
          <p:cNvPr id="7" name="Shape 5"/>
          <p:cNvSpPr/>
          <p:nvPr/>
        </p:nvSpPr>
        <p:spPr>
          <a:xfrm>
            <a:off x="6126480" y="1554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0698480" y="1760220"/>
            <a:ext cx="457200" cy="457200"/>
          </a:xfrm>
          <a:prstGeom prst="ellipse">
            <a:avLst/>
          </a:prstGeom>
          <a:solidFill>
            <a:srgbClr val="1F6FB2"/>
          </a:solidFill>
          <a:ln/>
        </p:spPr>
      </p:sp>
      <p:sp>
        <p:nvSpPr>
          <p:cNvPr id="9" name="Text 7"/>
          <p:cNvSpPr/>
          <p:nvPr/>
        </p:nvSpPr>
        <p:spPr>
          <a:xfrm>
            <a:off x="10698480" y="1760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10" name="Text 8"/>
          <p:cNvSpPr/>
          <p:nvPr/>
        </p:nvSpPr>
        <p:spPr>
          <a:xfrm>
            <a:off x="6309360" y="1554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المقدمة</a:t>
            </a:r>
            <a:endParaRPr lang="en-US" sz="1700" dirty="0"/>
          </a:p>
        </p:txBody>
      </p:sp>
      <p:sp>
        <p:nvSpPr>
          <p:cNvPr id="11" name="Shape 9"/>
          <p:cNvSpPr/>
          <p:nvPr/>
        </p:nvSpPr>
        <p:spPr>
          <a:xfrm>
            <a:off x="548640" y="1554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2" name="Shape 10"/>
          <p:cNvSpPr/>
          <p:nvPr/>
        </p:nvSpPr>
        <p:spPr>
          <a:xfrm>
            <a:off x="5120640" y="1760220"/>
            <a:ext cx="457200" cy="457200"/>
          </a:xfrm>
          <a:prstGeom prst="ellipse">
            <a:avLst/>
          </a:prstGeom>
          <a:solidFill>
            <a:srgbClr val="0E9E8E"/>
          </a:solidFill>
          <a:ln/>
        </p:spPr>
      </p:sp>
      <p:sp>
        <p:nvSpPr>
          <p:cNvPr id="13" name="Text 11"/>
          <p:cNvSpPr/>
          <p:nvPr/>
        </p:nvSpPr>
        <p:spPr>
          <a:xfrm>
            <a:off x="5120640" y="1760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p:nvPr/>
        </p:nvSpPr>
        <p:spPr>
          <a:xfrm>
            <a:off x="731520" y="1554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التحديات والأهداف</a:t>
            </a:r>
            <a:endParaRPr lang="en-US" sz="1700" dirty="0"/>
          </a:p>
        </p:txBody>
      </p:sp>
      <p:sp>
        <p:nvSpPr>
          <p:cNvPr id="15" name="Shape 13"/>
          <p:cNvSpPr/>
          <p:nvPr/>
        </p:nvSpPr>
        <p:spPr>
          <a:xfrm>
            <a:off x="6126480" y="2697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6" name="Shape 14"/>
          <p:cNvSpPr/>
          <p:nvPr/>
        </p:nvSpPr>
        <p:spPr>
          <a:xfrm>
            <a:off x="10698480" y="2903220"/>
            <a:ext cx="457200" cy="457200"/>
          </a:xfrm>
          <a:prstGeom prst="ellipse">
            <a:avLst/>
          </a:prstGeom>
          <a:solidFill>
            <a:srgbClr val="2E8B57"/>
          </a:solidFill>
          <a:ln/>
        </p:spPr>
      </p:sp>
      <p:sp>
        <p:nvSpPr>
          <p:cNvPr id="17" name="Text 15"/>
          <p:cNvSpPr/>
          <p:nvPr/>
        </p:nvSpPr>
        <p:spPr>
          <a:xfrm>
            <a:off x="10698480" y="2903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6309360" y="2697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أهمّ الميزات</a:t>
            </a:r>
            <a:endParaRPr lang="en-US" sz="1700" dirty="0"/>
          </a:p>
        </p:txBody>
      </p:sp>
      <p:sp>
        <p:nvSpPr>
          <p:cNvPr id="19" name="Shape 17"/>
          <p:cNvSpPr/>
          <p:nvPr/>
        </p:nvSpPr>
        <p:spPr>
          <a:xfrm>
            <a:off x="548640" y="2697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0" name="Shape 18"/>
          <p:cNvSpPr/>
          <p:nvPr/>
        </p:nvSpPr>
        <p:spPr>
          <a:xfrm>
            <a:off x="5120640" y="2903220"/>
            <a:ext cx="457200" cy="457200"/>
          </a:xfrm>
          <a:prstGeom prst="ellipse">
            <a:avLst/>
          </a:prstGeom>
          <a:solidFill>
            <a:srgbClr val="8E44AD"/>
          </a:solidFill>
          <a:ln/>
        </p:spPr>
      </p:sp>
      <p:sp>
        <p:nvSpPr>
          <p:cNvPr id="21" name="Text 19"/>
          <p:cNvSpPr/>
          <p:nvPr/>
        </p:nvSpPr>
        <p:spPr>
          <a:xfrm>
            <a:off x="5120640" y="2903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Text 20"/>
          <p:cNvSpPr/>
          <p:nvPr/>
        </p:nvSpPr>
        <p:spPr>
          <a:xfrm>
            <a:off x="731520" y="2697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التقنيات والبنية</a:t>
            </a:r>
            <a:endParaRPr lang="en-US" sz="1700" dirty="0"/>
          </a:p>
        </p:txBody>
      </p:sp>
      <p:sp>
        <p:nvSpPr>
          <p:cNvPr id="23" name="Shape 21"/>
          <p:cNvSpPr/>
          <p:nvPr/>
        </p:nvSpPr>
        <p:spPr>
          <a:xfrm>
            <a:off x="6126480" y="3840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4" name="Shape 22"/>
          <p:cNvSpPr/>
          <p:nvPr/>
        </p:nvSpPr>
        <p:spPr>
          <a:xfrm>
            <a:off x="10698480" y="4046220"/>
            <a:ext cx="457200" cy="457200"/>
          </a:xfrm>
          <a:prstGeom prst="ellipse">
            <a:avLst/>
          </a:prstGeom>
          <a:solidFill>
            <a:srgbClr val="C2901F"/>
          </a:solidFill>
          <a:ln/>
        </p:spPr>
      </p:sp>
      <p:sp>
        <p:nvSpPr>
          <p:cNvPr id="25" name="Text 23"/>
          <p:cNvSpPr/>
          <p:nvPr/>
        </p:nvSpPr>
        <p:spPr>
          <a:xfrm>
            <a:off x="10698480" y="4046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6" name="Text 24"/>
          <p:cNvSpPr/>
          <p:nvPr/>
        </p:nvSpPr>
        <p:spPr>
          <a:xfrm>
            <a:off x="6309360" y="3840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الدراسات التحليلية (المخططات)</a:t>
            </a:r>
            <a:endParaRPr lang="en-US" sz="1700" dirty="0"/>
          </a:p>
        </p:txBody>
      </p:sp>
      <p:sp>
        <p:nvSpPr>
          <p:cNvPr id="27" name="Shape 25"/>
          <p:cNvSpPr/>
          <p:nvPr/>
        </p:nvSpPr>
        <p:spPr>
          <a:xfrm>
            <a:off x="548640" y="3840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8" name="Shape 26"/>
          <p:cNvSpPr/>
          <p:nvPr/>
        </p:nvSpPr>
        <p:spPr>
          <a:xfrm>
            <a:off x="5120640" y="4046220"/>
            <a:ext cx="457200" cy="457200"/>
          </a:xfrm>
          <a:prstGeom prst="ellipse">
            <a:avLst/>
          </a:prstGeom>
          <a:solidFill>
            <a:srgbClr val="1F6FB2"/>
          </a:solidFill>
          <a:ln/>
        </p:spPr>
      </p:sp>
      <p:sp>
        <p:nvSpPr>
          <p:cNvPr id="29" name="Text 27"/>
          <p:cNvSpPr/>
          <p:nvPr/>
        </p:nvSpPr>
        <p:spPr>
          <a:xfrm>
            <a:off x="5120640" y="4046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0" name="Text 28"/>
          <p:cNvSpPr/>
          <p:nvPr/>
        </p:nvSpPr>
        <p:spPr>
          <a:xfrm>
            <a:off x="731520" y="3840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التطبيق العملي (الواجهات)</a:t>
            </a:r>
            <a:endParaRPr lang="en-US" sz="1700" dirty="0"/>
          </a:p>
        </p:txBody>
      </p:sp>
      <p:sp>
        <p:nvSpPr>
          <p:cNvPr id="31" name="Shape 29"/>
          <p:cNvSpPr/>
          <p:nvPr/>
        </p:nvSpPr>
        <p:spPr>
          <a:xfrm>
            <a:off x="6126480" y="4983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32" name="Shape 30"/>
          <p:cNvSpPr/>
          <p:nvPr/>
        </p:nvSpPr>
        <p:spPr>
          <a:xfrm>
            <a:off x="10698480" y="5189220"/>
            <a:ext cx="457200" cy="457200"/>
          </a:xfrm>
          <a:prstGeom prst="ellipse">
            <a:avLst/>
          </a:prstGeom>
          <a:solidFill>
            <a:srgbClr val="0E9E8E"/>
          </a:solidFill>
          <a:ln/>
        </p:spPr>
      </p:sp>
      <p:sp>
        <p:nvSpPr>
          <p:cNvPr id="33" name="Text 31"/>
          <p:cNvSpPr/>
          <p:nvPr/>
        </p:nvSpPr>
        <p:spPr>
          <a:xfrm>
            <a:off x="10698480" y="5189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34" name="Text 32"/>
          <p:cNvSpPr/>
          <p:nvPr/>
        </p:nvSpPr>
        <p:spPr>
          <a:xfrm>
            <a:off x="6309360" y="4983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الآفاق المستقبلية</a:t>
            </a:r>
            <a:endParaRPr lang="en-US" sz="1700" dirty="0"/>
          </a:p>
        </p:txBody>
      </p:sp>
      <p:sp>
        <p:nvSpPr>
          <p:cNvPr id="35" name="Shape 33"/>
          <p:cNvSpPr/>
          <p:nvPr/>
        </p:nvSpPr>
        <p:spPr>
          <a:xfrm>
            <a:off x="548640" y="4983480"/>
            <a:ext cx="5212080" cy="868680"/>
          </a:xfrm>
          <a:prstGeom prst="roundRect">
            <a:avLst>
              <a:gd name="adj" fmla="val 6316"/>
            </a:avLst>
          </a:prstGeom>
          <a:solidFill>
            <a:srgbClr val="F6FAFD"/>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36" name="Shape 34"/>
          <p:cNvSpPr/>
          <p:nvPr/>
        </p:nvSpPr>
        <p:spPr>
          <a:xfrm>
            <a:off x="5120640" y="5189220"/>
            <a:ext cx="457200" cy="457200"/>
          </a:xfrm>
          <a:prstGeom prst="ellipse">
            <a:avLst/>
          </a:prstGeom>
          <a:solidFill>
            <a:srgbClr val="C0392B"/>
          </a:solidFill>
          <a:ln/>
        </p:spPr>
      </p:sp>
      <p:sp>
        <p:nvSpPr>
          <p:cNvPr id="37" name="Text 35"/>
          <p:cNvSpPr/>
          <p:nvPr/>
        </p:nvSpPr>
        <p:spPr>
          <a:xfrm>
            <a:off x="5120640" y="518922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8</a:t>
            </a:r>
            <a:endParaRPr lang="en-US" sz="1800" dirty="0"/>
          </a:p>
        </p:txBody>
      </p:sp>
      <p:sp>
        <p:nvSpPr>
          <p:cNvPr id="38" name="Text 36"/>
          <p:cNvSpPr/>
          <p:nvPr/>
        </p:nvSpPr>
        <p:spPr>
          <a:xfrm>
            <a:off x="731520" y="4983480"/>
            <a:ext cx="4297680" cy="868680"/>
          </a:xfrm>
          <a:prstGeom prst="rect">
            <a:avLst/>
          </a:prstGeom>
          <a:noFill/>
          <a:ln/>
        </p:spPr>
        <p:txBody>
          <a:bodyPr wrap="square" rtlCol="0" anchor="ctr"/>
          <a:lstStyle/>
          <a:p>
            <a:pPr rtl="1" algn="r" indent="0" marL="0">
              <a:buNone/>
            </a:pPr>
            <a:r>
              <a:rPr lang="en-US" sz="1700" b="1" dirty="0">
                <a:solidFill>
                  <a:srgbClr val="12476F"/>
                </a:solidFill>
                <a:latin typeface="Arial" pitchFamily="34" charset="0"/>
                <a:ea typeface="Arial" pitchFamily="34" charset="-122"/>
                <a:cs typeface="Arial" pitchFamily="34" charset="-120"/>
              </a:rPr>
              <a:t>الخاتمة والمراجع</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المقدمة</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لماذا نظام السجلات الطبية الرقمية؟</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2</a:t>
            </a:r>
            <a:endParaRPr lang="en-US" sz="1000" dirty="0"/>
          </a:p>
        </p:txBody>
      </p:sp>
      <p:sp>
        <p:nvSpPr>
          <p:cNvPr id="7" name="Text 5"/>
          <p:cNvSpPr/>
          <p:nvPr/>
        </p:nvSpPr>
        <p:spPr>
          <a:xfrm>
            <a:off x="548640" y="1508760"/>
            <a:ext cx="11091672" cy="1371600"/>
          </a:xfrm>
          <a:prstGeom prst="rect">
            <a:avLst/>
          </a:prstGeom>
          <a:noFill/>
          <a:ln/>
        </p:spPr>
        <p:txBody>
          <a:bodyPr wrap="square" rtlCol="0" anchor="t"/>
          <a:lstStyle/>
          <a:p>
            <a:pPr rtl="1" algn="r" indent="0" marL="0">
              <a:buNone/>
            </a:pPr>
            <a:r>
              <a:rPr lang="en-US" sz="1600" dirty="0">
                <a:solidFill>
                  <a:srgbClr val="23323D"/>
                </a:solidFill>
                <a:latin typeface="Arial" pitchFamily="34" charset="0"/>
                <a:ea typeface="Arial" pitchFamily="34" charset="-122"/>
                <a:cs typeface="Arial" pitchFamily="34" charset="-120"/>
              </a:rPr>
              <a:t>تُعدّ السجلات الطبية حجر الأساس في تقديم رعاية صحّية آمنة وفعّالة، إلا أنّها غالباً ما تكون موزّعة بين أنظمةٍ غير متوافقة لا يتبادل بعضها البيانات مع بعض، ما يضعف التنسيق بين مقدّمي الرعاية ويؤخّر القرار السريري. صمّمنا نظام DMRS كمنصّةٍ متكاملة تعتمد المعيار العالمي HL7 FHIR لتوحيد البيانات، وتضيف فوقه دعماً ذكياً للقرار السريري وطبقة ذكاء اصطناعي تُقدّر مخاطر المريض، وبوابةً تُمكّن المريض من الاطّلاع على سجلّه.</a:t>
            </a:r>
            <a:endParaRPr lang="en-US" sz="1600" dirty="0"/>
          </a:p>
        </p:txBody>
      </p:sp>
      <p:sp>
        <p:nvSpPr>
          <p:cNvPr id="8" name="Shape 6"/>
          <p:cNvSpPr/>
          <p:nvPr/>
        </p:nvSpPr>
        <p:spPr>
          <a:xfrm>
            <a:off x="8119872" y="3154680"/>
            <a:ext cx="3520440" cy="1554480"/>
          </a:xfrm>
          <a:prstGeom prst="roundRect">
            <a:avLst>
              <a:gd name="adj" fmla="val 3529"/>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9" name="Shape 7"/>
          <p:cNvSpPr/>
          <p:nvPr/>
        </p:nvSpPr>
        <p:spPr>
          <a:xfrm>
            <a:off x="11521440" y="3264408"/>
            <a:ext cx="118872" cy="310896"/>
          </a:xfrm>
          <a:prstGeom prst="rect">
            <a:avLst/>
          </a:prstGeom>
          <a:solidFill>
            <a:srgbClr val="1F6FB2"/>
          </a:solidFill>
          <a:ln/>
        </p:spPr>
      </p:sp>
      <p:sp>
        <p:nvSpPr>
          <p:cNvPr id="10" name="Text 8"/>
          <p:cNvSpPr/>
          <p:nvPr/>
        </p:nvSpPr>
        <p:spPr>
          <a:xfrm>
            <a:off x="8302752" y="3246120"/>
            <a:ext cx="306324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سجلّ موحّد</a:t>
            </a:r>
            <a:endParaRPr lang="en-US" sz="1500" dirty="0"/>
          </a:p>
        </p:txBody>
      </p:sp>
      <p:sp>
        <p:nvSpPr>
          <p:cNvPr id="11" name="Text 9"/>
          <p:cNvSpPr/>
          <p:nvPr/>
        </p:nvSpPr>
        <p:spPr>
          <a:xfrm>
            <a:off x="8284464" y="3666744"/>
            <a:ext cx="3191256" cy="950976"/>
          </a:xfrm>
          <a:prstGeom prst="rect">
            <a:avLst/>
          </a:prstGeom>
          <a:noFill/>
          <a:ln/>
        </p:spPr>
        <p:txBody>
          <a:bodyPr wrap="square" rtlCol="0" anchor="t"/>
          <a:lstStyle/>
          <a:p>
            <a:pPr rtl="1" algn="r" indent="0" marL="0">
              <a:spcAft>
                <a:spcPts val="400"/>
              </a:spcAft>
              <a:buNone/>
            </a:pPr>
            <a:r>
              <a:rPr lang="en-US" sz="1300" dirty="0">
                <a:solidFill>
                  <a:srgbClr val="23323D"/>
                </a:solidFill>
                <a:latin typeface="Arial" pitchFamily="34" charset="0"/>
                <a:ea typeface="Arial" pitchFamily="34" charset="-122"/>
                <a:cs typeface="Arial" pitchFamily="34" charset="-120"/>
              </a:rPr>
              <a:t>تمثيل البيانات وفق معيار FHIR R5 يضمن قابلية تبادلها بين الأنظمة.</a:t>
            </a:r>
            <a:endParaRPr lang="en-US" sz="1300" dirty="0"/>
          </a:p>
        </p:txBody>
      </p:sp>
      <p:sp>
        <p:nvSpPr>
          <p:cNvPr id="12" name="Shape 10"/>
          <p:cNvSpPr/>
          <p:nvPr/>
        </p:nvSpPr>
        <p:spPr>
          <a:xfrm>
            <a:off x="4279392" y="3154680"/>
            <a:ext cx="3520440" cy="1554480"/>
          </a:xfrm>
          <a:prstGeom prst="roundRect">
            <a:avLst>
              <a:gd name="adj" fmla="val 3529"/>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3" name="Shape 11"/>
          <p:cNvSpPr/>
          <p:nvPr/>
        </p:nvSpPr>
        <p:spPr>
          <a:xfrm>
            <a:off x="7680960" y="3264408"/>
            <a:ext cx="118872" cy="310896"/>
          </a:xfrm>
          <a:prstGeom prst="rect">
            <a:avLst/>
          </a:prstGeom>
          <a:solidFill>
            <a:srgbClr val="0E9E8E"/>
          </a:solidFill>
          <a:ln/>
        </p:spPr>
      </p:sp>
      <p:sp>
        <p:nvSpPr>
          <p:cNvPr id="14" name="Text 12"/>
          <p:cNvSpPr/>
          <p:nvPr/>
        </p:nvSpPr>
        <p:spPr>
          <a:xfrm>
            <a:off x="4462272" y="3246120"/>
            <a:ext cx="3063240"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دعم ذكي للقرار</a:t>
            </a:r>
            <a:endParaRPr lang="en-US" sz="1500" dirty="0"/>
          </a:p>
        </p:txBody>
      </p:sp>
      <p:sp>
        <p:nvSpPr>
          <p:cNvPr id="15" name="Text 13"/>
          <p:cNvSpPr/>
          <p:nvPr/>
        </p:nvSpPr>
        <p:spPr>
          <a:xfrm>
            <a:off x="4443984" y="3666744"/>
            <a:ext cx="3191256" cy="950976"/>
          </a:xfrm>
          <a:prstGeom prst="rect">
            <a:avLst/>
          </a:prstGeom>
          <a:noFill/>
          <a:ln/>
        </p:spPr>
        <p:txBody>
          <a:bodyPr wrap="square" rtlCol="0" anchor="t"/>
          <a:lstStyle/>
          <a:p>
            <a:pPr rtl="1" algn="r" indent="0" marL="0">
              <a:spcAft>
                <a:spcPts val="400"/>
              </a:spcAft>
              <a:buNone/>
            </a:pPr>
            <a:r>
              <a:rPr lang="en-US" sz="1300" dirty="0">
                <a:solidFill>
                  <a:srgbClr val="23323D"/>
                </a:solidFill>
                <a:latin typeface="Arial" pitchFamily="34" charset="0"/>
                <a:ea typeface="Arial" pitchFamily="34" charset="-122"/>
                <a:cs typeface="Arial" pitchFamily="34" charset="-120"/>
              </a:rPr>
              <a:t>تنبيهات سريرية في موضع الرعاية عبر محرّك قواعد مرن.</a:t>
            </a:r>
            <a:endParaRPr lang="en-US" sz="1300" dirty="0"/>
          </a:p>
        </p:txBody>
      </p:sp>
      <p:sp>
        <p:nvSpPr>
          <p:cNvPr id="16" name="Shape 14"/>
          <p:cNvSpPr/>
          <p:nvPr/>
        </p:nvSpPr>
        <p:spPr>
          <a:xfrm>
            <a:off x="438912" y="3154680"/>
            <a:ext cx="3520440" cy="1554480"/>
          </a:xfrm>
          <a:prstGeom prst="roundRect">
            <a:avLst>
              <a:gd name="adj" fmla="val 3529"/>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7" name="Shape 15"/>
          <p:cNvSpPr/>
          <p:nvPr/>
        </p:nvSpPr>
        <p:spPr>
          <a:xfrm>
            <a:off x="3840480" y="3264408"/>
            <a:ext cx="118872" cy="310896"/>
          </a:xfrm>
          <a:prstGeom prst="rect">
            <a:avLst/>
          </a:prstGeom>
          <a:solidFill>
            <a:srgbClr val="2E8B57"/>
          </a:solidFill>
          <a:ln/>
        </p:spPr>
      </p:sp>
      <p:sp>
        <p:nvSpPr>
          <p:cNvPr id="18" name="Text 16"/>
          <p:cNvSpPr/>
          <p:nvPr/>
        </p:nvSpPr>
        <p:spPr>
          <a:xfrm>
            <a:off x="621792" y="3246120"/>
            <a:ext cx="3063240"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ذكاء تنبّؤي</a:t>
            </a:r>
            <a:endParaRPr lang="en-US" sz="1500" dirty="0"/>
          </a:p>
        </p:txBody>
      </p:sp>
      <p:sp>
        <p:nvSpPr>
          <p:cNvPr id="19" name="Text 17"/>
          <p:cNvSpPr/>
          <p:nvPr/>
        </p:nvSpPr>
        <p:spPr>
          <a:xfrm>
            <a:off x="603504" y="3666744"/>
            <a:ext cx="3191256" cy="950976"/>
          </a:xfrm>
          <a:prstGeom prst="rect">
            <a:avLst/>
          </a:prstGeom>
          <a:noFill/>
          <a:ln/>
        </p:spPr>
        <p:txBody>
          <a:bodyPr wrap="square" rtlCol="0" anchor="t"/>
          <a:lstStyle/>
          <a:p>
            <a:pPr rtl="1" algn="r" indent="0" marL="0">
              <a:spcAft>
                <a:spcPts val="400"/>
              </a:spcAft>
              <a:buNone/>
            </a:pPr>
            <a:r>
              <a:rPr lang="en-US" sz="1300" dirty="0">
                <a:solidFill>
                  <a:srgbClr val="23323D"/>
                </a:solidFill>
                <a:latin typeface="Arial" pitchFamily="34" charset="0"/>
                <a:ea typeface="Arial" pitchFamily="34" charset="-122"/>
                <a:cs typeface="Arial" pitchFamily="34" charset="-120"/>
              </a:rPr>
              <a:t>نماذج تُقدّر مخاطر المريض من بياناته الفعلية للتدخّل المبكر.</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التحديات التي يحلّها المشروع</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3</a:t>
            </a:r>
            <a:endParaRPr lang="en-US" sz="1000" dirty="0"/>
          </a:p>
        </p:txBody>
      </p:sp>
      <p:sp>
        <p:nvSpPr>
          <p:cNvPr id="6" name="Shape 4"/>
          <p:cNvSpPr/>
          <p:nvPr/>
        </p:nvSpPr>
        <p:spPr>
          <a:xfrm>
            <a:off x="8119872" y="141732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7" name="Shape 5"/>
          <p:cNvSpPr/>
          <p:nvPr/>
        </p:nvSpPr>
        <p:spPr>
          <a:xfrm>
            <a:off x="11521440" y="1527048"/>
            <a:ext cx="118872" cy="310896"/>
          </a:xfrm>
          <a:prstGeom prst="rect">
            <a:avLst/>
          </a:prstGeom>
          <a:solidFill>
            <a:srgbClr val="1F6FB2"/>
          </a:solidFill>
          <a:ln/>
        </p:spPr>
      </p:sp>
      <p:sp>
        <p:nvSpPr>
          <p:cNvPr id="8" name="Text 6"/>
          <p:cNvSpPr/>
          <p:nvPr/>
        </p:nvSpPr>
        <p:spPr>
          <a:xfrm>
            <a:off x="8302752" y="1508760"/>
            <a:ext cx="306324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تشتّت البيانات</a:t>
            </a:r>
            <a:endParaRPr lang="en-US" sz="1500" dirty="0"/>
          </a:p>
        </p:txBody>
      </p:sp>
      <p:sp>
        <p:nvSpPr>
          <p:cNvPr id="9" name="Text 7"/>
          <p:cNvSpPr/>
          <p:nvPr/>
        </p:nvSpPr>
        <p:spPr>
          <a:xfrm>
            <a:off x="8284464" y="192938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سجلّ المريض موزّع في أنظمةٍ مغلقة لا تتبادل البيانات، ما يحرم الطبيب من رؤيةٍ شاملة.</a:t>
            </a:r>
            <a:endParaRPr lang="en-US" sz="1250" dirty="0"/>
          </a:p>
        </p:txBody>
      </p:sp>
      <p:sp>
        <p:nvSpPr>
          <p:cNvPr id="10" name="Shape 8"/>
          <p:cNvSpPr/>
          <p:nvPr/>
        </p:nvSpPr>
        <p:spPr>
          <a:xfrm>
            <a:off x="4279392" y="141732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1" name="Shape 9"/>
          <p:cNvSpPr/>
          <p:nvPr/>
        </p:nvSpPr>
        <p:spPr>
          <a:xfrm>
            <a:off x="7680960" y="1527048"/>
            <a:ext cx="118872" cy="310896"/>
          </a:xfrm>
          <a:prstGeom prst="rect">
            <a:avLst/>
          </a:prstGeom>
          <a:solidFill>
            <a:srgbClr val="0E9E8E"/>
          </a:solidFill>
          <a:ln/>
        </p:spPr>
      </p:sp>
      <p:sp>
        <p:nvSpPr>
          <p:cNvPr id="12" name="Text 10"/>
          <p:cNvSpPr/>
          <p:nvPr/>
        </p:nvSpPr>
        <p:spPr>
          <a:xfrm>
            <a:off x="4462272" y="1508760"/>
            <a:ext cx="3063240"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انعدام التشغيل البيني</a:t>
            </a:r>
            <a:endParaRPr lang="en-US" sz="1500" dirty="0"/>
          </a:p>
        </p:txBody>
      </p:sp>
      <p:sp>
        <p:nvSpPr>
          <p:cNvPr id="13" name="Text 11"/>
          <p:cNvSpPr/>
          <p:nvPr/>
        </p:nvSpPr>
        <p:spPr>
          <a:xfrm>
            <a:off x="4443984" y="192938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غياب معيارٍ موحّد يجعل تبادل البيانات بطيئاً وفاقداً للمعلومات.</a:t>
            </a:r>
            <a:endParaRPr lang="en-US" sz="1250" dirty="0"/>
          </a:p>
        </p:txBody>
      </p:sp>
      <p:sp>
        <p:nvSpPr>
          <p:cNvPr id="14" name="Shape 12"/>
          <p:cNvSpPr/>
          <p:nvPr/>
        </p:nvSpPr>
        <p:spPr>
          <a:xfrm>
            <a:off x="438912" y="141732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5" name="Shape 13"/>
          <p:cNvSpPr/>
          <p:nvPr/>
        </p:nvSpPr>
        <p:spPr>
          <a:xfrm>
            <a:off x="3840480" y="1527048"/>
            <a:ext cx="118872" cy="310896"/>
          </a:xfrm>
          <a:prstGeom prst="rect">
            <a:avLst/>
          </a:prstGeom>
          <a:solidFill>
            <a:srgbClr val="2E8B57"/>
          </a:solidFill>
          <a:ln/>
        </p:spPr>
      </p:sp>
      <p:sp>
        <p:nvSpPr>
          <p:cNvPr id="16" name="Text 14"/>
          <p:cNvSpPr/>
          <p:nvPr/>
        </p:nvSpPr>
        <p:spPr>
          <a:xfrm>
            <a:off x="621792" y="1508760"/>
            <a:ext cx="3063240"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رعاية تفاعلية لا استباقية</a:t>
            </a:r>
            <a:endParaRPr lang="en-US" sz="1500" dirty="0"/>
          </a:p>
        </p:txBody>
      </p:sp>
      <p:sp>
        <p:nvSpPr>
          <p:cNvPr id="17" name="Text 15"/>
          <p:cNvSpPr/>
          <p:nvPr/>
        </p:nvSpPr>
        <p:spPr>
          <a:xfrm>
            <a:off x="603504" y="192938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تُكتشَف المخاطر متأخّرةً لغياب أدوات تنبّؤية في موضع الرعاية.</a:t>
            </a:r>
            <a:endParaRPr lang="en-US" sz="1250" dirty="0"/>
          </a:p>
        </p:txBody>
      </p:sp>
      <p:sp>
        <p:nvSpPr>
          <p:cNvPr id="18" name="Shape 16"/>
          <p:cNvSpPr/>
          <p:nvPr/>
        </p:nvSpPr>
        <p:spPr>
          <a:xfrm>
            <a:off x="8119872" y="374904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9" name="Shape 17"/>
          <p:cNvSpPr/>
          <p:nvPr/>
        </p:nvSpPr>
        <p:spPr>
          <a:xfrm>
            <a:off x="11521440" y="3858768"/>
            <a:ext cx="118872" cy="310896"/>
          </a:xfrm>
          <a:prstGeom prst="rect">
            <a:avLst/>
          </a:prstGeom>
          <a:solidFill>
            <a:srgbClr val="8E44AD"/>
          </a:solidFill>
          <a:ln/>
        </p:spPr>
      </p:sp>
      <p:sp>
        <p:nvSpPr>
          <p:cNvPr id="20" name="Text 18"/>
          <p:cNvSpPr/>
          <p:nvPr/>
        </p:nvSpPr>
        <p:spPr>
          <a:xfrm>
            <a:off x="8302752" y="3840480"/>
            <a:ext cx="3063240" cy="384048"/>
          </a:xfrm>
          <a:prstGeom prst="rect">
            <a:avLst/>
          </a:prstGeom>
          <a:noFill/>
          <a:ln/>
        </p:spPr>
        <p:txBody>
          <a:bodyPr wrap="square" rtlCol="0" anchor="ctr"/>
          <a:lstStyle/>
          <a:p>
            <a:pPr rtl="1" algn="r" indent="0" marL="0">
              <a:buNone/>
            </a:pPr>
            <a:r>
              <a:rPr lang="en-US" sz="1500" b="1" dirty="0">
                <a:solidFill>
                  <a:srgbClr val="8E44AD"/>
                </a:solidFill>
                <a:latin typeface="Arial" pitchFamily="34" charset="0"/>
                <a:ea typeface="Arial" pitchFamily="34" charset="-122"/>
                <a:cs typeface="Arial" pitchFamily="34" charset="-120"/>
              </a:rPr>
              <a:t>ضعف مشاركة المريض</a:t>
            </a:r>
            <a:endParaRPr lang="en-US" sz="1500" dirty="0"/>
          </a:p>
        </p:txBody>
      </p:sp>
      <p:sp>
        <p:nvSpPr>
          <p:cNvPr id="21" name="Text 19"/>
          <p:cNvSpPr/>
          <p:nvPr/>
        </p:nvSpPr>
        <p:spPr>
          <a:xfrm>
            <a:off x="8284464" y="426110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لا يملك المريض وسيلةً للاطّلاع على سجلّه ومتابعة رعايته.</a:t>
            </a:r>
            <a:endParaRPr lang="en-US" sz="1250" dirty="0"/>
          </a:p>
        </p:txBody>
      </p:sp>
      <p:sp>
        <p:nvSpPr>
          <p:cNvPr id="22" name="Shape 20"/>
          <p:cNvSpPr/>
          <p:nvPr/>
        </p:nvSpPr>
        <p:spPr>
          <a:xfrm>
            <a:off x="4279392" y="374904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3" name="Shape 21"/>
          <p:cNvSpPr/>
          <p:nvPr/>
        </p:nvSpPr>
        <p:spPr>
          <a:xfrm>
            <a:off x="7680960" y="3858768"/>
            <a:ext cx="118872" cy="310896"/>
          </a:xfrm>
          <a:prstGeom prst="rect">
            <a:avLst/>
          </a:prstGeom>
          <a:solidFill>
            <a:srgbClr val="C0392B"/>
          </a:solidFill>
          <a:ln/>
        </p:spPr>
      </p:sp>
      <p:sp>
        <p:nvSpPr>
          <p:cNvPr id="24" name="Text 22"/>
          <p:cNvSpPr/>
          <p:nvPr/>
        </p:nvSpPr>
        <p:spPr>
          <a:xfrm>
            <a:off x="4462272" y="3840480"/>
            <a:ext cx="3063240" cy="384048"/>
          </a:xfrm>
          <a:prstGeom prst="rect">
            <a:avLst/>
          </a:prstGeom>
          <a:noFill/>
          <a:ln/>
        </p:spPr>
        <p:txBody>
          <a:bodyPr wrap="square" rtlCol="0" anchor="ctr"/>
          <a:lstStyle/>
          <a:p>
            <a:pPr rtl="1" algn="r" indent="0" marL="0">
              <a:buNone/>
            </a:pPr>
            <a:r>
              <a:rPr lang="en-US" sz="1500" b="1" dirty="0">
                <a:solidFill>
                  <a:srgbClr val="C0392B"/>
                </a:solidFill>
                <a:latin typeface="Arial" pitchFamily="34" charset="0"/>
                <a:ea typeface="Arial" pitchFamily="34" charset="-122"/>
                <a:cs typeface="Arial" pitchFamily="34" charset="-120"/>
              </a:rPr>
              <a:t>تحديات الأمان والخصوصية</a:t>
            </a:r>
            <a:endParaRPr lang="en-US" sz="1500" dirty="0"/>
          </a:p>
        </p:txBody>
      </p:sp>
      <p:sp>
        <p:nvSpPr>
          <p:cNvPr id="25" name="Text 23"/>
          <p:cNvSpPr/>
          <p:nvPr/>
        </p:nvSpPr>
        <p:spPr>
          <a:xfrm>
            <a:off x="4443984" y="426110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البيانات الصحية حسّاسة وتتطلّب تحكّماً دقيقاً بالوصول وتشفيراً.</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أهداف المشروع</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4</a:t>
            </a:r>
            <a:endParaRPr lang="en-US" sz="1000" dirty="0"/>
          </a:p>
        </p:txBody>
      </p:sp>
      <p:sp>
        <p:nvSpPr>
          <p:cNvPr id="6" name="Shape 4"/>
          <p:cNvSpPr/>
          <p:nvPr/>
        </p:nvSpPr>
        <p:spPr>
          <a:xfrm>
            <a:off x="548640" y="1554480"/>
            <a:ext cx="11091672" cy="777240"/>
          </a:xfrm>
          <a:prstGeom prst="roundRect">
            <a:avLst>
              <a:gd name="adj" fmla="val 5882"/>
            </a:avLst>
          </a:prstGeom>
          <a:solidFill>
            <a:srgbClr val="F6FAFD"/>
          </a:solidFill>
          <a:ln w="12700">
            <a:solidFill>
              <a:srgbClr val="D9E6F0"/>
            </a:solidFill>
            <a:prstDash val="solid"/>
          </a:ln>
        </p:spPr>
      </p:sp>
      <p:sp>
        <p:nvSpPr>
          <p:cNvPr id="7" name="Shape 5"/>
          <p:cNvSpPr/>
          <p:nvPr/>
        </p:nvSpPr>
        <p:spPr>
          <a:xfrm>
            <a:off x="11018520" y="1714500"/>
            <a:ext cx="457200" cy="457200"/>
          </a:xfrm>
          <a:prstGeom prst="ellipse">
            <a:avLst/>
          </a:prstGeom>
          <a:solidFill>
            <a:srgbClr val="1F6FB2"/>
          </a:solidFill>
          <a:ln/>
        </p:spPr>
      </p:sp>
      <p:sp>
        <p:nvSpPr>
          <p:cNvPr id="8" name="Text 6"/>
          <p:cNvSpPr/>
          <p:nvPr/>
        </p:nvSpPr>
        <p:spPr>
          <a:xfrm>
            <a:off x="11018520" y="1714500"/>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777240" y="1554480"/>
            <a:ext cx="10085832" cy="777240"/>
          </a:xfrm>
          <a:prstGeom prst="rect">
            <a:avLst/>
          </a:prstGeom>
          <a:noFill/>
          <a:ln/>
        </p:spPr>
        <p:txBody>
          <a:bodyPr wrap="square" rtlCol="0" anchor="ctr"/>
          <a:lstStyle/>
          <a:p>
            <a:pPr rtl="1" algn="r" indent="0" marL="0">
              <a:buNone/>
            </a:pPr>
            <a:r>
              <a:rPr lang="en-US" sz="1450" dirty="0">
                <a:solidFill>
                  <a:srgbClr val="23323D"/>
                </a:solidFill>
                <a:latin typeface="Arial" pitchFamily="34" charset="0"/>
                <a:ea typeface="Arial" pitchFamily="34" charset="-122"/>
                <a:cs typeface="Arial" pitchFamily="34" charset="-120"/>
              </a:rPr>
              <a:t>بناء سجلٍّ طبي قائم على معيار FHIR R5 يدعم الإنشاء والقراءة والتحديث والبحث وحفظ تاريخ النسخ.</a:t>
            </a:r>
            <a:endParaRPr lang="en-US" sz="1450" dirty="0"/>
          </a:p>
        </p:txBody>
      </p:sp>
      <p:sp>
        <p:nvSpPr>
          <p:cNvPr id="10" name="Shape 8"/>
          <p:cNvSpPr/>
          <p:nvPr/>
        </p:nvSpPr>
        <p:spPr>
          <a:xfrm>
            <a:off x="548640" y="2487168"/>
            <a:ext cx="11091672" cy="777240"/>
          </a:xfrm>
          <a:prstGeom prst="roundRect">
            <a:avLst>
              <a:gd name="adj" fmla="val 5882"/>
            </a:avLst>
          </a:prstGeom>
          <a:solidFill>
            <a:srgbClr val="F6FAFD"/>
          </a:solidFill>
          <a:ln w="12700">
            <a:solidFill>
              <a:srgbClr val="D9E6F0"/>
            </a:solidFill>
            <a:prstDash val="solid"/>
          </a:ln>
        </p:spPr>
      </p:sp>
      <p:sp>
        <p:nvSpPr>
          <p:cNvPr id="11" name="Shape 9"/>
          <p:cNvSpPr/>
          <p:nvPr/>
        </p:nvSpPr>
        <p:spPr>
          <a:xfrm>
            <a:off x="11018520" y="2647188"/>
            <a:ext cx="457200" cy="457200"/>
          </a:xfrm>
          <a:prstGeom prst="ellipse">
            <a:avLst/>
          </a:prstGeom>
          <a:solidFill>
            <a:srgbClr val="1F6FB2"/>
          </a:solidFill>
          <a:ln/>
        </p:spPr>
      </p:sp>
      <p:sp>
        <p:nvSpPr>
          <p:cNvPr id="12" name="Text 10"/>
          <p:cNvSpPr/>
          <p:nvPr/>
        </p:nvSpPr>
        <p:spPr>
          <a:xfrm>
            <a:off x="11018520" y="2647188"/>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777240" y="2487168"/>
            <a:ext cx="10085832" cy="777240"/>
          </a:xfrm>
          <a:prstGeom prst="rect">
            <a:avLst/>
          </a:prstGeom>
          <a:noFill/>
          <a:ln/>
        </p:spPr>
        <p:txBody>
          <a:bodyPr wrap="square" rtlCol="0" anchor="ctr"/>
          <a:lstStyle/>
          <a:p>
            <a:pPr rtl="1" algn="r" indent="0" marL="0">
              <a:buNone/>
            </a:pPr>
            <a:r>
              <a:rPr lang="en-US" sz="1450" dirty="0">
                <a:solidFill>
                  <a:srgbClr val="23323D"/>
                </a:solidFill>
                <a:latin typeface="Arial" pitchFamily="34" charset="0"/>
                <a:ea typeface="Arial" pitchFamily="34" charset="-122"/>
                <a:cs typeface="Arial" pitchFamily="34" charset="-120"/>
              </a:rPr>
              <a:t>توفير مصادقةٍ وتفويضٍ آمن قائم على الأدوار ونطاقات الصلاحيات (على غرار SMART on FHIR).</a:t>
            </a:r>
            <a:endParaRPr lang="en-US" sz="1450" dirty="0"/>
          </a:p>
        </p:txBody>
      </p:sp>
      <p:sp>
        <p:nvSpPr>
          <p:cNvPr id="14" name="Shape 12"/>
          <p:cNvSpPr/>
          <p:nvPr/>
        </p:nvSpPr>
        <p:spPr>
          <a:xfrm>
            <a:off x="548640" y="3419856"/>
            <a:ext cx="11091672" cy="777240"/>
          </a:xfrm>
          <a:prstGeom prst="roundRect">
            <a:avLst>
              <a:gd name="adj" fmla="val 5882"/>
            </a:avLst>
          </a:prstGeom>
          <a:solidFill>
            <a:srgbClr val="F6FAFD"/>
          </a:solidFill>
          <a:ln w="12700">
            <a:solidFill>
              <a:srgbClr val="D9E6F0"/>
            </a:solidFill>
            <a:prstDash val="solid"/>
          </a:ln>
        </p:spPr>
      </p:sp>
      <p:sp>
        <p:nvSpPr>
          <p:cNvPr id="15" name="Shape 13"/>
          <p:cNvSpPr/>
          <p:nvPr/>
        </p:nvSpPr>
        <p:spPr>
          <a:xfrm>
            <a:off x="11018520" y="3579876"/>
            <a:ext cx="457200" cy="457200"/>
          </a:xfrm>
          <a:prstGeom prst="ellipse">
            <a:avLst/>
          </a:prstGeom>
          <a:solidFill>
            <a:srgbClr val="1F6FB2"/>
          </a:solidFill>
          <a:ln/>
        </p:spPr>
      </p:sp>
      <p:sp>
        <p:nvSpPr>
          <p:cNvPr id="16" name="Text 14"/>
          <p:cNvSpPr/>
          <p:nvPr/>
        </p:nvSpPr>
        <p:spPr>
          <a:xfrm>
            <a:off x="11018520" y="3579876"/>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777240" y="3419856"/>
            <a:ext cx="10085832" cy="777240"/>
          </a:xfrm>
          <a:prstGeom prst="rect">
            <a:avLst/>
          </a:prstGeom>
          <a:noFill/>
          <a:ln/>
        </p:spPr>
        <p:txBody>
          <a:bodyPr wrap="square" rtlCol="0" anchor="ctr"/>
          <a:lstStyle/>
          <a:p>
            <a:pPr rtl="1" algn="r" indent="0" marL="0">
              <a:buNone/>
            </a:pPr>
            <a:r>
              <a:rPr lang="en-US" sz="1450" dirty="0">
                <a:solidFill>
                  <a:srgbClr val="23323D"/>
                </a:solidFill>
                <a:latin typeface="Arial" pitchFamily="34" charset="0"/>
                <a:ea typeface="Arial" pitchFamily="34" charset="-122"/>
                <a:cs typeface="Arial" pitchFamily="34" charset="-120"/>
              </a:rPr>
              <a:t>تقديم دعمٍ ذكي للقرار السريري عبر محرّك قواعد مرن يُطلق بطاقات تنبيه في موضع الرعاية.</a:t>
            </a:r>
            <a:endParaRPr lang="en-US" sz="1450" dirty="0"/>
          </a:p>
        </p:txBody>
      </p:sp>
      <p:sp>
        <p:nvSpPr>
          <p:cNvPr id="18" name="Shape 16"/>
          <p:cNvSpPr/>
          <p:nvPr/>
        </p:nvSpPr>
        <p:spPr>
          <a:xfrm>
            <a:off x="548640" y="4352544"/>
            <a:ext cx="11091672" cy="777240"/>
          </a:xfrm>
          <a:prstGeom prst="roundRect">
            <a:avLst>
              <a:gd name="adj" fmla="val 5882"/>
            </a:avLst>
          </a:prstGeom>
          <a:solidFill>
            <a:srgbClr val="F6FAFD"/>
          </a:solidFill>
          <a:ln w="12700">
            <a:solidFill>
              <a:srgbClr val="D9E6F0"/>
            </a:solidFill>
            <a:prstDash val="solid"/>
          </a:ln>
        </p:spPr>
      </p:sp>
      <p:sp>
        <p:nvSpPr>
          <p:cNvPr id="19" name="Shape 17"/>
          <p:cNvSpPr/>
          <p:nvPr/>
        </p:nvSpPr>
        <p:spPr>
          <a:xfrm>
            <a:off x="11018520" y="4512564"/>
            <a:ext cx="457200" cy="457200"/>
          </a:xfrm>
          <a:prstGeom prst="ellipse">
            <a:avLst/>
          </a:prstGeom>
          <a:solidFill>
            <a:srgbClr val="1F6FB2"/>
          </a:solidFill>
          <a:ln/>
        </p:spPr>
      </p:sp>
      <p:sp>
        <p:nvSpPr>
          <p:cNvPr id="20" name="Text 18"/>
          <p:cNvSpPr/>
          <p:nvPr/>
        </p:nvSpPr>
        <p:spPr>
          <a:xfrm>
            <a:off x="11018520" y="4512564"/>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9"/>
          <p:cNvSpPr/>
          <p:nvPr/>
        </p:nvSpPr>
        <p:spPr>
          <a:xfrm>
            <a:off x="777240" y="4352544"/>
            <a:ext cx="10085832" cy="777240"/>
          </a:xfrm>
          <a:prstGeom prst="rect">
            <a:avLst/>
          </a:prstGeom>
          <a:noFill/>
          <a:ln/>
        </p:spPr>
        <p:txBody>
          <a:bodyPr wrap="square" rtlCol="0" anchor="ctr"/>
          <a:lstStyle/>
          <a:p>
            <a:pPr rtl="1" algn="r" indent="0" marL="0">
              <a:buNone/>
            </a:pPr>
            <a:r>
              <a:rPr lang="en-US" sz="1450" dirty="0">
                <a:solidFill>
                  <a:srgbClr val="23323D"/>
                </a:solidFill>
                <a:latin typeface="Arial" pitchFamily="34" charset="0"/>
                <a:ea typeface="Arial" pitchFamily="34" charset="-122"/>
                <a:cs typeface="Arial" pitchFamily="34" charset="-120"/>
              </a:rPr>
              <a:t>دمج نماذج ذكاء اصطناعي تنبّؤية تعمل على بيانات المريض الحقيقية، مع إتاحة ربط نماذج خارجية.</a:t>
            </a:r>
            <a:endParaRPr lang="en-US" sz="1450" dirty="0"/>
          </a:p>
        </p:txBody>
      </p:sp>
      <p:sp>
        <p:nvSpPr>
          <p:cNvPr id="22" name="Shape 20"/>
          <p:cNvSpPr/>
          <p:nvPr/>
        </p:nvSpPr>
        <p:spPr>
          <a:xfrm>
            <a:off x="548640" y="5285232"/>
            <a:ext cx="11091672" cy="777240"/>
          </a:xfrm>
          <a:prstGeom prst="roundRect">
            <a:avLst>
              <a:gd name="adj" fmla="val 5882"/>
            </a:avLst>
          </a:prstGeom>
          <a:solidFill>
            <a:srgbClr val="F6FAFD"/>
          </a:solidFill>
          <a:ln w="12700">
            <a:solidFill>
              <a:srgbClr val="D9E6F0"/>
            </a:solidFill>
            <a:prstDash val="solid"/>
          </a:ln>
        </p:spPr>
      </p:sp>
      <p:sp>
        <p:nvSpPr>
          <p:cNvPr id="23" name="Shape 21"/>
          <p:cNvSpPr/>
          <p:nvPr/>
        </p:nvSpPr>
        <p:spPr>
          <a:xfrm>
            <a:off x="11018520" y="5445252"/>
            <a:ext cx="457200" cy="457200"/>
          </a:xfrm>
          <a:prstGeom prst="ellipse">
            <a:avLst/>
          </a:prstGeom>
          <a:solidFill>
            <a:srgbClr val="1F6FB2"/>
          </a:solidFill>
          <a:ln/>
        </p:spPr>
      </p:sp>
      <p:sp>
        <p:nvSpPr>
          <p:cNvPr id="24" name="Text 22"/>
          <p:cNvSpPr/>
          <p:nvPr/>
        </p:nvSpPr>
        <p:spPr>
          <a:xfrm>
            <a:off x="11018520" y="5445252"/>
            <a:ext cx="457200" cy="45720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5" name="Text 23"/>
          <p:cNvSpPr/>
          <p:nvPr/>
        </p:nvSpPr>
        <p:spPr>
          <a:xfrm>
            <a:off x="777240" y="5285232"/>
            <a:ext cx="10085832" cy="777240"/>
          </a:xfrm>
          <a:prstGeom prst="rect">
            <a:avLst/>
          </a:prstGeom>
          <a:noFill/>
          <a:ln/>
        </p:spPr>
        <p:txBody>
          <a:bodyPr wrap="square" rtlCol="0" anchor="ctr"/>
          <a:lstStyle/>
          <a:p>
            <a:pPr rtl="1" algn="r" indent="0" marL="0">
              <a:buNone/>
            </a:pPr>
            <a:r>
              <a:rPr lang="en-US" sz="1450" dirty="0">
                <a:solidFill>
                  <a:srgbClr val="23323D"/>
                </a:solidFill>
                <a:latin typeface="Arial" pitchFamily="34" charset="0"/>
                <a:ea typeface="Arial" pitchFamily="34" charset="-122"/>
                <a:cs typeface="Arial" pitchFamily="34" charset="-120"/>
              </a:rPr>
              <a:t>تمكين المريض من الاطّلاع الآمن على سجلّه، ودعم واجهةٍ ثنائية اللغة (عربي/إنجليزي).</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أهمّ ميزات المشروع</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السجل السريري والأمان</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5</a:t>
            </a:r>
            <a:endParaRPr lang="en-US" sz="1000" dirty="0"/>
          </a:p>
        </p:txBody>
      </p:sp>
      <p:sp>
        <p:nvSpPr>
          <p:cNvPr id="7" name="Shape 5"/>
          <p:cNvSpPr/>
          <p:nvPr/>
        </p:nvSpPr>
        <p:spPr>
          <a:xfrm>
            <a:off x="811987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1521440" y="1664208"/>
            <a:ext cx="118872" cy="310896"/>
          </a:xfrm>
          <a:prstGeom prst="rect">
            <a:avLst/>
          </a:prstGeom>
          <a:solidFill>
            <a:srgbClr val="1F6FB2"/>
          </a:solidFill>
          <a:ln/>
        </p:spPr>
      </p:sp>
      <p:sp>
        <p:nvSpPr>
          <p:cNvPr id="9" name="Text 7"/>
          <p:cNvSpPr/>
          <p:nvPr/>
        </p:nvSpPr>
        <p:spPr>
          <a:xfrm>
            <a:off x="8302752" y="1645920"/>
            <a:ext cx="306324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سجلّ FHIR R5</a:t>
            </a:r>
            <a:endParaRPr lang="en-US" sz="1500" dirty="0"/>
          </a:p>
        </p:txBody>
      </p:sp>
      <p:sp>
        <p:nvSpPr>
          <p:cNvPr id="10" name="Text 8"/>
          <p:cNvSpPr/>
          <p:nvPr/>
        </p:nvSpPr>
        <p:spPr>
          <a:xfrm>
            <a:off x="8284464" y="206654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13 نوعاً من موارد FHIR (مريض، حالة، ملاحظة، دواء…)</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تخزين بصيغة JSON الأصلية</a:t>
            </a:r>
            <a:endParaRPr lang="en-US" sz="1200" dirty="0"/>
          </a:p>
        </p:txBody>
      </p:sp>
      <p:sp>
        <p:nvSpPr>
          <p:cNvPr id="11" name="Shape 9"/>
          <p:cNvSpPr/>
          <p:nvPr/>
        </p:nvSpPr>
        <p:spPr>
          <a:xfrm>
            <a:off x="427939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2" name="Shape 10"/>
          <p:cNvSpPr/>
          <p:nvPr/>
        </p:nvSpPr>
        <p:spPr>
          <a:xfrm>
            <a:off x="7680960" y="1664208"/>
            <a:ext cx="118872" cy="310896"/>
          </a:xfrm>
          <a:prstGeom prst="rect">
            <a:avLst/>
          </a:prstGeom>
          <a:solidFill>
            <a:srgbClr val="0E9E8E"/>
          </a:solidFill>
          <a:ln/>
        </p:spPr>
      </p:sp>
      <p:sp>
        <p:nvSpPr>
          <p:cNvPr id="13" name="Text 11"/>
          <p:cNvSpPr/>
          <p:nvPr/>
        </p:nvSpPr>
        <p:spPr>
          <a:xfrm>
            <a:off x="4462272" y="1645920"/>
            <a:ext cx="3063240"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النسخ والتاريخ</a:t>
            </a:r>
            <a:endParaRPr lang="en-US" sz="1500" dirty="0"/>
          </a:p>
        </p:txBody>
      </p:sp>
      <p:sp>
        <p:nvSpPr>
          <p:cNvPr id="14" name="Text 12"/>
          <p:cNvSpPr/>
          <p:nvPr/>
        </p:nvSpPr>
        <p:spPr>
          <a:xfrm>
            <a:off x="4443984" y="206654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حفظ كامل لتاريخ النسخ</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حذف ناعم (Soft Delete)</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تدقيق ومساءلة</a:t>
            </a:r>
            <a:endParaRPr lang="en-US" sz="1200" dirty="0"/>
          </a:p>
        </p:txBody>
      </p:sp>
      <p:sp>
        <p:nvSpPr>
          <p:cNvPr id="15" name="Shape 13"/>
          <p:cNvSpPr/>
          <p:nvPr/>
        </p:nvSpPr>
        <p:spPr>
          <a:xfrm>
            <a:off x="43891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6" name="Shape 14"/>
          <p:cNvSpPr/>
          <p:nvPr/>
        </p:nvSpPr>
        <p:spPr>
          <a:xfrm>
            <a:off x="3840480" y="1664208"/>
            <a:ext cx="118872" cy="310896"/>
          </a:xfrm>
          <a:prstGeom prst="rect">
            <a:avLst/>
          </a:prstGeom>
          <a:solidFill>
            <a:srgbClr val="2E8B57"/>
          </a:solidFill>
          <a:ln/>
        </p:spPr>
      </p:sp>
      <p:sp>
        <p:nvSpPr>
          <p:cNvPr id="17" name="Text 15"/>
          <p:cNvSpPr/>
          <p:nvPr/>
        </p:nvSpPr>
        <p:spPr>
          <a:xfrm>
            <a:off x="621792" y="1645920"/>
            <a:ext cx="3063240"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البحث والتحقّق</a:t>
            </a:r>
            <a:endParaRPr lang="en-US" sz="1500" dirty="0"/>
          </a:p>
        </p:txBody>
      </p:sp>
      <p:sp>
        <p:nvSpPr>
          <p:cNvPr id="18" name="Text 16"/>
          <p:cNvSpPr/>
          <p:nvPr/>
        </p:nvSpPr>
        <p:spPr>
          <a:xfrm>
            <a:off x="603504" y="206654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بحث ببارامترات قياسية</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تحقّق من الموارد مقابل مواصفة R5 (Firely)</a:t>
            </a:r>
            <a:endParaRPr lang="en-US" sz="1200" dirty="0"/>
          </a:p>
        </p:txBody>
      </p:sp>
      <p:sp>
        <p:nvSpPr>
          <p:cNvPr id="19" name="Shape 17"/>
          <p:cNvSpPr/>
          <p:nvPr/>
        </p:nvSpPr>
        <p:spPr>
          <a:xfrm>
            <a:off x="811987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0" name="Shape 18"/>
          <p:cNvSpPr/>
          <p:nvPr/>
        </p:nvSpPr>
        <p:spPr>
          <a:xfrm>
            <a:off x="11521440" y="3995928"/>
            <a:ext cx="118872" cy="310896"/>
          </a:xfrm>
          <a:prstGeom prst="rect">
            <a:avLst/>
          </a:prstGeom>
          <a:solidFill>
            <a:srgbClr val="8E44AD"/>
          </a:solidFill>
          <a:ln/>
        </p:spPr>
      </p:sp>
      <p:sp>
        <p:nvSpPr>
          <p:cNvPr id="21" name="Text 19"/>
          <p:cNvSpPr/>
          <p:nvPr/>
        </p:nvSpPr>
        <p:spPr>
          <a:xfrm>
            <a:off x="8302752" y="3977640"/>
            <a:ext cx="3063240" cy="384048"/>
          </a:xfrm>
          <a:prstGeom prst="rect">
            <a:avLst/>
          </a:prstGeom>
          <a:noFill/>
          <a:ln/>
        </p:spPr>
        <p:txBody>
          <a:bodyPr wrap="square" rtlCol="0" anchor="ctr"/>
          <a:lstStyle/>
          <a:p>
            <a:pPr rtl="1" algn="r" indent="0" marL="0">
              <a:buNone/>
            </a:pPr>
            <a:r>
              <a:rPr lang="en-US" sz="1500" b="1" dirty="0">
                <a:solidFill>
                  <a:srgbClr val="8E44AD"/>
                </a:solidFill>
                <a:latin typeface="Arial" pitchFamily="34" charset="0"/>
                <a:ea typeface="Arial" pitchFamily="34" charset="-122"/>
                <a:cs typeface="Arial" pitchFamily="34" charset="-120"/>
              </a:rPr>
              <a:t>المصادقة والتفويض</a:t>
            </a:r>
            <a:endParaRPr lang="en-US" sz="1500" dirty="0"/>
          </a:p>
        </p:txBody>
      </p:sp>
      <p:sp>
        <p:nvSpPr>
          <p:cNvPr id="22" name="Text 20"/>
          <p:cNvSpPr/>
          <p:nvPr/>
        </p:nvSpPr>
        <p:spPr>
          <a:xfrm>
            <a:off x="8284464" y="439826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Keycloak (OAuth2/OIDC) ورموز JWT</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أدوار ونطاقات SMART</a:t>
            </a:r>
            <a:endParaRPr lang="en-US" sz="1200" dirty="0"/>
          </a:p>
        </p:txBody>
      </p:sp>
      <p:sp>
        <p:nvSpPr>
          <p:cNvPr id="23" name="Shape 21"/>
          <p:cNvSpPr/>
          <p:nvPr/>
        </p:nvSpPr>
        <p:spPr>
          <a:xfrm>
            <a:off x="427939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4" name="Shape 22"/>
          <p:cNvSpPr/>
          <p:nvPr/>
        </p:nvSpPr>
        <p:spPr>
          <a:xfrm>
            <a:off x="7680960" y="3995928"/>
            <a:ext cx="118872" cy="310896"/>
          </a:xfrm>
          <a:prstGeom prst="rect">
            <a:avLst/>
          </a:prstGeom>
          <a:solidFill>
            <a:srgbClr val="C0392B"/>
          </a:solidFill>
          <a:ln/>
        </p:spPr>
      </p:sp>
      <p:sp>
        <p:nvSpPr>
          <p:cNvPr id="25" name="Text 23"/>
          <p:cNvSpPr/>
          <p:nvPr/>
        </p:nvSpPr>
        <p:spPr>
          <a:xfrm>
            <a:off x="4462272" y="3977640"/>
            <a:ext cx="3063240" cy="384048"/>
          </a:xfrm>
          <a:prstGeom prst="rect">
            <a:avLst/>
          </a:prstGeom>
          <a:noFill/>
          <a:ln/>
        </p:spPr>
        <p:txBody>
          <a:bodyPr wrap="square" rtlCol="0" anchor="ctr"/>
          <a:lstStyle/>
          <a:p>
            <a:pPr rtl="1" algn="r" indent="0" marL="0">
              <a:buNone/>
            </a:pPr>
            <a:r>
              <a:rPr lang="en-US" sz="1500" b="1" dirty="0">
                <a:solidFill>
                  <a:srgbClr val="C0392B"/>
                </a:solidFill>
                <a:latin typeface="Arial" pitchFamily="34" charset="0"/>
                <a:ea typeface="Arial" pitchFamily="34" charset="-122"/>
                <a:cs typeface="Arial" pitchFamily="34" charset="-120"/>
              </a:rPr>
              <a:t>دعم القرار السريري</a:t>
            </a:r>
            <a:endParaRPr lang="en-US" sz="1500" dirty="0"/>
          </a:p>
        </p:txBody>
      </p:sp>
      <p:sp>
        <p:nvSpPr>
          <p:cNvPr id="26" name="Text 24"/>
          <p:cNvSpPr/>
          <p:nvPr/>
        </p:nvSpPr>
        <p:spPr>
          <a:xfrm>
            <a:off x="4443984" y="439826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CDS Hooks + محرّك JSON-Logic</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ورشة تأليف القواعد ونشرها</a:t>
            </a:r>
            <a:endParaRPr lang="en-US" sz="1200" dirty="0"/>
          </a:p>
        </p:txBody>
      </p:sp>
      <p:sp>
        <p:nvSpPr>
          <p:cNvPr id="27" name="Shape 25"/>
          <p:cNvSpPr/>
          <p:nvPr/>
        </p:nvSpPr>
        <p:spPr>
          <a:xfrm>
            <a:off x="43891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8" name="Shape 26"/>
          <p:cNvSpPr/>
          <p:nvPr/>
        </p:nvSpPr>
        <p:spPr>
          <a:xfrm>
            <a:off x="3840480" y="3995928"/>
            <a:ext cx="118872" cy="310896"/>
          </a:xfrm>
          <a:prstGeom prst="rect">
            <a:avLst/>
          </a:prstGeom>
          <a:solidFill>
            <a:srgbClr val="C2901F"/>
          </a:solidFill>
          <a:ln/>
        </p:spPr>
      </p:sp>
      <p:sp>
        <p:nvSpPr>
          <p:cNvPr id="29" name="Text 27"/>
          <p:cNvSpPr/>
          <p:nvPr/>
        </p:nvSpPr>
        <p:spPr>
          <a:xfrm>
            <a:off x="621792" y="3977640"/>
            <a:ext cx="3063240" cy="384048"/>
          </a:xfrm>
          <a:prstGeom prst="rect">
            <a:avLst/>
          </a:prstGeom>
          <a:noFill/>
          <a:ln/>
        </p:spPr>
        <p:txBody>
          <a:bodyPr wrap="square" rtlCol="0" anchor="ctr"/>
          <a:lstStyle/>
          <a:p>
            <a:pPr rtl="1" algn="r" indent="0" marL="0">
              <a:buNone/>
            </a:pPr>
            <a:r>
              <a:rPr lang="en-US" sz="1500" b="1" dirty="0">
                <a:solidFill>
                  <a:srgbClr val="C2901F"/>
                </a:solidFill>
                <a:latin typeface="Arial" pitchFamily="34" charset="0"/>
                <a:ea typeface="Arial" pitchFamily="34" charset="-122"/>
                <a:cs typeface="Arial" pitchFamily="34" charset="-120"/>
              </a:rPr>
              <a:t>معرفة الأدوية</a:t>
            </a:r>
            <a:endParaRPr lang="en-US" sz="1500" dirty="0"/>
          </a:p>
        </p:txBody>
      </p:sp>
      <p:sp>
        <p:nvSpPr>
          <p:cNvPr id="30" name="Text 28"/>
          <p:cNvSpPr/>
          <p:nvPr/>
        </p:nvSpPr>
        <p:spPr>
          <a:xfrm>
            <a:off x="603504" y="439826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فحوص الجرعات والسلامة</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مزوّد مُجمَّع أو RxNorm حيّ</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أهمّ ميزات المشروع</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الذكاء والخدمات والتجربة</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6</a:t>
            </a:r>
            <a:endParaRPr lang="en-US" sz="1000" dirty="0"/>
          </a:p>
        </p:txBody>
      </p:sp>
      <p:sp>
        <p:nvSpPr>
          <p:cNvPr id="7" name="Shape 5"/>
          <p:cNvSpPr/>
          <p:nvPr/>
        </p:nvSpPr>
        <p:spPr>
          <a:xfrm>
            <a:off x="811987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1521440" y="1664208"/>
            <a:ext cx="118872" cy="310896"/>
          </a:xfrm>
          <a:prstGeom prst="rect">
            <a:avLst/>
          </a:prstGeom>
          <a:solidFill>
            <a:srgbClr val="1F6FB2"/>
          </a:solidFill>
          <a:ln/>
        </p:spPr>
      </p:sp>
      <p:sp>
        <p:nvSpPr>
          <p:cNvPr id="9" name="Text 7"/>
          <p:cNvSpPr/>
          <p:nvPr/>
        </p:nvSpPr>
        <p:spPr>
          <a:xfrm>
            <a:off x="8302752" y="1645920"/>
            <a:ext cx="306324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نماذج المخاطر</a:t>
            </a:r>
            <a:endParaRPr lang="en-US" sz="1500" dirty="0"/>
          </a:p>
        </p:txBody>
      </p:sp>
      <p:sp>
        <p:nvSpPr>
          <p:cNvPr id="10" name="Text 8"/>
          <p:cNvSpPr/>
          <p:nvPr/>
        </p:nvSpPr>
        <p:spPr>
          <a:xfrm>
            <a:off x="8284464" y="206654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خطر السكري والقلب وإعادة الدخول</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تعمل على بيانات FHIR الفعلية</a:t>
            </a:r>
            <a:endParaRPr lang="en-US" sz="1200" dirty="0"/>
          </a:p>
        </p:txBody>
      </p:sp>
      <p:sp>
        <p:nvSpPr>
          <p:cNvPr id="11" name="Shape 9"/>
          <p:cNvSpPr/>
          <p:nvPr/>
        </p:nvSpPr>
        <p:spPr>
          <a:xfrm>
            <a:off x="427939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2" name="Shape 10"/>
          <p:cNvSpPr/>
          <p:nvPr/>
        </p:nvSpPr>
        <p:spPr>
          <a:xfrm>
            <a:off x="7680960" y="1664208"/>
            <a:ext cx="118872" cy="310896"/>
          </a:xfrm>
          <a:prstGeom prst="rect">
            <a:avLst/>
          </a:prstGeom>
          <a:solidFill>
            <a:srgbClr val="0E9E8E"/>
          </a:solidFill>
          <a:ln/>
        </p:spPr>
      </p:sp>
      <p:sp>
        <p:nvSpPr>
          <p:cNvPr id="13" name="Text 11"/>
          <p:cNvSpPr/>
          <p:nvPr/>
        </p:nvSpPr>
        <p:spPr>
          <a:xfrm>
            <a:off x="4462272" y="1645920"/>
            <a:ext cx="3063240"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النماذج الخارجية</a:t>
            </a:r>
            <a:endParaRPr lang="en-US" sz="1500" dirty="0"/>
          </a:p>
        </p:txBody>
      </p:sp>
      <p:sp>
        <p:nvSpPr>
          <p:cNvPr id="14" name="Text 12"/>
          <p:cNvSpPr/>
          <p:nvPr/>
        </p:nvSpPr>
        <p:spPr>
          <a:xfrm>
            <a:off x="4443984" y="206654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تسجيل نماذج ذكاء مستضافة خارجياً</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أسرار مشفّرة (Data Protection)</a:t>
            </a:r>
            <a:endParaRPr lang="en-US" sz="1200" dirty="0"/>
          </a:p>
        </p:txBody>
      </p:sp>
      <p:sp>
        <p:nvSpPr>
          <p:cNvPr id="15" name="Shape 13"/>
          <p:cNvSpPr/>
          <p:nvPr/>
        </p:nvSpPr>
        <p:spPr>
          <a:xfrm>
            <a:off x="43891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6" name="Shape 14"/>
          <p:cNvSpPr/>
          <p:nvPr/>
        </p:nvSpPr>
        <p:spPr>
          <a:xfrm>
            <a:off x="3840480" y="1664208"/>
            <a:ext cx="118872" cy="310896"/>
          </a:xfrm>
          <a:prstGeom prst="rect">
            <a:avLst/>
          </a:prstGeom>
          <a:solidFill>
            <a:srgbClr val="2E8B57"/>
          </a:solidFill>
          <a:ln/>
        </p:spPr>
      </p:sp>
      <p:sp>
        <p:nvSpPr>
          <p:cNvPr id="17" name="Text 15"/>
          <p:cNvSpPr/>
          <p:nvPr/>
        </p:nvSpPr>
        <p:spPr>
          <a:xfrm>
            <a:off x="621792" y="1645920"/>
            <a:ext cx="3063240"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بوابة المريض</a:t>
            </a:r>
            <a:endParaRPr lang="en-US" sz="1500" dirty="0"/>
          </a:p>
        </p:txBody>
      </p:sp>
      <p:sp>
        <p:nvSpPr>
          <p:cNvPr id="18" name="Text 16"/>
          <p:cNvSpPr/>
          <p:nvPr/>
        </p:nvSpPr>
        <p:spPr>
          <a:xfrm>
            <a:off x="603504" y="206654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الاطّلاع على السجل والمواعيد</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إدارة الملف الشخصي بأمان</a:t>
            </a:r>
            <a:endParaRPr lang="en-US" sz="1200" dirty="0"/>
          </a:p>
        </p:txBody>
      </p:sp>
      <p:sp>
        <p:nvSpPr>
          <p:cNvPr id="19" name="Shape 17"/>
          <p:cNvSpPr/>
          <p:nvPr/>
        </p:nvSpPr>
        <p:spPr>
          <a:xfrm>
            <a:off x="811987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0" name="Shape 18"/>
          <p:cNvSpPr/>
          <p:nvPr/>
        </p:nvSpPr>
        <p:spPr>
          <a:xfrm>
            <a:off x="11521440" y="3995928"/>
            <a:ext cx="118872" cy="310896"/>
          </a:xfrm>
          <a:prstGeom prst="rect">
            <a:avLst/>
          </a:prstGeom>
          <a:solidFill>
            <a:srgbClr val="8E44AD"/>
          </a:solidFill>
          <a:ln/>
        </p:spPr>
      </p:sp>
      <p:sp>
        <p:nvSpPr>
          <p:cNvPr id="21" name="Text 19"/>
          <p:cNvSpPr/>
          <p:nvPr/>
        </p:nvSpPr>
        <p:spPr>
          <a:xfrm>
            <a:off x="8302752" y="3977640"/>
            <a:ext cx="3063240" cy="384048"/>
          </a:xfrm>
          <a:prstGeom prst="rect">
            <a:avLst/>
          </a:prstGeom>
          <a:noFill/>
          <a:ln/>
        </p:spPr>
        <p:txBody>
          <a:bodyPr wrap="square" rtlCol="0" anchor="ctr"/>
          <a:lstStyle/>
          <a:p>
            <a:pPr rtl="1" algn="r" indent="0" marL="0">
              <a:buNone/>
            </a:pPr>
            <a:r>
              <a:rPr lang="en-US" sz="1500" b="1" dirty="0">
                <a:solidFill>
                  <a:srgbClr val="8E44AD"/>
                </a:solidFill>
                <a:latin typeface="Arial" pitchFamily="34" charset="0"/>
                <a:ea typeface="Arial" pitchFamily="34" charset="-122"/>
                <a:cs typeface="Arial" pitchFamily="34" charset="-120"/>
              </a:rPr>
              <a:t>الوثائق السريرية</a:t>
            </a:r>
            <a:endParaRPr lang="en-US" sz="1500" dirty="0"/>
          </a:p>
        </p:txBody>
      </p:sp>
      <p:sp>
        <p:nvSpPr>
          <p:cNvPr id="22" name="Text 20"/>
          <p:cNvSpPr/>
          <p:nvPr/>
        </p:nvSpPr>
        <p:spPr>
          <a:xfrm>
            <a:off x="8284464" y="439826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رفع وإدارة ملفّات المريض</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حتى ٢٠ ميغابايت لكلّ ملف</a:t>
            </a:r>
            <a:endParaRPr lang="en-US" sz="1200" dirty="0"/>
          </a:p>
        </p:txBody>
      </p:sp>
      <p:sp>
        <p:nvSpPr>
          <p:cNvPr id="23" name="Shape 21"/>
          <p:cNvSpPr/>
          <p:nvPr/>
        </p:nvSpPr>
        <p:spPr>
          <a:xfrm>
            <a:off x="427939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4" name="Shape 22"/>
          <p:cNvSpPr/>
          <p:nvPr/>
        </p:nvSpPr>
        <p:spPr>
          <a:xfrm>
            <a:off x="7680960" y="3995928"/>
            <a:ext cx="118872" cy="310896"/>
          </a:xfrm>
          <a:prstGeom prst="rect">
            <a:avLst/>
          </a:prstGeom>
          <a:solidFill>
            <a:srgbClr val="C2901F"/>
          </a:solidFill>
          <a:ln/>
        </p:spPr>
      </p:sp>
      <p:sp>
        <p:nvSpPr>
          <p:cNvPr id="25" name="Text 23"/>
          <p:cNvSpPr/>
          <p:nvPr/>
        </p:nvSpPr>
        <p:spPr>
          <a:xfrm>
            <a:off x="4462272" y="3977640"/>
            <a:ext cx="3063240" cy="384048"/>
          </a:xfrm>
          <a:prstGeom prst="rect">
            <a:avLst/>
          </a:prstGeom>
          <a:noFill/>
          <a:ln/>
        </p:spPr>
        <p:txBody>
          <a:bodyPr wrap="square" rtlCol="0" anchor="ctr"/>
          <a:lstStyle/>
          <a:p>
            <a:pPr rtl="1" algn="r" indent="0" marL="0">
              <a:buNone/>
            </a:pPr>
            <a:r>
              <a:rPr lang="en-US" sz="1500" b="1" dirty="0">
                <a:solidFill>
                  <a:srgbClr val="C2901F"/>
                </a:solidFill>
                <a:latin typeface="Arial" pitchFamily="34" charset="0"/>
                <a:ea typeface="Arial" pitchFamily="34" charset="-122"/>
                <a:cs typeface="Arial" pitchFamily="34" charset="-120"/>
              </a:rPr>
              <a:t>لوحات وتحليلات</a:t>
            </a:r>
            <a:endParaRPr lang="en-US" sz="1500" dirty="0"/>
          </a:p>
        </p:txBody>
      </p:sp>
      <p:sp>
        <p:nvSpPr>
          <p:cNvPr id="26" name="Text 24"/>
          <p:cNvSpPr/>
          <p:nvPr/>
        </p:nvSpPr>
        <p:spPr>
          <a:xfrm>
            <a:off x="4443984" y="439826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لوحة عمل لكلّ دور</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قائمة مراقبة تنبّؤية + رؤى ذكية</a:t>
            </a:r>
            <a:endParaRPr lang="en-US" sz="1200" dirty="0"/>
          </a:p>
        </p:txBody>
      </p:sp>
      <p:sp>
        <p:nvSpPr>
          <p:cNvPr id="27" name="Shape 25"/>
          <p:cNvSpPr/>
          <p:nvPr/>
        </p:nvSpPr>
        <p:spPr>
          <a:xfrm>
            <a:off x="43891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8" name="Shape 26"/>
          <p:cNvSpPr/>
          <p:nvPr/>
        </p:nvSpPr>
        <p:spPr>
          <a:xfrm>
            <a:off x="3840480" y="3995928"/>
            <a:ext cx="118872" cy="310896"/>
          </a:xfrm>
          <a:prstGeom prst="rect">
            <a:avLst/>
          </a:prstGeom>
          <a:solidFill>
            <a:srgbClr val="C0392B"/>
          </a:solidFill>
          <a:ln/>
        </p:spPr>
      </p:sp>
      <p:sp>
        <p:nvSpPr>
          <p:cNvPr id="29" name="Text 27"/>
          <p:cNvSpPr/>
          <p:nvPr/>
        </p:nvSpPr>
        <p:spPr>
          <a:xfrm>
            <a:off x="621792" y="3977640"/>
            <a:ext cx="3063240" cy="384048"/>
          </a:xfrm>
          <a:prstGeom prst="rect">
            <a:avLst/>
          </a:prstGeom>
          <a:noFill/>
          <a:ln/>
        </p:spPr>
        <p:txBody>
          <a:bodyPr wrap="square" rtlCol="0" anchor="ctr"/>
          <a:lstStyle/>
          <a:p>
            <a:pPr rtl="1" algn="r" indent="0" marL="0">
              <a:buNone/>
            </a:pPr>
            <a:r>
              <a:rPr lang="en-US" sz="1500" b="1" dirty="0">
                <a:solidFill>
                  <a:srgbClr val="C0392B"/>
                </a:solidFill>
                <a:latin typeface="Arial" pitchFamily="34" charset="0"/>
                <a:ea typeface="Arial" pitchFamily="34" charset="-122"/>
                <a:cs typeface="Arial" pitchFamily="34" charset="-120"/>
              </a:rPr>
              <a:t>واجهة ثنائية اللغة</a:t>
            </a:r>
            <a:endParaRPr lang="en-US" sz="1500" dirty="0"/>
          </a:p>
        </p:txBody>
      </p:sp>
      <p:sp>
        <p:nvSpPr>
          <p:cNvPr id="30" name="Text 28"/>
          <p:cNvSpPr/>
          <p:nvPr/>
        </p:nvSpPr>
        <p:spPr>
          <a:xfrm>
            <a:off x="603504" y="4398264"/>
            <a:ext cx="3191256" cy="1408176"/>
          </a:xfrm>
          <a:prstGeom prst="rect">
            <a:avLst/>
          </a:prstGeom>
          <a:noFill/>
          <a:ln/>
        </p:spPr>
        <p:txBody>
          <a:bodyPr wrap="square" rtlCol="0" anchor="t"/>
          <a:lstStyle/>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عربي/إنجليزي بتبديلٍ فوري</a:t>
            </a:r>
            <a:endParaRPr lang="en-US" sz="1200" dirty="0"/>
          </a:p>
          <a:p>
            <a:pPr rtl="1" algn="r" marL="152400" indent="-152400">
              <a:spcAft>
                <a:spcPts val="400"/>
              </a:spcAft>
              <a:buSzPct val="100000"/>
              <a:buChar char="•"/>
            </a:pPr>
            <a:r>
              <a:rPr lang="en-US" sz="1200" dirty="0">
                <a:solidFill>
                  <a:srgbClr val="23323D"/>
                </a:solidFill>
                <a:latin typeface="Arial" pitchFamily="34" charset="0"/>
                <a:ea typeface="Arial" pitchFamily="34" charset="-122"/>
                <a:cs typeface="Arial" pitchFamily="34" charset="-120"/>
              </a:rPr>
              <a:t>دعم اتجاه الكتابة RTL/LTR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التقنيات المستخدمة</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حزمة تقنية حديثة وقابلة للتوسّع</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7</a:t>
            </a:r>
            <a:endParaRPr lang="en-US" sz="1000" dirty="0"/>
          </a:p>
        </p:txBody>
      </p:sp>
      <p:sp>
        <p:nvSpPr>
          <p:cNvPr id="7" name="Shape 5"/>
          <p:cNvSpPr/>
          <p:nvPr/>
        </p:nvSpPr>
        <p:spPr>
          <a:xfrm>
            <a:off x="8942832" y="1554480"/>
            <a:ext cx="2697480" cy="3931920"/>
          </a:xfrm>
          <a:prstGeom prst="roundRect">
            <a:avLst>
              <a:gd name="adj" fmla="val 2034"/>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1521440" y="1664208"/>
            <a:ext cx="118872" cy="310896"/>
          </a:xfrm>
          <a:prstGeom prst="rect">
            <a:avLst/>
          </a:prstGeom>
          <a:solidFill>
            <a:srgbClr val="1F6FB2"/>
          </a:solidFill>
          <a:ln/>
        </p:spPr>
      </p:sp>
      <p:sp>
        <p:nvSpPr>
          <p:cNvPr id="9" name="Text 7"/>
          <p:cNvSpPr/>
          <p:nvPr/>
        </p:nvSpPr>
        <p:spPr>
          <a:xfrm>
            <a:off x="9125712" y="1645920"/>
            <a:ext cx="2240280" cy="384048"/>
          </a:xfrm>
          <a:prstGeom prst="rect">
            <a:avLst/>
          </a:prstGeom>
          <a:noFill/>
          <a:ln/>
        </p:spPr>
        <p:txBody>
          <a:bodyPr wrap="square" rtlCol="0" anchor="ctr"/>
          <a:lstStyle/>
          <a:p>
            <a:pPr rtl="1" algn="r" indent="0" marL="0">
              <a:buNone/>
            </a:pPr>
            <a:r>
              <a:rPr lang="en-US" sz="1600" b="1" dirty="0">
                <a:solidFill>
                  <a:srgbClr val="1F6FB2"/>
                </a:solidFill>
                <a:latin typeface="Arial" pitchFamily="34" charset="0"/>
                <a:ea typeface="Arial" pitchFamily="34" charset="-122"/>
                <a:cs typeface="Arial" pitchFamily="34" charset="-120"/>
              </a:rPr>
              <a:t>الخادم Backend</a:t>
            </a:r>
            <a:endParaRPr lang="en-US" sz="1600" dirty="0"/>
          </a:p>
        </p:txBody>
      </p:sp>
      <p:sp>
        <p:nvSpPr>
          <p:cNvPr id="10" name="Text 8"/>
          <p:cNvSpPr/>
          <p:nvPr/>
        </p:nvSpPr>
        <p:spPr>
          <a:xfrm>
            <a:off x="9107424" y="2066544"/>
            <a:ext cx="2368296" cy="332841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ASP.NET Core 10</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Entity Framework Core 10</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PostgreSQL (JSONB)</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HL7 FHIR R5 — Firely SDK</a:t>
            </a:r>
            <a:endParaRPr lang="en-US" sz="1300" dirty="0"/>
          </a:p>
        </p:txBody>
      </p:sp>
      <p:sp>
        <p:nvSpPr>
          <p:cNvPr id="11" name="Shape 9"/>
          <p:cNvSpPr/>
          <p:nvPr/>
        </p:nvSpPr>
        <p:spPr>
          <a:xfrm>
            <a:off x="6016752" y="1554480"/>
            <a:ext cx="2697480" cy="3931920"/>
          </a:xfrm>
          <a:prstGeom prst="roundRect">
            <a:avLst>
              <a:gd name="adj" fmla="val 2034"/>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2" name="Shape 10"/>
          <p:cNvSpPr/>
          <p:nvPr/>
        </p:nvSpPr>
        <p:spPr>
          <a:xfrm>
            <a:off x="8595360" y="1664208"/>
            <a:ext cx="118872" cy="310896"/>
          </a:xfrm>
          <a:prstGeom prst="rect">
            <a:avLst/>
          </a:prstGeom>
          <a:solidFill>
            <a:srgbClr val="0E9E8E"/>
          </a:solidFill>
          <a:ln/>
        </p:spPr>
      </p:sp>
      <p:sp>
        <p:nvSpPr>
          <p:cNvPr id="13" name="Text 11"/>
          <p:cNvSpPr/>
          <p:nvPr/>
        </p:nvSpPr>
        <p:spPr>
          <a:xfrm>
            <a:off x="6199632" y="1645920"/>
            <a:ext cx="2240280" cy="384048"/>
          </a:xfrm>
          <a:prstGeom prst="rect">
            <a:avLst/>
          </a:prstGeom>
          <a:noFill/>
          <a:ln/>
        </p:spPr>
        <p:txBody>
          <a:bodyPr wrap="square" rtlCol="0" anchor="ctr"/>
          <a:lstStyle/>
          <a:p>
            <a:pPr rtl="1" algn="r" indent="0" marL="0">
              <a:buNone/>
            </a:pPr>
            <a:r>
              <a:rPr lang="en-US" sz="1600" b="1" dirty="0">
                <a:solidFill>
                  <a:srgbClr val="0E9E8E"/>
                </a:solidFill>
                <a:latin typeface="Arial" pitchFamily="34" charset="0"/>
                <a:ea typeface="Arial" pitchFamily="34" charset="-122"/>
                <a:cs typeface="Arial" pitchFamily="34" charset="-120"/>
              </a:rPr>
              <a:t>الواجهة Frontend</a:t>
            </a:r>
            <a:endParaRPr lang="en-US" sz="1600" dirty="0"/>
          </a:p>
        </p:txBody>
      </p:sp>
      <p:sp>
        <p:nvSpPr>
          <p:cNvPr id="14" name="Text 12"/>
          <p:cNvSpPr/>
          <p:nvPr/>
        </p:nvSpPr>
        <p:spPr>
          <a:xfrm>
            <a:off x="6181344" y="2066544"/>
            <a:ext cx="2368296" cy="332841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Blazor WebAssembly (.NET 10)</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WebAssembly</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Bootstrap</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ترجمة عربي/إنجليزي</a:t>
            </a:r>
            <a:endParaRPr lang="en-US" sz="1300" dirty="0"/>
          </a:p>
        </p:txBody>
      </p:sp>
      <p:sp>
        <p:nvSpPr>
          <p:cNvPr id="15" name="Shape 13"/>
          <p:cNvSpPr/>
          <p:nvPr/>
        </p:nvSpPr>
        <p:spPr>
          <a:xfrm>
            <a:off x="3090672" y="1554480"/>
            <a:ext cx="2697480" cy="3931920"/>
          </a:xfrm>
          <a:prstGeom prst="roundRect">
            <a:avLst>
              <a:gd name="adj" fmla="val 2034"/>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6" name="Shape 14"/>
          <p:cNvSpPr/>
          <p:nvPr/>
        </p:nvSpPr>
        <p:spPr>
          <a:xfrm>
            <a:off x="5669280" y="1664208"/>
            <a:ext cx="118872" cy="310896"/>
          </a:xfrm>
          <a:prstGeom prst="rect">
            <a:avLst/>
          </a:prstGeom>
          <a:solidFill>
            <a:srgbClr val="8E44AD"/>
          </a:solidFill>
          <a:ln/>
        </p:spPr>
      </p:sp>
      <p:sp>
        <p:nvSpPr>
          <p:cNvPr id="17" name="Text 15"/>
          <p:cNvSpPr/>
          <p:nvPr/>
        </p:nvSpPr>
        <p:spPr>
          <a:xfrm>
            <a:off x="3273552" y="1645920"/>
            <a:ext cx="2240280" cy="384048"/>
          </a:xfrm>
          <a:prstGeom prst="rect">
            <a:avLst/>
          </a:prstGeom>
          <a:noFill/>
          <a:ln/>
        </p:spPr>
        <p:txBody>
          <a:bodyPr wrap="square" rtlCol="0" anchor="ctr"/>
          <a:lstStyle/>
          <a:p>
            <a:pPr rtl="1" algn="r" indent="0" marL="0">
              <a:buNone/>
            </a:pPr>
            <a:r>
              <a:rPr lang="en-US" sz="1600" b="1" dirty="0">
                <a:solidFill>
                  <a:srgbClr val="8E44AD"/>
                </a:solidFill>
                <a:latin typeface="Arial" pitchFamily="34" charset="0"/>
                <a:ea typeface="Arial" pitchFamily="34" charset="-122"/>
                <a:cs typeface="Arial" pitchFamily="34" charset="-120"/>
              </a:rPr>
              <a:t>الأمان Security</a:t>
            </a:r>
            <a:endParaRPr lang="en-US" sz="1600" dirty="0"/>
          </a:p>
        </p:txBody>
      </p:sp>
      <p:sp>
        <p:nvSpPr>
          <p:cNvPr id="18" name="Text 16"/>
          <p:cNvSpPr/>
          <p:nvPr/>
        </p:nvSpPr>
        <p:spPr>
          <a:xfrm>
            <a:off x="3255264" y="2066544"/>
            <a:ext cx="2368296" cy="332841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Keycloak (OAuth2 / OIDC)</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رموز JWT</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نطاقات SMART</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تحكّم بالوصول بالأدوار</a:t>
            </a:r>
            <a:endParaRPr lang="en-US" sz="1300" dirty="0"/>
          </a:p>
        </p:txBody>
      </p:sp>
      <p:sp>
        <p:nvSpPr>
          <p:cNvPr id="19" name="Shape 17"/>
          <p:cNvSpPr/>
          <p:nvPr/>
        </p:nvSpPr>
        <p:spPr>
          <a:xfrm>
            <a:off x="164592" y="1554480"/>
            <a:ext cx="2697480" cy="3931920"/>
          </a:xfrm>
          <a:prstGeom prst="roundRect">
            <a:avLst>
              <a:gd name="adj" fmla="val 2034"/>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0" name="Shape 18"/>
          <p:cNvSpPr/>
          <p:nvPr/>
        </p:nvSpPr>
        <p:spPr>
          <a:xfrm>
            <a:off x="2743200" y="1664208"/>
            <a:ext cx="118872" cy="310896"/>
          </a:xfrm>
          <a:prstGeom prst="rect">
            <a:avLst/>
          </a:prstGeom>
          <a:solidFill>
            <a:srgbClr val="2E8B57"/>
          </a:solidFill>
          <a:ln/>
        </p:spPr>
      </p:sp>
      <p:sp>
        <p:nvSpPr>
          <p:cNvPr id="21" name="Text 19"/>
          <p:cNvSpPr/>
          <p:nvPr/>
        </p:nvSpPr>
        <p:spPr>
          <a:xfrm>
            <a:off x="347472" y="1645920"/>
            <a:ext cx="2240280" cy="384048"/>
          </a:xfrm>
          <a:prstGeom prst="rect">
            <a:avLst/>
          </a:prstGeom>
          <a:noFill/>
          <a:ln/>
        </p:spPr>
        <p:txBody>
          <a:bodyPr wrap="square" rtlCol="0" anchor="ctr"/>
          <a:lstStyle/>
          <a:p>
            <a:pPr rtl="1" algn="r" indent="0" marL="0">
              <a:buNone/>
            </a:pPr>
            <a:r>
              <a:rPr lang="en-US" sz="1600" b="1" dirty="0">
                <a:solidFill>
                  <a:srgbClr val="2E8B57"/>
                </a:solidFill>
                <a:latin typeface="Arial" pitchFamily="34" charset="0"/>
                <a:ea typeface="Arial" pitchFamily="34" charset="-122"/>
                <a:cs typeface="Arial" pitchFamily="34" charset="-120"/>
              </a:rPr>
              <a:t>الذكاء الاصطناعي AI</a:t>
            </a:r>
            <a:endParaRPr lang="en-US" sz="1600" dirty="0"/>
          </a:p>
        </p:txBody>
      </p:sp>
      <p:sp>
        <p:nvSpPr>
          <p:cNvPr id="22" name="Text 20"/>
          <p:cNvSpPr/>
          <p:nvPr/>
        </p:nvSpPr>
        <p:spPr>
          <a:xfrm>
            <a:off x="329184" y="2066544"/>
            <a:ext cx="2368296" cy="332841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Python + scikit-learn</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تصدير skl2onnx</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تشغيل ONNX Runtime</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بيانات Synthea للعرض</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البنية العامة للنظام</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ثلاث خدمات + قاعدتا بيانات + خادم هويّة</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8</a:t>
            </a:r>
            <a:endParaRPr lang="en-US" sz="1000" dirty="0"/>
          </a:p>
        </p:txBody>
      </p:sp>
      <p:pic>
        <p:nvPicPr>
          <p:cNvPr id="7" name="Image 0" descr="D:/Code/ASP/DMRS/docs/diagrams/architecture.png">    </p:cNvPr>
          <p:cNvPicPr>
            <a:picLocks noChangeAspect="1"/>
          </p:cNvPicPr>
          <p:nvPr/>
        </p:nvPicPr>
        <p:blipFill>
          <a:blip r:embed="rId1"/>
          <a:stretch>
            <a:fillRect/>
          </a:stretch>
        </p:blipFill>
        <p:spPr>
          <a:xfrm>
            <a:off x="882396" y="1600200"/>
            <a:ext cx="10424160" cy="3993931"/>
          </a:xfrm>
          <a:prstGeom prst="rect">
            <a:avLst/>
          </a:prstGeom>
        </p:spPr>
      </p:pic>
      <p:sp>
        <p:nvSpPr>
          <p:cNvPr id="8" name="Text 5"/>
          <p:cNvSpPr/>
          <p:nvPr/>
        </p:nvSpPr>
        <p:spPr>
          <a:xfrm>
            <a:off x="548640" y="5777011"/>
            <a:ext cx="11091672" cy="731520"/>
          </a:xfrm>
          <a:prstGeom prst="rect">
            <a:avLst/>
          </a:prstGeom>
          <a:noFill/>
          <a:ln/>
        </p:spPr>
        <p:txBody>
          <a:bodyPr wrap="square" rtlCol="0" anchor="t"/>
          <a:lstStyle/>
          <a:p>
            <a:pPr rtl="1" algn="r" indent="0" marL="0">
              <a:buNone/>
            </a:pPr>
            <a:r>
              <a:rPr lang="en-US" sz="1350" dirty="0">
                <a:solidFill>
                  <a:srgbClr val="5B6B79"/>
                </a:solidFill>
                <a:latin typeface="Arial" pitchFamily="34" charset="0"/>
                <a:ea typeface="Arial" pitchFamily="34" charset="-122"/>
                <a:cs typeface="Arial" pitchFamily="34" charset="-120"/>
              </a:rPr>
              <a:t>الواجهة (Blazor) تُصادق عبر Keycloak ثمّ تخاطب الواجهة البرمجية (HTTPS + JWT)؛ تخزّن الموارد في PostgreSQL، وتُحمّل نماذج ONNX، وتستعلم خدمة معلومات الأدوية (وRxNorm اختيارياً).</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معيار HL7 FHIR والتشغيل البيني</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الأساس الذي بُني عليه السجل</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9</a:t>
            </a:r>
            <a:endParaRPr lang="en-US" sz="1000" dirty="0"/>
          </a:p>
        </p:txBody>
      </p:sp>
      <p:sp>
        <p:nvSpPr>
          <p:cNvPr id="7" name="Shape 5"/>
          <p:cNvSpPr/>
          <p:nvPr/>
        </p:nvSpPr>
        <p:spPr>
          <a:xfrm>
            <a:off x="6153912" y="1554480"/>
            <a:ext cx="5486400" cy="3931920"/>
          </a:xfrm>
          <a:prstGeom prst="roundRect">
            <a:avLst>
              <a:gd name="adj" fmla="val 1395"/>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1521440" y="1664208"/>
            <a:ext cx="118872" cy="310896"/>
          </a:xfrm>
          <a:prstGeom prst="rect">
            <a:avLst/>
          </a:prstGeom>
          <a:solidFill>
            <a:srgbClr val="1F6FB2"/>
          </a:solidFill>
          <a:ln/>
        </p:spPr>
      </p:sp>
      <p:sp>
        <p:nvSpPr>
          <p:cNvPr id="9" name="Text 7"/>
          <p:cNvSpPr/>
          <p:nvPr/>
        </p:nvSpPr>
        <p:spPr>
          <a:xfrm>
            <a:off x="6336792" y="1645920"/>
            <a:ext cx="502920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لماذا FHIR R5؟</a:t>
            </a:r>
            <a:endParaRPr lang="en-US" sz="1500" dirty="0"/>
          </a:p>
        </p:txBody>
      </p:sp>
      <p:sp>
        <p:nvSpPr>
          <p:cNvPr id="10" name="Text 8"/>
          <p:cNvSpPr/>
          <p:nvPr/>
        </p:nvSpPr>
        <p:spPr>
          <a:xfrm>
            <a:off x="6318504" y="2066544"/>
            <a:ext cx="5157216" cy="332841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معيار HL7 الحديث لتبادل البيانات الصحية، يمثّل المفاهيم السريرية على شكل «موارد».</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اعتُمد الإصدار الخامس R5 عبر مكتبة Firely .NET SDK.</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تُخزَّن الموارد بصيغة FHIR JSON الأصلية للحفاظ على الدقّة الكاملة.</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جدول نسخٍ يمنح أثراً تدقيقياً كاملاً (Audit Trail).</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فهرسٌ مُسطَّح يُسرّع البحث ببارامترات قياسية.</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تحقّقٌ من كلّ مورد مقابل المواصفة الرسمية عند الكتابة.</a:t>
            </a:r>
            <a:endParaRPr lang="en-US" sz="1300" dirty="0"/>
          </a:p>
        </p:txBody>
      </p:sp>
      <p:sp>
        <p:nvSpPr>
          <p:cNvPr id="11" name="Shape 9"/>
          <p:cNvSpPr/>
          <p:nvPr/>
        </p:nvSpPr>
        <p:spPr>
          <a:xfrm>
            <a:off x="548640" y="1554480"/>
            <a:ext cx="5212080" cy="1143000"/>
          </a:xfrm>
          <a:prstGeom prst="roundRect">
            <a:avLst>
              <a:gd name="adj" fmla="val 4800"/>
            </a:avLst>
          </a:prstGeom>
          <a:solidFill>
            <a:srgbClr val="0F2D43"/>
          </a:solidFill>
          <a:ln/>
        </p:spPr>
      </p:sp>
      <p:sp>
        <p:nvSpPr>
          <p:cNvPr id="12" name="Text 10"/>
          <p:cNvSpPr/>
          <p:nvPr/>
        </p:nvSpPr>
        <p:spPr>
          <a:xfrm>
            <a:off x="3749040" y="1554480"/>
            <a:ext cx="1828800" cy="1143000"/>
          </a:xfrm>
          <a:prstGeom prst="rect">
            <a:avLst/>
          </a:prstGeom>
          <a:noFill/>
          <a:ln/>
        </p:spPr>
        <p:txBody>
          <a:bodyPr wrap="square" rtlCol="0" anchor="ctr"/>
          <a:lstStyle/>
          <a:p>
            <a:pPr algn="ctr" indent="0" marL="0">
              <a:buNone/>
            </a:pPr>
            <a:r>
              <a:rPr lang="en-US" sz="4000" b="1" dirty="0">
                <a:solidFill>
                  <a:srgbClr val="39B3A6"/>
                </a:solidFill>
                <a:latin typeface="Arial" pitchFamily="34" charset="0"/>
                <a:ea typeface="Arial" pitchFamily="34" charset="-122"/>
                <a:cs typeface="Arial" pitchFamily="34" charset="-120"/>
              </a:rPr>
              <a:t>13</a:t>
            </a:r>
            <a:endParaRPr lang="en-US" sz="4000" dirty="0"/>
          </a:p>
        </p:txBody>
      </p:sp>
      <p:sp>
        <p:nvSpPr>
          <p:cNvPr id="13" name="Text 11"/>
          <p:cNvSpPr/>
          <p:nvPr/>
        </p:nvSpPr>
        <p:spPr>
          <a:xfrm>
            <a:off x="822960" y="1554480"/>
            <a:ext cx="2926080" cy="1143000"/>
          </a:xfrm>
          <a:prstGeom prst="rect">
            <a:avLst/>
          </a:prstGeom>
          <a:noFill/>
          <a:ln/>
        </p:spPr>
        <p:txBody>
          <a:bodyPr wrap="square" rtlCol="0" anchor="ctr"/>
          <a:lstStyle/>
          <a:p>
            <a:pPr rtl="1" algn="r" indent="0" marL="0">
              <a:buNone/>
            </a:pPr>
            <a:r>
              <a:rPr lang="en-US" sz="1600" dirty="0">
                <a:solidFill>
                  <a:srgbClr val="FFFFFF"/>
                </a:solidFill>
                <a:latin typeface="Arial" pitchFamily="34" charset="0"/>
                <a:ea typeface="Arial" pitchFamily="34" charset="-122"/>
                <a:cs typeface="Arial" pitchFamily="34" charset="-120"/>
              </a:rPr>
              <a:t>نوع مورد FHIR</a:t>
            </a:r>
            <a:endParaRPr lang="en-US" sz="1600" dirty="0"/>
          </a:p>
        </p:txBody>
      </p:sp>
      <p:sp>
        <p:nvSpPr>
          <p:cNvPr id="14" name="Shape 12"/>
          <p:cNvSpPr/>
          <p:nvPr/>
        </p:nvSpPr>
        <p:spPr>
          <a:xfrm>
            <a:off x="548640" y="2880360"/>
            <a:ext cx="5212080" cy="1143000"/>
          </a:xfrm>
          <a:prstGeom prst="roundRect">
            <a:avLst>
              <a:gd name="adj" fmla="val 4800"/>
            </a:avLst>
          </a:prstGeom>
          <a:solidFill>
            <a:srgbClr val="0F2D43"/>
          </a:solidFill>
          <a:ln/>
        </p:spPr>
      </p:sp>
      <p:sp>
        <p:nvSpPr>
          <p:cNvPr id="15" name="Text 13"/>
          <p:cNvSpPr/>
          <p:nvPr/>
        </p:nvSpPr>
        <p:spPr>
          <a:xfrm>
            <a:off x="3749040" y="2880360"/>
            <a:ext cx="1828800" cy="1143000"/>
          </a:xfrm>
          <a:prstGeom prst="rect">
            <a:avLst/>
          </a:prstGeom>
          <a:noFill/>
          <a:ln/>
        </p:spPr>
        <p:txBody>
          <a:bodyPr wrap="square" rtlCol="0" anchor="ctr"/>
          <a:lstStyle/>
          <a:p>
            <a:pPr algn="ctr" indent="0" marL="0">
              <a:buNone/>
            </a:pPr>
            <a:r>
              <a:rPr lang="en-US" sz="4000" b="1" dirty="0">
                <a:solidFill>
                  <a:srgbClr val="39B3A6"/>
                </a:solidFill>
                <a:latin typeface="Arial" pitchFamily="34" charset="0"/>
                <a:ea typeface="Arial" pitchFamily="34" charset="-122"/>
                <a:cs typeface="Arial" pitchFamily="34" charset="-120"/>
              </a:rPr>
              <a:t>R5</a:t>
            </a:r>
            <a:endParaRPr lang="en-US" sz="4000" dirty="0"/>
          </a:p>
        </p:txBody>
      </p:sp>
      <p:sp>
        <p:nvSpPr>
          <p:cNvPr id="16" name="Text 14"/>
          <p:cNvSpPr/>
          <p:nvPr/>
        </p:nvSpPr>
        <p:spPr>
          <a:xfrm>
            <a:off x="822960" y="2880360"/>
            <a:ext cx="2926080" cy="1143000"/>
          </a:xfrm>
          <a:prstGeom prst="rect">
            <a:avLst/>
          </a:prstGeom>
          <a:noFill/>
          <a:ln/>
        </p:spPr>
        <p:txBody>
          <a:bodyPr wrap="square" rtlCol="0" anchor="ctr"/>
          <a:lstStyle/>
          <a:p>
            <a:pPr rtl="1" algn="r" indent="0" marL="0">
              <a:buNone/>
            </a:pPr>
            <a:r>
              <a:rPr lang="en-US" sz="1600" dirty="0">
                <a:solidFill>
                  <a:srgbClr val="FFFFFF"/>
                </a:solidFill>
                <a:latin typeface="Arial" pitchFamily="34" charset="0"/>
                <a:ea typeface="Arial" pitchFamily="34" charset="-122"/>
                <a:cs typeface="Arial" pitchFamily="34" charset="-120"/>
              </a:rPr>
              <a:t>أحدث إصدار</a:t>
            </a:r>
            <a:endParaRPr lang="en-US" sz="1600" dirty="0"/>
          </a:p>
        </p:txBody>
      </p:sp>
      <p:sp>
        <p:nvSpPr>
          <p:cNvPr id="17" name="Shape 15"/>
          <p:cNvSpPr/>
          <p:nvPr/>
        </p:nvSpPr>
        <p:spPr>
          <a:xfrm>
            <a:off x="548640" y="4206240"/>
            <a:ext cx="5212080" cy="1143000"/>
          </a:xfrm>
          <a:prstGeom prst="roundRect">
            <a:avLst>
              <a:gd name="adj" fmla="val 4800"/>
            </a:avLst>
          </a:prstGeom>
          <a:solidFill>
            <a:srgbClr val="0F2D43"/>
          </a:solidFill>
          <a:ln/>
        </p:spPr>
      </p:sp>
      <p:sp>
        <p:nvSpPr>
          <p:cNvPr id="18" name="Text 16"/>
          <p:cNvSpPr/>
          <p:nvPr/>
        </p:nvSpPr>
        <p:spPr>
          <a:xfrm>
            <a:off x="3749040" y="4206240"/>
            <a:ext cx="1828800" cy="1143000"/>
          </a:xfrm>
          <a:prstGeom prst="rect">
            <a:avLst/>
          </a:prstGeom>
          <a:noFill/>
          <a:ln/>
        </p:spPr>
        <p:txBody>
          <a:bodyPr wrap="square" rtlCol="0" anchor="ctr"/>
          <a:lstStyle/>
          <a:p>
            <a:pPr algn="ctr" indent="0" marL="0">
              <a:buNone/>
            </a:pPr>
            <a:r>
              <a:rPr lang="en-US" sz="4000" b="1" dirty="0">
                <a:solidFill>
                  <a:srgbClr val="39B3A6"/>
                </a:solidFill>
                <a:latin typeface="Arial" pitchFamily="34" charset="0"/>
                <a:ea typeface="Arial" pitchFamily="34" charset="-122"/>
                <a:cs typeface="Arial" pitchFamily="34" charset="-120"/>
              </a:rPr>
              <a:t>JSON</a:t>
            </a:r>
            <a:endParaRPr lang="en-US" sz="4000" dirty="0"/>
          </a:p>
        </p:txBody>
      </p:sp>
      <p:sp>
        <p:nvSpPr>
          <p:cNvPr id="19" name="Text 17"/>
          <p:cNvSpPr/>
          <p:nvPr/>
        </p:nvSpPr>
        <p:spPr>
          <a:xfrm>
            <a:off x="822960" y="4206240"/>
            <a:ext cx="2926080" cy="1143000"/>
          </a:xfrm>
          <a:prstGeom prst="rect">
            <a:avLst/>
          </a:prstGeom>
          <a:noFill/>
          <a:ln/>
        </p:spPr>
        <p:txBody>
          <a:bodyPr wrap="square" rtlCol="0" anchor="ctr"/>
          <a:lstStyle/>
          <a:p>
            <a:pPr rtl="1" algn="r" indent="0" marL="0">
              <a:buNone/>
            </a:pPr>
            <a:r>
              <a:rPr lang="en-US" sz="1600" dirty="0">
                <a:solidFill>
                  <a:srgbClr val="FFFFFF"/>
                </a:solidFill>
                <a:latin typeface="Arial" pitchFamily="34" charset="0"/>
                <a:ea typeface="Arial" pitchFamily="34" charset="-122"/>
                <a:cs typeface="Arial" pitchFamily="34" charset="-120"/>
              </a:rPr>
              <a:t>تخزين أصلي</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دعم القرار السريري (CDS)</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تنبيهات قابلة للتهيئة في موضع الرعاية — لا مُبرمَجة مسبقاً</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10</a:t>
            </a:r>
            <a:endParaRPr lang="en-US" sz="1000" dirty="0"/>
          </a:p>
        </p:txBody>
      </p:sp>
      <p:sp>
        <p:nvSpPr>
          <p:cNvPr id="7" name="Shape 5"/>
          <p:cNvSpPr/>
          <p:nvPr/>
        </p:nvSpPr>
        <p:spPr>
          <a:xfrm>
            <a:off x="6428232" y="1600200"/>
            <a:ext cx="5212080" cy="1691640"/>
          </a:xfrm>
          <a:prstGeom prst="roundRect">
            <a:avLst>
              <a:gd name="adj" fmla="val 324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1521440" y="1709928"/>
            <a:ext cx="118872" cy="310896"/>
          </a:xfrm>
          <a:prstGeom prst="rect">
            <a:avLst/>
          </a:prstGeom>
          <a:solidFill>
            <a:srgbClr val="1F6FB2"/>
          </a:solidFill>
          <a:ln/>
        </p:spPr>
      </p:sp>
      <p:sp>
        <p:nvSpPr>
          <p:cNvPr id="9" name="Text 7"/>
          <p:cNvSpPr/>
          <p:nvPr/>
        </p:nvSpPr>
        <p:spPr>
          <a:xfrm>
            <a:off x="6611112" y="1691640"/>
            <a:ext cx="475488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CDS Hooks</a:t>
            </a:r>
            <a:endParaRPr lang="en-US" sz="1500" dirty="0"/>
          </a:p>
        </p:txBody>
      </p:sp>
      <p:sp>
        <p:nvSpPr>
          <p:cNvPr id="10" name="Text 8"/>
          <p:cNvSpPr/>
          <p:nvPr/>
        </p:nvSpPr>
        <p:spPr>
          <a:xfrm>
            <a:off x="6592824" y="2112264"/>
            <a:ext cx="4882896" cy="1088136"/>
          </a:xfrm>
          <a:prstGeom prst="rect">
            <a:avLst/>
          </a:prstGeom>
          <a:noFill/>
          <a:ln/>
        </p:spPr>
        <p:txBody>
          <a:bodyPr wrap="square" rtlCol="0" anchor="t"/>
          <a:lstStyle/>
          <a:p>
            <a:pPr rtl="1" algn="r" indent="0" marL="0">
              <a:spcAft>
                <a:spcPts val="400"/>
              </a:spcAft>
              <a:buNone/>
            </a:pPr>
            <a:r>
              <a:rPr lang="en-US" sz="1350" dirty="0">
                <a:solidFill>
                  <a:srgbClr val="23323D"/>
                </a:solidFill>
                <a:latin typeface="Arial" pitchFamily="34" charset="0"/>
                <a:ea typeface="Arial" pitchFamily="34" charset="-122"/>
                <a:cs typeface="Arial" pitchFamily="34" charset="-120"/>
              </a:rPr>
              <a:t>مساراتٌ قياسية تُطلَق عند فعلٍ سريري (مثل وصف دواء).</a:t>
            </a:r>
            <a:endParaRPr lang="en-US" sz="1350" dirty="0"/>
          </a:p>
        </p:txBody>
      </p:sp>
      <p:sp>
        <p:nvSpPr>
          <p:cNvPr id="11" name="Shape 9"/>
          <p:cNvSpPr/>
          <p:nvPr/>
        </p:nvSpPr>
        <p:spPr>
          <a:xfrm>
            <a:off x="850392" y="1600200"/>
            <a:ext cx="5212080" cy="1691640"/>
          </a:xfrm>
          <a:prstGeom prst="roundRect">
            <a:avLst>
              <a:gd name="adj" fmla="val 324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2" name="Shape 10"/>
          <p:cNvSpPr/>
          <p:nvPr/>
        </p:nvSpPr>
        <p:spPr>
          <a:xfrm>
            <a:off x="5943600" y="1709928"/>
            <a:ext cx="118872" cy="310896"/>
          </a:xfrm>
          <a:prstGeom prst="rect">
            <a:avLst/>
          </a:prstGeom>
          <a:solidFill>
            <a:srgbClr val="0E9E8E"/>
          </a:solidFill>
          <a:ln/>
        </p:spPr>
      </p:sp>
      <p:sp>
        <p:nvSpPr>
          <p:cNvPr id="13" name="Text 11"/>
          <p:cNvSpPr/>
          <p:nvPr/>
        </p:nvSpPr>
        <p:spPr>
          <a:xfrm>
            <a:off x="1033272" y="1691640"/>
            <a:ext cx="4754880"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محرّك القواعد</a:t>
            </a:r>
            <a:endParaRPr lang="en-US" sz="1500" dirty="0"/>
          </a:p>
        </p:txBody>
      </p:sp>
      <p:sp>
        <p:nvSpPr>
          <p:cNvPr id="14" name="Text 12"/>
          <p:cNvSpPr/>
          <p:nvPr/>
        </p:nvSpPr>
        <p:spPr>
          <a:xfrm>
            <a:off x="1014984" y="2112264"/>
            <a:ext cx="4882896" cy="1088136"/>
          </a:xfrm>
          <a:prstGeom prst="rect">
            <a:avLst/>
          </a:prstGeom>
          <a:noFill/>
          <a:ln/>
        </p:spPr>
        <p:txBody>
          <a:bodyPr wrap="square" rtlCol="0" anchor="t"/>
          <a:lstStyle/>
          <a:p>
            <a:pPr rtl="1" algn="r" indent="0" marL="0">
              <a:spcAft>
                <a:spcPts val="400"/>
              </a:spcAft>
              <a:buNone/>
            </a:pPr>
            <a:r>
              <a:rPr lang="en-US" sz="1350" dirty="0">
                <a:solidFill>
                  <a:srgbClr val="23323D"/>
                </a:solidFill>
                <a:latin typeface="Arial" pitchFamily="34" charset="0"/>
                <a:ea typeface="Arial" pitchFamily="34" charset="-122"/>
                <a:cs typeface="Arial" pitchFamily="34" charset="-120"/>
              </a:rPr>
              <a:t>قواعد JSON-Logic على متغيّرات سريرية ودوائية وذكاء اصطناعي تُنتج بطاقات.</a:t>
            </a:r>
            <a:endParaRPr lang="en-US" sz="1350" dirty="0"/>
          </a:p>
        </p:txBody>
      </p:sp>
      <p:sp>
        <p:nvSpPr>
          <p:cNvPr id="15" name="Shape 13"/>
          <p:cNvSpPr/>
          <p:nvPr/>
        </p:nvSpPr>
        <p:spPr>
          <a:xfrm>
            <a:off x="6428232" y="3611880"/>
            <a:ext cx="5212080" cy="1691640"/>
          </a:xfrm>
          <a:prstGeom prst="roundRect">
            <a:avLst>
              <a:gd name="adj" fmla="val 324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6" name="Shape 14"/>
          <p:cNvSpPr/>
          <p:nvPr/>
        </p:nvSpPr>
        <p:spPr>
          <a:xfrm>
            <a:off x="11521440" y="3721608"/>
            <a:ext cx="118872" cy="310896"/>
          </a:xfrm>
          <a:prstGeom prst="rect">
            <a:avLst/>
          </a:prstGeom>
          <a:solidFill>
            <a:srgbClr val="2E8B57"/>
          </a:solidFill>
          <a:ln/>
        </p:spPr>
      </p:sp>
      <p:sp>
        <p:nvSpPr>
          <p:cNvPr id="17" name="Text 15"/>
          <p:cNvSpPr/>
          <p:nvPr/>
        </p:nvSpPr>
        <p:spPr>
          <a:xfrm>
            <a:off x="6611112" y="3703320"/>
            <a:ext cx="4754880"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ورشة التأليف</a:t>
            </a:r>
            <a:endParaRPr lang="en-US" sz="1500" dirty="0"/>
          </a:p>
        </p:txBody>
      </p:sp>
      <p:sp>
        <p:nvSpPr>
          <p:cNvPr id="18" name="Text 16"/>
          <p:cNvSpPr/>
          <p:nvPr/>
        </p:nvSpPr>
        <p:spPr>
          <a:xfrm>
            <a:off x="6592824" y="4123944"/>
            <a:ext cx="4882896" cy="1088136"/>
          </a:xfrm>
          <a:prstGeom prst="rect">
            <a:avLst/>
          </a:prstGeom>
          <a:noFill/>
          <a:ln/>
        </p:spPr>
        <p:txBody>
          <a:bodyPr wrap="square" rtlCol="0" anchor="t"/>
          <a:lstStyle/>
          <a:p>
            <a:pPr rtl="1" algn="r" indent="0" marL="0">
              <a:spcAft>
                <a:spcPts val="400"/>
              </a:spcAft>
              <a:buNone/>
            </a:pPr>
            <a:r>
              <a:rPr lang="en-US" sz="1350" dirty="0">
                <a:solidFill>
                  <a:srgbClr val="23323D"/>
                </a:solidFill>
                <a:latin typeface="Arial" pitchFamily="34" charset="0"/>
                <a:ea typeface="Arial" pitchFamily="34" charset="-122"/>
                <a:cs typeface="Arial" pitchFamily="34" charset="-120"/>
              </a:rPr>
              <a:t>إنشاء القواعد من قوالب، تحقّق، معاينة، نشر مُصدَّر النسخ وتفعيل.</a:t>
            </a:r>
            <a:endParaRPr lang="en-US" sz="1350" dirty="0"/>
          </a:p>
        </p:txBody>
      </p:sp>
      <p:sp>
        <p:nvSpPr>
          <p:cNvPr id="19" name="Shape 17"/>
          <p:cNvSpPr/>
          <p:nvPr/>
        </p:nvSpPr>
        <p:spPr>
          <a:xfrm>
            <a:off x="850392" y="3611880"/>
            <a:ext cx="5212080" cy="1691640"/>
          </a:xfrm>
          <a:prstGeom prst="roundRect">
            <a:avLst>
              <a:gd name="adj" fmla="val 324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0" name="Shape 18"/>
          <p:cNvSpPr/>
          <p:nvPr/>
        </p:nvSpPr>
        <p:spPr>
          <a:xfrm>
            <a:off x="5943600" y="3721608"/>
            <a:ext cx="118872" cy="310896"/>
          </a:xfrm>
          <a:prstGeom prst="rect">
            <a:avLst/>
          </a:prstGeom>
          <a:solidFill>
            <a:srgbClr val="C2901F"/>
          </a:solidFill>
          <a:ln/>
        </p:spPr>
      </p:sp>
      <p:sp>
        <p:nvSpPr>
          <p:cNvPr id="21" name="Text 19"/>
          <p:cNvSpPr/>
          <p:nvPr/>
        </p:nvSpPr>
        <p:spPr>
          <a:xfrm>
            <a:off x="1033272" y="3703320"/>
            <a:ext cx="4754880" cy="384048"/>
          </a:xfrm>
          <a:prstGeom prst="rect">
            <a:avLst/>
          </a:prstGeom>
          <a:noFill/>
          <a:ln/>
        </p:spPr>
        <p:txBody>
          <a:bodyPr wrap="square" rtlCol="0" anchor="ctr"/>
          <a:lstStyle/>
          <a:p>
            <a:pPr rtl="1" algn="r" indent="0" marL="0">
              <a:buNone/>
            </a:pPr>
            <a:r>
              <a:rPr lang="en-US" sz="1500" b="1" dirty="0">
                <a:solidFill>
                  <a:srgbClr val="C2901F"/>
                </a:solidFill>
                <a:latin typeface="Arial" pitchFamily="34" charset="0"/>
                <a:ea typeface="Arial" pitchFamily="34" charset="-122"/>
                <a:cs typeface="Arial" pitchFamily="34" charset="-120"/>
              </a:rPr>
              <a:t>معرفة الأدوية</a:t>
            </a:r>
            <a:endParaRPr lang="en-US" sz="1500" dirty="0"/>
          </a:p>
        </p:txBody>
      </p:sp>
      <p:sp>
        <p:nvSpPr>
          <p:cNvPr id="22" name="Text 20"/>
          <p:cNvSpPr/>
          <p:nvPr/>
        </p:nvSpPr>
        <p:spPr>
          <a:xfrm>
            <a:off x="1014984" y="4123944"/>
            <a:ext cx="4882896" cy="1088136"/>
          </a:xfrm>
          <a:prstGeom prst="rect">
            <a:avLst/>
          </a:prstGeom>
          <a:noFill/>
          <a:ln/>
        </p:spPr>
        <p:txBody>
          <a:bodyPr wrap="square" rtlCol="0" anchor="t"/>
          <a:lstStyle/>
          <a:p>
            <a:pPr rtl="1" algn="r" indent="0" marL="0">
              <a:spcAft>
                <a:spcPts val="400"/>
              </a:spcAft>
              <a:buNone/>
            </a:pPr>
            <a:r>
              <a:rPr lang="en-US" sz="1350" dirty="0">
                <a:solidFill>
                  <a:srgbClr val="23323D"/>
                </a:solidFill>
                <a:latin typeface="Arial" pitchFamily="34" charset="0"/>
                <a:ea typeface="Arial" pitchFamily="34" charset="-122"/>
                <a:cs typeface="Arial" pitchFamily="34" charset="-120"/>
              </a:rPr>
              <a:t>فحوص الجرعات، المواد الخاضعة للرقابة، وتكرار المكوّنات الدوائية.</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نماذج الذكاء الاصطناعي</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مُدرَّبة على بيانات عامة · تُقيّم من بيانات FHIR لكلّ مريض</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11</a:t>
            </a:r>
            <a:endParaRPr lang="en-US" sz="1000" dirty="0"/>
          </a:p>
        </p:txBody>
      </p:sp>
      <p:sp>
        <p:nvSpPr>
          <p:cNvPr id="7" name="Shape 5"/>
          <p:cNvSpPr/>
          <p:nvPr/>
        </p:nvSpPr>
        <p:spPr>
          <a:xfrm>
            <a:off x="6519672" y="1600200"/>
            <a:ext cx="5120640" cy="1097280"/>
          </a:xfrm>
          <a:prstGeom prst="roundRect">
            <a:avLst>
              <a:gd name="adj" fmla="val 5000"/>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8" name="Shape 6"/>
          <p:cNvSpPr/>
          <p:nvPr/>
        </p:nvSpPr>
        <p:spPr>
          <a:xfrm>
            <a:off x="11521440" y="1709928"/>
            <a:ext cx="118872" cy="310896"/>
          </a:xfrm>
          <a:prstGeom prst="rect">
            <a:avLst/>
          </a:prstGeom>
          <a:solidFill>
            <a:srgbClr val="1F6FB2"/>
          </a:solidFill>
          <a:ln/>
        </p:spPr>
      </p:sp>
      <p:sp>
        <p:nvSpPr>
          <p:cNvPr id="9" name="Text 7"/>
          <p:cNvSpPr/>
          <p:nvPr/>
        </p:nvSpPr>
        <p:spPr>
          <a:xfrm>
            <a:off x="6702552" y="1691640"/>
            <a:ext cx="4663440" cy="384048"/>
          </a:xfrm>
          <a:prstGeom prst="rect">
            <a:avLst/>
          </a:prstGeom>
          <a:noFill/>
          <a:ln/>
        </p:spPr>
        <p:txBody>
          <a:bodyPr wrap="square" rtlCol="0" anchor="ctr"/>
          <a:lstStyle/>
          <a:p>
            <a:pPr rtl="1" algn="r" indent="0" marL="0">
              <a:buNone/>
            </a:pPr>
            <a:r>
              <a:rPr lang="en-US" sz="1400" b="1" dirty="0">
                <a:solidFill>
                  <a:srgbClr val="1F6FB2"/>
                </a:solidFill>
                <a:latin typeface="Arial" pitchFamily="34" charset="0"/>
                <a:ea typeface="Arial" pitchFamily="34" charset="-122"/>
                <a:cs typeface="Arial" pitchFamily="34" charset="-120"/>
              </a:rPr>
              <a:t>خطر السكري</a:t>
            </a:r>
            <a:endParaRPr lang="en-US" sz="1400" dirty="0"/>
          </a:p>
        </p:txBody>
      </p:sp>
      <p:sp>
        <p:nvSpPr>
          <p:cNvPr id="10" name="Text 8"/>
          <p:cNvSpPr/>
          <p:nvPr/>
        </p:nvSpPr>
        <p:spPr>
          <a:xfrm>
            <a:off x="6684264" y="2112264"/>
            <a:ext cx="4791456" cy="4937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الغلوكوز، الضغط، كتلة الجسم، العمر</a:t>
            </a:r>
            <a:endParaRPr lang="en-US" sz="1250" dirty="0"/>
          </a:p>
        </p:txBody>
      </p:sp>
      <p:sp>
        <p:nvSpPr>
          <p:cNvPr id="11" name="Shape 9"/>
          <p:cNvSpPr/>
          <p:nvPr/>
        </p:nvSpPr>
        <p:spPr>
          <a:xfrm>
            <a:off x="6519672" y="2880360"/>
            <a:ext cx="5120640" cy="1097280"/>
          </a:xfrm>
          <a:prstGeom prst="roundRect">
            <a:avLst>
              <a:gd name="adj" fmla="val 5000"/>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2" name="Shape 10"/>
          <p:cNvSpPr/>
          <p:nvPr/>
        </p:nvSpPr>
        <p:spPr>
          <a:xfrm>
            <a:off x="11521440" y="2990088"/>
            <a:ext cx="118872" cy="310896"/>
          </a:xfrm>
          <a:prstGeom prst="rect">
            <a:avLst/>
          </a:prstGeom>
          <a:solidFill>
            <a:srgbClr val="0E9E8E"/>
          </a:solidFill>
          <a:ln/>
        </p:spPr>
      </p:sp>
      <p:sp>
        <p:nvSpPr>
          <p:cNvPr id="13" name="Text 11"/>
          <p:cNvSpPr/>
          <p:nvPr/>
        </p:nvSpPr>
        <p:spPr>
          <a:xfrm>
            <a:off x="6702552" y="2971800"/>
            <a:ext cx="4663440" cy="384048"/>
          </a:xfrm>
          <a:prstGeom prst="rect">
            <a:avLst/>
          </a:prstGeom>
          <a:noFill/>
          <a:ln/>
        </p:spPr>
        <p:txBody>
          <a:bodyPr wrap="square" rtlCol="0" anchor="ctr"/>
          <a:lstStyle/>
          <a:p>
            <a:pPr rtl="1" algn="r" indent="0" marL="0">
              <a:buNone/>
            </a:pPr>
            <a:r>
              <a:rPr lang="en-US" sz="1400" b="1" dirty="0">
                <a:solidFill>
                  <a:srgbClr val="0E9E8E"/>
                </a:solidFill>
                <a:latin typeface="Arial" pitchFamily="34" charset="0"/>
                <a:ea typeface="Arial" pitchFamily="34" charset="-122"/>
                <a:cs typeface="Arial" pitchFamily="34" charset="-120"/>
              </a:rPr>
              <a:t>خطر القلب</a:t>
            </a:r>
            <a:endParaRPr lang="en-US" sz="1400" dirty="0"/>
          </a:p>
        </p:txBody>
      </p:sp>
      <p:sp>
        <p:nvSpPr>
          <p:cNvPr id="14" name="Text 12"/>
          <p:cNvSpPr/>
          <p:nvPr/>
        </p:nvSpPr>
        <p:spPr>
          <a:xfrm>
            <a:off x="6684264" y="3392424"/>
            <a:ext cx="4791456" cy="4937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العمر، الجنس، الضغط، الكوليسترول، النبض</a:t>
            </a:r>
            <a:endParaRPr lang="en-US" sz="1250" dirty="0"/>
          </a:p>
        </p:txBody>
      </p:sp>
      <p:sp>
        <p:nvSpPr>
          <p:cNvPr id="15" name="Shape 13"/>
          <p:cNvSpPr/>
          <p:nvPr/>
        </p:nvSpPr>
        <p:spPr>
          <a:xfrm>
            <a:off x="6519672" y="4160520"/>
            <a:ext cx="5120640" cy="1097280"/>
          </a:xfrm>
          <a:prstGeom prst="roundRect">
            <a:avLst>
              <a:gd name="adj" fmla="val 5000"/>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6" name="Shape 14"/>
          <p:cNvSpPr/>
          <p:nvPr/>
        </p:nvSpPr>
        <p:spPr>
          <a:xfrm>
            <a:off x="11521440" y="4270248"/>
            <a:ext cx="118872" cy="310896"/>
          </a:xfrm>
          <a:prstGeom prst="rect">
            <a:avLst/>
          </a:prstGeom>
          <a:solidFill>
            <a:srgbClr val="2E8B57"/>
          </a:solidFill>
          <a:ln/>
        </p:spPr>
      </p:sp>
      <p:sp>
        <p:nvSpPr>
          <p:cNvPr id="17" name="Text 15"/>
          <p:cNvSpPr/>
          <p:nvPr/>
        </p:nvSpPr>
        <p:spPr>
          <a:xfrm>
            <a:off x="6702552" y="4251960"/>
            <a:ext cx="4663440" cy="384048"/>
          </a:xfrm>
          <a:prstGeom prst="rect">
            <a:avLst/>
          </a:prstGeom>
          <a:noFill/>
          <a:ln/>
        </p:spPr>
        <p:txBody>
          <a:bodyPr wrap="square" rtlCol="0" anchor="ctr"/>
          <a:lstStyle/>
          <a:p>
            <a:pPr rtl="1" algn="r" indent="0" marL="0">
              <a:buNone/>
            </a:pPr>
            <a:r>
              <a:rPr lang="en-US" sz="1400" b="1" dirty="0">
                <a:solidFill>
                  <a:srgbClr val="2E8B57"/>
                </a:solidFill>
                <a:latin typeface="Arial" pitchFamily="34" charset="0"/>
                <a:ea typeface="Arial" pitchFamily="34" charset="-122"/>
                <a:cs typeface="Arial" pitchFamily="34" charset="-120"/>
              </a:rPr>
              <a:t>إعادة الدخول</a:t>
            </a:r>
            <a:endParaRPr lang="en-US" sz="1400" dirty="0"/>
          </a:p>
        </p:txBody>
      </p:sp>
      <p:sp>
        <p:nvSpPr>
          <p:cNvPr id="18" name="Text 16"/>
          <p:cNvSpPr/>
          <p:nvPr/>
        </p:nvSpPr>
        <p:spPr>
          <a:xfrm>
            <a:off x="6684264" y="4672584"/>
            <a:ext cx="4791456" cy="4937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العمر، الجنس، الحالات، الأدوية، الزيارات، الإجراءات</a:t>
            </a:r>
            <a:endParaRPr lang="en-US" sz="1250" dirty="0"/>
          </a:p>
        </p:txBody>
      </p:sp>
      <p:sp>
        <p:nvSpPr>
          <p:cNvPr id="19" name="Text 17"/>
          <p:cNvSpPr/>
          <p:nvPr/>
        </p:nvSpPr>
        <p:spPr>
          <a:xfrm>
            <a:off x="6519672" y="5486400"/>
            <a:ext cx="5120640" cy="822960"/>
          </a:xfrm>
          <a:prstGeom prst="rect">
            <a:avLst/>
          </a:prstGeom>
          <a:noFill/>
          <a:ln/>
        </p:spPr>
        <p:txBody>
          <a:bodyPr wrap="square" rtlCol="0" anchor="t"/>
          <a:lstStyle/>
          <a:p>
            <a:pPr rtl="1" algn="r" indent="0" marL="0">
              <a:buNone/>
            </a:pPr>
            <a:r>
              <a:rPr lang="en-US" sz="1200" i="1" dirty="0">
                <a:solidFill>
                  <a:srgbClr val="5B6B79"/>
                </a:solidFill>
                <a:latin typeface="Arial" pitchFamily="34" charset="0"/>
                <a:ea typeface="Arial" pitchFamily="34" charset="-122"/>
                <a:cs typeface="Arial" pitchFamily="34" charset="-120"/>
              </a:rPr>
              <a:t>الفكرة الجوهرية: تُدرَّب النماذج على سماتٍ يمكن استخراجها فعلاً من سجلّ FHIR؛ وتُعوَّض القيم الناقصة بالوسيط مع الإشارة إلى ذلك.</a:t>
            </a:r>
            <a:endParaRPr lang="en-US" sz="1200" dirty="0"/>
          </a:p>
        </p:txBody>
      </p:sp>
      <p:sp>
        <p:nvSpPr>
          <p:cNvPr id="20" name="Text 18"/>
          <p:cNvSpPr/>
          <p:nvPr/>
        </p:nvSpPr>
        <p:spPr>
          <a:xfrm>
            <a:off x="548640" y="1554480"/>
            <a:ext cx="5486400" cy="365760"/>
          </a:xfrm>
          <a:prstGeom prst="rect">
            <a:avLst/>
          </a:prstGeom>
          <a:noFill/>
          <a:ln/>
        </p:spPr>
        <p:txBody>
          <a:bodyPr wrap="square" rtlCol="0" anchor="ctr"/>
          <a:lstStyle/>
          <a:p>
            <a:pPr rtl="1" algn="r" indent="0" marL="0">
              <a:buNone/>
            </a:pPr>
            <a:r>
              <a:rPr lang="en-US" sz="1500" b="1" dirty="0">
                <a:solidFill>
                  <a:srgbClr val="12476F"/>
                </a:solidFill>
                <a:latin typeface="Arial" pitchFamily="34" charset="0"/>
                <a:ea typeface="Arial" pitchFamily="34" charset="-122"/>
                <a:cs typeface="Arial" pitchFamily="34" charset="-120"/>
              </a:rPr>
              <a:t>أداء النماذج (ROC-AUC)</a:t>
            </a:r>
            <a:endParaRPr lang="en-US" sz="1500" dirty="0"/>
          </a:p>
        </p:txBody>
      </p:sp>
      <p:graphicFrame>
        <p:nvGraphicFramePr>
          <p:cNvPr id="21" name="Chart 0" descr=""/>
          <p:cNvGraphicFramePr/>
          <p:nvPr/>
        </p:nvGraphicFramePr>
        <p:xfrm>
          <a:off x="548640" y="1920240"/>
          <a:ext cx="5486400" cy="38404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النماذج الخارجية والأمان</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12</a:t>
            </a:r>
            <a:endParaRPr lang="en-US" sz="1000" dirty="0"/>
          </a:p>
        </p:txBody>
      </p:sp>
      <p:sp>
        <p:nvSpPr>
          <p:cNvPr id="6" name="Shape 4"/>
          <p:cNvSpPr/>
          <p:nvPr/>
        </p:nvSpPr>
        <p:spPr>
          <a:xfrm>
            <a:off x="6199632" y="1554480"/>
            <a:ext cx="5440680" cy="4114800"/>
          </a:xfrm>
          <a:prstGeom prst="roundRect">
            <a:avLst>
              <a:gd name="adj" fmla="val 133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7" name="Shape 5"/>
          <p:cNvSpPr/>
          <p:nvPr/>
        </p:nvSpPr>
        <p:spPr>
          <a:xfrm>
            <a:off x="11521440" y="1664208"/>
            <a:ext cx="118872" cy="310896"/>
          </a:xfrm>
          <a:prstGeom prst="rect">
            <a:avLst/>
          </a:prstGeom>
          <a:solidFill>
            <a:srgbClr val="8E44AD"/>
          </a:solidFill>
          <a:ln/>
        </p:spPr>
      </p:sp>
      <p:sp>
        <p:nvSpPr>
          <p:cNvPr id="8" name="Text 6"/>
          <p:cNvSpPr/>
          <p:nvPr/>
        </p:nvSpPr>
        <p:spPr>
          <a:xfrm>
            <a:off x="6382512" y="1645920"/>
            <a:ext cx="4983480" cy="384048"/>
          </a:xfrm>
          <a:prstGeom prst="rect">
            <a:avLst/>
          </a:prstGeom>
          <a:noFill/>
          <a:ln/>
        </p:spPr>
        <p:txBody>
          <a:bodyPr wrap="square" rtlCol="0" anchor="ctr"/>
          <a:lstStyle/>
          <a:p>
            <a:pPr rtl="1" algn="r" indent="0" marL="0">
              <a:buNone/>
            </a:pPr>
            <a:r>
              <a:rPr lang="en-US" sz="1500" b="1" dirty="0">
                <a:solidFill>
                  <a:srgbClr val="8E44AD"/>
                </a:solidFill>
                <a:latin typeface="Arial" pitchFamily="34" charset="0"/>
                <a:ea typeface="Arial" pitchFamily="34" charset="-122"/>
                <a:cs typeface="Arial" pitchFamily="34" charset="-120"/>
              </a:rPr>
              <a:t>سجلّ النماذج الخارجية</a:t>
            </a:r>
            <a:endParaRPr lang="en-US" sz="1500" dirty="0"/>
          </a:p>
        </p:txBody>
      </p:sp>
      <p:sp>
        <p:nvSpPr>
          <p:cNvPr id="9" name="Text 7"/>
          <p:cNvSpPr/>
          <p:nvPr/>
        </p:nvSpPr>
        <p:spPr>
          <a:xfrm>
            <a:off x="6364224" y="2066544"/>
            <a:ext cx="5111496" cy="351129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تسجيل نماذج ذكاء اصطناعي مستضافة خارجياً عبر رابطٍ آمن (HTTPS فقط).</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أنواع مصادقة: لا شيء / مفتاح API / Bearer.</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تُخزَّن الأسرار مشفّرةً عبر ASP.NET Data Protection ولا تُعاد للعملاء.</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مسار قرار قابل للتهيئة لقراءة نتيجة النموذج من استجابة JSON.</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تشغيل النموذج على مريضٍ معيّن وعرض القرار ومدّة الاستجابة.</a:t>
            </a:r>
            <a:endParaRPr lang="en-US" sz="1300" dirty="0"/>
          </a:p>
        </p:txBody>
      </p:sp>
      <p:sp>
        <p:nvSpPr>
          <p:cNvPr id="10" name="Shape 8"/>
          <p:cNvSpPr/>
          <p:nvPr/>
        </p:nvSpPr>
        <p:spPr>
          <a:xfrm>
            <a:off x="548640" y="1554480"/>
            <a:ext cx="5440680" cy="4114800"/>
          </a:xfrm>
          <a:prstGeom prst="roundRect">
            <a:avLst>
              <a:gd name="adj" fmla="val 133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1" name="Shape 9"/>
          <p:cNvSpPr/>
          <p:nvPr/>
        </p:nvSpPr>
        <p:spPr>
          <a:xfrm>
            <a:off x="5870448" y="1664208"/>
            <a:ext cx="118872" cy="310896"/>
          </a:xfrm>
          <a:prstGeom prst="rect">
            <a:avLst/>
          </a:prstGeom>
          <a:solidFill>
            <a:srgbClr val="C0392B"/>
          </a:solidFill>
          <a:ln/>
        </p:spPr>
      </p:sp>
      <p:sp>
        <p:nvSpPr>
          <p:cNvPr id="12" name="Text 10"/>
          <p:cNvSpPr/>
          <p:nvPr/>
        </p:nvSpPr>
        <p:spPr>
          <a:xfrm>
            <a:off x="731520" y="1645920"/>
            <a:ext cx="4983480" cy="384048"/>
          </a:xfrm>
          <a:prstGeom prst="rect">
            <a:avLst/>
          </a:prstGeom>
          <a:noFill/>
          <a:ln/>
        </p:spPr>
        <p:txBody>
          <a:bodyPr wrap="square" rtlCol="0" anchor="ctr"/>
          <a:lstStyle/>
          <a:p>
            <a:pPr rtl="1" algn="r" indent="0" marL="0">
              <a:buNone/>
            </a:pPr>
            <a:r>
              <a:rPr lang="en-US" sz="1500" b="1" dirty="0">
                <a:solidFill>
                  <a:srgbClr val="C0392B"/>
                </a:solidFill>
                <a:latin typeface="Arial" pitchFamily="34" charset="0"/>
                <a:ea typeface="Arial" pitchFamily="34" charset="-122"/>
                <a:cs typeface="Arial" pitchFamily="34" charset="-120"/>
              </a:rPr>
              <a:t>الأمان والصلاحيات</a:t>
            </a:r>
            <a:endParaRPr lang="en-US" sz="1500" dirty="0"/>
          </a:p>
        </p:txBody>
      </p:sp>
      <p:sp>
        <p:nvSpPr>
          <p:cNvPr id="13" name="Text 11"/>
          <p:cNvSpPr/>
          <p:nvPr/>
        </p:nvSpPr>
        <p:spPr>
          <a:xfrm>
            <a:off x="713232" y="2066544"/>
            <a:ext cx="5111496" cy="351129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مصادقة عبر Keycloak وفق OAuth2 / OpenID Connect.</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رموز JWT يتحقّق منها الخادم في كلّ طلب.</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تحكّم بالوصول قائم على الأدوار (RBAC).</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نطاقات صلاحيات System / User / Patient على غرار SMART on FHIR.</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تشفير الاتصال (HTTPS) وحماية الأسرار عند التخزين.</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D43"/>
        </a:solidFill>
      </p:bgPr>
    </p:bg>
    <p:spTree>
      <p:nvGrpSpPr>
        <p:cNvPr id="1" name=""/>
        <p:cNvGrpSpPr/>
        <p:nvPr/>
      </p:nvGrpSpPr>
      <p:grpSpPr>
        <a:xfrm>
          <a:off x="0" y="0"/>
          <a:ext cx="0" cy="0"/>
          <a:chOff x="0" y="0"/>
          <a:chExt cx="0" cy="0"/>
        </a:xfrm>
      </p:grpSpPr>
      <p:sp>
        <p:nvSpPr>
          <p:cNvPr id="2" name="Text 0"/>
          <p:cNvSpPr/>
          <p:nvPr/>
        </p:nvSpPr>
        <p:spPr>
          <a:xfrm>
            <a:off x="548640" y="2103120"/>
            <a:ext cx="2743200" cy="1280160"/>
          </a:xfrm>
          <a:prstGeom prst="rect">
            <a:avLst/>
          </a:prstGeom>
          <a:noFill/>
          <a:ln/>
        </p:spPr>
        <p:txBody>
          <a:bodyPr wrap="square" rtlCol="0" anchor="ctr"/>
          <a:lstStyle/>
          <a:p>
            <a:pPr algn="l" indent="0" marL="0">
              <a:buNone/>
            </a:pPr>
            <a:r>
              <a:rPr lang="en-US" sz="8000" b="1" dirty="0">
                <a:solidFill>
                  <a:srgbClr val="21506F"/>
                </a:solidFill>
                <a:latin typeface="Arial" pitchFamily="34" charset="0"/>
                <a:ea typeface="Arial" pitchFamily="34" charset="-122"/>
                <a:cs typeface="Arial" pitchFamily="34" charset="-120"/>
              </a:rPr>
              <a:t>٠٥</a:t>
            </a:r>
            <a:endParaRPr lang="en-US" sz="8000" dirty="0"/>
          </a:p>
        </p:txBody>
      </p:sp>
      <p:sp>
        <p:nvSpPr>
          <p:cNvPr id="3" name="Text 1"/>
          <p:cNvSpPr/>
          <p:nvPr/>
        </p:nvSpPr>
        <p:spPr>
          <a:xfrm>
            <a:off x="548640" y="2880360"/>
            <a:ext cx="11091672" cy="1005840"/>
          </a:xfrm>
          <a:prstGeom prst="rect">
            <a:avLst/>
          </a:prstGeom>
          <a:noFill/>
          <a:ln/>
        </p:spPr>
        <p:txBody>
          <a:bodyPr wrap="square" rtlCol="0" anchor="ctr"/>
          <a:lstStyle/>
          <a:p>
            <a:pPr rtl="1" algn="r" indent="0" marL="0">
              <a:buNone/>
            </a:pPr>
            <a:r>
              <a:rPr lang="en-US" sz="4000" b="1" dirty="0">
                <a:solidFill>
                  <a:srgbClr val="FFFFFF"/>
                </a:solidFill>
                <a:latin typeface="Arial" pitchFamily="34" charset="0"/>
                <a:ea typeface="Arial" pitchFamily="34" charset="-122"/>
                <a:cs typeface="Arial" pitchFamily="34" charset="-120"/>
              </a:rPr>
              <a:t>الدراسات التحليلية</a:t>
            </a:r>
            <a:endParaRPr lang="en-US" sz="4000" dirty="0"/>
          </a:p>
        </p:txBody>
      </p:sp>
      <p:sp>
        <p:nvSpPr>
          <p:cNvPr id="4" name="Text 2"/>
          <p:cNvSpPr/>
          <p:nvPr/>
        </p:nvSpPr>
        <p:spPr>
          <a:xfrm>
            <a:off x="548640" y="3886200"/>
            <a:ext cx="11091672" cy="640080"/>
          </a:xfrm>
          <a:prstGeom prst="rect">
            <a:avLst/>
          </a:prstGeom>
          <a:noFill/>
          <a:ln/>
        </p:spPr>
        <p:txBody>
          <a:bodyPr wrap="square" rtlCol="0" anchor="ctr"/>
          <a:lstStyle/>
          <a:p>
            <a:pPr rtl="1" algn="r" indent="0" marL="0">
              <a:buNone/>
            </a:pPr>
            <a:r>
              <a:rPr lang="en-US" sz="1600" dirty="0">
                <a:solidFill>
                  <a:srgbClr val="AFC6DA"/>
                </a:solidFill>
                <a:latin typeface="Arial" pitchFamily="34" charset="0"/>
                <a:ea typeface="Arial" pitchFamily="34" charset="-122"/>
                <a:cs typeface="Arial" pitchFamily="34" charset="-120"/>
              </a:rPr>
              <a:t>الفاعلون · مخطّطات حالات الاستخدام · مخطّط قاعدة البيانات</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مخطّط حالات الاستخدام العام</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خمسة فاعلين وتسلسل وراثة الأدوار</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14</a:t>
            </a:r>
            <a:endParaRPr lang="en-US" sz="1000" dirty="0"/>
          </a:p>
        </p:txBody>
      </p:sp>
      <p:pic>
        <p:nvPicPr>
          <p:cNvPr id="7" name="Image 0" descr="D:/Code/ASP/DMRS/docs/diagrams/usecase-overview.png">    </p:cNvPr>
          <p:cNvPicPr>
            <a:picLocks noChangeAspect="1"/>
          </p:cNvPicPr>
          <p:nvPr/>
        </p:nvPicPr>
        <p:blipFill>
          <a:blip r:embed="rId1"/>
          <a:stretch>
            <a:fillRect/>
          </a:stretch>
        </p:blipFill>
        <p:spPr>
          <a:xfrm>
            <a:off x="8930030" y="1508760"/>
            <a:ext cx="2710282" cy="4754880"/>
          </a:xfrm>
          <a:prstGeom prst="rect">
            <a:avLst/>
          </a:prstGeom>
        </p:spPr>
      </p:pic>
      <p:sp>
        <p:nvSpPr>
          <p:cNvPr id="8" name="Shape 5"/>
          <p:cNvSpPr/>
          <p:nvPr/>
        </p:nvSpPr>
        <p:spPr>
          <a:xfrm>
            <a:off x="548640" y="1554480"/>
            <a:ext cx="8061350" cy="749808"/>
          </a:xfrm>
          <a:prstGeom prst="roundRect">
            <a:avLst>
              <a:gd name="adj" fmla="val 6098"/>
            </a:avLst>
          </a:prstGeom>
          <a:solidFill>
            <a:srgbClr val="F6FAFD"/>
          </a:solidFill>
          <a:ln w="12700">
            <a:solidFill>
              <a:srgbClr val="D9E6F0"/>
            </a:solidFill>
            <a:prstDash val="solid"/>
          </a:ln>
        </p:spPr>
      </p:sp>
      <p:sp>
        <p:nvSpPr>
          <p:cNvPr id="9" name="Shape 6"/>
          <p:cNvSpPr/>
          <p:nvPr/>
        </p:nvSpPr>
        <p:spPr>
          <a:xfrm>
            <a:off x="8500262" y="1645920"/>
            <a:ext cx="109728" cy="566928"/>
          </a:xfrm>
          <a:prstGeom prst="rect">
            <a:avLst/>
          </a:prstGeom>
          <a:solidFill>
            <a:srgbClr val="C0392B"/>
          </a:solidFill>
          <a:ln/>
        </p:spPr>
      </p:sp>
      <p:sp>
        <p:nvSpPr>
          <p:cNvPr id="10" name="Text 7"/>
          <p:cNvSpPr/>
          <p:nvPr/>
        </p:nvSpPr>
        <p:spPr>
          <a:xfrm>
            <a:off x="731520" y="1554480"/>
            <a:ext cx="7695590" cy="749808"/>
          </a:xfrm>
          <a:prstGeom prst="rect">
            <a:avLst/>
          </a:prstGeom>
          <a:noFill/>
          <a:ln/>
        </p:spPr>
        <p:txBody>
          <a:bodyPr wrap="square" rtlCol="0" anchor="ctr"/>
          <a:lstStyle/>
          <a:p>
            <a:pPr algn="r" indent="0" marL="0">
              <a:buNone/>
            </a:pPr>
            <a:r>
              <a:rPr lang="en-US" sz="1250" b="1" dirty="0">
                <a:solidFill>
                  <a:srgbClr val="C0392B"/>
                </a:solidFill>
                <a:latin typeface="Arial" pitchFamily="34" charset="0"/>
                <a:ea typeface="Arial" pitchFamily="34" charset="-122"/>
                <a:cs typeface="Arial" pitchFamily="34" charset="-120"/>
              </a:rPr>
              <a:t>مدير النظام  </a:t>
            </a:r>
            <a:pPr algn="r" indent="0" marL="0">
              <a:buNone/>
            </a:pPr>
            <a:r>
              <a:rPr lang="en-US" sz="1250" dirty="0">
                <a:solidFill>
                  <a:srgbClr val="33424D"/>
                </a:solidFill>
                <a:latin typeface="Arial" pitchFamily="34" charset="0"/>
                <a:ea typeface="Arial" pitchFamily="34" charset="-122"/>
                <a:cs typeface="Arial" pitchFamily="34" charset="-120"/>
              </a:rPr>
              <a:t>أعلى صلاحية: المؤسسات + كلّ القدرات (يرث مدير المؤسسة).</a:t>
            </a:r>
            <a:endParaRPr lang="en-US" sz="1250" dirty="0"/>
          </a:p>
        </p:txBody>
      </p:sp>
      <p:sp>
        <p:nvSpPr>
          <p:cNvPr id="11" name="Shape 8"/>
          <p:cNvSpPr/>
          <p:nvPr/>
        </p:nvSpPr>
        <p:spPr>
          <a:xfrm>
            <a:off x="548640" y="2432304"/>
            <a:ext cx="8061350" cy="749808"/>
          </a:xfrm>
          <a:prstGeom prst="roundRect">
            <a:avLst>
              <a:gd name="adj" fmla="val 6098"/>
            </a:avLst>
          </a:prstGeom>
          <a:solidFill>
            <a:srgbClr val="F6FAFD"/>
          </a:solidFill>
          <a:ln w="12700">
            <a:solidFill>
              <a:srgbClr val="D9E6F0"/>
            </a:solidFill>
            <a:prstDash val="solid"/>
          </a:ln>
        </p:spPr>
      </p:sp>
      <p:sp>
        <p:nvSpPr>
          <p:cNvPr id="12" name="Shape 9"/>
          <p:cNvSpPr/>
          <p:nvPr/>
        </p:nvSpPr>
        <p:spPr>
          <a:xfrm>
            <a:off x="8500262" y="2523744"/>
            <a:ext cx="109728" cy="566928"/>
          </a:xfrm>
          <a:prstGeom prst="rect">
            <a:avLst/>
          </a:prstGeom>
          <a:solidFill>
            <a:srgbClr val="8E44AD"/>
          </a:solidFill>
          <a:ln/>
        </p:spPr>
      </p:sp>
      <p:sp>
        <p:nvSpPr>
          <p:cNvPr id="13" name="Text 10"/>
          <p:cNvSpPr/>
          <p:nvPr/>
        </p:nvSpPr>
        <p:spPr>
          <a:xfrm>
            <a:off x="731520" y="2432304"/>
            <a:ext cx="7695590" cy="749808"/>
          </a:xfrm>
          <a:prstGeom prst="rect">
            <a:avLst/>
          </a:prstGeom>
          <a:noFill/>
          <a:ln/>
        </p:spPr>
        <p:txBody>
          <a:bodyPr wrap="square" rtlCol="0" anchor="ctr"/>
          <a:lstStyle/>
          <a:p>
            <a:pPr algn="r" indent="0" marL="0">
              <a:buNone/>
            </a:pPr>
            <a:r>
              <a:rPr lang="en-US" sz="1250" b="1" dirty="0">
                <a:solidFill>
                  <a:srgbClr val="8E44AD"/>
                </a:solidFill>
                <a:latin typeface="Arial" pitchFamily="34" charset="0"/>
                <a:ea typeface="Arial" pitchFamily="34" charset="-122"/>
                <a:cs typeface="Arial" pitchFamily="34" charset="-120"/>
              </a:rPr>
              <a:t>مدير المؤسسة  </a:t>
            </a:r>
            <a:pPr algn="r" indent="0" marL="0">
              <a:buNone/>
            </a:pPr>
            <a:r>
              <a:rPr lang="en-US" sz="1250" dirty="0">
                <a:solidFill>
                  <a:srgbClr val="33424D"/>
                </a:solidFill>
                <a:latin typeface="Arial" pitchFamily="34" charset="0"/>
                <a:ea typeface="Arial" pitchFamily="34" charset="-122"/>
                <a:cs typeface="Arial" pitchFamily="34" charset="-120"/>
              </a:rPr>
              <a:t>الكادر والدعوات، تأليف قواعد دعم القرار، النماذج الخارجية (يرث الطبيب).</a:t>
            </a:r>
            <a:endParaRPr lang="en-US" sz="1250" dirty="0"/>
          </a:p>
        </p:txBody>
      </p:sp>
      <p:sp>
        <p:nvSpPr>
          <p:cNvPr id="14" name="Shape 11"/>
          <p:cNvSpPr/>
          <p:nvPr/>
        </p:nvSpPr>
        <p:spPr>
          <a:xfrm>
            <a:off x="548640" y="3310128"/>
            <a:ext cx="8061350" cy="749808"/>
          </a:xfrm>
          <a:prstGeom prst="roundRect">
            <a:avLst>
              <a:gd name="adj" fmla="val 6098"/>
            </a:avLst>
          </a:prstGeom>
          <a:solidFill>
            <a:srgbClr val="F6FAFD"/>
          </a:solidFill>
          <a:ln w="12700">
            <a:solidFill>
              <a:srgbClr val="D9E6F0"/>
            </a:solidFill>
            <a:prstDash val="solid"/>
          </a:ln>
        </p:spPr>
      </p:sp>
      <p:sp>
        <p:nvSpPr>
          <p:cNvPr id="15" name="Shape 12"/>
          <p:cNvSpPr/>
          <p:nvPr/>
        </p:nvSpPr>
        <p:spPr>
          <a:xfrm>
            <a:off x="8500262" y="3401568"/>
            <a:ext cx="109728" cy="566928"/>
          </a:xfrm>
          <a:prstGeom prst="rect">
            <a:avLst/>
          </a:prstGeom>
          <a:solidFill>
            <a:srgbClr val="1F6FB2"/>
          </a:solidFill>
          <a:ln/>
        </p:spPr>
      </p:sp>
      <p:sp>
        <p:nvSpPr>
          <p:cNvPr id="16" name="Text 13"/>
          <p:cNvSpPr/>
          <p:nvPr/>
        </p:nvSpPr>
        <p:spPr>
          <a:xfrm>
            <a:off x="731520" y="3310128"/>
            <a:ext cx="7695590" cy="749808"/>
          </a:xfrm>
          <a:prstGeom prst="rect">
            <a:avLst/>
          </a:prstGeom>
          <a:noFill/>
          <a:ln/>
        </p:spPr>
        <p:txBody>
          <a:bodyPr wrap="square" rtlCol="0" anchor="ctr"/>
          <a:lstStyle/>
          <a:p>
            <a:pPr algn="r" indent="0" marL="0">
              <a:buNone/>
            </a:pPr>
            <a:r>
              <a:rPr lang="en-US" sz="1250" b="1" dirty="0">
                <a:solidFill>
                  <a:srgbClr val="1F6FB2"/>
                </a:solidFill>
                <a:latin typeface="Arial" pitchFamily="34" charset="0"/>
                <a:ea typeface="Arial" pitchFamily="34" charset="-122"/>
                <a:cs typeface="Arial" pitchFamily="34" charset="-120"/>
              </a:rPr>
              <a:t>الطبيب / الممارس  </a:t>
            </a:r>
            <a:pPr algn="r" indent="0" marL="0">
              <a:buNone/>
            </a:pPr>
            <a:r>
              <a:rPr lang="en-US" sz="1250" dirty="0">
                <a:solidFill>
                  <a:srgbClr val="33424D"/>
                </a:solidFill>
                <a:latin typeface="Arial" pitchFamily="34" charset="0"/>
                <a:ea typeface="Arial" pitchFamily="34" charset="-122"/>
                <a:cs typeface="Arial" pitchFamily="34" charset="-120"/>
              </a:rPr>
              <a:t>المرضى، السجل السريري، الطلبات والمواعيد، المخاطر والرؤى.</a:t>
            </a:r>
            <a:endParaRPr lang="en-US" sz="1250" dirty="0"/>
          </a:p>
        </p:txBody>
      </p:sp>
      <p:sp>
        <p:nvSpPr>
          <p:cNvPr id="17" name="Shape 14"/>
          <p:cNvSpPr/>
          <p:nvPr/>
        </p:nvSpPr>
        <p:spPr>
          <a:xfrm>
            <a:off x="548640" y="4187952"/>
            <a:ext cx="8061350" cy="749808"/>
          </a:xfrm>
          <a:prstGeom prst="roundRect">
            <a:avLst>
              <a:gd name="adj" fmla="val 6098"/>
            </a:avLst>
          </a:prstGeom>
          <a:solidFill>
            <a:srgbClr val="F6FAFD"/>
          </a:solidFill>
          <a:ln w="12700">
            <a:solidFill>
              <a:srgbClr val="D9E6F0"/>
            </a:solidFill>
            <a:prstDash val="solid"/>
          </a:ln>
        </p:spPr>
      </p:sp>
      <p:sp>
        <p:nvSpPr>
          <p:cNvPr id="18" name="Shape 15"/>
          <p:cNvSpPr/>
          <p:nvPr/>
        </p:nvSpPr>
        <p:spPr>
          <a:xfrm>
            <a:off x="8500262" y="4279392"/>
            <a:ext cx="109728" cy="566928"/>
          </a:xfrm>
          <a:prstGeom prst="rect">
            <a:avLst/>
          </a:prstGeom>
          <a:solidFill>
            <a:srgbClr val="2E8B57"/>
          </a:solidFill>
          <a:ln/>
        </p:spPr>
      </p:sp>
      <p:sp>
        <p:nvSpPr>
          <p:cNvPr id="19" name="Text 16"/>
          <p:cNvSpPr/>
          <p:nvPr/>
        </p:nvSpPr>
        <p:spPr>
          <a:xfrm>
            <a:off x="731520" y="4187952"/>
            <a:ext cx="7695590" cy="749808"/>
          </a:xfrm>
          <a:prstGeom prst="rect">
            <a:avLst/>
          </a:prstGeom>
          <a:noFill/>
          <a:ln/>
        </p:spPr>
        <p:txBody>
          <a:bodyPr wrap="square" rtlCol="0" anchor="ctr"/>
          <a:lstStyle/>
          <a:p>
            <a:pPr algn="r" indent="0" marL="0">
              <a:buNone/>
            </a:pPr>
            <a:r>
              <a:rPr lang="en-US" sz="1250" b="1" dirty="0">
                <a:solidFill>
                  <a:srgbClr val="2E8B57"/>
                </a:solidFill>
                <a:latin typeface="Arial" pitchFamily="34" charset="0"/>
                <a:ea typeface="Arial" pitchFamily="34" charset="-122"/>
                <a:cs typeface="Arial" pitchFamily="34" charset="-120"/>
              </a:rPr>
              <a:t>المريض  </a:t>
            </a:r>
            <a:pPr algn="r" indent="0" marL="0">
              <a:buNone/>
            </a:pPr>
            <a:r>
              <a:rPr lang="en-US" sz="1250" dirty="0">
                <a:solidFill>
                  <a:srgbClr val="33424D"/>
                </a:solidFill>
                <a:latin typeface="Arial" pitchFamily="34" charset="0"/>
                <a:ea typeface="Arial" pitchFamily="34" charset="-122"/>
                <a:cs typeface="Arial" pitchFamily="34" charset="-120"/>
              </a:rPr>
              <a:t>بوابة الخدمة الذاتية: السجل والمواعيد والملف الشخصي.</a:t>
            </a:r>
            <a:endParaRPr lang="en-US" sz="1250" dirty="0"/>
          </a:p>
        </p:txBody>
      </p:sp>
      <p:sp>
        <p:nvSpPr>
          <p:cNvPr id="20" name="Shape 17"/>
          <p:cNvSpPr/>
          <p:nvPr/>
        </p:nvSpPr>
        <p:spPr>
          <a:xfrm>
            <a:off x="548640" y="5065776"/>
            <a:ext cx="8061350" cy="749808"/>
          </a:xfrm>
          <a:prstGeom prst="roundRect">
            <a:avLst>
              <a:gd name="adj" fmla="val 6098"/>
            </a:avLst>
          </a:prstGeom>
          <a:solidFill>
            <a:srgbClr val="F6FAFD"/>
          </a:solidFill>
          <a:ln w="12700">
            <a:solidFill>
              <a:srgbClr val="D9E6F0"/>
            </a:solidFill>
            <a:prstDash val="solid"/>
          </a:ln>
        </p:spPr>
      </p:sp>
      <p:sp>
        <p:nvSpPr>
          <p:cNvPr id="21" name="Shape 18"/>
          <p:cNvSpPr/>
          <p:nvPr/>
        </p:nvSpPr>
        <p:spPr>
          <a:xfrm>
            <a:off x="8500262" y="5157216"/>
            <a:ext cx="109728" cy="566928"/>
          </a:xfrm>
          <a:prstGeom prst="rect">
            <a:avLst/>
          </a:prstGeom>
          <a:solidFill>
            <a:srgbClr val="5B6B79"/>
          </a:solidFill>
          <a:ln/>
        </p:spPr>
      </p:sp>
      <p:sp>
        <p:nvSpPr>
          <p:cNvPr id="22" name="Text 19"/>
          <p:cNvSpPr/>
          <p:nvPr/>
        </p:nvSpPr>
        <p:spPr>
          <a:xfrm>
            <a:off x="731520" y="5065776"/>
            <a:ext cx="7695590" cy="749808"/>
          </a:xfrm>
          <a:prstGeom prst="rect">
            <a:avLst/>
          </a:prstGeom>
          <a:noFill/>
          <a:ln/>
        </p:spPr>
        <p:txBody>
          <a:bodyPr wrap="square" rtlCol="0" anchor="ctr"/>
          <a:lstStyle/>
          <a:p>
            <a:pPr algn="r" indent="0" marL="0">
              <a:buNone/>
            </a:pPr>
            <a:r>
              <a:rPr lang="en-US" sz="1250" b="1" dirty="0">
                <a:solidFill>
                  <a:srgbClr val="5B6B79"/>
                </a:solidFill>
                <a:latin typeface="Arial" pitchFamily="34" charset="0"/>
                <a:ea typeface="Arial" pitchFamily="34" charset="-122"/>
                <a:cs typeface="Arial" pitchFamily="34" charset="-120"/>
              </a:rPr>
              <a:t>الزائر  </a:t>
            </a:r>
            <a:pPr algn="r" indent="0" marL="0">
              <a:buNone/>
            </a:pPr>
            <a:r>
              <a:rPr lang="en-US" sz="1250" dirty="0">
                <a:solidFill>
                  <a:srgbClr val="33424D"/>
                </a:solidFill>
                <a:latin typeface="Arial" pitchFamily="34" charset="0"/>
                <a:ea typeface="Arial" pitchFamily="34" charset="-122"/>
                <a:cs typeface="Arial" pitchFamily="34" charset="-120"/>
              </a:rPr>
              <a:t>صفحة الترحيب وتبديل اللغة وبدء تسجيل الدخول.</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مخطّط قاعدة البيانات (ERD)</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تصميمٌ عامّ لتخزين موارد FHIR + جداول دعم القرار والنماذج الخارجية</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15</a:t>
            </a:r>
            <a:endParaRPr lang="en-US" sz="1000" dirty="0"/>
          </a:p>
        </p:txBody>
      </p:sp>
      <p:pic>
        <p:nvPicPr>
          <p:cNvPr id="7" name="Image 0" descr="D:/Code/ASP/DMRS/docs/diagrams/erd.png">    </p:cNvPr>
          <p:cNvPicPr>
            <a:picLocks noChangeAspect="1"/>
          </p:cNvPicPr>
          <p:nvPr/>
        </p:nvPicPr>
        <p:blipFill>
          <a:blip r:embed="rId1"/>
          <a:stretch>
            <a:fillRect/>
          </a:stretch>
        </p:blipFill>
        <p:spPr>
          <a:xfrm>
            <a:off x="8502091" y="1463040"/>
            <a:ext cx="3138221" cy="4754880"/>
          </a:xfrm>
          <a:prstGeom prst="rect">
            <a:avLst/>
          </a:prstGeom>
        </p:spPr>
      </p:pic>
      <p:sp>
        <p:nvSpPr>
          <p:cNvPr id="8" name="Shape 5"/>
          <p:cNvSpPr/>
          <p:nvPr/>
        </p:nvSpPr>
        <p:spPr>
          <a:xfrm>
            <a:off x="548640" y="1554480"/>
            <a:ext cx="7633411" cy="4480560"/>
          </a:xfrm>
          <a:prstGeom prst="roundRect">
            <a:avLst>
              <a:gd name="adj" fmla="val 1224"/>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9" name="Shape 6"/>
          <p:cNvSpPr/>
          <p:nvPr/>
        </p:nvSpPr>
        <p:spPr>
          <a:xfrm>
            <a:off x="8063179" y="1664208"/>
            <a:ext cx="118872" cy="310896"/>
          </a:xfrm>
          <a:prstGeom prst="rect">
            <a:avLst/>
          </a:prstGeom>
          <a:solidFill>
            <a:srgbClr val="1F6FB2"/>
          </a:solidFill>
          <a:ln/>
        </p:spPr>
      </p:sp>
      <p:sp>
        <p:nvSpPr>
          <p:cNvPr id="10" name="Text 7"/>
          <p:cNvSpPr/>
          <p:nvPr/>
        </p:nvSpPr>
        <p:spPr>
          <a:xfrm>
            <a:off x="731520" y="1645920"/>
            <a:ext cx="7176211"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ملامح التصميم</a:t>
            </a:r>
            <a:endParaRPr lang="en-US" sz="1500" dirty="0"/>
          </a:p>
        </p:txBody>
      </p:sp>
      <p:sp>
        <p:nvSpPr>
          <p:cNvPr id="11" name="Text 8"/>
          <p:cNvSpPr/>
          <p:nvPr/>
        </p:nvSpPr>
        <p:spPr>
          <a:xfrm>
            <a:off x="713232" y="2066544"/>
            <a:ext cx="7304227" cy="3877056"/>
          </a:xfrm>
          <a:prstGeom prst="rect">
            <a:avLst/>
          </a:prstGeom>
          <a:noFill/>
          <a:ln/>
        </p:spPr>
        <p:txBody>
          <a:bodyPr wrap="square" rtlCol="0" anchor="t"/>
          <a:lstStyle/>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FhirResource يخزّن النسخة الحالية لكلّ مورد (نوع + معرّف + JSON).</a:t>
            </a:r>
            <a:endParaRPr lang="en-US" sz="1250" dirty="0"/>
          </a:p>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FhirResourceVersion يحفظ تاريخ النسخ كاملاً (علاقة منطقية).</a:t>
            </a:r>
            <a:endParaRPr lang="en-US" sz="1250" dirty="0"/>
          </a:p>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ResourceIndex فهرس بحثٍ مُسطَّح (علاقة منطقية، بلا FK).</a:t>
            </a:r>
            <a:endParaRPr lang="en-US" sz="1250" dirty="0"/>
          </a:p>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CdsRuleDefinition ↔ CdsRuleVersion: نشرٌ مُصدَّر النسخ (FK).</a:t>
            </a:r>
            <a:endParaRPr lang="en-US" sz="1250" dirty="0"/>
          </a:p>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MedicineKnowledgeRecord: ذاكرة معرفة الأدوية المؤقّتة.</a:t>
            </a:r>
            <a:endParaRPr lang="en-US" sz="1250" dirty="0"/>
          </a:p>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ExternalAiModel: سجلّ النماذج الخارجية (سرّ مشفّر).</a:t>
            </a:r>
            <a:endParaRPr lang="en-US" sz="1250" dirty="0"/>
          </a:p>
          <a:p>
            <a:pPr rtl="1" algn="r" marL="152400" indent="-152400">
              <a:spcAft>
                <a:spcPts val="400"/>
              </a:spcAft>
              <a:buSzPct val="100000"/>
              <a:buChar char="•"/>
            </a:pPr>
            <a:r>
              <a:rPr lang="en-US" sz="1250" dirty="0">
                <a:solidFill>
                  <a:srgbClr val="23323D"/>
                </a:solidFill>
                <a:latin typeface="Arial" pitchFamily="34" charset="0"/>
                <a:ea typeface="Arial" pitchFamily="34" charset="-122"/>
                <a:cs typeface="Arial" pitchFamily="34" charset="-120"/>
              </a:rPr>
              <a:t>قاعدة منفصلة DMRSMedicine: Medicines ↔ Ingredients (متعدّد-متعدّد).</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D43"/>
        </a:solidFill>
      </p:bgPr>
    </p:bg>
    <p:spTree>
      <p:nvGrpSpPr>
        <p:cNvPr id="1" name=""/>
        <p:cNvGrpSpPr/>
        <p:nvPr/>
      </p:nvGrpSpPr>
      <p:grpSpPr>
        <a:xfrm>
          <a:off x="0" y="0"/>
          <a:ext cx="0" cy="0"/>
          <a:chOff x="0" y="0"/>
          <a:chExt cx="0" cy="0"/>
        </a:xfrm>
      </p:grpSpPr>
      <p:sp>
        <p:nvSpPr>
          <p:cNvPr id="2" name="Text 0"/>
          <p:cNvSpPr/>
          <p:nvPr/>
        </p:nvSpPr>
        <p:spPr>
          <a:xfrm>
            <a:off x="548640" y="2103120"/>
            <a:ext cx="2743200" cy="1280160"/>
          </a:xfrm>
          <a:prstGeom prst="rect">
            <a:avLst/>
          </a:prstGeom>
          <a:noFill/>
          <a:ln/>
        </p:spPr>
        <p:txBody>
          <a:bodyPr wrap="square" rtlCol="0" anchor="ctr"/>
          <a:lstStyle/>
          <a:p>
            <a:pPr algn="l" indent="0" marL="0">
              <a:buNone/>
            </a:pPr>
            <a:r>
              <a:rPr lang="en-US" sz="8000" b="1" dirty="0">
                <a:solidFill>
                  <a:srgbClr val="21506F"/>
                </a:solidFill>
                <a:latin typeface="Arial" pitchFamily="34" charset="0"/>
                <a:ea typeface="Arial" pitchFamily="34" charset="-122"/>
                <a:cs typeface="Arial" pitchFamily="34" charset="-120"/>
              </a:rPr>
              <a:t>٠٦</a:t>
            </a:r>
            <a:endParaRPr lang="en-US" sz="8000" dirty="0"/>
          </a:p>
        </p:txBody>
      </p:sp>
      <p:sp>
        <p:nvSpPr>
          <p:cNvPr id="3" name="Text 1"/>
          <p:cNvSpPr/>
          <p:nvPr/>
        </p:nvSpPr>
        <p:spPr>
          <a:xfrm>
            <a:off x="548640" y="2880360"/>
            <a:ext cx="11091672" cy="1005840"/>
          </a:xfrm>
          <a:prstGeom prst="rect">
            <a:avLst/>
          </a:prstGeom>
          <a:noFill/>
          <a:ln/>
        </p:spPr>
        <p:txBody>
          <a:bodyPr wrap="square" rtlCol="0" anchor="ctr"/>
          <a:lstStyle/>
          <a:p>
            <a:pPr rtl="1" algn="r" indent="0" marL="0">
              <a:buNone/>
            </a:pPr>
            <a:r>
              <a:rPr lang="en-US" sz="4000" b="1" dirty="0">
                <a:solidFill>
                  <a:srgbClr val="FFFFFF"/>
                </a:solidFill>
                <a:latin typeface="Arial" pitchFamily="34" charset="0"/>
                <a:ea typeface="Arial" pitchFamily="34" charset="-122"/>
                <a:cs typeface="Arial" pitchFamily="34" charset="-120"/>
              </a:rPr>
              <a:t>التطبيق العملي</a:t>
            </a:r>
            <a:endParaRPr lang="en-US" sz="4000" dirty="0"/>
          </a:p>
        </p:txBody>
      </p:sp>
      <p:sp>
        <p:nvSpPr>
          <p:cNvPr id="4" name="Text 2"/>
          <p:cNvSpPr/>
          <p:nvPr/>
        </p:nvSpPr>
        <p:spPr>
          <a:xfrm>
            <a:off x="548640" y="3886200"/>
            <a:ext cx="11091672" cy="640080"/>
          </a:xfrm>
          <a:prstGeom prst="rect">
            <a:avLst/>
          </a:prstGeom>
          <a:noFill/>
          <a:ln/>
        </p:spPr>
        <p:txBody>
          <a:bodyPr wrap="square" rtlCol="0" anchor="ctr"/>
          <a:lstStyle/>
          <a:p>
            <a:pPr rtl="1" algn="r" indent="0" marL="0">
              <a:buNone/>
            </a:pPr>
            <a:r>
              <a:rPr lang="en-US" sz="1600" dirty="0">
                <a:solidFill>
                  <a:srgbClr val="AFC6DA"/>
                </a:solidFill>
                <a:latin typeface="Arial" pitchFamily="34" charset="0"/>
                <a:ea typeface="Arial" pitchFamily="34" charset="-122"/>
                <a:cs typeface="Arial" pitchFamily="34" charset="-120"/>
              </a:rPr>
              <a:t>أبرز واجهات النظام بحسب دور المستخدم</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واجهات الزائر والمريض</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17</a:t>
            </a:r>
            <a:endParaRPr lang="en-US" sz="1000" dirty="0"/>
          </a:p>
        </p:txBody>
      </p:sp>
      <p:sp>
        <p:nvSpPr>
          <p:cNvPr id="6" name="Shape 4"/>
          <p:cNvSpPr/>
          <p:nvPr/>
        </p:nvSpPr>
        <p:spPr>
          <a:xfrm>
            <a:off x="6245352" y="1554480"/>
            <a:ext cx="5394960" cy="4114800"/>
          </a:xfrm>
          <a:prstGeom prst="roundRect">
            <a:avLst>
              <a:gd name="adj" fmla="val 1111"/>
            </a:avLst>
          </a:prstGeom>
          <a:solidFill>
            <a:srgbClr val="F1F7FC"/>
          </a:solidFill>
          <a:ln w="12700">
            <a:solidFill>
              <a:srgbClr val="1F6FB2"/>
            </a:solidFill>
            <a:prstDash val="dash"/>
          </a:ln>
        </p:spPr>
      </p:sp>
      <p:sp>
        <p:nvSpPr>
          <p:cNvPr id="7" name="Text 5"/>
          <p:cNvSpPr/>
          <p:nvPr/>
        </p:nvSpPr>
        <p:spPr>
          <a:xfrm>
            <a:off x="6245352" y="1554480"/>
            <a:ext cx="5394960" cy="4114800"/>
          </a:xfrm>
          <a:prstGeom prst="rect">
            <a:avLst/>
          </a:prstGeom>
          <a:noFill/>
          <a:ln/>
        </p:spPr>
        <p:txBody>
          <a:bodyPr wrap="square" rtlCol="0" anchor="ctr"/>
          <a:lstStyle/>
          <a:p>
            <a:pPr rtl="1" algn="ctr" indent="0" marL="0">
              <a:buNone/>
            </a:pPr>
            <a:r>
              <a:rPr lang="en-US" sz="1200" dirty="0">
                <a:solidFill>
                  <a:srgbClr val="5B6B79"/>
                </a:solidFill>
                <a:latin typeface="Arial" pitchFamily="34" charset="0"/>
                <a:ea typeface="Arial" pitchFamily="34" charset="-122"/>
                <a:cs typeface="Arial" pitchFamily="34" charset="-120"/>
              </a:rPr>
              <a:t>🖼  صفحة الترحيب / بوابة المريض</a:t>
            </a:r>
            <a:endParaRPr lang="en-US" sz="1200" dirty="0"/>
          </a:p>
          <a:p>
            <a:pPr rtl="1" algn="ctr" indent="0" marL="0">
              <a:buNone/>
            </a:pPr>
            <a:r>
              <a:rPr lang="en-US" sz="1200" dirty="0">
                <a:solidFill>
                  <a:srgbClr val="5B6B79"/>
                </a:solidFill>
                <a:latin typeface="Arial" pitchFamily="34" charset="0"/>
                <a:ea typeface="Arial" pitchFamily="34" charset="-122"/>
                <a:cs typeface="Arial" pitchFamily="34" charset="-120"/>
              </a:rPr>
              <a:t>[ موضع لقطة الشاشة ]</a:t>
            </a:r>
            <a:endParaRPr lang="en-US" sz="1200" dirty="0"/>
          </a:p>
        </p:txBody>
      </p:sp>
      <p:sp>
        <p:nvSpPr>
          <p:cNvPr id="8" name="Shape 6"/>
          <p:cNvSpPr/>
          <p:nvPr/>
        </p:nvSpPr>
        <p:spPr>
          <a:xfrm>
            <a:off x="548640" y="1554480"/>
            <a:ext cx="5376672" cy="4114800"/>
          </a:xfrm>
          <a:prstGeom prst="roundRect">
            <a:avLst>
              <a:gd name="adj" fmla="val 133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9" name="Shape 7"/>
          <p:cNvSpPr/>
          <p:nvPr/>
        </p:nvSpPr>
        <p:spPr>
          <a:xfrm>
            <a:off x="5806440" y="1664208"/>
            <a:ext cx="118872" cy="310896"/>
          </a:xfrm>
          <a:prstGeom prst="rect">
            <a:avLst/>
          </a:prstGeom>
          <a:solidFill>
            <a:srgbClr val="2E8B57"/>
          </a:solidFill>
          <a:ln/>
        </p:spPr>
      </p:sp>
      <p:sp>
        <p:nvSpPr>
          <p:cNvPr id="10" name="Text 8"/>
          <p:cNvSpPr/>
          <p:nvPr/>
        </p:nvSpPr>
        <p:spPr>
          <a:xfrm>
            <a:off x="731520" y="1645920"/>
            <a:ext cx="4919472"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أبرز الشاشات</a:t>
            </a:r>
            <a:endParaRPr lang="en-US" sz="1500" dirty="0"/>
          </a:p>
        </p:txBody>
      </p:sp>
      <p:sp>
        <p:nvSpPr>
          <p:cNvPr id="11" name="Text 9"/>
          <p:cNvSpPr/>
          <p:nvPr/>
        </p:nvSpPr>
        <p:spPr>
          <a:xfrm>
            <a:off x="713232" y="2066544"/>
            <a:ext cx="5047488" cy="351129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صفحة ترحيب تعريفية مع بطاقات الميزات وتبديل اللغة.</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تسجيل الدخول الآمن عبر Keycloak.</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ربط حساب المريض بسجلّه عبر رمز دعوة.</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بوابة «صحّتي»: الحالات والأدوية والمواعيد ضمن نطاق المريض فقط.</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صفحة «ملفّي»: البيانات الشخصية والمعرّف المقروء.</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واجهات الطبيب / الممارس</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18</a:t>
            </a:r>
            <a:endParaRPr lang="en-US" sz="1000" dirty="0"/>
          </a:p>
        </p:txBody>
      </p:sp>
      <p:sp>
        <p:nvSpPr>
          <p:cNvPr id="6" name="Shape 4"/>
          <p:cNvSpPr/>
          <p:nvPr/>
        </p:nvSpPr>
        <p:spPr>
          <a:xfrm>
            <a:off x="6245352" y="1554480"/>
            <a:ext cx="5394960" cy="4114800"/>
          </a:xfrm>
          <a:prstGeom prst="roundRect">
            <a:avLst>
              <a:gd name="adj" fmla="val 1111"/>
            </a:avLst>
          </a:prstGeom>
          <a:solidFill>
            <a:srgbClr val="F1F7FC"/>
          </a:solidFill>
          <a:ln w="12700">
            <a:solidFill>
              <a:srgbClr val="1F6FB2"/>
            </a:solidFill>
            <a:prstDash val="dash"/>
          </a:ln>
        </p:spPr>
      </p:sp>
      <p:sp>
        <p:nvSpPr>
          <p:cNvPr id="7" name="Text 5"/>
          <p:cNvSpPr/>
          <p:nvPr/>
        </p:nvSpPr>
        <p:spPr>
          <a:xfrm>
            <a:off x="6245352" y="1554480"/>
            <a:ext cx="5394960" cy="4114800"/>
          </a:xfrm>
          <a:prstGeom prst="rect">
            <a:avLst/>
          </a:prstGeom>
          <a:noFill/>
          <a:ln/>
        </p:spPr>
        <p:txBody>
          <a:bodyPr wrap="square" rtlCol="0" anchor="ctr"/>
          <a:lstStyle/>
          <a:p>
            <a:pPr rtl="1" algn="ctr" indent="0" marL="0">
              <a:buNone/>
            </a:pPr>
            <a:r>
              <a:rPr lang="en-US" sz="1200" dirty="0">
                <a:solidFill>
                  <a:srgbClr val="5B6B79"/>
                </a:solidFill>
                <a:latin typeface="Arial" pitchFamily="34" charset="0"/>
                <a:ea typeface="Arial" pitchFamily="34" charset="-122"/>
                <a:cs typeface="Arial" pitchFamily="34" charset="-120"/>
              </a:rPr>
              <a:t>🖼  مخطّط المريض وبطاقات المخاطر</a:t>
            </a:r>
            <a:endParaRPr lang="en-US" sz="1200" dirty="0"/>
          </a:p>
          <a:p>
            <a:pPr rtl="1" algn="ctr" indent="0" marL="0">
              <a:buNone/>
            </a:pPr>
            <a:r>
              <a:rPr lang="en-US" sz="1200" dirty="0">
                <a:solidFill>
                  <a:srgbClr val="5B6B79"/>
                </a:solidFill>
                <a:latin typeface="Arial" pitchFamily="34" charset="0"/>
                <a:ea typeface="Arial" pitchFamily="34" charset="-122"/>
                <a:cs typeface="Arial" pitchFamily="34" charset="-120"/>
              </a:rPr>
              <a:t>[ موضع لقطة الشاشة ]</a:t>
            </a:r>
            <a:endParaRPr lang="en-US" sz="1200" dirty="0"/>
          </a:p>
        </p:txBody>
      </p:sp>
      <p:sp>
        <p:nvSpPr>
          <p:cNvPr id="8" name="Shape 6"/>
          <p:cNvSpPr/>
          <p:nvPr/>
        </p:nvSpPr>
        <p:spPr>
          <a:xfrm>
            <a:off x="548640" y="1554480"/>
            <a:ext cx="5376672" cy="4114800"/>
          </a:xfrm>
          <a:prstGeom prst="roundRect">
            <a:avLst>
              <a:gd name="adj" fmla="val 133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9" name="Shape 7"/>
          <p:cNvSpPr/>
          <p:nvPr/>
        </p:nvSpPr>
        <p:spPr>
          <a:xfrm>
            <a:off x="5806440" y="1664208"/>
            <a:ext cx="118872" cy="310896"/>
          </a:xfrm>
          <a:prstGeom prst="rect">
            <a:avLst/>
          </a:prstGeom>
          <a:solidFill>
            <a:srgbClr val="1F6FB2"/>
          </a:solidFill>
          <a:ln/>
        </p:spPr>
      </p:sp>
      <p:sp>
        <p:nvSpPr>
          <p:cNvPr id="10" name="Text 8"/>
          <p:cNvSpPr/>
          <p:nvPr/>
        </p:nvSpPr>
        <p:spPr>
          <a:xfrm>
            <a:off x="731520" y="1645920"/>
            <a:ext cx="4919472"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أبرز الشاشات</a:t>
            </a:r>
            <a:endParaRPr lang="en-US" sz="1500" dirty="0"/>
          </a:p>
        </p:txBody>
      </p:sp>
      <p:sp>
        <p:nvSpPr>
          <p:cNvPr id="11" name="Text 9"/>
          <p:cNvSpPr/>
          <p:nvPr/>
        </p:nvSpPr>
        <p:spPr>
          <a:xfrm>
            <a:off x="713232" y="2066544"/>
            <a:ext cx="5047488" cy="351129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لوحة عملٍ بالمؤشّرات وقائمة المراقبة التنبّؤية.</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قائمة المرضى مع البحث والترقيم الصفحي.</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مخطّط المريض: الملخّص السريري + بطاقات المخاطر الثلاث.</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نماذج تسجيل الحالات والملاحظات والإجراءات والزيارات.</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وصف الدواء مع ظهور بطاقة تنبيه دعم القرار.</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استعراض تاريخ النسخ وإدارة وثائق المريض.</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واجهات مدير المؤسسة ومدير النظام</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19</a:t>
            </a:r>
            <a:endParaRPr lang="en-US" sz="1000" dirty="0"/>
          </a:p>
        </p:txBody>
      </p:sp>
      <p:sp>
        <p:nvSpPr>
          <p:cNvPr id="6" name="Shape 4"/>
          <p:cNvSpPr/>
          <p:nvPr/>
        </p:nvSpPr>
        <p:spPr>
          <a:xfrm>
            <a:off x="6245352" y="1554480"/>
            <a:ext cx="5394960" cy="4114800"/>
          </a:xfrm>
          <a:prstGeom prst="roundRect">
            <a:avLst>
              <a:gd name="adj" fmla="val 1111"/>
            </a:avLst>
          </a:prstGeom>
          <a:solidFill>
            <a:srgbClr val="F1F7FC"/>
          </a:solidFill>
          <a:ln w="12700">
            <a:solidFill>
              <a:srgbClr val="1F6FB2"/>
            </a:solidFill>
            <a:prstDash val="dash"/>
          </a:ln>
        </p:spPr>
      </p:sp>
      <p:sp>
        <p:nvSpPr>
          <p:cNvPr id="7" name="Text 5"/>
          <p:cNvSpPr/>
          <p:nvPr/>
        </p:nvSpPr>
        <p:spPr>
          <a:xfrm>
            <a:off x="6245352" y="1554480"/>
            <a:ext cx="5394960" cy="4114800"/>
          </a:xfrm>
          <a:prstGeom prst="rect">
            <a:avLst/>
          </a:prstGeom>
          <a:noFill/>
          <a:ln/>
        </p:spPr>
        <p:txBody>
          <a:bodyPr wrap="square" rtlCol="0" anchor="ctr"/>
          <a:lstStyle/>
          <a:p>
            <a:pPr rtl="1" algn="ctr" indent="0" marL="0">
              <a:buNone/>
            </a:pPr>
            <a:r>
              <a:rPr lang="en-US" sz="1200" dirty="0">
                <a:solidFill>
                  <a:srgbClr val="5B6B79"/>
                </a:solidFill>
                <a:latin typeface="Arial" pitchFamily="34" charset="0"/>
                <a:ea typeface="Arial" pitchFamily="34" charset="-122"/>
                <a:cs typeface="Arial" pitchFamily="34" charset="-120"/>
              </a:rPr>
              <a:t>🖼  ورشة تأليف قواعد دعم القرار</a:t>
            </a:r>
            <a:endParaRPr lang="en-US" sz="1200" dirty="0"/>
          </a:p>
          <a:p>
            <a:pPr rtl="1" algn="ctr" indent="0" marL="0">
              <a:buNone/>
            </a:pPr>
            <a:r>
              <a:rPr lang="en-US" sz="1200" dirty="0">
                <a:solidFill>
                  <a:srgbClr val="5B6B79"/>
                </a:solidFill>
                <a:latin typeface="Arial" pitchFamily="34" charset="0"/>
                <a:ea typeface="Arial" pitchFamily="34" charset="-122"/>
                <a:cs typeface="Arial" pitchFamily="34" charset="-120"/>
              </a:rPr>
              <a:t>[ موضع لقطة الشاشة ]</a:t>
            </a:r>
            <a:endParaRPr lang="en-US" sz="1200" dirty="0"/>
          </a:p>
        </p:txBody>
      </p:sp>
      <p:sp>
        <p:nvSpPr>
          <p:cNvPr id="8" name="Shape 6"/>
          <p:cNvSpPr/>
          <p:nvPr/>
        </p:nvSpPr>
        <p:spPr>
          <a:xfrm>
            <a:off x="548640" y="1554480"/>
            <a:ext cx="5376672" cy="4114800"/>
          </a:xfrm>
          <a:prstGeom prst="roundRect">
            <a:avLst>
              <a:gd name="adj" fmla="val 133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9" name="Shape 7"/>
          <p:cNvSpPr/>
          <p:nvPr/>
        </p:nvSpPr>
        <p:spPr>
          <a:xfrm>
            <a:off x="5806440" y="1664208"/>
            <a:ext cx="118872" cy="310896"/>
          </a:xfrm>
          <a:prstGeom prst="rect">
            <a:avLst/>
          </a:prstGeom>
          <a:solidFill>
            <a:srgbClr val="8E44AD"/>
          </a:solidFill>
          <a:ln/>
        </p:spPr>
      </p:sp>
      <p:sp>
        <p:nvSpPr>
          <p:cNvPr id="10" name="Text 8"/>
          <p:cNvSpPr/>
          <p:nvPr/>
        </p:nvSpPr>
        <p:spPr>
          <a:xfrm>
            <a:off x="731520" y="1645920"/>
            <a:ext cx="4919472" cy="384048"/>
          </a:xfrm>
          <a:prstGeom prst="rect">
            <a:avLst/>
          </a:prstGeom>
          <a:noFill/>
          <a:ln/>
        </p:spPr>
        <p:txBody>
          <a:bodyPr wrap="square" rtlCol="0" anchor="ctr"/>
          <a:lstStyle/>
          <a:p>
            <a:pPr rtl="1" algn="r" indent="0" marL="0">
              <a:buNone/>
            </a:pPr>
            <a:r>
              <a:rPr lang="en-US" sz="1500" b="1" dirty="0">
                <a:solidFill>
                  <a:srgbClr val="8E44AD"/>
                </a:solidFill>
                <a:latin typeface="Arial" pitchFamily="34" charset="0"/>
                <a:ea typeface="Arial" pitchFamily="34" charset="-122"/>
                <a:cs typeface="Arial" pitchFamily="34" charset="-120"/>
              </a:rPr>
              <a:t>أبرز الشاشات</a:t>
            </a:r>
            <a:endParaRPr lang="en-US" sz="1500" dirty="0"/>
          </a:p>
        </p:txBody>
      </p:sp>
      <p:sp>
        <p:nvSpPr>
          <p:cNvPr id="11" name="Text 9"/>
          <p:cNvSpPr/>
          <p:nvPr/>
        </p:nvSpPr>
        <p:spPr>
          <a:xfrm>
            <a:off x="713232" y="2066544"/>
            <a:ext cx="5047488" cy="351129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تفاصيل المؤسسة وإدارة الكادر.</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إنشاء الدعوات وربط الحسابات (Invite / Claim).</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ورشة دعم القرار: تحرير، تحقّق، معاينة، نشر، تفعيل.</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تسجيل وتشغيل النماذج الخارجية للذكاء الاصطناعي.</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إدارة المؤسسات على مستوى المنصّة (مدير النظام).</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الرؤى الذكية وتعدّد اللغات</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20</a:t>
            </a:r>
            <a:endParaRPr lang="en-US" sz="1000" dirty="0"/>
          </a:p>
        </p:txBody>
      </p:sp>
      <p:sp>
        <p:nvSpPr>
          <p:cNvPr id="6" name="Shape 4"/>
          <p:cNvSpPr/>
          <p:nvPr/>
        </p:nvSpPr>
        <p:spPr>
          <a:xfrm>
            <a:off x="6245352" y="1554480"/>
            <a:ext cx="5394960" cy="4114800"/>
          </a:xfrm>
          <a:prstGeom prst="roundRect">
            <a:avLst>
              <a:gd name="adj" fmla="val 1111"/>
            </a:avLst>
          </a:prstGeom>
          <a:solidFill>
            <a:srgbClr val="F1F7FC"/>
          </a:solidFill>
          <a:ln w="12700">
            <a:solidFill>
              <a:srgbClr val="1F6FB2"/>
            </a:solidFill>
            <a:prstDash val="dash"/>
          </a:ln>
        </p:spPr>
      </p:sp>
      <p:sp>
        <p:nvSpPr>
          <p:cNvPr id="7" name="Text 5"/>
          <p:cNvSpPr/>
          <p:nvPr/>
        </p:nvSpPr>
        <p:spPr>
          <a:xfrm>
            <a:off x="6245352" y="1554480"/>
            <a:ext cx="5394960" cy="4114800"/>
          </a:xfrm>
          <a:prstGeom prst="rect">
            <a:avLst/>
          </a:prstGeom>
          <a:noFill/>
          <a:ln/>
        </p:spPr>
        <p:txBody>
          <a:bodyPr wrap="square" rtlCol="0" anchor="ctr"/>
          <a:lstStyle/>
          <a:p>
            <a:pPr rtl="1" algn="ctr" indent="0" marL="0">
              <a:buNone/>
            </a:pPr>
            <a:r>
              <a:rPr lang="en-US" sz="1200" dirty="0">
                <a:solidFill>
                  <a:srgbClr val="5B6B79"/>
                </a:solidFill>
                <a:latin typeface="Arial" pitchFamily="34" charset="0"/>
                <a:ea typeface="Arial" pitchFamily="34" charset="-122"/>
                <a:cs typeface="Arial" pitchFamily="34" charset="-120"/>
              </a:rPr>
              <a:t>🖼  لوحة الرؤى الذكية AI Insights</a:t>
            </a:r>
            <a:endParaRPr lang="en-US" sz="1200" dirty="0"/>
          </a:p>
          <a:p>
            <a:pPr rtl="1" algn="ctr" indent="0" marL="0">
              <a:buNone/>
            </a:pPr>
            <a:r>
              <a:rPr lang="en-US" sz="1200" dirty="0">
                <a:solidFill>
                  <a:srgbClr val="5B6B79"/>
                </a:solidFill>
                <a:latin typeface="Arial" pitchFamily="34" charset="0"/>
                <a:ea typeface="Arial" pitchFamily="34" charset="-122"/>
                <a:cs typeface="Arial" pitchFamily="34" charset="-120"/>
              </a:rPr>
              <a:t>[ موضع لقطة الشاشة ]</a:t>
            </a:r>
            <a:endParaRPr lang="en-US" sz="1200" dirty="0"/>
          </a:p>
        </p:txBody>
      </p:sp>
      <p:sp>
        <p:nvSpPr>
          <p:cNvPr id="8" name="Shape 6"/>
          <p:cNvSpPr/>
          <p:nvPr/>
        </p:nvSpPr>
        <p:spPr>
          <a:xfrm>
            <a:off x="548640" y="1554480"/>
            <a:ext cx="5376672" cy="4114800"/>
          </a:xfrm>
          <a:prstGeom prst="roundRect">
            <a:avLst>
              <a:gd name="adj" fmla="val 1333"/>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9" name="Shape 7"/>
          <p:cNvSpPr/>
          <p:nvPr/>
        </p:nvSpPr>
        <p:spPr>
          <a:xfrm>
            <a:off x="5806440" y="1664208"/>
            <a:ext cx="118872" cy="310896"/>
          </a:xfrm>
          <a:prstGeom prst="rect">
            <a:avLst/>
          </a:prstGeom>
          <a:solidFill>
            <a:srgbClr val="0E9E8E"/>
          </a:solidFill>
          <a:ln/>
        </p:spPr>
      </p:sp>
      <p:sp>
        <p:nvSpPr>
          <p:cNvPr id="10" name="Text 8"/>
          <p:cNvSpPr/>
          <p:nvPr/>
        </p:nvSpPr>
        <p:spPr>
          <a:xfrm>
            <a:off x="731520" y="1645920"/>
            <a:ext cx="4919472"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نظرة على مستوى المرضى</a:t>
            </a:r>
            <a:endParaRPr lang="en-US" sz="1500" dirty="0"/>
          </a:p>
        </p:txBody>
      </p:sp>
      <p:sp>
        <p:nvSpPr>
          <p:cNvPr id="11" name="Text 9"/>
          <p:cNvSpPr/>
          <p:nvPr/>
        </p:nvSpPr>
        <p:spPr>
          <a:xfrm>
            <a:off x="713232" y="2066544"/>
            <a:ext cx="5047488" cy="3511296"/>
          </a:xfrm>
          <a:prstGeom prst="rect">
            <a:avLst/>
          </a:prstGeom>
          <a:noFill/>
          <a:ln/>
        </p:spPr>
        <p:txBody>
          <a:bodyPr wrap="square" rtlCol="0" anchor="t"/>
          <a:lstStyle/>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توزيع المخاطر عبر مجموعة المرضى لكلّ نموذج.</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قوائم مراقبةٍ بالأعلى خطورة (عبر مسارات الدفعات).</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شرح «كيف يُحسَب الخطر» وتحليل انتشار الحالات.</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واجهة ثنائية اللغة (عربي/إنجليزي) بتبديلٍ فوري.</a:t>
            </a:r>
            <a:endParaRPr lang="en-US" sz="1300" dirty="0"/>
          </a:p>
          <a:p>
            <a:pPr rtl="1" algn="r" marL="152400" indent="-152400">
              <a:spcAft>
                <a:spcPts val="400"/>
              </a:spcAft>
              <a:buSzPct val="100000"/>
              <a:buChar char="•"/>
            </a:pPr>
            <a:r>
              <a:rPr lang="en-US" sz="1300" dirty="0">
                <a:solidFill>
                  <a:srgbClr val="23323D"/>
                </a:solidFill>
                <a:latin typeface="Arial" pitchFamily="34" charset="0"/>
                <a:ea typeface="Arial" pitchFamily="34" charset="-122"/>
                <a:cs typeface="Arial" pitchFamily="34" charset="-120"/>
              </a:rPr>
              <a:t>دعم اتجاه الكتابة RTL/LTR في كامل الواجهة.</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الآفاق المستقبلية</a:t>
            </a:r>
            <a:endParaRPr lang="en-US" sz="3000" dirty="0"/>
          </a:p>
        </p:txBody>
      </p:sp>
      <p:sp>
        <p:nvSpPr>
          <p:cNvPr id="3" name="Shape 1"/>
          <p:cNvSpPr/>
          <p:nvPr/>
        </p:nvSpPr>
        <p:spPr>
          <a:xfrm>
            <a:off x="11494008" y="365760"/>
            <a:ext cx="146304" cy="457200"/>
          </a:xfrm>
          <a:prstGeom prst="rect">
            <a:avLst/>
          </a:prstGeom>
          <a:solidFill>
            <a:srgbClr val="1F6FB2"/>
          </a:solidFill>
          <a:ln/>
        </p:spPr>
      </p:sp>
      <p:sp>
        <p:nvSpPr>
          <p:cNvPr id="4" name="Text 2"/>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5" name="Text 3"/>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21</a:t>
            </a:r>
            <a:endParaRPr lang="en-US" sz="1000" dirty="0"/>
          </a:p>
        </p:txBody>
      </p:sp>
      <p:sp>
        <p:nvSpPr>
          <p:cNvPr id="6" name="Shape 4"/>
          <p:cNvSpPr/>
          <p:nvPr/>
        </p:nvSpPr>
        <p:spPr>
          <a:xfrm>
            <a:off x="811987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7" name="Shape 5"/>
          <p:cNvSpPr/>
          <p:nvPr/>
        </p:nvSpPr>
        <p:spPr>
          <a:xfrm>
            <a:off x="11521440" y="1664208"/>
            <a:ext cx="118872" cy="310896"/>
          </a:xfrm>
          <a:prstGeom prst="rect">
            <a:avLst/>
          </a:prstGeom>
          <a:solidFill>
            <a:srgbClr val="1F6FB2"/>
          </a:solidFill>
          <a:ln/>
        </p:spPr>
      </p:sp>
      <p:sp>
        <p:nvSpPr>
          <p:cNvPr id="8" name="Text 6"/>
          <p:cNvSpPr/>
          <p:nvPr/>
        </p:nvSpPr>
        <p:spPr>
          <a:xfrm>
            <a:off x="8302752" y="1645920"/>
            <a:ext cx="3063240" cy="384048"/>
          </a:xfrm>
          <a:prstGeom prst="rect">
            <a:avLst/>
          </a:prstGeom>
          <a:noFill/>
          <a:ln/>
        </p:spPr>
        <p:txBody>
          <a:bodyPr wrap="square" rtlCol="0" anchor="ctr"/>
          <a:lstStyle/>
          <a:p>
            <a:pPr rtl="1" algn="r" indent="0" marL="0">
              <a:buNone/>
            </a:pPr>
            <a:r>
              <a:rPr lang="en-US" sz="1500" b="1" dirty="0">
                <a:solidFill>
                  <a:srgbClr val="1F6FB2"/>
                </a:solidFill>
                <a:latin typeface="Arial" pitchFamily="34" charset="0"/>
                <a:ea typeface="Arial" pitchFamily="34" charset="-122"/>
                <a:cs typeface="Arial" pitchFamily="34" charset="-120"/>
              </a:rPr>
              <a:t>اختبارات آلية</a:t>
            </a:r>
            <a:endParaRPr lang="en-US" sz="1500" dirty="0"/>
          </a:p>
        </p:txBody>
      </p:sp>
      <p:sp>
        <p:nvSpPr>
          <p:cNvPr id="9" name="Text 7"/>
          <p:cNvSpPr/>
          <p:nvPr/>
        </p:nvSpPr>
        <p:spPr>
          <a:xfrm>
            <a:off x="8284464" y="206654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تغطية اختبارية للواجهات ومحرّك دعم القرار وخدمات المخاطر.</a:t>
            </a:r>
            <a:endParaRPr lang="en-US" sz="1250" dirty="0"/>
          </a:p>
        </p:txBody>
      </p:sp>
      <p:sp>
        <p:nvSpPr>
          <p:cNvPr id="10" name="Shape 8"/>
          <p:cNvSpPr/>
          <p:nvPr/>
        </p:nvSpPr>
        <p:spPr>
          <a:xfrm>
            <a:off x="427939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1" name="Shape 9"/>
          <p:cNvSpPr/>
          <p:nvPr/>
        </p:nvSpPr>
        <p:spPr>
          <a:xfrm>
            <a:off x="7680960" y="1664208"/>
            <a:ext cx="118872" cy="310896"/>
          </a:xfrm>
          <a:prstGeom prst="rect">
            <a:avLst/>
          </a:prstGeom>
          <a:solidFill>
            <a:srgbClr val="0E9E8E"/>
          </a:solidFill>
          <a:ln/>
        </p:spPr>
      </p:sp>
      <p:sp>
        <p:nvSpPr>
          <p:cNvPr id="12" name="Text 10"/>
          <p:cNvSpPr/>
          <p:nvPr/>
        </p:nvSpPr>
        <p:spPr>
          <a:xfrm>
            <a:off x="4462272" y="1645920"/>
            <a:ext cx="3063240" cy="384048"/>
          </a:xfrm>
          <a:prstGeom prst="rect">
            <a:avLst/>
          </a:prstGeom>
          <a:noFill/>
          <a:ln/>
        </p:spPr>
        <p:txBody>
          <a:bodyPr wrap="square" rtlCol="0" anchor="ctr"/>
          <a:lstStyle/>
          <a:p>
            <a:pPr rtl="1" algn="r" indent="0" marL="0">
              <a:buNone/>
            </a:pPr>
            <a:r>
              <a:rPr lang="en-US" sz="1500" b="1" dirty="0">
                <a:solidFill>
                  <a:srgbClr val="0E9E8E"/>
                </a:solidFill>
                <a:latin typeface="Arial" pitchFamily="34" charset="0"/>
                <a:ea typeface="Arial" pitchFamily="34" charset="-122"/>
                <a:cs typeface="Arial" pitchFamily="34" charset="-120"/>
              </a:rPr>
              <a:t>النشر السحابي</a:t>
            </a:r>
            <a:endParaRPr lang="en-US" sz="1500" dirty="0"/>
          </a:p>
        </p:txBody>
      </p:sp>
      <p:sp>
        <p:nvSpPr>
          <p:cNvPr id="13" name="Text 11"/>
          <p:cNvSpPr/>
          <p:nvPr/>
        </p:nvSpPr>
        <p:spPr>
          <a:xfrm>
            <a:off x="4443984" y="206654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حاويات Docker، إدارة أسرار، TLS، تكامل ونشر مستمر.</a:t>
            </a:r>
            <a:endParaRPr lang="en-US" sz="1250" dirty="0"/>
          </a:p>
        </p:txBody>
      </p:sp>
      <p:sp>
        <p:nvSpPr>
          <p:cNvPr id="14" name="Shape 12"/>
          <p:cNvSpPr/>
          <p:nvPr/>
        </p:nvSpPr>
        <p:spPr>
          <a:xfrm>
            <a:off x="438912" y="155448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5" name="Shape 13"/>
          <p:cNvSpPr/>
          <p:nvPr/>
        </p:nvSpPr>
        <p:spPr>
          <a:xfrm>
            <a:off x="3840480" y="1664208"/>
            <a:ext cx="118872" cy="310896"/>
          </a:xfrm>
          <a:prstGeom prst="rect">
            <a:avLst/>
          </a:prstGeom>
          <a:solidFill>
            <a:srgbClr val="2E8B57"/>
          </a:solidFill>
          <a:ln/>
        </p:spPr>
      </p:sp>
      <p:sp>
        <p:nvSpPr>
          <p:cNvPr id="16" name="Text 14"/>
          <p:cNvSpPr/>
          <p:nvPr/>
        </p:nvSpPr>
        <p:spPr>
          <a:xfrm>
            <a:off x="621792" y="1645920"/>
            <a:ext cx="3063240" cy="384048"/>
          </a:xfrm>
          <a:prstGeom prst="rect">
            <a:avLst/>
          </a:prstGeom>
          <a:noFill/>
          <a:ln/>
        </p:spPr>
        <p:txBody>
          <a:bodyPr wrap="square" rtlCol="0" anchor="ctr"/>
          <a:lstStyle/>
          <a:p>
            <a:pPr rtl="1" algn="r" indent="0" marL="0">
              <a:buNone/>
            </a:pPr>
            <a:r>
              <a:rPr lang="en-US" sz="1500" b="1" dirty="0">
                <a:solidFill>
                  <a:srgbClr val="2E8B57"/>
                </a:solidFill>
                <a:latin typeface="Arial" pitchFamily="34" charset="0"/>
                <a:ea typeface="Arial" pitchFamily="34" charset="-122"/>
                <a:cs typeface="Arial" pitchFamily="34" charset="-120"/>
              </a:rPr>
              <a:t>بيانات أدوية حيّة</a:t>
            </a:r>
            <a:endParaRPr lang="en-US" sz="1500" dirty="0"/>
          </a:p>
        </p:txBody>
      </p:sp>
      <p:sp>
        <p:nvSpPr>
          <p:cNvPr id="17" name="Text 15"/>
          <p:cNvSpPr/>
          <p:nvPr/>
        </p:nvSpPr>
        <p:spPr>
          <a:xfrm>
            <a:off x="603504" y="206654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استبدال المزوّد التجريبي بمصدر RxNorm الحيّ.</a:t>
            </a:r>
            <a:endParaRPr lang="en-US" sz="1250" dirty="0"/>
          </a:p>
        </p:txBody>
      </p:sp>
      <p:sp>
        <p:nvSpPr>
          <p:cNvPr id="18" name="Shape 16"/>
          <p:cNvSpPr/>
          <p:nvPr/>
        </p:nvSpPr>
        <p:spPr>
          <a:xfrm>
            <a:off x="811987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19" name="Shape 17"/>
          <p:cNvSpPr/>
          <p:nvPr/>
        </p:nvSpPr>
        <p:spPr>
          <a:xfrm>
            <a:off x="11521440" y="3995928"/>
            <a:ext cx="118872" cy="310896"/>
          </a:xfrm>
          <a:prstGeom prst="rect">
            <a:avLst/>
          </a:prstGeom>
          <a:solidFill>
            <a:srgbClr val="8E44AD"/>
          </a:solidFill>
          <a:ln/>
        </p:spPr>
      </p:sp>
      <p:sp>
        <p:nvSpPr>
          <p:cNvPr id="20" name="Text 18"/>
          <p:cNvSpPr/>
          <p:nvPr/>
        </p:nvSpPr>
        <p:spPr>
          <a:xfrm>
            <a:off x="8302752" y="3977640"/>
            <a:ext cx="3063240" cy="384048"/>
          </a:xfrm>
          <a:prstGeom prst="rect">
            <a:avLst/>
          </a:prstGeom>
          <a:noFill/>
          <a:ln/>
        </p:spPr>
        <p:txBody>
          <a:bodyPr wrap="square" rtlCol="0" anchor="ctr"/>
          <a:lstStyle/>
          <a:p>
            <a:pPr rtl="1" algn="r" indent="0" marL="0">
              <a:buNone/>
            </a:pPr>
            <a:r>
              <a:rPr lang="en-US" sz="1500" b="1" dirty="0">
                <a:solidFill>
                  <a:srgbClr val="8E44AD"/>
                </a:solidFill>
                <a:latin typeface="Arial" pitchFamily="34" charset="0"/>
                <a:ea typeface="Arial" pitchFamily="34" charset="-122"/>
                <a:cs typeface="Arial" pitchFamily="34" charset="-120"/>
              </a:rPr>
              <a:t>توسيع النماذج</a:t>
            </a:r>
            <a:endParaRPr lang="en-US" sz="1500" dirty="0"/>
          </a:p>
        </p:txBody>
      </p:sp>
      <p:sp>
        <p:nvSpPr>
          <p:cNvPr id="21" name="Text 19"/>
          <p:cNvSpPr/>
          <p:nvPr/>
        </p:nvSpPr>
        <p:spPr>
          <a:xfrm>
            <a:off x="8284464" y="439826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نماذج جديدة وإعادة تدريب على بياناتٍ محلية حقيقية.</a:t>
            </a:r>
            <a:endParaRPr lang="en-US" sz="1250" dirty="0"/>
          </a:p>
        </p:txBody>
      </p:sp>
      <p:sp>
        <p:nvSpPr>
          <p:cNvPr id="22" name="Shape 20"/>
          <p:cNvSpPr/>
          <p:nvPr/>
        </p:nvSpPr>
        <p:spPr>
          <a:xfrm>
            <a:off x="427939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3" name="Shape 21"/>
          <p:cNvSpPr/>
          <p:nvPr/>
        </p:nvSpPr>
        <p:spPr>
          <a:xfrm>
            <a:off x="7680960" y="3995928"/>
            <a:ext cx="118872" cy="310896"/>
          </a:xfrm>
          <a:prstGeom prst="rect">
            <a:avLst/>
          </a:prstGeom>
          <a:solidFill>
            <a:srgbClr val="C2901F"/>
          </a:solidFill>
          <a:ln/>
        </p:spPr>
      </p:sp>
      <p:sp>
        <p:nvSpPr>
          <p:cNvPr id="24" name="Text 22"/>
          <p:cNvSpPr/>
          <p:nvPr/>
        </p:nvSpPr>
        <p:spPr>
          <a:xfrm>
            <a:off x="4462272" y="3977640"/>
            <a:ext cx="3063240" cy="384048"/>
          </a:xfrm>
          <a:prstGeom prst="rect">
            <a:avLst/>
          </a:prstGeom>
          <a:noFill/>
          <a:ln/>
        </p:spPr>
        <p:txBody>
          <a:bodyPr wrap="square" rtlCol="0" anchor="ctr"/>
          <a:lstStyle/>
          <a:p>
            <a:pPr rtl="1" algn="r" indent="0" marL="0">
              <a:buNone/>
            </a:pPr>
            <a:r>
              <a:rPr lang="en-US" sz="1500" b="1" dirty="0">
                <a:solidFill>
                  <a:srgbClr val="C2901F"/>
                </a:solidFill>
                <a:latin typeface="Arial" pitchFamily="34" charset="0"/>
                <a:ea typeface="Arial" pitchFamily="34" charset="-122"/>
                <a:cs typeface="Arial" pitchFamily="34" charset="-120"/>
              </a:rPr>
              <a:t>تطبيق موبايل</a:t>
            </a:r>
            <a:endParaRPr lang="en-US" sz="1500" dirty="0"/>
          </a:p>
        </p:txBody>
      </p:sp>
      <p:sp>
        <p:nvSpPr>
          <p:cNvPr id="25" name="Text 23"/>
          <p:cNvSpPr/>
          <p:nvPr/>
        </p:nvSpPr>
        <p:spPr>
          <a:xfrm>
            <a:off x="4443984" y="439826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إتاحة تطبيقٍ محمول للمرضى والكادر الطبي.</a:t>
            </a:r>
            <a:endParaRPr lang="en-US" sz="1250" dirty="0"/>
          </a:p>
        </p:txBody>
      </p:sp>
      <p:sp>
        <p:nvSpPr>
          <p:cNvPr id="26" name="Shape 24"/>
          <p:cNvSpPr/>
          <p:nvPr/>
        </p:nvSpPr>
        <p:spPr>
          <a:xfrm>
            <a:off x="438912" y="3886200"/>
            <a:ext cx="3520440" cy="2011680"/>
          </a:xfrm>
          <a:prstGeom prst="roundRect">
            <a:avLst>
              <a:gd name="adj" fmla="val 2727"/>
            </a:avLst>
          </a:prstGeom>
          <a:solidFill>
            <a:srgbClr val="FFFFFF"/>
          </a:solidFill>
          <a:ln w="12700">
            <a:solidFill>
              <a:srgbClr val="D9E6F0"/>
            </a:solidFill>
            <a:prstDash val="solid"/>
          </a:ln>
          <a:effectLst>
            <a:outerShdw sx="100000" sy="100000" kx="0" ky="0" algn="bl" rotWithShape="0" blurRad="88900" dist="25400" dir="5400000">
              <a:srgbClr val="9FB4C4">
                <a:alpha val="35000"/>
              </a:srgbClr>
            </a:outerShdw>
          </a:effectLst>
        </p:spPr>
      </p:sp>
      <p:sp>
        <p:nvSpPr>
          <p:cNvPr id="27" name="Shape 25"/>
          <p:cNvSpPr/>
          <p:nvPr/>
        </p:nvSpPr>
        <p:spPr>
          <a:xfrm>
            <a:off x="3840480" y="3995928"/>
            <a:ext cx="118872" cy="310896"/>
          </a:xfrm>
          <a:prstGeom prst="rect">
            <a:avLst/>
          </a:prstGeom>
          <a:solidFill>
            <a:srgbClr val="C0392B"/>
          </a:solidFill>
          <a:ln/>
        </p:spPr>
      </p:sp>
      <p:sp>
        <p:nvSpPr>
          <p:cNvPr id="28" name="Text 26"/>
          <p:cNvSpPr/>
          <p:nvPr/>
        </p:nvSpPr>
        <p:spPr>
          <a:xfrm>
            <a:off x="621792" y="3977640"/>
            <a:ext cx="3063240" cy="384048"/>
          </a:xfrm>
          <a:prstGeom prst="rect">
            <a:avLst/>
          </a:prstGeom>
          <a:noFill/>
          <a:ln/>
        </p:spPr>
        <p:txBody>
          <a:bodyPr wrap="square" rtlCol="0" anchor="ctr"/>
          <a:lstStyle/>
          <a:p>
            <a:pPr rtl="1" algn="r" indent="0" marL="0">
              <a:buNone/>
            </a:pPr>
            <a:r>
              <a:rPr lang="en-US" sz="1500" b="1" dirty="0">
                <a:solidFill>
                  <a:srgbClr val="C0392B"/>
                </a:solidFill>
                <a:latin typeface="Arial" pitchFamily="34" charset="0"/>
                <a:ea typeface="Arial" pitchFamily="34" charset="-122"/>
                <a:cs typeface="Arial" pitchFamily="34" charset="-120"/>
              </a:rPr>
              <a:t>تعزيز الأمان</a:t>
            </a:r>
            <a:endParaRPr lang="en-US" sz="1500" dirty="0"/>
          </a:p>
        </p:txBody>
      </p:sp>
      <p:sp>
        <p:nvSpPr>
          <p:cNvPr id="29" name="Text 27"/>
          <p:cNvSpPr/>
          <p:nvPr/>
        </p:nvSpPr>
        <p:spPr>
          <a:xfrm>
            <a:off x="603504" y="4398264"/>
            <a:ext cx="3191256" cy="1408176"/>
          </a:xfrm>
          <a:prstGeom prst="rect">
            <a:avLst/>
          </a:prstGeom>
          <a:noFill/>
          <a:ln/>
        </p:spPr>
        <p:txBody>
          <a:bodyPr wrap="square" rtlCol="0" anchor="t"/>
          <a:lstStyle/>
          <a:p>
            <a:pPr rtl="1" algn="r" indent="0" marL="0">
              <a:spcAft>
                <a:spcPts val="400"/>
              </a:spcAft>
              <a:buNone/>
            </a:pPr>
            <a:r>
              <a:rPr lang="en-US" sz="1250" dirty="0">
                <a:solidFill>
                  <a:srgbClr val="23323D"/>
                </a:solidFill>
                <a:latin typeface="Arial" pitchFamily="34" charset="0"/>
                <a:ea typeface="Arial" pitchFamily="34" charset="-122"/>
                <a:cs typeface="Arial" pitchFamily="34" charset="-120"/>
              </a:rPr>
              <a:t>سجلّ تدقيق وتشفير عند التخزين بما يوافق متطلّبات الخصوصية.</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D43"/>
        </a:solidFill>
      </p:bgPr>
    </p:bg>
    <p:spTree>
      <p:nvGrpSpPr>
        <p:cNvPr id="1" name=""/>
        <p:cNvGrpSpPr/>
        <p:nvPr/>
      </p:nvGrpSpPr>
      <p:grpSpPr>
        <a:xfrm>
          <a:off x="0" y="0"/>
          <a:ext cx="0" cy="0"/>
          <a:chOff x="0" y="0"/>
          <a:chExt cx="0" cy="0"/>
        </a:xfrm>
      </p:grpSpPr>
      <p:sp>
        <p:nvSpPr>
          <p:cNvPr id="2" name="Text 0"/>
          <p:cNvSpPr/>
          <p:nvPr/>
        </p:nvSpPr>
        <p:spPr>
          <a:xfrm>
            <a:off x="548640" y="1280160"/>
            <a:ext cx="11091672" cy="822960"/>
          </a:xfrm>
          <a:prstGeom prst="rect">
            <a:avLst/>
          </a:prstGeom>
          <a:noFill/>
          <a:ln/>
        </p:spPr>
        <p:txBody>
          <a:bodyPr wrap="square" rtlCol="0" anchor="ctr"/>
          <a:lstStyle/>
          <a:p>
            <a:pPr rtl="1" algn="r" indent="0" marL="0">
              <a:buNone/>
            </a:pPr>
            <a:r>
              <a:rPr lang="en-US" sz="3800" b="1" dirty="0">
                <a:solidFill>
                  <a:srgbClr val="FFFFFF"/>
                </a:solidFill>
                <a:latin typeface="Arial" pitchFamily="34" charset="0"/>
                <a:ea typeface="Arial" pitchFamily="34" charset="-122"/>
                <a:cs typeface="Arial" pitchFamily="34" charset="-120"/>
              </a:rPr>
              <a:t>الخاتمة</a:t>
            </a:r>
            <a:endParaRPr lang="en-US" sz="3800" dirty="0"/>
          </a:p>
        </p:txBody>
      </p:sp>
      <p:sp>
        <p:nvSpPr>
          <p:cNvPr id="3" name="Text 1"/>
          <p:cNvSpPr/>
          <p:nvPr/>
        </p:nvSpPr>
        <p:spPr>
          <a:xfrm>
            <a:off x="548640" y="2286000"/>
            <a:ext cx="11091672" cy="2194560"/>
          </a:xfrm>
          <a:prstGeom prst="rect">
            <a:avLst/>
          </a:prstGeom>
          <a:noFill/>
          <a:ln/>
        </p:spPr>
        <p:txBody>
          <a:bodyPr wrap="square" rtlCol="0" anchor="t"/>
          <a:lstStyle/>
          <a:p>
            <a:pPr rtl="1" algn="r" indent="0" marL="0">
              <a:buNone/>
            </a:pPr>
            <a:r>
              <a:rPr lang="en-US" sz="1800" dirty="0">
                <a:solidFill>
                  <a:srgbClr val="D6E3EE"/>
                </a:solidFill>
                <a:latin typeface="Arial" pitchFamily="34" charset="0"/>
                <a:ea typeface="Arial" pitchFamily="34" charset="-122"/>
                <a:cs typeface="Arial" pitchFamily="34" charset="-120"/>
              </a:rPr>
              <a:t>قدّم هذا المشروع نظاماً متكاملاً لإدارة السجلات الطبية الرقمية يجمع بين سجلٍّ قائم على معيار FHIR R5، ومحرّك دعم قرارٍ سريري قابل للتهيئة، وثلاثة نماذج ذكاء اصطناعي تعمل على بيانات المريض الحقيقية، إضافةً إلى سجلّ النماذج الخارجية وبوابة المريض وواجهةٍ ثنائية اللغة. وبذلك يعالج المشروع تشتّت البيانات وغياب الدعم الاستباقي للقرار، ويضع أساساً موثوقاً وقابلاً للتوسّع نحو تطبيقاتٍ صحية أوسع.</a:t>
            </a:r>
            <a:endParaRPr lang="en-US" sz="1800" dirty="0"/>
          </a:p>
        </p:txBody>
      </p:sp>
      <p:sp>
        <p:nvSpPr>
          <p:cNvPr id="4" name="Shape 2"/>
          <p:cNvSpPr/>
          <p:nvPr/>
        </p:nvSpPr>
        <p:spPr>
          <a:xfrm>
            <a:off x="10040112" y="4663440"/>
            <a:ext cx="1600200" cy="457200"/>
          </a:xfrm>
          <a:prstGeom prst="roundRect">
            <a:avLst>
              <a:gd name="adj" fmla="val 20000"/>
            </a:avLst>
          </a:prstGeom>
          <a:solidFill>
            <a:srgbClr val="163A52"/>
          </a:solidFill>
          <a:ln w="12700">
            <a:solidFill>
              <a:srgbClr val="2C6B8F"/>
            </a:solidFill>
            <a:prstDash val="solid"/>
          </a:ln>
        </p:spPr>
      </p:sp>
      <p:sp>
        <p:nvSpPr>
          <p:cNvPr id="5" name="Text 3"/>
          <p:cNvSpPr/>
          <p:nvPr/>
        </p:nvSpPr>
        <p:spPr>
          <a:xfrm>
            <a:off x="10040112" y="466344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FHIR R5</a:t>
            </a:r>
            <a:endParaRPr lang="en-US" sz="1200" dirty="0"/>
          </a:p>
        </p:txBody>
      </p:sp>
      <p:sp>
        <p:nvSpPr>
          <p:cNvPr id="6" name="Shape 4"/>
          <p:cNvSpPr/>
          <p:nvPr/>
        </p:nvSpPr>
        <p:spPr>
          <a:xfrm>
            <a:off x="8257032" y="4663440"/>
            <a:ext cx="1600200" cy="457200"/>
          </a:xfrm>
          <a:prstGeom prst="roundRect">
            <a:avLst>
              <a:gd name="adj" fmla="val 20000"/>
            </a:avLst>
          </a:prstGeom>
          <a:solidFill>
            <a:srgbClr val="163A52"/>
          </a:solidFill>
          <a:ln w="12700">
            <a:solidFill>
              <a:srgbClr val="2C6B8F"/>
            </a:solidFill>
            <a:prstDash val="solid"/>
          </a:ln>
        </p:spPr>
      </p:sp>
      <p:sp>
        <p:nvSpPr>
          <p:cNvPr id="7" name="Text 5"/>
          <p:cNvSpPr/>
          <p:nvPr/>
        </p:nvSpPr>
        <p:spPr>
          <a:xfrm>
            <a:off x="8257032" y="466344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CDS</a:t>
            </a:r>
            <a:endParaRPr lang="en-US" sz="1200" dirty="0"/>
          </a:p>
        </p:txBody>
      </p:sp>
      <p:sp>
        <p:nvSpPr>
          <p:cNvPr id="8" name="Shape 6"/>
          <p:cNvSpPr/>
          <p:nvPr/>
        </p:nvSpPr>
        <p:spPr>
          <a:xfrm>
            <a:off x="6473952" y="4663440"/>
            <a:ext cx="1600200" cy="457200"/>
          </a:xfrm>
          <a:prstGeom prst="roundRect">
            <a:avLst>
              <a:gd name="adj" fmla="val 20000"/>
            </a:avLst>
          </a:prstGeom>
          <a:solidFill>
            <a:srgbClr val="163A52"/>
          </a:solidFill>
          <a:ln w="12700">
            <a:solidFill>
              <a:srgbClr val="2C6B8F"/>
            </a:solidFill>
            <a:prstDash val="solid"/>
          </a:ln>
        </p:spPr>
      </p:sp>
      <p:sp>
        <p:nvSpPr>
          <p:cNvPr id="9" name="Text 7"/>
          <p:cNvSpPr/>
          <p:nvPr/>
        </p:nvSpPr>
        <p:spPr>
          <a:xfrm>
            <a:off x="6473952" y="466344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AI Risk</a:t>
            </a:r>
            <a:endParaRPr lang="en-US" sz="1200" dirty="0"/>
          </a:p>
        </p:txBody>
      </p:sp>
      <p:sp>
        <p:nvSpPr>
          <p:cNvPr id="10" name="Shape 8"/>
          <p:cNvSpPr/>
          <p:nvPr/>
        </p:nvSpPr>
        <p:spPr>
          <a:xfrm>
            <a:off x="4690872" y="4663440"/>
            <a:ext cx="1600200" cy="457200"/>
          </a:xfrm>
          <a:prstGeom prst="roundRect">
            <a:avLst>
              <a:gd name="adj" fmla="val 20000"/>
            </a:avLst>
          </a:prstGeom>
          <a:solidFill>
            <a:srgbClr val="163A52"/>
          </a:solidFill>
          <a:ln w="12700">
            <a:solidFill>
              <a:srgbClr val="2C6B8F"/>
            </a:solidFill>
            <a:prstDash val="solid"/>
          </a:ln>
        </p:spPr>
      </p:sp>
      <p:sp>
        <p:nvSpPr>
          <p:cNvPr id="11" name="Text 9"/>
          <p:cNvSpPr/>
          <p:nvPr/>
        </p:nvSpPr>
        <p:spPr>
          <a:xfrm>
            <a:off x="4690872" y="466344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External AI</a:t>
            </a:r>
            <a:endParaRPr lang="en-US" sz="1200" dirty="0"/>
          </a:p>
        </p:txBody>
      </p:sp>
      <p:sp>
        <p:nvSpPr>
          <p:cNvPr id="12" name="Shape 10"/>
          <p:cNvSpPr/>
          <p:nvPr/>
        </p:nvSpPr>
        <p:spPr>
          <a:xfrm>
            <a:off x="10040112" y="5257800"/>
            <a:ext cx="1600200" cy="457200"/>
          </a:xfrm>
          <a:prstGeom prst="roundRect">
            <a:avLst>
              <a:gd name="adj" fmla="val 20000"/>
            </a:avLst>
          </a:prstGeom>
          <a:solidFill>
            <a:srgbClr val="163A52"/>
          </a:solidFill>
          <a:ln w="12700">
            <a:solidFill>
              <a:srgbClr val="2C6B8F"/>
            </a:solidFill>
            <a:prstDash val="solid"/>
          </a:ln>
        </p:spPr>
      </p:sp>
      <p:sp>
        <p:nvSpPr>
          <p:cNvPr id="13" name="Text 11"/>
          <p:cNvSpPr/>
          <p:nvPr/>
        </p:nvSpPr>
        <p:spPr>
          <a:xfrm>
            <a:off x="10040112" y="525780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Keycloak / SMART</a:t>
            </a:r>
            <a:endParaRPr lang="en-US" sz="1200" dirty="0"/>
          </a:p>
        </p:txBody>
      </p:sp>
      <p:sp>
        <p:nvSpPr>
          <p:cNvPr id="14" name="Shape 12"/>
          <p:cNvSpPr/>
          <p:nvPr/>
        </p:nvSpPr>
        <p:spPr>
          <a:xfrm>
            <a:off x="8257032" y="5257800"/>
            <a:ext cx="1600200" cy="457200"/>
          </a:xfrm>
          <a:prstGeom prst="roundRect">
            <a:avLst>
              <a:gd name="adj" fmla="val 20000"/>
            </a:avLst>
          </a:prstGeom>
          <a:solidFill>
            <a:srgbClr val="163A52"/>
          </a:solidFill>
          <a:ln w="12700">
            <a:solidFill>
              <a:srgbClr val="2C6B8F"/>
            </a:solidFill>
            <a:prstDash val="solid"/>
          </a:ln>
        </p:spPr>
      </p:sp>
      <p:sp>
        <p:nvSpPr>
          <p:cNvPr id="15" name="Text 13"/>
          <p:cNvSpPr/>
          <p:nvPr/>
        </p:nvSpPr>
        <p:spPr>
          <a:xfrm>
            <a:off x="8257032" y="525780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Blazor</a:t>
            </a:r>
            <a:endParaRPr lang="en-US" sz="1200" dirty="0"/>
          </a:p>
        </p:txBody>
      </p:sp>
      <p:sp>
        <p:nvSpPr>
          <p:cNvPr id="16" name="Shape 14"/>
          <p:cNvSpPr/>
          <p:nvPr/>
        </p:nvSpPr>
        <p:spPr>
          <a:xfrm>
            <a:off x="6473952" y="5257800"/>
            <a:ext cx="1600200" cy="457200"/>
          </a:xfrm>
          <a:prstGeom prst="roundRect">
            <a:avLst>
              <a:gd name="adj" fmla="val 20000"/>
            </a:avLst>
          </a:prstGeom>
          <a:solidFill>
            <a:srgbClr val="163A52"/>
          </a:solidFill>
          <a:ln w="12700">
            <a:solidFill>
              <a:srgbClr val="2C6B8F"/>
            </a:solidFill>
            <a:prstDash val="solid"/>
          </a:ln>
        </p:spPr>
      </p:sp>
      <p:sp>
        <p:nvSpPr>
          <p:cNvPr id="17" name="Text 15"/>
          <p:cNvSpPr/>
          <p:nvPr/>
        </p:nvSpPr>
        <p:spPr>
          <a:xfrm>
            <a:off x="6473952" y="5257800"/>
            <a:ext cx="1600200" cy="457200"/>
          </a:xfrm>
          <a:prstGeom prst="rect">
            <a:avLst/>
          </a:prstGeom>
          <a:noFill/>
          <a:ln/>
        </p:spPr>
        <p:txBody>
          <a:bodyPr wrap="square" rtlCol="0" anchor="ctr"/>
          <a:lstStyle/>
          <a:p>
            <a:pPr algn="ctr" indent="0" marL="0">
              <a:buNone/>
            </a:pPr>
            <a:r>
              <a:rPr lang="en-US" sz="1200" b="1" dirty="0">
                <a:solidFill>
                  <a:srgbClr val="7FD8CE"/>
                </a:solidFill>
                <a:latin typeface="Arial" pitchFamily="34" charset="0"/>
                <a:ea typeface="Arial" pitchFamily="34" charset="-122"/>
                <a:cs typeface="Arial" pitchFamily="34" charset="-120"/>
              </a:rPr>
              <a:t>ثنائي اللغة</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91672" cy="640080"/>
          </a:xfrm>
          <a:prstGeom prst="rect">
            <a:avLst/>
          </a:prstGeom>
          <a:noFill/>
          <a:ln/>
        </p:spPr>
        <p:txBody>
          <a:bodyPr wrap="square" rtlCol="0" anchor="ctr"/>
          <a:lstStyle/>
          <a:p>
            <a:pPr rtl="1" algn="r" indent="0" marL="0">
              <a:buNone/>
            </a:pPr>
            <a:r>
              <a:rPr lang="en-US" sz="3000" b="1" dirty="0">
                <a:solidFill>
                  <a:srgbClr val="12476F"/>
                </a:solidFill>
                <a:latin typeface="Arial" pitchFamily="34" charset="0"/>
                <a:ea typeface="Arial" pitchFamily="34" charset="-122"/>
                <a:cs typeface="Arial" pitchFamily="34" charset="-120"/>
              </a:rPr>
              <a:t>المراجع</a:t>
            </a:r>
            <a:endParaRPr lang="en-US" sz="3000" dirty="0"/>
          </a:p>
        </p:txBody>
      </p:sp>
      <p:sp>
        <p:nvSpPr>
          <p:cNvPr id="3" name="Text 1"/>
          <p:cNvSpPr/>
          <p:nvPr/>
        </p:nvSpPr>
        <p:spPr>
          <a:xfrm>
            <a:off x="548640" y="932688"/>
            <a:ext cx="11091672" cy="365760"/>
          </a:xfrm>
          <a:prstGeom prst="rect">
            <a:avLst/>
          </a:prstGeom>
          <a:noFill/>
          <a:ln/>
        </p:spPr>
        <p:txBody>
          <a:bodyPr wrap="square" rtlCol="0" anchor="ctr"/>
          <a:lstStyle/>
          <a:p>
            <a:pPr rtl="1" algn="r" indent="0" marL="0">
              <a:buNone/>
            </a:pPr>
            <a:r>
              <a:rPr lang="en-US" sz="1450" i="1" dirty="0">
                <a:solidFill>
                  <a:srgbClr val="5B6B79"/>
                </a:solidFill>
                <a:latin typeface="Arial" pitchFamily="34" charset="0"/>
                <a:ea typeface="Arial" pitchFamily="34" charset="-122"/>
                <a:cs typeface="Arial" pitchFamily="34" charset="-120"/>
              </a:rPr>
              <a:t>أبرز المصادر (القائمة الكاملة في كتاب المشروع)</a:t>
            </a:r>
            <a:endParaRPr lang="en-US" sz="1450" dirty="0"/>
          </a:p>
        </p:txBody>
      </p:sp>
      <p:sp>
        <p:nvSpPr>
          <p:cNvPr id="4" name="Shape 2"/>
          <p:cNvSpPr/>
          <p:nvPr/>
        </p:nvSpPr>
        <p:spPr>
          <a:xfrm>
            <a:off x="11494008" y="365760"/>
            <a:ext cx="146304" cy="457200"/>
          </a:xfrm>
          <a:prstGeom prst="rect">
            <a:avLst/>
          </a:prstGeom>
          <a:solidFill>
            <a:srgbClr val="1F6FB2"/>
          </a:solidFill>
          <a:ln/>
        </p:spPr>
      </p:sp>
      <p:sp>
        <p:nvSpPr>
          <p:cNvPr id="5" name="Text 3"/>
          <p:cNvSpPr/>
          <p:nvPr/>
        </p:nvSpPr>
        <p:spPr>
          <a:xfrm>
            <a:off x="548640" y="6492240"/>
            <a:ext cx="5486400" cy="274320"/>
          </a:xfrm>
          <a:prstGeom prst="rect">
            <a:avLst/>
          </a:prstGeom>
          <a:noFill/>
          <a:ln/>
        </p:spPr>
        <p:txBody>
          <a:bodyPr wrap="square" rtlCol="0" anchor="ctr"/>
          <a:lstStyle/>
          <a:p>
            <a:pPr rtl="1" algn="l" indent="0" marL="0">
              <a:buNone/>
            </a:pPr>
            <a:r>
              <a:rPr lang="en-US" sz="900" dirty="0">
                <a:solidFill>
                  <a:srgbClr val="9AB0C0"/>
                </a:solidFill>
                <a:latin typeface="Arial" pitchFamily="34" charset="0"/>
                <a:ea typeface="Arial" pitchFamily="34" charset="-122"/>
                <a:cs typeface="Arial" pitchFamily="34" charset="-120"/>
              </a:rPr>
              <a:t>نظام السجلات الطبية الرقمية — DMRS</a:t>
            </a:r>
            <a:endParaRPr lang="en-US" sz="900" dirty="0"/>
          </a:p>
        </p:txBody>
      </p:sp>
      <p:sp>
        <p:nvSpPr>
          <p:cNvPr id="6" name="Text 4"/>
          <p:cNvSpPr/>
          <p:nvPr/>
        </p:nvSpPr>
        <p:spPr>
          <a:xfrm>
            <a:off x="11091672" y="6492240"/>
            <a:ext cx="548640" cy="274320"/>
          </a:xfrm>
          <a:prstGeom prst="rect">
            <a:avLst/>
          </a:prstGeom>
          <a:noFill/>
          <a:ln/>
        </p:spPr>
        <p:txBody>
          <a:bodyPr wrap="square" rtlCol="0" anchor="ctr"/>
          <a:lstStyle/>
          <a:p>
            <a:pPr algn="r" indent="0" marL="0">
              <a:buNone/>
            </a:pPr>
            <a:r>
              <a:rPr lang="en-US" sz="1000" dirty="0">
                <a:solidFill>
                  <a:srgbClr val="9AB0C0"/>
                </a:solidFill>
                <a:latin typeface="Arial" pitchFamily="34" charset="0"/>
                <a:ea typeface="Arial" pitchFamily="34" charset="-122"/>
                <a:cs typeface="Arial" pitchFamily="34" charset="-120"/>
              </a:rPr>
              <a:t>23</a:t>
            </a:r>
            <a:endParaRPr lang="en-US" sz="1000" dirty="0"/>
          </a:p>
        </p:txBody>
      </p:sp>
      <p:sp>
        <p:nvSpPr>
          <p:cNvPr id="7" name="Text 5"/>
          <p:cNvSpPr/>
          <p:nvPr/>
        </p:nvSpPr>
        <p:spPr>
          <a:xfrm>
            <a:off x="6277356" y="1554480"/>
            <a:ext cx="5362956" cy="4206240"/>
          </a:xfrm>
          <a:prstGeom prst="rect">
            <a:avLst/>
          </a:prstGeom>
          <a:noFill/>
          <a:ln/>
        </p:spPr>
        <p:txBody>
          <a:bodyPr wrap="square" rtlCol="0" anchor="t"/>
          <a:lstStyle/>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[1] HL7 FHIR Release 5 (R5) — https://hl7.org/fhir/</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[2] Firely .NET SDK (HL7.Fhir) — https://docs.fire.ly/</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[3] ASP.NET Core — https://learn.microsoft.com/aspnet/core/</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[5] Entity Framework Core — https://learn.microsoft.com/ef/core/</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[6] PostgreSQL — https://www.postgresql.org/docs/</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[7] Blazor — https://learn.microsoft.com/aspnet/core/blazor/</a:t>
            </a:r>
            <a:endParaRPr lang="en-US" sz="1250" dirty="0"/>
          </a:p>
        </p:txBody>
      </p:sp>
      <p:sp>
        <p:nvSpPr>
          <p:cNvPr id="8" name="Text 6"/>
          <p:cNvSpPr/>
          <p:nvPr/>
        </p:nvSpPr>
        <p:spPr>
          <a:xfrm>
            <a:off x="548640" y="1554480"/>
            <a:ext cx="5362956" cy="4206240"/>
          </a:xfrm>
          <a:prstGeom prst="rect">
            <a:avLst/>
          </a:prstGeom>
          <a:noFill/>
          <a:ln/>
        </p:spPr>
        <p:txBody>
          <a:bodyPr wrap="square" rtlCol="0" anchor="t"/>
          <a:lstStyle/>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[8] Keycloak — https://www.keycloak.org/documentation</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[9] ONNX Runtime — https://onnxruntime.ai/</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[10] scikit-learn — https://scikit-learn.org/</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[13] CDS Hooks — https://cds-hooks.org/</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[19] SMART App Launch — https://hl7.org/fhir/smart-app-launch/</a:t>
            </a:r>
            <a:endParaRPr lang="en-US" sz="1250" dirty="0"/>
          </a:p>
          <a:p>
            <a:pPr algn="l" indent="0" marL="0">
              <a:spcAft>
                <a:spcPts val="800"/>
              </a:spcAft>
              <a:buNone/>
            </a:pPr>
            <a:r>
              <a:rPr lang="en-US" sz="1250" dirty="0">
                <a:solidFill>
                  <a:srgbClr val="26333D"/>
                </a:solidFill>
                <a:latin typeface="Arial" pitchFamily="34" charset="0"/>
                <a:ea typeface="Arial" pitchFamily="34" charset="-122"/>
                <a:cs typeface="Arial" pitchFamily="34" charset="-120"/>
              </a:rPr>
              <a:t>[21] JsonLogic — https://jsonlogic.com/</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2D43"/>
        </a:solidFill>
      </p:bgPr>
    </p:bg>
    <p:spTree>
      <p:nvGrpSpPr>
        <p:cNvPr id="1" name=""/>
        <p:cNvGrpSpPr/>
        <p:nvPr/>
      </p:nvGrpSpPr>
      <p:grpSpPr>
        <a:xfrm>
          <a:off x="0" y="0"/>
          <a:ext cx="0" cy="0"/>
          <a:chOff x="0" y="0"/>
          <a:chExt cx="0" cy="0"/>
        </a:xfrm>
      </p:grpSpPr>
      <p:sp>
        <p:nvSpPr>
          <p:cNvPr id="2" name="Text 0"/>
          <p:cNvSpPr/>
          <p:nvPr/>
        </p:nvSpPr>
        <p:spPr>
          <a:xfrm>
            <a:off x="548640" y="2468880"/>
            <a:ext cx="11091672" cy="1097280"/>
          </a:xfrm>
          <a:prstGeom prst="rect">
            <a:avLst/>
          </a:prstGeom>
          <a:noFill/>
          <a:ln/>
        </p:spPr>
        <p:txBody>
          <a:bodyPr wrap="square" rtlCol="0" anchor="ctr"/>
          <a:lstStyle/>
          <a:p>
            <a:pPr rtl="1" algn="ctr" indent="0" marL="0">
              <a:buNone/>
            </a:pPr>
            <a:r>
              <a:rPr lang="en-US" sz="4800" b="1" dirty="0">
                <a:solidFill>
                  <a:srgbClr val="FFFFFF"/>
                </a:solidFill>
                <a:latin typeface="Arial" pitchFamily="34" charset="0"/>
                <a:ea typeface="Arial" pitchFamily="34" charset="-122"/>
                <a:cs typeface="Arial" pitchFamily="34" charset="-120"/>
              </a:rPr>
              <a:t>شكراً لحسن إصغائكم</a:t>
            </a:r>
            <a:endParaRPr lang="en-US" sz="4800" dirty="0"/>
          </a:p>
        </p:txBody>
      </p:sp>
      <p:sp>
        <p:nvSpPr>
          <p:cNvPr id="3" name="Text 1"/>
          <p:cNvSpPr/>
          <p:nvPr/>
        </p:nvSpPr>
        <p:spPr>
          <a:xfrm>
            <a:off x="548640" y="3657600"/>
            <a:ext cx="11091672" cy="548640"/>
          </a:xfrm>
          <a:prstGeom prst="rect">
            <a:avLst/>
          </a:prstGeom>
          <a:noFill/>
          <a:ln/>
        </p:spPr>
        <p:txBody>
          <a:bodyPr wrap="square" rtlCol="0" anchor="ctr"/>
          <a:lstStyle/>
          <a:p>
            <a:pPr rtl="1" algn="ctr" indent="0" marL="0">
              <a:buNone/>
            </a:pPr>
            <a:r>
              <a:rPr lang="en-US" sz="1800" dirty="0">
                <a:solidFill>
                  <a:srgbClr val="7FD8CE"/>
                </a:solidFill>
                <a:latin typeface="Arial" pitchFamily="34" charset="0"/>
                <a:ea typeface="Arial" pitchFamily="34" charset="-122"/>
                <a:cs typeface="Arial" pitchFamily="34" charset="-120"/>
              </a:rPr>
              <a:t>نسعد بأسئلتكم وملاحظاتكم</a:t>
            </a:r>
            <a:endParaRPr lang="en-US" sz="1800" dirty="0"/>
          </a:p>
        </p:txBody>
      </p:sp>
      <p:sp>
        <p:nvSpPr>
          <p:cNvPr id="4" name="Text 2"/>
          <p:cNvSpPr/>
          <p:nvPr/>
        </p:nvSpPr>
        <p:spPr>
          <a:xfrm>
            <a:off x="548640" y="4297680"/>
            <a:ext cx="11091672" cy="457200"/>
          </a:xfrm>
          <a:prstGeom prst="rect">
            <a:avLst/>
          </a:prstGeom>
          <a:noFill/>
          <a:ln/>
        </p:spPr>
        <p:txBody>
          <a:bodyPr wrap="square" rtlCol="0" anchor="ctr"/>
          <a:lstStyle/>
          <a:p>
            <a:pPr algn="ctr" indent="0" marL="0">
              <a:buNone/>
            </a:pPr>
            <a:r>
              <a:rPr lang="en-US" sz="1400" dirty="0">
                <a:solidFill>
                  <a:srgbClr val="7FA7C4"/>
                </a:solidFill>
                <a:latin typeface="Arial" pitchFamily="34" charset="0"/>
                <a:ea typeface="Arial" pitchFamily="34" charset="-122"/>
                <a:cs typeface="Arial" pitchFamily="34" charset="-120"/>
              </a:rPr>
              <a:t>نظام السجلات الطبية الرقمية — DMRS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السجلات الطبية الرقمية DMRS</dc:title>
  <dc:subject>PptxGenJS Presentation</dc:subject>
  <dc:creator>DMRS Team</dc:creator>
  <cp:lastModifiedBy>DMRS Team</cp:lastModifiedBy>
  <cp:revision>1</cp:revision>
  <dcterms:created xsi:type="dcterms:W3CDTF">2026-06-18T06:31:28Z</dcterms:created>
  <dcterms:modified xsi:type="dcterms:W3CDTF">2026-06-18T06:31:28Z</dcterms:modified>
</cp:coreProperties>
</file>