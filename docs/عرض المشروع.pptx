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9" r:id="rId13"/>
    <p:sldId id="273" r:id="rId14"/>
    <p:sldId id="270" r:id="rId15"/>
    <p:sldId id="271" r:id="rId16"/>
    <p:sldId id="272"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9" d="100"/>
          <a:sy n="79" d="100"/>
        </p:scale>
        <p:origin x="126" y="7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hair Horani" userId="946f668c7de71607" providerId="LiveId" clId="{CCD28977-8E33-449C-8E9C-F6FAD7DB90E3}"/>
    <pc:docChg chg="undo custSel addSld delSld modSld">
      <pc:chgData name="Khair Horani" userId="946f668c7de71607" providerId="LiveId" clId="{CCD28977-8E33-449C-8E9C-F6FAD7DB90E3}" dt="2026-07-21T15:50:36.148" v="7" actId="14100"/>
      <pc:docMkLst>
        <pc:docMk/>
      </pc:docMkLst>
      <pc:sldChg chg="del">
        <pc:chgData name="Khair Horani" userId="946f668c7de71607" providerId="LiveId" clId="{CCD28977-8E33-449C-8E9C-F6FAD7DB90E3}" dt="2026-07-21T15:48:49.441" v="0" actId="47"/>
        <pc:sldMkLst>
          <pc:docMk/>
          <pc:sldMk cId="0" sldId="267"/>
        </pc:sldMkLst>
      </pc:sldChg>
      <pc:sldChg chg="del">
        <pc:chgData name="Khair Horani" userId="946f668c7de71607" providerId="LiveId" clId="{CCD28977-8E33-449C-8E9C-F6FAD7DB90E3}" dt="2026-07-21T15:48:49.441" v="0" actId="47"/>
        <pc:sldMkLst>
          <pc:docMk/>
          <pc:sldMk cId="0" sldId="268"/>
        </pc:sldMkLst>
      </pc:sldChg>
      <pc:sldChg chg="modSp add del mod">
        <pc:chgData name="Khair Horani" userId="946f668c7de71607" providerId="LiveId" clId="{CCD28977-8E33-449C-8E9C-F6FAD7DB90E3}" dt="2026-07-21T15:50:36.148" v="7" actId="14100"/>
        <pc:sldMkLst>
          <pc:docMk/>
          <pc:sldMk cId="0" sldId="269"/>
        </pc:sldMkLst>
        <pc:spChg chg="mod">
          <ac:chgData name="Khair Horani" userId="946f668c7de71607" providerId="LiveId" clId="{CCD28977-8E33-449C-8E9C-F6FAD7DB90E3}" dt="2026-07-21T15:50:36.148" v="7" actId="14100"/>
          <ac:spMkLst>
            <pc:docMk/>
            <pc:sldMk cId="0" sldId="269"/>
            <ac:spMk id="6" creationId="{00000000-0000-0000-0000-000000000000}"/>
          </ac:spMkLst>
        </pc:spChg>
        <pc:picChg chg="mod">
          <ac:chgData name="Khair Horani" userId="946f668c7de71607" providerId="LiveId" clId="{CCD28977-8E33-449C-8E9C-F6FAD7DB90E3}" dt="2026-07-21T15:50:20.400" v="5" actId="14100"/>
          <ac:picMkLst>
            <pc:docMk/>
            <pc:sldMk cId="0" sldId="269"/>
            <ac:picMk id="7"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826485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السلام عليكم. نرحّب بلجنة التحكيم الموقّرة، ونعرض مشروع تخرّجنا: نظام السجلات الطبية الرقمية — ملفٌّ طبي موحّد لكلّ مريض، ومساعدٌ ذكي لكلّ طبيب.</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سنمرّ بستّ محطات: نبدأ بالمشكلة التي دفعتنا إلى المشروع وفكرته، ثم ماذا يقدّم لكلّ مستخدم، فكيف يعمل من الداخل بصورة مبسّطة، ثم طبقاته الذكية الثلاث، فجولة في واجهاته، ونختم بالآفاق المستقبلية.</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لنبدأ من قصة نعرفها جميعاً: مريضٌ يراجع مشفى جديداً، فيُسأل عن تاريخه من الصفر، وتُعاد له تحاليل أُجريت قبل أسبوع. بياناته مبعثرة بين أنظمةٍ لا تتواصل، ولا شيء ينبّه الطبيب إلى خطرٍ قادم، والمريض نفسه لا يستطيع الاطّلاع على ملفه. هذه هي المشكلة التي انطلقنا منها.</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فكرتنا بجملة واحدة: منصّة واحدة تجمع ملف المريض كاملاً، وتفهمه، وتتصرّف بناءً عليه. ثلاث ركائز: ملفٌ موحّد يُكتب بلغةٍ عالمية فيفهمه أيّ نظامٍ صحي؛ ومساعدٌ يقظ ينبّه الطبيب في اللحظة المناسبة؛ وذكاءٌ اصطناعي يتنبّأ بالخطر قبل وقوعه.</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ينظّم النظام مستخدميه في أربعة أدوار: الطبيب يجد الملف الكامل والتنبيهات وقائمة الأولويات؛ والمريض يطّلع على ملفه بأمان وبلغته؛ ومدير المؤسسة يدير الكادر ويكتب قواعد التنبيه بلا برمجة؛ ومدير النظام يدير المنصّة كلّها. وكلّ مستخدمٍ يرى ما يخصّه فقط.</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من الداخل، الصورة بسيطة: المستخدمون يفتحون واجهة الاستخدام في المتصفح، والواجهة تخاطب الخادم المركزي — عقل النظام — الذي يحفظ الملفات في قاعدة بيانات تحتفظ بكلّ نسخة من كلّ سجل. وتسند الخادمَ ثلاثُ خدمات: بوابة دخولٍ آمنة موحّدة، ونماذج الذكاء الاصطناعي التي تعمل داخله مباشرة، ومرجعٌ لمعلومات الأدوية. وكلّ الاتصالات مشفّرة.</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الطبقة الأولى هي الأساس: بدل أن يخترع كلّ نظامٍ صيغته الخاصة، اعتمدنا المعيار العالمي HL7 FHIR في إصداره الخامس. شبّهوه بمنفذ USB: لغةُ توصيلٍ واحدة للجميع. النتيجة ثلاثية: لغة واحدة يفهمها أيّ نظام حديث، وذاكرة كاملة تحفظ كلّ تعديل بنسخته وصاحبه، وجاهزية للربط مستقبلاً مع أيّ مؤسسة تعتمد المعيار نفسه.</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الطبقة الثانية مساعدٌ يقظ: حين يصف الطبيب دواءً، يفحص النظام الوصفة تلقائياً في اللحظة نفسها، فإن وجد جرعةً زائدة أو تداخلاً أو خطراً أظهر تنبيهاً فورياً. الجميل أنّ قواعد التنبيه لا تكتبها شركة البرمجة، بل مدير المؤسسة نفسه من شاشة إعدادٍ بسيطة. وتستند التنبيهات إلى بيانات المريض ومرجع الأدوية وتقديرات الذكاء الاصطناعي معاً. ونؤكّد: القرار الأخير دائماً للطبيب.</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الطبقة الثالثة تنقل الرعاية من ردّ الفعل إلى الاستباق: ثلاثة نماذج ذكاءٍ اصطناعي تقرأ ملف المريض الفعلي فتقدّر خطر السكري، وخطر أمراض القلب، وخطر عودته إلى المشفى خلال شهر. دُرّبت على بياناتٍ طبية منشورة عالمياً. ونحرص على الأمانة العلمية: إن نقصت معلومة يخبر النظامُ الطبيبَ أنّ التقدير تقريبي، والتقدير يساعد الطبيب ولا يحلّ محلّ حكمه أبداً.</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البيانات الصحية من أكثر البيانات حساسية، لذا كان الأمان شرطاً لا ميزة: دخولٌ موحّد عبر بوابة هويةٍ مستقلة فلا نخزّن كلمات مرور؛ وصلاحياتٌ دقيقة تجعل كلّ مستخدمٍ يرى ما يخصّه فقط — المريض لا يرى إلا ملفه؛ واتصالاتٌ مشفّرة بالكامل؛ وكلّ تعديلٍ موثَّق بصاحبه وتاريخه.</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حدّدنا في الدراسة التحليلية خمسة أدوار تتدرّج صلاحياتها كالسلّم: الزائر، فالمريض، فالطبيب، فمدير المؤسسة الذي يرث قدرات الطبيب ويضيف الإدارة، فمدير النظام في القمّة. وهذا المخطّط وأمثاله موثَّقة تفصيلياً في كتاب المشروع.</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جوهر التصميم أنّ مستند FHIR نفسه هو مصدر الحقيقة: جدولٌ للنسخة الحالية، وجدولٌ للتاريخ، وفهرسٌ مُسطَّح للبحث. وإلى جانبها جداول دعم القرار بنشرٍ مُصدَّر النسخ، وسجلّ النماذج الخارجية، وقاعدةٌ مستقلة لمعرفة الأدوية.</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ويبقى سؤال: هل نثق بأنّ النظام يعمل كما نقول؟ لذلك بنينا منظومة اختباراتٍ آلية تُشغَّل بأمرٍ واحد، وعددها مئتان وخمسة عشر اختباراً تعمل جميعها بنجاح. تغطّي أربعة محاور: الوظائف الأساسية وواجهة النظام البرمجية ومطابقتها للمعيار؛ والصلاحيات، حيث نتأكّد آلياً أنّ المريض لا يصل إلى سجلّ غيره؛ ونماذج الذكاء الاصطناعي التي تُشغَّل فعلياً في الاختبار لا نسخاً وهمية؛ وأخيراً تعدّد المستخدمين والأداء. والأهمّ أنّ هذه الاختبارات أثبتت قدرتها على كشف الخطأ فعلياً: فحين عطّلنا فحصاً أمنياً عمداً على سبيل التجربة، أخفق اختبارا عزل المريض وحدهما دون سواهما — أي أنّها اختباراتٌ ذات قيمةٍ تشخيصية حقيقية لا مجرّد توكيداتٍ شكلية.</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325891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النظام اليوم مكتمل الوظائف الأساسية، والبناء عليه ممكن في أربعة اتجاهات: إعادة تدريب النماذج على بيانات محلية حقيقية لرفع دقّتها؛ وتطبيق موبايل يقرّبه من الناس؛ ونشرٌ سحابي يخدم مؤسساتٍ أكثر؛ وربطٌ أعمق بالمنظومة الصحية ليصبح عقدةً في شبكةٍ وطنية.</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بدأنا من مشكلةٍ يعيشها كلّ مريض، وانتهينا إلى منصّةٍ تجمع الملف وتفهمه وتتصرّف: ملفٌ موحّد بلغةٍ عالمية، ومساعدٌ يقظ للطبيب، وذكاءٌ يتوقّع الخطر، وبابٌ آمن للمريض. ومن ملفٍّ مبعثر… إلى رعايةٍ تسبق المرض.</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شكراً لحسن إصغائكم، ونسعد الآن بالإجابة عن أسئلتكم. وسنعرض بعد ذلك التسجيل العملي للنظام.</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3540"/>
        </a:solidFill>
        <a:effectLst/>
      </p:bgPr>
    </p:bg>
    <p:spTree>
      <p:nvGrpSpPr>
        <p:cNvPr id="1" name=""/>
        <p:cNvGrpSpPr/>
        <p:nvPr/>
      </p:nvGrpSpPr>
      <p:grpSpPr>
        <a:xfrm>
          <a:off x="0" y="0"/>
          <a:ext cx="0" cy="0"/>
          <a:chOff x="0" y="0"/>
          <a:chExt cx="0" cy="0"/>
        </a:xfrm>
      </p:grpSpPr>
      <p:sp>
        <p:nvSpPr>
          <p:cNvPr id="2" name="Shape 0"/>
          <p:cNvSpPr/>
          <p:nvPr/>
        </p:nvSpPr>
        <p:spPr>
          <a:xfrm>
            <a:off x="-1463040" y="4480560"/>
            <a:ext cx="4754880" cy="4754880"/>
          </a:xfrm>
          <a:prstGeom prst="ellipse">
            <a:avLst/>
          </a:prstGeom>
          <a:solidFill>
            <a:srgbClr val="FFFFFF">
              <a:alpha val="5000"/>
            </a:srgbClr>
          </a:solidFill>
          <a:ln/>
        </p:spPr>
      </p:sp>
      <p:sp>
        <p:nvSpPr>
          <p:cNvPr id="3" name="Shape 1"/>
          <p:cNvSpPr/>
          <p:nvPr/>
        </p:nvSpPr>
        <p:spPr>
          <a:xfrm>
            <a:off x="9692640" y="-2194560"/>
            <a:ext cx="4206240" cy="4206240"/>
          </a:xfrm>
          <a:prstGeom prst="ellipse">
            <a:avLst/>
          </a:prstGeom>
          <a:solidFill>
            <a:srgbClr val="02C39A">
              <a:alpha val="12000"/>
            </a:srgbClr>
          </a:solidFill>
          <a:ln/>
        </p:spPr>
      </p:sp>
      <p:sp>
        <p:nvSpPr>
          <p:cNvPr id="4" name="Shape 2"/>
          <p:cNvSpPr/>
          <p:nvPr/>
        </p:nvSpPr>
        <p:spPr>
          <a:xfrm>
            <a:off x="10881360" y="5394960"/>
            <a:ext cx="2194560" cy="2194560"/>
          </a:xfrm>
          <a:prstGeom prst="ellipse">
            <a:avLst/>
          </a:prstGeom>
          <a:solidFill>
            <a:srgbClr val="E9B44C">
              <a:alpha val="12000"/>
            </a:srgbClr>
          </a:solidFill>
          <a:ln/>
        </p:spPr>
      </p:sp>
      <p:sp>
        <p:nvSpPr>
          <p:cNvPr id="5" name="Text 3"/>
          <p:cNvSpPr/>
          <p:nvPr/>
        </p:nvSpPr>
        <p:spPr>
          <a:xfrm>
            <a:off x="548640" y="457200"/>
            <a:ext cx="11094415" cy="292608"/>
          </a:xfrm>
          <a:prstGeom prst="rect">
            <a:avLst/>
          </a:prstGeom>
          <a:noFill/>
          <a:ln/>
        </p:spPr>
        <p:txBody>
          <a:bodyPr wrap="square" rtlCol="0" anchor="ctr"/>
          <a:lstStyle/>
          <a:p>
            <a:pPr marL="0" indent="0" algn="ctr" rtl="1">
              <a:buNone/>
            </a:pPr>
            <a:r>
              <a:rPr lang="ar-SA" altLang="en-US" sz="1300" dirty="0">
                <a:solidFill>
                  <a:srgbClr val="CFE8EA"/>
                </a:solidFill>
                <a:latin typeface="Dubai" panose="020B0503030403030204" pitchFamily="34" charset="-78"/>
                <a:ea typeface="Arial" pitchFamily="34" charset="-122"/>
                <a:cs typeface="Dubai" panose="020B0503030403030204" pitchFamily="34" charset="-78"/>
              </a:rPr>
              <a:t>الجمهورية العربية السورية — وزارة التعليم العالي والبحث العلمي</a:t>
            </a:r>
            <a:endParaRPr lang="ar-SA" sz="1300" dirty="0">
              <a:latin typeface="Dubai" panose="020B0503030403030204" pitchFamily="34" charset="-78"/>
              <a:cs typeface="Dubai" panose="020B0503030403030204" pitchFamily="34" charset="-78"/>
            </a:endParaRPr>
          </a:p>
        </p:txBody>
      </p:sp>
      <p:sp>
        <p:nvSpPr>
          <p:cNvPr id="6" name="Text 4"/>
          <p:cNvSpPr/>
          <p:nvPr/>
        </p:nvSpPr>
        <p:spPr>
          <a:xfrm>
            <a:off x="548640" y="768096"/>
            <a:ext cx="11094415" cy="292608"/>
          </a:xfrm>
          <a:prstGeom prst="rect">
            <a:avLst/>
          </a:prstGeom>
          <a:noFill/>
          <a:ln/>
        </p:spPr>
        <p:txBody>
          <a:bodyPr wrap="square" rtlCol="0" anchor="ctr"/>
          <a:lstStyle/>
          <a:p>
            <a:pPr marL="0" indent="0" algn="ctr" rtl="1">
              <a:buNone/>
            </a:pPr>
            <a:r>
              <a:rPr lang="ar-SA" altLang="en-US" sz="1300" dirty="0">
                <a:solidFill>
                  <a:srgbClr val="CFE8EA"/>
                </a:solidFill>
                <a:latin typeface="Dubai" panose="020B0503030403030204" pitchFamily="34" charset="-78"/>
                <a:ea typeface="Arial" pitchFamily="34" charset="-122"/>
                <a:cs typeface="Dubai" panose="020B0503030403030204" pitchFamily="34" charset="-78"/>
              </a:rPr>
              <a:t>الجامعة الوطنية الخاصة — كلية الهندسة — قسم هندسة الحاسوب</a:t>
            </a:r>
            <a:endParaRPr lang="ar-SA" sz="1300" dirty="0">
              <a:latin typeface="Dubai" panose="020B0503030403030204" pitchFamily="34" charset="-78"/>
              <a:cs typeface="Dubai" panose="020B0503030403030204" pitchFamily="34" charset="-78"/>
            </a:endParaRPr>
          </a:p>
        </p:txBody>
      </p:sp>
      <p:sp>
        <p:nvSpPr>
          <p:cNvPr id="7" name="Shape 5"/>
          <p:cNvSpPr/>
          <p:nvPr/>
        </p:nvSpPr>
        <p:spPr>
          <a:xfrm>
            <a:off x="5135728" y="1371600"/>
            <a:ext cx="1920240" cy="420624"/>
          </a:xfrm>
          <a:prstGeom prst="roundRect">
            <a:avLst>
              <a:gd name="adj" fmla="val 50000"/>
            </a:avLst>
          </a:prstGeom>
          <a:solidFill>
            <a:srgbClr val="E9B44C"/>
          </a:solidFill>
          <a:ln/>
        </p:spPr>
      </p:sp>
      <p:sp>
        <p:nvSpPr>
          <p:cNvPr id="8" name="Text 6"/>
          <p:cNvSpPr/>
          <p:nvPr/>
        </p:nvSpPr>
        <p:spPr>
          <a:xfrm>
            <a:off x="5135728" y="1371600"/>
            <a:ext cx="1920240" cy="420624"/>
          </a:xfrm>
          <a:prstGeom prst="rect">
            <a:avLst/>
          </a:prstGeom>
          <a:noFill/>
          <a:ln/>
        </p:spPr>
        <p:txBody>
          <a:bodyPr wrap="square" lIns="0" tIns="0" rIns="0" bIns="0" rtlCol="0" anchor="ctr"/>
          <a:lstStyle/>
          <a:p>
            <a:pPr marL="0" indent="0" algn="ctr" rtl="1">
              <a:buNone/>
            </a:pPr>
            <a:r>
              <a:rPr lang="ar-SA" altLang="en-US" sz="1500" b="1" dirty="0">
                <a:solidFill>
                  <a:srgbClr val="0A3540"/>
                </a:solidFill>
                <a:latin typeface="Dubai" panose="020B0503030403030204" pitchFamily="34" charset="-78"/>
                <a:ea typeface="Arial" pitchFamily="34" charset="-122"/>
                <a:cs typeface="Dubai" panose="020B0503030403030204" pitchFamily="34" charset="-78"/>
              </a:rPr>
              <a:t>مشروع تخرّج</a:t>
            </a:r>
            <a:endParaRPr lang="ar-SA" sz="1500" dirty="0">
              <a:latin typeface="Dubai" panose="020B0503030403030204" pitchFamily="34" charset="-78"/>
              <a:cs typeface="Dubai" panose="020B0503030403030204" pitchFamily="34" charset="-78"/>
            </a:endParaRPr>
          </a:p>
        </p:txBody>
      </p:sp>
      <p:sp>
        <p:nvSpPr>
          <p:cNvPr id="9" name="Text 7"/>
          <p:cNvSpPr/>
          <p:nvPr/>
        </p:nvSpPr>
        <p:spPr>
          <a:xfrm>
            <a:off x="548640" y="1883664"/>
            <a:ext cx="11094415" cy="658368"/>
          </a:xfrm>
          <a:prstGeom prst="rect">
            <a:avLst/>
          </a:prstGeom>
          <a:noFill/>
          <a:ln/>
        </p:spPr>
        <p:txBody>
          <a:bodyPr wrap="square" rtlCol="0" anchor="ctr"/>
          <a:lstStyle/>
          <a:p>
            <a:pPr marL="0" indent="0" algn="ctr" rtl="1">
              <a:buNone/>
            </a:pPr>
            <a:r>
              <a:rPr lang="ar-SA" altLang="en-US" sz="4600" b="1" dirty="0">
                <a:solidFill>
                  <a:srgbClr val="FFFFFF"/>
                </a:solidFill>
                <a:latin typeface="Dubai" panose="020B0503030403030204" pitchFamily="34" charset="-78"/>
                <a:ea typeface="Arial" pitchFamily="34" charset="-122"/>
                <a:cs typeface="Dubai" panose="020B0503030403030204" pitchFamily="34" charset="-78"/>
              </a:rPr>
              <a:t>نبض</a:t>
            </a:r>
            <a:endParaRPr lang="ar-SA" sz="4600" dirty="0">
              <a:latin typeface="Dubai" panose="020B0503030403030204" pitchFamily="34" charset="-78"/>
              <a:cs typeface="Dubai" panose="020B0503030403030204" pitchFamily="34" charset="-78"/>
            </a:endParaRPr>
          </a:p>
        </p:txBody>
      </p:sp>
      <p:sp>
        <p:nvSpPr>
          <p:cNvPr id="10" name="Text 8"/>
          <p:cNvSpPr/>
          <p:nvPr/>
        </p:nvSpPr>
        <p:spPr>
          <a:xfrm>
            <a:off x="548640" y="2523744"/>
            <a:ext cx="11094415" cy="384048"/>
          </a:xfrm>
          <a:prstGeom prst="rect">
            <a:avLst/>
          </a:prstGeom>
          <a:noFill/>
          <a:ln/>
        </p:spPr>
        <p:txBody>
          <a:bodyPr wrap="square" rtlCol="0" anchor="ctr"/>
          <a:lstStyle/>
          <a:p>
            <a:pPr marL="0" indent="0" algn="ctr" rtl="1">
              <a:buNone/>
            </a:pPr>
            <a:r>
              <a:rPr lang="ar-SA" altLang="en-US" sz="2100" b="1" dirty="0">
                <a:solidFill>
                  <a:srgbClr val="CFE8EA"/>
                </a:solidFill>
                <a:latin typeface="Dubai" panose="020B0503030403030204" pitchFamily="34" charset="-78"/>
                <a:ea typeface="Arial" pitchFamily="34" charset="-122"/>
                <a:cs typeface="Dubai" panose="020B0503030403030204" pitchFamily="34" charset="-78"/>
              </a:rPr>
              <a:t>نظام السجلات الطبية الرقمية</a:t>
            </a:r>
            <a:endParaRPr lang="ar-SA" sz="2100" dirty="0">
              <a:latin typeface="Dubai" panose="020B0503030403030204" pitchFamily="34" charset="-78"/>
              <a:cs typeface="Dubai" panose="020B0503030403030204" pitchFamily="34" charset="-78"/>
            </a:endParaRPr>
          </a:p>
        </p:txBody>
      </p:sp>
      <p:sp>
        <p:nvSpPr>
          <p:cNvPr id="11" name="Text 9"/>
          <p:cNvSpPr/>
          <p:nvPr/>
        </p:nvSpPr>
        <p:spPr>
          <a:xfrm>
            <a:off x="548640" y="2926080"/>
            <a:ext cx="11094415" cy="457200"/>
          </a:xfrm>
          <a:prstGeom prst="rect">
            <a:avLst/>
          </a:prstGeom>
          <a:noFill/>
          <a:ln/>
        </p:spPr>
        <p:txBody>
          <a:bodyPr wrap="square" rtlCol="0" anchor="ctr"/>
          <a:lstStyle/>
          <a:p>
            <a:pPr marL="0" indent="0" algn="ctr">
              <a:buNone/>
            </a:pPr>
            <a:r>
              <a:rPr lang="en-US" sz="2000" b="1" dirty="0">
                <a:solidFill>
                  <a:srgbClr val="02C39A"/>
                </a:solidFill>
                <a:latin typeface="Dubai" panose="020B0503030403030204" pitchFamily="34" charset="-78"/>
                <a:ea typeface="Arial" pitchFamily="34" charset="-122"/>
                <a:cs typeface="Dubai" panose="020B0503030403030204" pitchFamily="34" charset="-78"/>
              </a:rPr>
              <a:t>Nabd — Digital Medical Records System</a:t>
            </a:r>
            <a:endParaRPr lang="en-US" sz="2000" dirty="0">
              <a:latin typeface="Dubai" panose="020B0503030403030204" pitchFamily="34" charset="-78"/>
              <a:cs typeface="Dubai" panose="020B0503030403030204" pitchFamily="34" charset="-78"/>
            </a:endParaRPr>
          </a:p>
        </p:txBody>
      </p:sp>
      <p:sp>
        <p:nvSpPr>
          <p:cNvPr id="12" name="Text 10"/>
          <p:cNvSpPr/>
          <p:nvPr/>
        </p:nvSpPr>
        <p:spPr>
          <a:xfrm>
            <a:off x="548640" y="3429000"/>
            <a:ext cx="11094415" cy="411480"/>
          </a:xfrm>
          <a:prstGeom prst="rect">
            <a:avLst/>
          </a:prstGeom>
          <a:noFill/>
          <a:ln/>
        </p:spPr>
        <p:txBody>
          <a:bodyPr wrap="square" rtlCol="0" anchor="ctr"/>
          <a:lstStyle/>
          <a:p>
            <a:pPr marL="0" indent="0" algn="ctr" rtl="1">
              <a:buNone/>
            </a:pPr>
            <a:r>
              <a:rPr lang="ar-SA" altLang="en-US" sz="1500" i="1" dirty="0">
                <a:solidFill>
                  <a:srgbClr val="CFE8EA"/>
                </a:solidFill>
                <a:latin typeface="Dubai" panose="020B0503030403030204" pitchFamily="34" charset="-78"/>
                <a:ea typeface="Arial" pitchFamily="34" charset="-122"/>
                <a:cs typeface="Dubai" panose="020B0503030403030204" pitchFamily="34" charset="-78"/>
              </a:rPr>
              <a:t>ملفٌّ طبي موحّد لكلّ مريض، ومساعدٌ ذكي لكلّ طبيب</a:t>
            </a:r>
            <a:endParaRPr lang="ar-SA" sz="1500" dirty="0">
              <a:latin typeface="Dubai" panose="020B0503030403030204" pitchFamily="34" charset="-78"/>
              <a:cs typeface="Dubai" panose="020B0503030403030204" pitchFamily="34" charset="-78"/>
            </a:endParaRPr>
          </a:p>
        </p:txBody>
      </p:sp>
      <p:sp>
        <p:nvSpPr>
          <p:cNvPr id="13" name="Text 11"/>
          <p:cNvSpPr/>
          <p:nvPr/>
        </p:nvSpPr>
        <p:spPr>
          <a:xfrm>
            <a:off x="548640" y="4297680"/>
            <a:ext cx="11094415" cy="868680"/>
          </a:xfrm>
          <a:prstGeom prst="rect">
            <a:avLst/>
          </a:prstGeom>
          <a:noFill/>
          <a:ln/>
        </p:spPr>
        <p:txBody>
          <a:bodyPr wrap="square" rtlCol="0" anchor="ctr"/>
          <a:lstStyle/>
          <a:p>
            <a:pPr marL="0" indent="0" algn="ctr" rtl="1">
              <a:lnSpc>
                <a:spcPct val="140000"/>
              </a:lnSpc>
              <a:buNone/>
            </a:pPr>
            <a:r>
              <a:rPr lang="ar-SA" altLang="en-US" sz="1400" b="1" dirty="0">
                <a:solidFill>
                  <a:srgbClr val="02C39A"/>
                </a:solidFill>
                <a:latin typeface="Dubai" panose="020B0503030403030204" pitchFamily="34" charset="-78"/>
                <a:ea typeface="Arial" pitchFamily="34" charset="-122"/>
                <a:cs typeface="Dubai" panose="020B0503030403030204" pitchFamily="34" charset="-78"/>
              </a:rPr>
              <a:t>إعداد الطلاب</a:t>
            </a:r>
            <a:endParaRPr lang="ar-SA" sz="1400" dirty="0">
              <a:latin typeface="Dubai" panose="020B0503030403030204" pitchFamily="34" charset="-78"/>
              <a:cs typeface="Dubai" panose="020B0503030403030204" pitchFamily="34" charset="-78"/>
            </a:endParaRPr>
          </a:p>
          <a:p>
            <a:pPr marL="0" indent="0" algn="ctr" rtl="1">
              <a:lnSpc>
                <a:spcPct val="140000"/>
              </a:lnSpc>
              <a:buNone/>
            </a:pPr>
            <a:r>
              <a:rPr lang="ar-SA" altLang="en-US" sz="1700" b="1" dirty="0">
                <a:solidFill>
                  <a:srgbClr val="FFFFFF"/>
                </a:solidFill>
                <a:latin typeface="Dubai" panose="020B0503030403030204" pitchFamily="34" charset="-78"/>
                <a:ea typeface="Arial" pitchFamily="34" charset="-122"/>
                <a:cs typeface="Dubai" panose="020B0503030403030204" pitchFamily="34" charset="-78"/>
              </a:rPr>
              <a:t>أمير المنصور      محمد خير الحوراني      ميزر عمري</a:t>
            </a:r>
            <a:endParaRPr lang="ar-SA" sz="1400" dirty="0">
              <a:latin typeface="Dubai" panose="020B0503030403030204" pitchFamily="34" charset="-78"/>
              <a:cs typeface="Dubai" panose="020B0503030403030204" pitchFamily="34" charset="-78"/>
            </a:endParaRPr>
          </a:p>
        </p:txBody>
      </p:sp>
      <p:sp>
        <p:nvSpPr>
          <p:cNvPr id="14" name="Text 12"/>
          <p:cNvSpPr/>
          <p:nvPr/>
        </p:nvSpPr>
        <p:spPr>
          <a:xfrm>
            <a:off x="548640" y="5257800"/>
            <a:ext cx="11094415" cy="777240"/>
          </a:xfrm>
          <a:prstGeom prst="rect">
            <a:avLst/>
          </a:prstGeom>
          <a:noFill/>
          <a:ln/>
        </p:spPr>
        <p:txBody>
          <a:bodyPr wrap="square" rtlCol="0" anchor="ctr"/>
          <a:lstStyle/>
          <a:p>
            <a:pPr marL="0" indent="0" algn="ctr" rtl="1">
              <a:lnSpc>
                <a:spcPct val="140000"/>
              </a:lnSpc>
              <a:buNone/>
            </a:pPr>
            <a:r>
              <a:rPr lang="ar-SA" altLang="en-US" sz="1400" b="1" dirty="0">
                <a:solidFill>
                  <a:srgbClr val="02C39A"/>
                </a:solidFill>
                <a:latin typeface="Dubai" panose="020B0503030403030204" pitchFamily="34" charset="-78"/>
                <a:ea typeface="Arial" pitchFamily="34" charset="-122"/>
                <a:cs typeface="Dubai" panose="020B0503030403030204" pitchFamily="34" charset="-78"/>
              </a:rPr>
              <a:t>بإشراف</a:t>
            </a:r>
            <a:endParaRPr lang="ar-SA" sz="1400" dirty="0">
              <a:latin typeface="Dubai" panose="020B0503030403030204" pitchFamily="34" charset="-78"/>
              <a:cs typeface="Dubai" panose="020B0503030403030204" pitchFamily="34" charset="-78"/>
            </a:endParaRPr>
          </a:p>
          <a:p>
            <a:pPr marL="0" indent="0" algn="ctr" rtl="1">
              <a:lnSpc>
                <a:spcPct val="140000"/>
              </a:lnSpc>
              <a:buNone/>
            </a:pPr>
            <a:r>
              <a:rPr lang="ar-SA" altLang="en-US" sz="1600" b="1" dirty="0">
                <a:solidFill>
                  <a:srgbClr val="FFFFFF"/>
                </a:solidFill>
                <a:latin typeface="Dubai" panose="020B0503030403030204" pitchFamily="34" charset="-78"/>
                <a:ea typeface="Arial" pitchFamily="34" charset="-122"/>
                <a:cs typeface="Dubai" panose="020B0503030403030204" pitchFamily="34" charset="-78"/>
              </a:rPr>
              <a:t>د. وسيم رمضان</a:t>
            </a:r>
            <a:endParaRPr lang="ar-SA" sz="1400" dirty="0">
              <a:latin typeface="Dubai" panose="020B0503030403030204" pitchFamily="34" charset="-78"/>
              <a:cs typeface="Dubai" panose="020B0503030403030204" pitchFamily="34" charset="-78"/>
            </a:endParaRPr>
          </a:p>
        </p:txBody>
      </p:sp>
      <p:sp>
        <p:nvSpPr>
          <p:cNvPr id="15" name="Text 13"/>
          <p:cNvSpPr/>
          <p:nvPr/>
        </p:nvSpPr>
        <p:spPr>
          <a:xfrm>
            <a:off x="548640" y="6172200"/>
            <a:ext cx="11094415" cy="320040"/>
          </a:xfrm>
          <a:prstGeom prst="rect">
            <a:avLst/>
          </a:prstGeom>
          <a:noFill/>
          <a:ln/>
        </p:spPr>
        <p:txBody>
          <a:bodyPr wrap="square" rtlCol="0" anchor="ctr"/>
          <a:lstStyle/>
          <a:p>
            <a:pPr marL="0" indent="0" algn="ctr" rtl="1">
              <a:buNone/>
            </a:pPr>
            <a:r>
              <a:rPr lang="ar-SA" altLang="en-US" sz="1300" dirty="0">
                <a:solidFill>
                  <a:srgbClr val="CFE8EA"/>
                </a:solidFill>
                <a:latin typeface="Dubai" panose="020B0503030403030204" pitchFamily="34" charset="-78"/>
                <a:ea typeface="Arial" pitchFamily="34" charset="-122"/>
                <a:cs typeface="Dubai" panose="020B0503030403030204" pitchFamily="34" charset="-78"/>
              </a:rPr>
              <a:t>العام الدراسي ٢٠٢٥ – ٢٠٢٦</a:t>
            </a:r>
            <a:endParaRPr lang="ar-SA" sz="1300" dirty="0">
              <a:latin typeface="Dubai" panose="020B0503030403030204" pitchFamily="34" charset="-78"/>
              <a:cs typeface="Dubai" panose="020B0503030403030204" pitchFamily="34" charset="-78"/>
            </a:endParaRPr>
          </a:p>
        </p:txBody>
      </p:sp>
    </p:spTree>
  </p:cSld>
  <p:clrMapOvr>
    <a:masterClrMapping/>
  </p:clrMapOvr>
  <p:transition spd="slow">
    <p:wipe dir="r"/>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indent="0" algn="r" rtl="1">
              <a:buNone/>
            </a:pPr>
            <a:r>
              <a:rPr lang="ar-SA" altLang="en-US" sz="900" dirty="0">
                <a:solidFill>
                  <a:srgbClr val="587078"/>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900" dirty="0">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indent="0" algn="l">
              <a:buNone/>
            </a:pPr>
            <a:r>
              <a:rPr lang="en-US" sz="900" dirty="0">
                <a:solidFill>
                  <a:srgbClr val="587078"/>
                </a:solidFill>
                <a:latin typeface="Arial" pitchFamily="34" charset="0"/>
                <a:ea typeface="Arial" pitchFamily="34" charset="-122"/>
                <a:cs typeface="Arial" pitchFamily="34" charset="-120"/>
              </a:rPr>
              <a:t>2</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indent="0" algn="r" rtl="1">
              <a:buNone/>
            </a:pPr>
            <a:r>
              <a:rPr lang="ar-SA" altLang="en-US" sz="2900" b="1" dirty="0">
                <a:solidFill>
                  <a:srgbClr val="0A3540"/>
                </a:solidFill>
                <a:latin typeface="Dubai" panose="020B0503030403030204" pitchFamily="34" charset="-78"/>
                <a:ea typeface="Arial" pitchFamily="34" charset="-122"/>
                <a:cs typeface="Dubai" panose="020B0503030403030204" pitchFamily="34" charset="-78"/>
              </a:rPr>
              <a:t>مخطّط العرض</a:t>
            </a:r>
            <a:endParaRPr lang="ar-SA" sz="2900" dirty="0">
              <a:latin typeface="Dubai" panose="020B0503030403030204" pitchFamily="34" charset="-78"/>
              <a:cs typeface="Dubai" panose="020B0503030403030204" pitchFamily="34" charset="-78"/>
            </a:endParaRPr>
          </a:p>
        </p:txBody>
      </p:sp>
      <p:sp>
        <p:nvSpPr>
          <p:cNvPr id="6" name="Shape 4"/>
          <p:cNvSpPr/>
          <p:nvPr/>
        </p:nvSpPr>
        <p:spPr>
          <a:xfrm>
            <a:off x="6293815" y="1828800"/>
            <a:ext cx="5349240" cy="1097280"/>
          </a:xfrm>
          <a:prstGeom prst="roundRect">
            <a:avLst>
              <a:gd name="adj" fmla="val 6667"/>
            </a:avLst>
          </a:prstGeom>
          <a:solidFill>
            <a:srgbClr val="F2F8F8"/>
          </a:solidFill>
          <a:ln w="9525">
            <a:solidFill>
              <a:srgbClr val="D9E7E9"/>
            </a:solidFill>
            <a:prstDash val="solid"/>
          </a:ln>
        </p:spPr>
      </p:sp>
      <p:sp>
        <p:nvSpPr>
          <p:cNvPr id="7" name="Shape 5"/>
          <p:cNvSpPr/>
          <p:nvPr/>
        </p:nvSpPr>
        <p:spPr>
          <a:xfrm>
            <a:off x="10728655" y="2112264"/>
            <a:ext cx="530352" cy="530352"/>
          </a:xfrm>
          <a:prstGeom prst="ellipse">
            <a:avLst/>
          </a:prstGeom>
          <a:solidFill>
            <a:srgbClr val="0E7C86"/>
          </a:solidFill>
          <a:ln/>
        </p:spPr>
      </p:sp>
      <p:sp>
        <p:nvSpPr>
          <p:cNvPr id="8" name="Text 6"/>
          <p:cNvSpPr/>
          <p:nvPr/>
        </p:nvSpPr>
        <p:spPr>
          <a:xfrm>
            <a:off x="10728655" y="2112264"/>
            <a:ext cx="530352" cy="530352"/>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9" name="Text 7"/>
          <p:cNvSpPr/>
          <p:nvPr/>
        </p:nvSpPr>
        <p:spPr>
          <a:xfrm>
            <a:off x="6568135" y="1828800"/>
            <a:ext cx="3977640" cy="1097280"/>
          </a:xfrm>
          <a:prstGeom prst="rect">
            <a:avLst/>
          </a:prstGeom>
          <a:noFill/>
          <a:ln/>
        </p:spPr>
        <p:txBody>
          <a:bodyPr wrap="square" lIns="0" tIns="0" rIns="0" bIns="0" rtlCol="0" anchor="ctr"/>
          <a:lstStyle/>
          <a:p>
            <a:pPr marL="0" indent="0" algn="r" rtl="1">
              <a:buNone/>
            </a:pPr>
            <a:r>
              <a:rPr lang="ar-SA" altLang="en-US" b="1" dirty="0">
                <a:solidFill>
                  <a:srgbClr val="12333C"/>
                </a:solidFill>
                <a:latin typeface="Dubai" panose="020B0503030403030204" pitchFamily="34" charset="-78"/>
                <a:ea typeface="Arial" pitchFamily="34" charset="-122"/>
                <a:cs typeface="Dubai" panose="020B0503030403030204" pitchFamily="34" charset="-78"/>
              </a:rPr>
              <a:t>المشكلة وفكرة المشروع</a:t>
            </a:r>
            <a:endParaRPr lang="ar-SA" dirty="0">
              <a:latin typeface="Dubai" panose="020B0503030403030204" pitchFamily="34" charset="-78"/>
              <a:cs typeface="Dubai" panose="020B0503030403030204" pitchFamily="34" charset="-78"/>
            </a:endParaRPr>
          </a:p>
        </p:txBody>
      </p:sp>
      <p:sp>
        <p:nvSpPr>
          <p:cNvPr id="10" name="Shape 8"/>
          <p:cNvSpPr/>
          <p:nvPr/>
        </p:nvSpPr>
        <p:spPr>
          <a:xfrm>
            <a:off x="6293815" y="3200400"/>
            <a:ext cx="5349240" cy="1097280"/>
          </a:xfrm>
          <a:prstGeom prst="roundRect">
            <a:avLst>
              <a:gd name="adj" fmla="val 6667"/>
            </a:avLst>
          </a:prstGeom>
          <a:solidFill>
            <a:srgbClr val="F2F8F8"/>
          </a:solidFill>
          <a:ln w="9525">
            <a:solidFill>
              <a:srgbClr val="D9E7E9"/>
            </a:solidFill>
            <a:prstDash val="solid"/>
          </a:ln>
        </p:spPr>
      </p:sp>
      <p:sp>
        <p:nvSpPr>
          <p:cNvPr id="11" name="Shape 9"/>
          <p:cNvSpPr/>
          <p:nvPr/>
        </p:nvSpPr>
        <p:spPr>
          <a:xfrm>
            <a:off x="10728655" y="3483864"/>
            <a:ext cx="530352" cy="530352"/>
          </a:xfrm>
          <a:prstGeom prst="ellipse">
            <a:avLst/>
          </a:prstGeom>
          <a:solidFill>
            <a:srgbClr val="0E7C86"/>
          </a:solidFill>
          <a:ln/>
        </p:spPr>
      </p:sp>
      <p:sp>
        <p:nvSpPr>
          <p:cNvPr id="12" name="Text 10"/>
          <p:cNvSpPr/>
          <p:nvPr/>
        </p:nvSpPr>
        <p:spPr>
          <a:xfrm>
            <a:off x="10728655" y="3483864"/>
            <a:ext cx="530352" cy="530352"/>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3" name="Text 11"/>
          <p:cNvSpPr/>
          <p:nvPr/>
        </p:nvSpPr>
        <p:spPr>
          <a:xfrm>
            <a:off x="6568135" y="3200400"/>
            <a:ext cx="3977640" cy="1097280"/>
          </a:xfrm>
          <a:prstGeom prst="rect">
            <a:avLst/>
          </a:prstGeom>
          <a:noFill/>
          <a:ln/>
        </p:spPr>
        <p:txBody>
          <a:bodyPr wrap="square" lIns="0" tIns="0" rIns="0" bIns="0" rtlCol="0" anchor="ctr"/>
          <a:lstStyle/>
          <a:p>
            <a:pPr marL="0" indent="0" algn="r" rtl="1">
              <a:buNone/>
            </a:pPr>
            <a:r>
              <a:rPr lang="ar-SA" altLang="en-US" b="1" dirty="0">
                <a:solidFill>
                  <a:srgbClr val="12333C"/>
                </a:solidFill>
                <a:latin typeface="Dubai" panose="020B0503030403030204" pitchFamily="34" charset="-78"/>
                <a:ea typeface="Arial" pitchFamily="34" charset="-122"/>
                <a:cs typeface="Dubai" panose="020B0503030403030204" pitchFamily="34" charset="-78"/>
              </a:rPr>
              <a:t>ماذا يقدّم النظام لكلّ مستخدم؟</a:t>
            </a:r>
            <a:endParaRPr lang="ar-SA" dirty="0">
              <a:latin typeface="Dubai" panose="020B0503030403030204" pitchFamily="34" charset="-78"/>
              <a:cs typeface="Dubai" panose="020B0503030403030204" pitchFamily="34" charset="-78"/>
            </a:endParaRPr>
          </a:p>
        </p:txBody>
      </p:sp>
      <p:sp>
        <p:nvSpPr>
          <p:cNvPr id="14" name="Shape 12"/>
          <p:cNvSpPr/>
          <p:nvPr/>
        </p:nvSpPr>
        <p:spPr>
          <a:xfrm>
            <a:off x="6293815" y="4572000"/>
            <a:ext cx="5349240" cy="1097280"/>
          </a:xfrm>
          <a:prstGeom prst="roundRect">
            <a:avLst>
              <a:gd name="adj" fmla="val 6667"/>
            </a:avLst>
          </a:prstGeom>
          <a:solidFill>
            <a:srgbClr val="F2F8F8"/>
          </a:solidFill>
          <a:ln w="9525">
            <a:solidFill>
              <a:srgbClr val="D9E7E9"/>
            </a:solidFill>
            <a:prstDash val="solid"/>
          </a:ln>
        </p:spPr>
      </p:sp>
      <p:sp>
        <p:nvSpPr>
          <p:cNvPr id="15" name="Shape 13"/>
          <p:cNvSpPr/>
          <p:nvPr/>
        </p:nvSpPr>
        <p:spPr>
          <a:xfrm>
            <a:off x="10728655" y="4855464"/>
            <a:ext cx="530352" cy="530352"/>
          </a:xfrm>
          <a:prstGeom prst="ellipse">
            <a:avLst/>
          </a:prstGeom>
          <a:solidFill>
            <a:srgbClr val="0E7C86"/>
          </a:solidFill>
          <a:ln/>
        </p:spPr>
      </p:sp>
      <p:sp>
        <p:nvSpPr>
          <p:cNvPr id="16" name="Text 14"/>
          <p:cNvSpPr/>
          <p:nvPr/>
        </p:nvSpPr>
        <p:spPr>
          <a:xfrm>
            <a:off x="10728655" y="4855464"/>
            <a:ext cx="530352" cy="530352"/>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7" name="Text 15"/>
          <p:cNvSpPr/>
          <p:nvPr/>
        </p:nvSpPr>
        <p:spPr>
          <a:xfrm>
            <a:off x="6568135" y="4572000"/>
            <a:ext cx="3977640" cy="1097280"/>
          </a:xfrm>
          <a:prstGeom prst="rect">
            <a:avLst/>
          </a:prstGeom>
          <a:noFill/>
          <a:ln/>
        </p:spPr>
        <p:txBody>
          <a:bodyPr wrap="square" lIns="0" tIns="0" rIns="0" bIns="0" rtlCol="0" anchor="ctr"/>
          <a:lstStyle/>
          <a:p>
            <a:pPr marL="0" indent="0" algn="r" rtl="1">
              <a:buNone/>
            </a:pPr>
            <a:r>
              <a:rPr lang="ar-SA" altLang="en-US" b="1" dirty="0">
                <a:solidFill>
                  <a:srgbClr val="12333C"/>
                </a:solidFill>
                <a:latin typeface="Dubai" panose="020B0503030403030204" pitchFamily="34" charset="-78"/>
                <a:ea typeface="Arial" pitchFamily="34" charset="-122"/>
                <a:cs typeface="Dubai" panose="020B0503030403030204" pitchFamily="34" charset="-78"/>
              </a:rPr>
              <a:t>كيف يعمل النظام؟</a:t>
            </a:r>
            <a:endParaRPr lang="ar-SA" dirty="0">
              <a:latin typeface="Dubai" panose="020B0503030403030204" pitchFamily="34" charset="-78"/>
              <a:cs typeface="Dubai" panose="020B0503030403030204" pitchFamily="34" charset="-78"/>
            </a:endParaRPr>
          </a:p>
        </p:txBody>
      </p:sp>
      <p:sp>
        <p:nvSpPr>
          <p:cNvPr id="18" name="Shape 16"/>
          <p:cNvSpPr/>
          <p:nvPr/>
        </p:nvSpPr>
        <p:spPr>
          <a:xfrm>
            <a:off x="548640" y="1828800"/>
            <a:ext cx="5349240" cy="1097280"/>
          </a:xfrm>
          <a:prstGeom prst="roundRect">
            <a:avLst>
              <a:gd name="adj" fmla="val 6667"/>
            </a:avLst>
          </a:prstGeom>
          <a:solidFill>
            <a:srgbClr val="F2F8F8"/>
          </a:solidFill>
          <a:ln w="9525">
            <a:solidFill>
              <a:srgbClr val="D9E7E9"/>
            </a:solidFill>
            <a:prstDash val="solid"/>
          </a:ln>
        </p:spPr>
      </p:sp>
      <p:sp>
        <p:nvSpPr>
          <p:cNvPr id="19" name="Shape 17"/>
          <p:cNvSpPr/>
          <p:nvPr/>
        </p:nvSpPr>
        <p:spPr>
          <a:xfrm>
            <a:off x="4983480" y="2112264"/>
            <a:ext cx="530352" cy="530352"/>
          </a:xfrm>
          <a:prstGeom prst="ellipse">
            <a:avLst/>
          </a:prstGeom>
          <a:solidFill>
            <a:srgbClr val="0E7C86"/>
          </a:solidFill>
          <a:ln/>
        </p:spPr>
      </p:sp>
      <p:sp>
        <p:nvSpPr>
          <p:cNvPr id="20" name="Text 18"/>
          <p:cNvSpPr/>
          <p:nvPr/>
        </p:nvSpPr>
        <p:spPr>
          <a:xfrm>
            <a:off x="4983480" y="2112264"/>
            <a:ext cx="530352" cy="530352"/>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1" name="Text 19"/>
          <p:cNvSpPr/>
          <p:nvPr/>
        </p:nvSpPr>
        <p:spPr>
          <a:xfrm>
            <a:off x="822960" y="1828800"/>
            <a:ext cx="3977640" cy="1097280"/>
          </a:xfrm>
          <a:prstGeom prst="rect">
            <a:avLst/>
          </a:prstGeom>
          <a:noFill/>
          <a:ln/>
        </p:spPr>
        <p:txBody>
          <a:bodyPr wrap="square" lIns="0" tIns="0" rIns="0" bIns="0" rtlCol="0" anchor="ctr"/>
          <a:lstStyle/>
          <a:p>
            <a:pPr marL="0" indent="0" algn="r" rtl="1">
              <a:buNone/>
            </a:pPr>
            <a:r>
              <a:rPr lang="ar-SA" altLang="en-US" b="1" dirty="0">
                <a:solidFill>
                  <a:srgbClr val="12333C"/>
                </a:solidFill>
                <a:latin typeface="Dubai" panose="020B0503030403030204" pitchFamily="34" charset="-78"/>
                <a:ea typeface="Arial" pitchFamily="34" charset="-122"/>
                <a:cs typeface="Dubai" panose="020B0503030403030204" pitchFamily="34" charset="-78"/>
              </a:rPr>
              <a:t>الطبقات الذكية: لغةٌ موحّدة، ومساعدٌ للطبيب، وذكاءٌ يتنبّأ</a:t>
            </a:r>
            <a:endParaRPr lang="ar-SA" dirty="0">
              <a:latin typeface="Dubai" panose="020B0503030403030204" pitchFamily="34" charset="-78"/>
              <a:cs typeface="Dubai" panose="020B0503030403030204" pitchFamily="34" charset="-78"/>
            </a:endParaRPr>
          </a:p>
        </p:txBody>
      </p:sp>
      <p:sp>
        <p:nvSpPr>
          <p:cNvPr id="22" name="Shape 20"/>
          <p:cNvSpPr/>
          <p:nvPr/>
        </p:nvSpPr>
        <p:spPr>
          <a:xfrm>
            <a:off x="548640" y="3200400"/>
            <a:ext cx="5349240" cy="1097280"/>
          </a:xfrm>
          <a:prstGeom prst="roundRect">
            <a:avLst>
              <a:gd name="adj" fmla="val 6667"/>
            </a:avLst>
          </a:prstGeom>
          <a:solidFill>
            <a:srgbClr val="F2F8F8"/>
          </a:solidFill>
          <a:ln w="9525">
            <a:solidFill>
              <a:srgbClr val="D9E7E9"/>
            </a:solidFill>
            <a:prstDash val="solid"/>
          </a:ln>
        </p:spPr>
      </p:sp>
      <p:sp>
        <p:nvSpPr>
          <p:cNvPr id="23" name="Shape 21"/>
          <p:cNvSpPr/>
          <p:nvPr/>
        </p:nvSpPr>
        <p:spPr>
          <a:xfrm>
            <a:off x="4983480" y="3483864"/>
            <a:ext cx="530352" cy="530352"/>
          </a:xfrm>
          <a:prstGeom prst="ellipse">
            <a:avLst/>
          </a:prstGeom>
          <a:solidFill>
            <a:srgbClr val="0E7C86"/>
          </a:solidFill>
          <a:ln/>
        </p:spPr>
      </p:sp>
      <p:sp>
        <p:nvSpPr>
          <p:cNvPr id="24" name="Text 22"/>
          <p:cNvSpPr/>
          <p:nvPr/>
        </p:nvSpPr>
        <p:spPr>
          <a:xfrm>
            <a:off x="4983480" y="3483864"/>
            <a:ext cx="530352" cy="530352"/>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25" name="Text 23"/>
          <p:cNvSpPr/>
          <p:nvPr/>
        </p:nvSpPr>
        <p:spPr>
          <a:xfrm>
            <a:off x="822960" y="3200400"/>
            <a:ext cx="3977640" cy="1097280"/>
          </a:xfrm>
          <a:prstGeom prst="rect">
            <a:avLst/>
          </a:prstGeom>
          <a:noFill/>
          <a:ln/>
        </p:spPr>
        <p:txBody>
          <a:bodyPr wrap="square" lIns="0" tIns="0" rIns="0" bIns="0" rtlCol="0" anchor="ctr"/>
          <a:lstStyle/>
          <a:p>
            <a:pPr marL="0" indent="0" algn="r" rtl="1">
              <a:buNone/>
            </a:pPr>
            <a:r>
              <a:rPr lang="ar-SA" altLang="en-US" b="1" dirty="0">
                <a:solidFill>
                  <a:srgbClr val="12333C"/>
                </a:solidFill>
                <a:latin typeface="Dubai" panose="020B0503030403030204" pitchFamily="34" charset="-78"/>
                <a:ea typeface="Arial" pitchFamily="34" charset="-122"/>
                <a:cs typeface="Dubai" panose="020B0503030403030204" pitchFamily="34" charset="-78"/>
              </a:rPr>
              <a:t>جولة في واجهات النظام</a:t>
            </a:r>
            <a:endParaRPr lang="ar-SA" dirty="0">
              <a:latin typeface="Dubai" panose="020B0503030403030204" pitchFamily="34" charset="-78"/>
              <a:cs typeface="Dubai" panose="020B0503030403030204" pitchFamily="34" charset="-78"/>
            </a:endParaRPr>
          </a:p>
        </p:txBody>
      </p:sp>
      <p:sp>
        <p:nvSpPr>
          <p:cNvPr id="26" name="Shape 24"/>
          <p:cNvSpPr/>
          <p:nvPr/>
        </p:nvSpPr>
        <p:spPr>
          <a:xfrm>
            <a:off x="548640" y="4572000"/>
            <a:ext cx="5349240" cy="1097280"/>
          </a:xfrm>
          <a:prstGeom prst="roundRect">
            <a:avLst>
              <a:gd name="adj" fmla="val 6667"/>
            </a:avLst>
          </a:prstGeom>
          <a:solidFill>
            <a:srgbClr val="F2F8F8"/>
          </a:solidFill>
          <a:ln w="9525">
            <a:solidFill>
              <a:srgbClr val="D9E7E9"/>
            </a:solidFill>
            <a:prstDash val="solid"/>
          </a:ln>
        </p:spPr>
      </p:sp>
      <p:sp>
        <p:nvSpPr>
          <p:cNvPr id="27" name="Shape 25"/>
          <p:cNvSpPr/>
          <p:nvPr/>
        </p:nvSpPr>
        <p:spPr>
          <a:xfrm>
            <a:off x="4983480" y="4855464"/>
            <a:ext cx="530352" cy="530352"/>
          </a:xfrm>
          <a:prstGeom prst="ellipse">
            <a:avLst/>
          </a:prstGeom>
          <a:solidFill>
            <a:srgbClr val="0E7C86"/>
          </a:solidFill>
          <a:ln/>
        </p:spPr>
      </p:sp>
      <p:sp>
        <p:nvSpPr>
          <p:cNvPr id="28" name="Text 26"/>
          <p:cNvSpPr/>
          <p:nvPr/>
        </p:nvSpPr>
        <p:spPr>
          <a:xfrm>
            <a:off x="4983480" y="4855464"/>
            <a:ext cx="530352" cy="530352"/>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6</a:t>
            </a:r>
            <a:endParaRPr lang="en-US" sz="1800" dirty="0"/>
          </a:p>
        </p:txBody>
      </p:sp>
      <p:sp>
        <p:nvSpPr>
          <p:cNvPr id="29" name="Text 27"/>
          <p:cNvSpPr/>
          <p:nvPr/>
        </p:nvSpPr>
        <p:spPr>
          <a:xfrm>
            <a:off x="822960" y="4572000"/>
            <a:ext cx="3977640" cy="1097280"/>
          </a:xfrm>
          <a:prstGeom prst="rect">
            <a:avLst/>
          </a:prstGeom>
          <a:noFill/>
          <a:ln/>
        </p:spPr>
        <p:txBody>
          <a:bodyPr wrap="square" lIns="0" tIns="0" rIns="0" bIns="0" rtlCol="0" anchor="ctr"/>
          <a:lstStyle/>
          <a:p>
            <a:pPr marL="0" indent="0" algn="r" rtl="1">
              <a:buNone/>
            </a:pPr>
            <a:r>
              <a:rPr lang="ar-SA" altLang="en-US" b="1" dirty="0">
                <a:solidFill>
                  <a:srgbClr val="12333C"/>
                </a:solidFill>
                <a:latin typeface="Dubai" panose="020B0503030403030204" pitchFamily="34" charset="-78"/>
                <a:ea typeface="Arial" pitchFamily="34" charset="-122"/>
                <a:cs typeface="Dubai" panose="020B0503030403030204" pitchFamily="34" charset="-78"/>
              </a:rPr>
              <a:t>الآفاق المستقبلية والخاتمة</a:t>
            </a:r>
            <a:endParaRPr lang="ar-SA" dirty="0">
              <a:latin typeface="Dubai" panose="020B0503030403030204" pitchFamily="34" charset="-78"/>
              <a:cs typeface="Dubai" panose="020B0503030403030204" pitchFamily="34" charset="-78"/>
            </a:endParaRPr>
          </a:p>
        </p:txBody>
      </p:sp>
    </p:spTree>
  </p:cSld>
  <p:clrMapOvr>
    <a:masterClrMapping/>
  </p:clrMapOvr>
  <p:transition spd="slow">
    <p:wipe dir="r"/>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indent="0" algn="r" rtl="1">
              <a:buNone/>
            </a:pPr>
            <a:r>
              <a:rPr lang="ar-SA" altLang="en-US" sz="900" dirty="0">
                <a:solidFill>
                  <a:srgbClr val="587078"/>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900" dirty="0">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indent="0" algn="l">
              <a:buNone/>
            </a:pPr>
            <a:r>
              <a:rPr lang="en-US" sz="900" dirty="0">
                <a:solidFill>
                  <a:srgbClr val="587078"/>
                </a:solidFill>
                <a:latin typeface="Arial" pitchFamily="34" charset="0"/>
                <a:ea typeface="Arial" pitchFamily="34" charset="-122"/>
                <a:cs typeface="Arial" pitchFamily="34" charset="-120"/>
              </a:rPr>
              <a:t>3</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indent="0" algn="r" rtl="1">
              <a:buNone/>
            </a:pPr>
            <a:r>
              <a:rPr lang="ar-SA" altLang="en-US" sz="2900" b="1" dirty="0">
                <a:solidFill>
                  <a:srgbClr val="0A3540"/>
                </a:solidFill>
                <a:latin typeface="Dubai" panose="020B0503030403030204" pitchFamily="34" charset="-78"/>
                <a:ea typeface="Arial" pitchFamily="34" charset="-122"/>
                <a:cs typeface="Dubai" panose="020B0503030403030204" pitchFamily="34" charset="-78"/>
              </a:rPr>
              <a:t>المشكلة: أين يذهب ملف المريض؟</a:t>
            </a:r>
            <a:endParaRPr lang="ar-SA" sz="2900" dirty="0">
              <a:latin typeface="Dubai" panose="020B0503030403030204" pitchFamily="34" charset="-78"/>
              <a:cs typeface="Dubai" panose="020B0503030403030204" pitchFamily="34" charset="-78"/>
            </a:endParaRPr>
          </a:p>
        </p:txBody>
      </p:sp>
      <p:sp>
        <p:nvSpPr>
          <p:cNvPr id="5" name="Text 3"/>
          <p:cNvSpPr/>
          <p:nvPr/>
        </p:nvSpPr>
        <p:spPr>
          <a:xfrm>
            <a:off x="548640" y="859536"/>
            <a:ext cx="11094415" cy="347472"/>
          </a:xfrm>
          <a:prstGeom prst="rect">
            <a:avLst/>
          </a:prstGeom>
          <a:noFill/>
          <a:ln/>
        </p:spPr>
        <p:txBody>
          <a:bodyPr wrap="square" lIns="0" tIns="0" rIns="0" bIns="0" rtlCol="0" anchor="ctr"/>
          <a:lstStyle/>
          <a:p>
            <a:pPr marL="0" indent="0" algn="r" rtl="1">
              <a:buNone/>
            </a:pPr>
            <a:r>
              <a:rPr lang="ar-SA" altLang="en-US" sz="1400" dirty="0">
                <a:solidFill>
                  <a:srgbClr val="0E7C86"/>
                </a:solidFill>
                <a:latin typeface="Dubai" panose="020B0503030403030204" pitchFamily="34" charset="-78"/>
                <a:ea typeface="Arial" pitchFamily="34" charset="-122"/>
                <a:cs typeface="Dubai" panose="020B0503030403030204" pitchFamily="34" charset="-78"/>
              </a:rPr>
              <a:t>قصة نعرفها جميعاً من أيّ زيارةٍ للمشفى</a:t>
            </a:r>
            <a:endParaRPr lang="ar-SA" sz="1400" dirty="0">
              <a:latin typeface="Dubai" panose="020B0503030403030204" pitchFamily="34" charset="-78"/>
              <a:cs typeface="Dubai" panose="020B0503030403030204" pitchFamily="34" charset="-78"/>
            </a:endParaRPr>
          </a:p>
        </p:txBody>
      </p:sp>
      <p:sp>
        <p:nvSpPr>
          <p:cNvPr id="6" name="Shape 4"/>
          <p:cNvSpPr/>
          <p:nvPr/>
        </p:nvSpPr>
        <p:spPr>
          <a:xfrm>
            <a:off x="6193231" y="1691640"/>
            <a:ext cx="5449824" cy="1965960"/>
          </a:xfrm>
          <a:prstGeom prst="roundRect">
            <a:avLst>
              <a:gd name="adj" fmla="val 3721"/>
            </a:avLst>
          </a:prstGeom>
          <a:solidFill>
            <a:srgbClr val="F2F8F8"/>
          </a:solidFill>
          <a:ln w="9525">
            <a:solidFill>
              <a:srgbClr val="D9E7E9"/>
            </a:solidFill>
            <a:prstDash val="solid"/>
          </a:ln>
        </p:spPr>
      </p:sp>
      <p:sp>
        <p:nvSpPr>
          <p:cNvPr id="7" name="Shape 5"/>
          <p:cNvSpPr/>
          <p:nvPr/>
        </p:nvSpPr>
        <p:spPr>
          <a:xfrm>
            <a:off x="10957255" y="1920240"/>
            <a:ext cx="420624" cy="420624"/>
          </a:xfrm>
          <a:prstGeom prst="ellipse">
            <a:avLst/>
          </a:prstGeom>
          <a:solidFill>
            <a:srgbClr val="0E7C86"/>
          </a:solidFill>
          <a:ln/>
        </p:spPr>
      </p:sp>
      <p:sp>
        <p:nvSpPr>
          <p:cNvPr id="8" name="Text 6"/>
          <p:cNvSpPr/>
          <p:nvPr/>
        </p:nvSpPr>
        <p:spPr>
          <a:xfrm>
            <a:off x="10957255" y="192024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6467551" y="1892808"/>
            <a:ext cx="4261104" cy="457200"/>
          </a:xfrm>
          <a:prstGeom prst="rect">
            <a:avLst/>
          </a:prstGeom>
          <a:noFill/>
          <a:ln/>
        </p:spPr>
        <p:txBody>
          <a:bodyPr wrap="square" lIns="0" tIns="0" rIns="0" bIns="0" rtlCol="0" anchor="ctr"/>
          <a:lstStyle/>
          <a:p>
            <a:pPr marL="0" indent="0" algn="r" rtl="1">
              <a:buNone/>
            </a:pPr>
            <a:r>
              <a:rPr lang="ar-SA" altLang="en-US" b="1" dirty="0">
                <a:solidFill>
                  <a:srgbClr val="0E7C86"/>
                </a:solidFill>
                <a:latin typeface="Dubai" panose="020B0503030403030204" pitchFamily="34" charset="-78"/>
                <a:ea typeface="Arial" pitchFamily="34" charset="-122"/>
                <a:cs typeface="Dubai" panose="020B0503030403030204" pitchFamily="34" charset="-78"/>
              </a:rPr>
              <a:t>ملفٌ مبعثر</a:t>
            </a:r>
            <a:endParaRPr lang="ar-SA" dirty="0">
              <a:latin typeface="Dubai" panose="020B0503030403030204" pitchFamily="34" charset="-78"/>
              <a:cs typeface="Dubai" panose="020B0503030403030204" pitchFamily="34" charset="-78"/>
            </a:endParaRPr>
          </a:p>
        </p:txBody>
      </p:sp>
      <p:sp>
        <p:nvSpPr>
          <p:cNvPr id="10" name="Text 8"/>
          <p:cNvSpPr/>
          <p:nvPr/>
        </p:nvSpPr>
        <p:spPr>
          <a:xfrm>
            <a:off x="6467551" y="2468880"/>
            <a:ext cx="4901184" cy="1005840"/>
          </a:xfrm>
          <a:prstGeom prst="rect">
            <a:avLst/>
          </a:prstGeom>
          <a:noFill/>
          <a:ln/>
        </p:spPr>
        <p:txBody>
          <a:bodyPr wrap="square" lIns="0" tIns="0" rIns="0" bIns="0" rtlCol="0" anchor="t"/>
          <a:lstStyle/>
          <a:p>
            <a:pPr marL="0" indent="0" algn="r" rtl="1">
              <a:lnSpc>
                <a:spcPct val="125000"/>
              </a:lnSpc>
              <a:buNone/>
            </a:pPr>
            <a:r>
              <a:rPr lang="ar-SA" altLang="en-US" sz="1600" dirty="0">
                <a:solidFill>
                  <a:srgbClr val="587078"/>
                </a:solidFill>
                <a:latin typeface="Dubai" panose="020B0503030403030204" pitchFamily="34" charset="-78"/>
                <a:ea typeface="Arial" pitchFamily="34" charset="-122"/>
                <a:cs typeface="Dubai" panose="020B0503030403030204" pitchFamily="34" charset="-78"/>
              </a:rPr>
              <a:t>بيانات المريض موزّعة بين مشافٍ وعياداتٍ ومخابر لا تتواصل فيما بينها؛ فيبدأ من الصفر مع كلّ طبيبٍ جديد.</a:t>
            </a:r>
            <a:endParaRPr lang="ar-SA" sz="1600" dirty="0">
              <a:latin typeface="Dubai" panose="020B0503030403030204" pitchFamily="34" charset="-78"/>
              <a:cs typeface="Dubai" panose="020B0503030403030204" pitchFamily="34" charset="-78"/>
            </a:endParaRPr>
          </a:p>
        </p:txBody>
      </p:sp>
      <p:sp>
        <p:nvSpPr>
          <p:cNvPr id="11" name="Shape 9"/>
          <p:cNvSpPr/>
          <p:nvPr/>
        </p:nvSpPr>
        <p:spPr>
          <a:xfrm>
            <a:off x="551383" y="1691640"/>
            <a:ext cx="5449824" cy="1965960"/>
          </a:xfrm>
          <a:prstGeom prst="roundRect">
            <a:avLst>
              <a:gd name="adj" fmla="val 3721"/>
            </a:avLst>
          </a:prstGeom>
          <a:solidFill>
            <a:srgbClr val="F2F8F8"/>
          </a:solidFill>
          <a:ln w="9525">
            <a:solidFill>
              <a:srgbClr val="D9E7E9"/>
            </a:solidFill>
            <a:prstDash val="solid"/>
          </a:ln>
        </p:spPr>
      </p:sp>
      <p:sp>
        <p:nvSpPr>
          <p:cNvPr id="12" name="Shape 10"/>
          <p:cNvSpPr/>
          <p:nvPr/>
        </p:nvSpPr>
        <p:spPr>
          <a:xfrm>
            <a:off x="5315407" y="1920240"/>
            <a:ext cx="420624" cy="420624"/>
          </a:xfrm>
          <a:prstGeom prst="ellipse">
            <a:avLst/>
          </a:prstGeom>
          <a:solidFill>
            <a:srgbClr val="0E7C86"/>
          </a:solidFill>
          <a:ln/>
        </p:spPr>
      </p:sp>
      <p:sp>
        <p:nvSpPr>
          <p:cNvPr id="13" name="Text 11"/>
          <p:cNvSpPr/>
          <p:nvPr/>
        </p:nvSpPr>
        <p:spPr>
          <a:xfrm>
            <a:off x="5315407" y="192024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825703" y="1892808"/>
            <a:ext cx="4261104" cy="457200"/>
          </a:xfrm>
          <a:prstGeom prst="rect">
            <a:avLst/>
          </a:prstGeom>
          <a:noFill/>
          <a:ln/>
        </p:spPr>
        <p:txBody>
          <a:bodyPr wrap="square" lIns="0" tIns="0" rIns="0" bIns="0" rtlCol="0" anchor="ctr"/>
          <a:lstStyle/>
          <a:p>
            <a:pPr marL="0" indent="0" algn="r" rtl="1">
              <a:buNone/>
            </a:pPr>
            <a:r>
              <a:rPr lang="ar-SA" altLang="en-US" b="1" dirty="0">
                <a:solidFill>
                  <a:srgbClr val="0E7C86"/>
                </a:solidFill>
                <a:latin typeface="Dubai" panose="020B0503030403030204" pitchFamily="34" charset="-78"/>
                <a:ea typeface="Arial" pitchFamily="34" charset="-122"/>
                <a:cs typeface="Dubai" panose="020B0503030403030204" pitchFamily="34" charset="-78"/>
              </a:rPr>
              <a:t>فحوصٌ مكرّرة</a:t>
            </a:r>
            <a:endParaRPr lang="ar-SA" dirty="0">
              <a:latin typeface="Dubai" panose="020B0503030403030204" pitchFamily="34" charset="-78"/>
              <a:cs typeface="Dubai" panose="020B0503030403030204" pitchFamily="34" charset="-78"/>
            </a:endParaRPr>
          </a:p>
        </p:txBody>
      </p:sp>
      <p:sp>
        <p:nvSpPr>
          <p:cNvPr id="15" name="Text 13"/>
          <p:cNvSpPr/>
          <p:nvPr/>
        </p:nvSpPr>
        <p:spPr>
          <a:xfrm>
            <a:off x="825703" y="2468880"/>
            <a:ext cx="4901184" cy="1005840"/>
          </a:xfrm>
          <a:prstGeom prst="rect">
            <a:avLst/>
          </a:prstGeom>
          <a:noFill/>
          <a:ln/>
        </p:spPr>
        <p:txBody>
          <a:bodyPr wrap="square" lIns="0" tIns="0" rIns="0" bIns="0" rtlCol="0" anchor="t"/>
          <a:lstStyle/>
          <a:p>
            <a:pPr marL="0" indent="0" algn="r" rtl="1">
              <a:lnSpc>
                <a:spcPct val="125000"/>
              </a:lnSpc>
              <a:buNone/>
            </a:pPr>
            <a:r>
              <a:rPr lang="ar-SA" altLang="en-US" sz="1600" dirty="0">
                <a:solidFill>
                  <a:srgbClr val="587078"/>
                </a:solidFill>
                <a:latin typeface="Dubai" panose="020B0503030403030204" pitchFamily="34" charset="-78"/>
                <a:ea typeface="Arial" pitchFamily="34" charset="-122"/>
                <a:cs typeface="Dubai" panose="020B0503030403030204" pitchFamily="34" charset="-78"/>
              </a:rPr>
              <a:t>غياب الملف الكامل يعني إعادة التحاليل والصور مراراً — وقتٌ ضائع وتكلفةٌ بلا داعٍ.</a:t>
            </a:r>
            <a:endParaRPr lang="ar-SA" sz="1600" dirty="0">
              <a:latin typeface="Dubai" panose="020B0503030403030204" pitchFamily="34" charset="-78"/>
              <a:cs typeface="Dubai" panose="020B0503030403030204" pitchFamily="34" charset="-78"/>
            </a:endParaRPr>
          </a:p>
        </p:txBody>
      </p:sp>
      <p:sp>
        <p:nvSpPr>
          <p:cNvPr id="16" name="Shape 14"/>
          <p:cNvSpPr/>
          <p:nvPr/>
        </p:nvSpPr>
        <p:spPr>
          <a:xfrm>
            <a:off x="6193231" y="3931920"/>
            <a:ext cx="5449824" cy="1965960"/>
          </a:xfrm>
          <a:prstGeom prst="roundRect">
            <a:avLst>
              <a:gd name="adj" fmla="val 3721"/>
            </a:avLst>
          </a:prstGeom>
          <a:solidFill>
            <a:srgbClr val="F2F8F8"/>
          </a:solidFill>
          <a:ln w="9525">
            <a:solidFill>
              <a:srgbClr val="D9E7E9"/>
            </a:solidFill>
            <a:prstDash val="solid"/>
          </a:ln>
        </p:spPr>
      </p:sp>
      <p:sp>
        <p:nvSpPr>
          <p:cNvPr id="17" name="Shape 15"/>
          <p:cNvSpPr/>
          <p:nvPr/>
        </p:nvSpPr>
        <p:spPr>
          <a:xfrm>
            <a:off x="10957255" y="4160520"/>
            <a:ext cx="420624" cy="420624"/>
          </a:xfrm>
          <a:prstGeom prst="ellipse">
            <a:avLst/>
          </a:prstGeom>
          <a:solidFill>
            <a:srgbClr val="02C39A"/>
          </a:solidFill>
          <a:ln/>
        </p:spPr>
      </p:sp>
      <p:sp>
        <p:nvSpPr>
          <p:cNvPr id="18" name="Text 16"/>
          <p:cNvSpPr/>
          <p:nvPr/>
        </p:nvSpPr>
        <p:spPr>
          <a:xfrm>
            <a:off x="10957255" y="416052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9" name="Text 17"/>
          <p:cNvSpPr/>
          <p:nvPr/>
        </p:nvSpPr>
        <p:spPr>
          <a:xfrm>
            <a:off x="6467551" y="4133088"/>
            <a:ext cx="4261104" cy="457200"/>
          </a:xfrm>
          <a:prstGeom prst="rect">
            <a:avLst/>
          </a:prstGeom>
          <a:noFill/>
          <a:ln/>
        </p:spPr>
        <p:txBody>
          <a:bodyPr wrap="square" lIns="0" tIns="0" rIns="0" bIns="0" rtlCol="0" anchor="ctr"/>
          <a:lstStyle/>
          <a:p>
            <a:pPr marL="0" indent="0" algn="r" rtl="1">
              <a:buNone/>
            </a:pPr>
            <a:r>
              <a:rPr lang="ar-SA" altLang="en-US" b="1" dirty="0">
                <a:solidFill>
                  <a:srgbClr val="0E7C86"/>
                </a:solidFill>
                <a:latin typeface="Dubai" panose="020B0503030403030204" pitchFamily="34" charset="-78"/>
                <a:ea typeface="Arial" pitchFamily="34" charset="-122"/>
                <a:cs typeface="Dubai" panose="020B0503030403030204" pitchFamily="34" charset="-78"/>
              </a:rPr>
              <a:t>لا إنذار مبكر</a:t>
            </a:r>
            <a:endParaRPr lang="ar-SA" dirty="0">
              <a:latin typeface="Dubai" panose="020B0503030403030204" pitchFamily="34" charset="-78"/>
              <a:cs typeface="Dubai" panose="020B0503030403030204" pitchFamily="34" charset="-78"/>
            </a:endParaRPr>
          </a:p>
        </p:txBody>
      </p:sp>
      <p:sp>
        <p:nvSpPr>
          <p:cNvPr id="20" name="Text 18"/>
          <p:cNvSpPr/>
          <p:nvPr/>
        </p:nvSpPr>
        <p:spPr>
          <a:xfrm>
            <a:off x="6467551" y="4709160"/>
            <a:ext cx="4901184" cy="1005840"/>
          </a:xfrm>
          <a:prstGeom prst="rect">
            <a:avLst/>
          </a:prstGeom>
          <a:noFill/>
          <a:ln/>
        </p:spPr>
        <p:txBody>
          <a:bodyPr wrap="square" lIns="0" tIns="0" rIns="0" bIns="0" rtlCol="0" anchor="t"/>
          <a:lstStyle/>
          <a:p>
            <a:pPr marL="0" indent="0" algn="r" rtl="1">
              <a:lnSpc>
                <a:spcPct val="125000"/>
              </a:lnSpc>
              <a:buNone/>
            </a:pPr>
            <a:r>
              <a:rPr lang="ar-SA" altLang="en-US" sz="1600" dirty="0">
                <a:solidFill>
                  <a:srgbClr val="587078"/>
                </a:solidFill>
                <a:latin typeface="Dubai" panose="020B0503030403030204" pitchFamily="34" charset="-78"/>
                <a:ea typeface="Arial" pitchFamily="34" charset="-122"/>
                <a:cs typeface="Dubai" panose="020B0503030403030204" pitchFamily="34" charset="-78"/>
              </a:rPr>
              <a:t>قد تمرّ جرعةٌ زائدة أو خطرٌ صحي وشيك من دون أن ينبّه أحدٌ الطبيبَ في اللحظة المناسبة.</a:t>
            </a:r>
            <a:endParaRPr lang="ar-SA" sz="1600" dirty="0">
              <a:latin typeface="Dubai" panose="020B0503030403030204" pitchFamily="34" charset="-78"/>
              <a:cs typeface="Dubai" panose="020B0503030403030204" pitchFamily="34" charset="-78"/>
            </a:endParaRPr>
          </a:p>
        </p:txBody>
      </p:sp>
      <p:sp>
        <p:nvSpPr>
          <p:cNvPr id="21" name="Shape 19"/>
          <p:cNvSpPr/>
          <p:nvPr/>
        </p:nvSpPr>
        <p:spPr>
          <a:xfrm>
            <a:off x="551383" y="3931920"/>
            <a:ext cx="5449824" cy="1965960"/>
          </a:xfrm>
          <a:prstGeom prst="roundRect">
            <a:avLst>
              <a:gd name="adj" fmla="val 3721"/>
            </a:avLst>
          </a:prstGeom>
          <a:solidFill>
            <a:srgbClr val="F2F8F8"/>
          </a:solidFill>
          <a:ln w="9525">
            <a:solidFill>
              <a:srgbClr val="D9E7E9"/>
            </a:solidFill>
            <a:prstDash val="solid"/>
          </a:ln>
        </p:spPr>
      </p:sp>
      <p:sp>
        <p:nvSpPr>
          <p:cNvPr id="22" name="Shape 20"/>
          <p:cNvSpPr/>
          <p:nvPr/>
        </p:nvSpPr>
        <p:spPr>
          <a:xfrm>
            <a:off x="5315407" y="4160520"/>
            <a:ext cx="420624" cy="420624"/>
          </a:xfrm>
          <a:prstGeom prst="ellipse">
            <a:avLst/>
          </a:prstGeom>
          <a:solidFill>
            <a:srgbClr val="02C39A"/>
          </a:solidFill>
          <a:ln/>
        </p:spPr>
      </p:sp>
      <p:sp>
        <p:nvSpPr>
          <p:cNvPr id="23" name="Text 21"/>
          <p:cNvSpPr/>
          <p:nvPr/>
        </p:nvSpPr>
        <p:spPr>
          <a:xfrm>
            <a:off x="5315407" y="416052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4" name="Text 22"/>
          <p:cNvSpPr/>
          <p:nvPr/>
        </p:nvSpPr>
        <p:spPr>
          <a:xfrm>
            <a:off x="825703" y="4133088"/>
            <a:ext cx="4261104" cy="457200"/>
          </a:xfrm>
          <a:prstGeom prst="rect">
            <a:avLst/>
          </a:prstGeom>
          <a:noFill/>
          <a:ln/>
        </p:spPr>
        <p:txBody>
          <a:bodyPr wrap="square" lIns="0" tIns="0" rIns="0" bIns="0" rtlCol="0" anchor="ctr"/>
          <a:lstStyle/>
          <a:p>
            <a:pPr marL="0" indent="0" algn="r" rtl="1">
              <a:buNone/>
            </a:pPr>
            <a:r>
              <a:rPr lang="ar-SA" altLang="en-US" b="1" dirty="0">
                <a:solidFill>
                  <a:srgbClr val="0E7C86"/>
                </a:solidFill>
                <a:latin typeface="Dubai" panose="020B0503030403030204" pitchFamily="34" charset="-78"/>
                <a:ea typeface="Arial" pitchFamily="34" charset="-122"/>
                <a:cs typeface="Dubai" panose="020B0503030403030204" pitchFamily="34" charset="-78"/>
              </a:rPr>
              <a:t>المريض خارج الصورة</a:t>
            </a:r>
            <a:endParaRPr lang="ar-SA" dirty="0">
              <a:latin typeface="Dubai" panose="020B0503030403030204" pitchFamily="34" charset="-78"/>
              <a:cs typeface="Dubai" panose="020B0503030403030204" pitchFamily="34" charset="-78"/>
            </a:endParaRPr>
          </a:p>
        </p:txBody>
      </p:sp>
      <p:sp>
        <p:nvSpPr>
          <p:cNvPr id="25" name="Text 23"/>
          <p:cNvSpPr/>
          <p:nvPr/>
        </p:nvSpPr>
        <p:spPr>
          <a:xfrm>
            <a:off x="825703" y="4709160"/>
            <a:ext cx="4901184" cy="1005840"/>
          </a:xfrm>
          <a:prstGeom prst="rect">
            <a:avLst/>
          </a:prstGeom>
          <a:noFill/>
          <a:ln/>
        </p:spPr>
        <p:txBody>
          <a:bodyPr wrap="square" lIns="0" tIns="0" rIns="0" bIns="0" rtlCol="0" anchor="t"/>
          <a:lstStyle/>
          <a:p>
            <a:pPr marL="0" indent="0" algn="r" rtl="1">
              <a:lnSpc>
                <a:spcPct val="125000"/>
              </a:lnSpc>
              <a:buNone/>
            </a:pPr>
            <a:r>
              <a:rPr lang="ar-SA" altLang="en-US" sz="1600" dirty="0">
                <a:solidFill>
                  <a:srgbClr val="587078"/>
                </a:solidFill>
                <a:latin typeface="Dubai" panose="020B0503030403030204" pitchFamily="34" charset="-78"/>
                <a:ea typeface="Arial" pitchFamily="34" charset="-122"/>
                <a:cs typeface="Dubai" panose="020B0503030403030204" pitchFamily="34" charset="-78"/>
              </a:rPr>
              <a:t>لا يملك المريض وسيلةً سهلة ليطّلع على ملفه ومواعيده وأدويته بنفسه.</a:t>
            </a:r>
            <a:endParaRPr lang="ar-SA" sz="1600" dirty="0">
              <a:latin typeface="Dubai" panose="020B0503030403030204" pitchFamily="34" charset="-78"/>
              <a:cs typeface="Dubai" panose="020B0503030403030204" pitchFamily="34" charset="-78"/>
            </a:endParaRPr>
          </a:p>
        </p:txBody>
      </p:sp>
    </p:spTree>
  </p:cSld>
  <p:clrMapOvr>
    <a:masterClrMapping/>
  </p:clrMapOvr>
  <p:transition spd="slow">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0-#ppt_h/2"/>
                                          </p:val>
                                        </p:tav>
                                        <p:tav tm="100000">
                                          <p:val>
                                            <p:strVal val="#ppt_y"/>
                                          </p:val>
                                        </p:tav>
                                      </p:tavLst>
                                    </p:anim>
                                  </p:childTnLst>
                                </p:cTn>
                              </p:par>
                              <p:par>
                                <p:cTn id="9" presetID="2" presetClass="entr" presetSubtype="1"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ppt_x"/>
                                          </p:val>
                                        </p:tav>
                                        <p:tav tm="100000">
                                          <p:val>
                                            <p:strVal val="#ppt_x"/>
                                          </p:val>
                                        </p:tav>
                                      </p:tavLst>
                                    </p:anim>
                                    <p:anim calcmode="lin" valueType="num">
                                      <p:cBhvr additive="base">
                                        <p:cTn id="12" dur="500" fill="hold"/>
                                        <p:tgtEl>
                                          <p:spTgt spid="9"/>
                                        </p:tgtEl>
                                        <p:attrNameLst>
                                          <p:attrName>ppt_y</p:attrName>
                                        </p:attrNameLst>
                                      </p:cBhvr>
                                      <p:tavLst>
                                        <p:tav tm="0">
                                          <p:val>
                                            <p:strVal val="0-#ppt_h/2"/>
                                          </p:val>
                                        </p:tav>
                                        <p:tav tm="100000">
                                          <p:val>
                                            <p:strVal val="#ppt_y"/>
                                          </p:val>
                                        </p:tav>
                                      </p:tavLst>
                                    </p:anim>
                                  </p:childTnLst>
                                </p:cTn>
                              </p:par>
                              <p:par>
                                <p:cTn id="13" presetID="2" presetClass="entr" presetSubtype="1" fill="hold"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500" fill="hold"/>
                                        <p:tgtEl>
                                          <p:spTgt spid="7"/>
                                        </p:tgtEl>
                                        <p:attrNameLst>
                                          <p:attrName>ppt_x</p:attrName>
                                        </p:attrNameLst>
                                      </p:cBhvr>
                                      <p:tavLst>
                                        <p:tav tm="0">
                                          <p:val>
                                            <p:strVal val="#ppt_x"/>
                                          </p:val>
                                        </p:tav>
                                        <p:tav tm="100000">
                                          <p:val>
                                            <p:strVal val="#ppt_x"/>
                                          </p:val>
                                        </p:tav>
                                      </p:tavLst>
                                    </p:anim>
                                    <p:anim calcmode="lin" valueType="num">
                                      <p:cBhvr additive="base">
                                        <p:cTn id="16" dur="500" fill="hold"/>
                                        <p:tgtEl>
                                          <p:spTgt spid="7"/>
                                        </p:tgtEl>
                                        <p:attrNameLst>
                                          <p:attrName>ppt_y</p:attrName>
                                        </p:attrNameLst>
                                      </p:cBhvr>
                                      <p:tavLst>
                                        <p:tav tm="0">
                                          <p:val>
                                            <p:strVal val="0-#ppt_h/2"/>
                                          </p:val>
                                        </p:tav>
                                        <p:tav tm="100000">
                                          <p:val>
                                            <p:strVal val="#ppt_y"/>
                                          </p:val>
                                        </p:tav>
                                      </p:tavLst>
                                    </p:anim>
                                  </p:childTnLst>
                                </p:cTn>
                              </p:par>
                              <p:par>
                                <p:cTn id="17" presetID="2" presetClass="entr" presetSubtype="1"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 calcmode="lin" valueType="num">
                                      <p:cBhvr additive="base">
                                        <p:cTn id="19" dur="500" fill="hold"/>
                                        <p:tgtEl>
                                          <p:spTgt spid="10"/>
                                        </p:tgtEl>
                                        <p:attrNameLst>
                                          <p:attrName>ppt_x</p:attrName>
                                        </p:attrNameLst>
                                      </p:cBhvr>
                                      <p:tavLst>
                                        <p:tav tm="0">
                                          <p:val>
                                            <p:strVal val="#ppt_x"/>
                                          </p:val>
                                        </p:tav>
                                        <p:tav tm="100000">
                                          <p:val>
                                            <p:strVal val="#ppt_x"/>
                                          </p:val>
                                        </p:tav>
                                      </p:tavLst>
                                    </p:anim>
                                    <p:anim calcmode="lin" valueType="num">
                                      <p:cBhvr additive="base">
                                        <p:cTn id="20" dur="500" fill="hold"/>
                                        <p:tgtEl>
                                          <p:spTgt spid="10"/>
                                        </p:tgtEl>
                                        <p:attrNameLst>
                                          <p:attrName>ppt_y</p:attrName>
                                        </p:attrNameLst>
                                      </p:cBhvr>
                                      <p:tavLst>
                                        <p:tav tm="0">
                                          <p:val>
                                            <p:strVal val="0-#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1"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 calcmode="lin" valueType="num">
                                      <p:cBhvr additive="base">
                                        <p:cTn id="25" dur="500" fill="hold"/>
                                        <p:tgtEl>
                                          <p:spTgt spid="11"/>
                                        </p:tgtEl>
                                        <p:attrNameLst>
                                          <p:attrName>ppt_x</p:attrName>
                                        </p:attrNameLst>
                                      </p:cBhvr>
                                      <p:tavLst>
                                        <p:tav tm="0">
                                          <p:val>
                                            <p:strVal val="#ppt_x"/>
                                          </p:val>
                                        </p:tav>
                                        <p:tav tm="100000">
                                          <p:val>
                                            <p:strVal val="#ppt_x"/>
                                          </p:val>
                                        </p:tav>
                                      </p:tavLst>
                                    </p:anim>
                                    <p:anim calcmode="lin" valueType="num">
                                      <p:cBhvr additive="base">
                                        <p:cTn id="26" dur="500" fill="hold"/>
                                        <p:tgtEl>
                                          <p:spTgt spid="11"/>
                                        </p:tgtEl>
                                        <p:attrNameLst>
                                          <p:attrName>ppt_y</p:attrName>
                                        </p:attrNameLst>
                                      </p:cBhvr>
                                      <p:tavLst>
                                        <p:tav tm="0">
                                          <p:val>
                                            <p:strVal val="0-#ppt_h/2"/>
                                          </p:val>
                                        </p:tav>
                                        <p:tav tm="100000">
                                          <p:val>
                                            <p:strVal val="#ppt_y"/>
                                          </p:val>
                                        </p:tav>
                                      </p:tavLst>
                                    </p:anim>
                                  </p:childTnLst>
                                </p:cTn>
                              </p:par>
                              <p:par>
                                <p:cTn id="27" presetID="2" presetClass="entr" presetSubtype="1"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anim calcmode="lin" valueType="num">
                                      <p:cBhvr additive="base">
                                        <p:cTn id="29" dur="500" fill="hold"/>
                                        <p:tgtEl>
                                          <p:spTgt spid="13"/>
                                        </p:tgtEl>
                                        <p:attrNameLst>
                                          <p:attrName>ppt_x</p:attrName>
                                        </p:attrNameLst>
                                      </p:cBhvr>
                                      <p:tavLst>
                                        <p:tav tm="0">
                                          <p:val>
                                            <p:strVal val="#ppt_x"/>
                                          </p:val>
                                        </p:tav>
                                        <p:tav tm="100000">
                                          <p:val>
                                            <p:strVal val="#ppt_x"/>
                                          </p:val>
                                        </p:tav>
                                      </p:tavLst>
                                    </p:anim>
                                    <p:anim calcmode="lin" valueType="num">
                                      <p:cBhvr additive="base">
                                        <p:cTn id="30" dur="500" fill="hold"/>
                                        <p:tgtEl>
                                          <p:spTgt spid="13"/>
                                        </p:tgtEl>
                                        <p:attrNameLst>
                                          <p:attrName>ppt_y</p:attrName>
                                        </p:attrNameLst>
                                      </p:cBhvr>
                                      <p:tavLst>
                                        <p:tav tm="0">
                                          <p:val>
                                            <p:strVal val="0-#ppt_h/2"/>
                                          </p:val>
                                        </p:tav>
                                        <p:tav tm="100000">
                                          <p:val>
                                            <p:strVal val="#ppt_y"/>
                                          </p:val>
                                        </p:tav>
                                      </p:tavLst>
                                    </p:anim>
                                  </p:childTnLst>
                                </p:cTn>
                              </p:par>
                              <p:par>
                                <p:cTn id="31" presetID="2" presetClass="entr" presetSubtype="1"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 calcmode="lin" valueType="num">
                                      <p:cBhvr additive="base">
                                        <p:cTn id="33" dur="500" fill="hold"/>
                                        <p:tgtEl>
                                          <p:spTgt spid="14"/>
                                        </p:tgtEl>
                                        <p:attrNameLst>
                                          <p:attrName>ppt_x</p:attrName>
                                        </p:attrNameLst>
                                      </p:cBhvr>
                                      <p:tavLst>
                                        <p:tav tm="0">
                                          <p:val>
                                            <p:strVal val="#ppt_x"/>
                                          </p:val>
                                        </p:tav>
                                        <p:tav tm="100000">
                                          <p:val>
                                            <p:strVal val="#ppt_x"/>
                                          </p:val>
                                        </p:tav>
                                      </p:tavLst>
                                    </p:anim>
                                    <p:anim calcmode="lin" valueType="num">
                                      <p:cBhvr additive="base">
                                        <p:cTn id="34" dur="500" fill="hold"/>
                                        <p:tgtEl>
                                          <p:spTgt spid="14"/>
                                        </p:tgtEl>
                                        <p:attrNameLst>
                                          <p:attrName>ppt_y</p:attrName>
                                        </p:attrNameLst>
                                      </p:cBhvr>
                                      <p:tavLst>
                                        <p:tav tm="0">
                                          <p:val>
                                            <p:strVal val="0-#ppt_h/2"/>
                                          </p:val>
                                        </p:tav>
                                        <p:tav tm="100000">
                                          <p:val>
                                            <p:strVal val="#ppt_y"/>
                                          </p:val>
                                        </p:tav>
                                      </p:tavLst>
                                    </p:anim>
                                  </p:childTnLst>
                                </p:cTn>
                              </p:par>
                              <p:par>
                                <p:cTn id="35" presetID="2" presetClass="entr" presetSubtype="1" fill="hold" nodeType="withEffect">
                                  <p:stCondLst>
                                    <p:cond delay="0"/>
                                  </p:stCondLst>
                                  <p:childTnLst>
                                    <p:set>
                                      <p:cBhvr>
                                        <p:cTn id="36" dur="1" fill="hold">
                                          <p:stCondLst>
                                            <p:cond delay="0"/>
                                          </p:stCondLst>
                                        </p:cTn>
                                        <p:tgtEl>
                                          <p:spTgt spid="12"/>
                                        </p:tgtEl>
                                        <p:attrNameLst>
                                          <p:attrName>style.visibility</p:attrName>
                                        </p:attrNameLst>
                                      </p:cBhvr>
                                      <p:to>
                                        <p:strVal val="visible"/>
                                      </p:to>
                                    </p:set>
                                    <p:anim calcmode="lin" valueType="num">
                                      <p:cBhvr additive="base">
                                        <p:cTn id="37" dur="500" fill="hold"/>
                                        <p:tgtEl>
                                          <p:spTgt spid="12"/>
                                        </p:tgtEl>
                                        <p:attrNameLst>
                                          <p:attrName>ppt_x</p:attrName>
                                        </p:attrNameLst>
                                      </p:cBhvr>
                                      <p:tavLst>
                                        <p:tav tm="0">
                                          <p:val>
                                            <p:strVal val="#ppt_x"/>
                                          </p:val>
                                        </p:tav>
                                        <p:tav tm="100000">
                                          <p:val>
                                            <p:strVal val="#ppt_x"/>
                                          </p:val>
                                        </p:tav>
                                      </p:tavLst>
                                    </p:anim>
                                    <p:anim calcmode="lin" valueType="num">
                                      <p:cBhvr additive="base">
                                        <p:cTn id="38" dur="500" fill="hold"/>
                                        <p:tgtEl>
                                          <p:spTgt spid="12"/>
                                        </p:tgtEl>
                                        <p:attrNameLst>
                                          <p:attrName>ppt_y</p:attrName>
                                        </p:attrNameLst>
                                      </p:cBhvr>
                                      <p:tavLst>
                                        <p:tav tm="0">
                                          <p:val>
                                            <p:strVal val="0-#ppt_h/2"/>
                                          </p:val>
                                        </p:tav>
                                        <p:tav tm="100000">
                                          <p:val>
                                            <p:strVal val="#ppt_y"/>
                                          </p:val>
                                        </p:tav>
                                      </p:tavLst>
                                    </p:anim>
                                  </p:childTnLst>
                                </p:cTn>
                              </p:par>
                              <p:par>
                                <p:cTn id="39" presetID="2" presetClass="entr" presetSubtype="1"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 calcmode="lin" valueType="num">
                                      <p:cBhvr additive="base">
                                        <p:cTn id="41" dur="500" fill="hold"/>
                                        <p:tgtEl>
                                          <p:spTgt spid="15"/>
                                        </p:tgtEl>
                                        <p:attrNameLst>
                                          <p:attrName>ppt_x</p:attrName>
                                        </p:attrNameLst>
                                      </p:cBhvr>
                                      <p:tavLst>
                                        <p:tav tm="0">
                                          <p:val>
                                            <p:strVal val="#ppt_x"/>
                                          </p:val>
                                        </p:tav>
                                        <p:tav tm="100000">
                                          <p:val>
                                            <p:strVal val="#ppt_x"/>
                                          </p:val>
                                        </p:tav>
                                      </p:tavLst>
                                    </p:anim>
                                    <p:anim calcmode="lin" valueType="num">
                                      <p:cBhvr additive="base">
                                        <p:cTn id="42" dur="500" fill="hold"/>
                                        <p:tgtEl>
                                          <p:spTgt spid="15"/>
                                        </p:tgtEl>
                                        <p:attrNameLst>
                                          <p:attrName>ppt_y</p:attrName>
                                        </p:attrNameLst>
                                      </p:cBhvr>
                                      <p:tavLst>
                                        <p:tav tm="0">
                                          <p:val>
                                            <p:strVal val="0-#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16"/>
                                        </p:tgtEl>
                                        <p:attrNameLst>
                                          <p:attrName>style.visibility</p:attrName>
                                        </p:attrNameLst>
                                      </p:cBhvr>
                                      <p:to>
                                        <p:strVal val="visible"/>
                                      </p:to>
                                    </p:set>
                                    <p:anim calcmode="lin" valueType="num">
                                      <p:cBhvr additive="base">
                                        <p:cTn id="47" dur="500" fill="hold"/>
                                        <p:tgtEl>
                                          <p:spTgt spid="16"/>
                                        </p:tgtEl>
                                        <p:attrNameLst>
                                          <p:attrName>ppt_x</p:attrName>
                                        </p:attrNameLst>
                                      </p:cBhvr>
                                      <p:tavLst>
                                        <p:tav tm="0">
                                          <p:val>
                                            <p:strVal val="#ppt_x"/>
                                          </p:val>
                                        </p:tav>
                                        <p:tav tm="100000">
                                          <p:val>
                                            <p:strVal val="#ppt_x"/>
                                          </p:val>
                                        </p:tav>
                                      </p:tavLst>
                                    </p:anim>
                                    <p:anim calcmode="lin" valueType="num">
                                      <p:cBhvr additive="base">
                                        <p:cTn id="48" dur="500" fill="hold"/>
                                        <p:tgtEl>
                                          <p:spTgt spid="16"/>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 calcmode="lin" valueType="num">
                                      <p:cBhvr additive="base">
                                        <p:cTn id="51" dur="500" fill="hold"/>
                                        <p:tgtEl>
                                          <p:spTgt spid="19"/>
                                        </p:tgtEl>
                                        <p:attrNameLst>
                                          <p:attrName>ppt_x</p:attrName>
                                        </p:attrNameLst>
                                      </p:cBhvr>
                                      <p:tavLst>
                                        <p:tav tm="0">
                                          <p:val>
                                            <p:strVal val="#ppt_x"/>
                                          </p:val>
                                        </p:tav>
                                        <p:tav tm="100000">
                                          <p:val>
                                            <p:strVal val="#ppt_x"/>
                                          </p:val>
                                        </p:tav>
                                      </p:tavLst>
                                    </p:anim>
                                    <p:anim calcmode="lin" valueType="num">
                                      <p:cBhvr additive="base">
                                        <p:cTn id="52" dur="500" fill="hold"/>
                                        <p:tgtEl>
                                          <p:spTgt spid="19"/>
                                        </p:tgtEl>
                                        <p:attrNameLst>
                                          <p:attrName>ppt_y</p:attrName>
                                        </p:attrNameLst>
                                      </p:cBhvr>
                                      <p:tavLst>
                                        <p:tav tm="0">
                                          <p:val>
                                            <p:strVal val="1+#ppt_h/2"/>
                                          </p:val>
                                        </p:tav>
                                        <p:tav tm="100000">
                                          <p:val>
                                            <p:strVal val="#ppt_y"/>
                                          </p:val>
                                        </p:tav>
                                      </p:tavLst>
                                    </p:anim>
                                  </p:childTnLst>
                                </p:cTn>
                              </p:par>
                              <p:par>
                                <p:cTn id="53" presetID="2" presetClass="entr" presetSubtype="4"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 calcmode="lin" valueType="num">
                                      <p:cBhvr additive="base">
                                        <p:cTn id="55" dur="500" fill="hold"/>
                                        <p:tgtEl>
                                          <p:spTgt spid="20"/>
                                        </p:tgtEl>
                                        <p:attrNameLst>
                                          <p:attrName>ppt_x</p:attrName>
                                        </p:attrNameLst>
                                      </p:cBhvr>
                                      <p:tavLst>
                                        <p:tav tm="0">
                                          <p:val>
                                            <p:strVal val="#ppt_x"/>
                                          </p:val>
                                        </p:tav>
                                        <p:tav tm="100000">
                                          <p:val>
                                            <p:strVal val="#ppt_x"/>
                                          </p:val>
                                        </p:tav>
                                      </p:tavLst>
                                    </p:anim>
                                    <p:anim calcmode="lin" valueType="num">
                                      <p:cBhvr additive="base">
                                        <p:cTn id="56" dur="500" fill="hold"/>
                                        <p:tgtEl>
                                          <p:spTgt spid="20"/>
                                        </p:tgtEl>
                                        <p:attrNameLst>
                                          <p:attrName>ppt_y</p:attrName>
                                        </p:attrNameLst>
                                      </p:cBhvr>
                                      <p:tavLst>
                                        <p:tav tm="0">
                                          <p:val>
                                            <p:strVal val="1+#ppt_h/2"/>
                                          </p:val>
                                        </p:tav>
                                        <p:tav tm="100000">
                                          <p:val>
                                            <p:strVal val="#ppt_y"/>
                                          </p:val>
                                        </p:tav>
                                      </p:tavLst>
                                    </p:anim>
                                  </p:childTnLst>
                                </p:cTn>
                              </p:par>
                              <p:par>
                                <p:cTn id="57" presetID="2" presetClass="entr" presetSubtype="4"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 calcmode="lin" valueType="num">
                                      <p:cBhvr additive="base">
                                        <p:cTn id="59" dur="500" fill="hold"/>
                                        <p:tgtEl>
                                          <p:spTgt spid="18"/>
                                        </p:tgtEl>
                                        <p:attrNameLst>
                                          <p:attrName>ppt_x</p:attrName>
                                        </p:attrNameLst>
                                      </p:cBhvr>
                                      <p:tavLst>
                                        <p:tav tm="0">
                                          <p:val>
                                            <p:strVal val="#ppt_x"/>
                                          </p:val>
                                        </p:tav>
                                        <p:tav tm="100000">
                                          <p:val>
                                            <p:strVal val="#ppt_x"/>
                                          </p:val>
                                        </p:tav>
                                      </p:tavLst>
                                    </p:anim>
                                    <p:anim calcmode="lin" valueType="num">
                                      <p:cBhvr additive="base">
                                        <p:cTn id="60" dur="500" fill="hold"/>
                                        <p:tgtEl>
                                          <p:spTgt spid="18"/>
                                        </p:tgtEl>
                                        <p:attrNameLst>
                                          <p:attrName>ppt_y</p:attrName>
                                        </p:attrNameLst>
                                      </p:cBhvr>
                                      <p:tavLst>
                                        <p:tav tm="0">
                                          <p:val>
                                            <p:strVal val="1+#ppt_h/2"/>
                                          </p:val>
                                        </p:tav>
                                        <p:tav tm="100000">
                                          <p:val>
                                            <p:strVal val="#ppt_y"/>
                                          </p:val>
                                        </p:tav>
                                      </p:tavLst>
                                    </p:anim>
                                  </p:childTnLst>
                                </p:cTn>
                              </p:par>
                              <p:par>
                                <p:cTn id="61" presetID="2" presetClass="entr" presetSubtype="4" fill="hold" nodeType="withEffect">
                                  <p:stCondLst>
                                    <p:cond delay="0"/>
                                  </p:stCondLst>
                                  <p:childTnLst>
                                    <p:set>
                                      <p:cBhvr>
                                        <p:cTn id="62" dur="1" fill="hold">
                                          <p:stCondLst>
                                            <p:cond delay="0"/>
                                          </p:stCondLst>
                                        </p:cTn>
                                        <p:tgtEl>
                                          <p:spTgt spid="17"/>
                                        </p:tgtEl>
                                        <p:attrNameLst>
                                          <p:attrName>style.visibility</p:attrName>
                                        </p:attrNameLst>
                                      </p:cBhvr>
                                      <p:to>
                                        <p:strVal val="visible"/>
                                      </p:to>
                                    </p:set>
                                    <p:anim calcmode="lin" valueType="num">
                                      <p:cBhvr additive="base">
                                        <p:cTn id="63" dur="500" fill="hold"/>
                                        <p:tgtEl>
                                          <p:spTgt spid="17"/>
                                        </p:tgtEl>
                                        <p:attrNameLst>
                                          <p:attrName>ppt_x</p:attrName>
                                        </p:attrNameLst>
                                      </p:cBhvr>
                                      <p:tavLst>
                                        <p:tav tm="0">
                                          <p:val>
                                            <p:strVal val="#ppt_x"/>
                                          </p:val>
                                        </p:tav>
                                        <p:tav tm="100000">
                                          <p:val>
                                            <p:strVal val="#ppt_x"/>
                                          </p:val>
                                        </p:tav>
                                      </p:tavLst>
                                    </p:anim>
                                    <p:anim calcmode="lin" valueType="num">
                                      <p:cBhvr additive="base">
                                        <p:cTn id="64"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7" presetID="2" presetClass="entr" presetSubtype="4" fill="hold" nodeType="clickEffect">
                                  <p:stCondLst>
                                    <p:cond delay="0"/>
                                  </p:stCondLst>
                                  <p:childTnLst>
                                    <p:set>
                                      <p:cBhvr>
                                        <p:cTn id="68" dur="1" fill="hold">
                                          <p:stCondLst>
                                            <p:cond delay="0"/>
                                          </p:stCondLst>
                                        </p:cTn>
                                        <p:tgtEl>
                                          <p:spTgt spid="21"/>
                                        </p:tgtEl>
                                        <p:attrNameLst>
                                          <p:attrName>style.visibility</p:attrName>
                                        </p:attrNameLst>
                                      </p:cBhvr>
                                      <p:to>
                                        <p:strVal val="visible"/>
                                      </p:to>
                                    </p:set>
                                    <p:anim calcmode="lin" valueType="num">
                                      <p:cBhvr additive="base">
                                        <p:cTn id="69" dur="500" fill="hold"/>
                                        <p:tgtEl>
                                          <p:spTgt spid="21"/>
                                        </p:tgtEl>
                                        <p:attrNameLst>
                                          <p:attrName>ppt_x</p:attrName>
                                        </p:attrNameLst>
                                      </p:cBhvr>
                                      <p:tavLst>
                                        <p:tav tm="0">
                                          <p:val>
                                            <p:strVal val="#ppt_x"/>
                                          </p:val>
                                        </p:tav>
                                        <p:tav tm="100000">
                                          <p:val>
                                            <p:strVal val="#ppt_x"/>
                                          </p:val>
                                        </p:tav>
                                      </p:tavLst>
                                    </p:anim>
                                    <p:anim calcmode="lin" valueType="num">
                                      <p:cBhvr additive="base">
                                        <p:cTn id="70" dur="500" fill="hold"/>
                                        <p:tgtEl>
                                          <p:spTgt spid="21"/>
                                        </p:tgtEl>
                                        <p:attrNameLst>
                                          <p:attrName>ppt_y</p:attrName>
                                        </p:attrNameLst>
                                      </p:cBhvr>
                                      <p:tavLst>
                                        <p:tav tm="0">
                                          <p:val>
                                            <p:strVal val="1+#ppt_h/2"/>
                                          </p:val>
                                        </p:tav>
                                        <p:tav tm="100000">
                                          <p:val>
                                            <p:strVal val="#ppt_y"/>
                                          </p:val>
                                        </p:tav>
                                      </p:tavLst>
                                    </p:anim>
                                  </p:childTnLst>
                                </p:cTn>
                              </p:par>
                              <p:par>
                                <p:cTn id="71" presetID="2" presetClass="entr" presetSubtype="4" fill="hold" grpId="0" nodeType="withEffect">
                                  <p:stCondLst>
                                    <p:cond delay="0"/>
                                  </p:stCondLst>
                                  <p:childTnLst>
                                    <p:set>
                                      <p:cBhvr>
                                        <p:cTn id="72" dur="1" fill="hold">
                                          <p:stCondLst>
                                            <p:cond delay="0"/>
                                          </p:stCondLst>
                                        </p:cTn>
                                        <p:tgtEl>
                                          <p:spTgt spid="23"/>
                                        </p:tgtEl>
                                        <p:attrNameLst>
                                          <p:attrName>style.visibility</p:attrName>
                                        </p:attrNameLst>
                                      </p:cBhvr>
                                      <p:to>
                                        <p:strVal val="visible"/>
                                      </p:to>
                                    </p:set>
                                    <p:anim calcmode="lin" valueType="num">
                                      <p:cBhvr additive="base">
                                        <p:cTn id="73" dur="500" fill="hold"/>
                                        <p:tgtEl>
                                          <p:spTgt spid="23"/>
                                        </p:tgtEl>
                                        <p:attrNameLst>
                                          <p:attrName>ppt_x</p:attrName>
                                        </p:attrNameLst>
                                      </p:cBhvr>
                                      <p:tavLst>
                                        <p:tav tm="0">
                                          <p:val>
                                            <p:strVal val="#ppt_x"/>
                                          </p:val>
                                        </p:tav>
                                        <p:tav tm="100000">
                                          <p:val>
                                            <p:strVal val="#ppt_x"/>
                                          </p:val>
                                        </p:tav>
                                      </p:tavLst>
                                    </p:anim>
                                    <p:anim calcmode="lin" valueType="num">
                                      <p:cBhvr additive="base">
                                        <p:cTn id="74" dur="500" fill="hold"/>
                                        <p:tgtEl>
                                          <p:spTgt spid="23"/>
                                        </p:tgtEl>
                                        <p:attrNameLst>
                                          <p:attrName>ppt_y</p:attrName>
                                        </p:attrNameLst>
                                      </p:cBhvr>
                                      <p:tavLst>
                                        <p:tav tm="0">
                                          <p:val>
                                            <p:strVal val="1+#ppt_h/2"/>
                                          </p:val>
                                        </p:tav>
                                        <p:tav tm="100000">
                                          <p:val>
                                            <p:strVal val="#ppt_y"/>
                                          </p:val>
                                        </p:tav>
                                      </p:tavLst>
                                    </p:anim>
                                  </p:childTnLst>
                                </p:cTn>
                              </p:par>
                              <p:par>
                                <p:cTn id="75" presetID="2" presetClass="entr" presetSubtype="4" fill="hold" grpId="0" nodeType="withEffect">
                                  <p:stCondLst>
                                    <p:cond delay="0"/>
                                  </p:stCondLst>
                                  <p:childTnLst>
                                    <p:set>
                                      <p:cBhvr>
                                        <p:cTn id="76" dur="1" fill="hold">
                                          <p:stCondLst>
                                            <p:cond delay="0"/>
                                          </p:stCondLst>
                                        </p:cTn>
                                        <p:tgtEl>
                                          <p:spTgt spid="24"/>
                                        </p:tgtEl>
                                        <p:attrNameLst>
                                          <p:attrName>style.visibility</p:attrName>
                                        </p:attrNameLst>
                                      </p:cBhvr>
                                      <p:to>
                                        <p:strVal val="visible"/>
                                      </p:to>
                                    </p:set>
                                    <p:anim calcmode="lin" valueType="num">
                                      <p:cBhvr additive="base">
                                        <p:cTn id="77" dur="500" fill="hold"/>
                                        <p:tgtEl>
                                          <p:spTgt spid="24"/>
                                        </p:tgtEl>
                                        <p:attrNameLst>
                                          <p:attrName>ppt_x</p:attrName>
                                        </p:attrNameLst>
                                      </p:cBhvr>
                                      <p:tavLst>
                                        <p:tav tm="0">
                                          <p:val>
                                            <p:strVal val="#ppt_x"/>
                                          </p:val>
                                        </p:tav>
                                        <p:tav tm="100000">
                                          <p:val>
                                            <p:strVal val="#ppt_x"/>
                                          </p:val>
                                        </p:tav>
                                      </p:tavLst>
                                    </p:anim>
                                    <p:anim calcmode="lin" valueType="num">
                                      <p:cBhvr additive="base">
                                        <p:cTn id="78" dur="500" fill="hold"/>
                                        <p:tgtEl>
                                          <p:spTgt spid="24"/>
                                        </p:tgtEl>
                                        <p:attrNameLst>
                                          <p:attrName>ppt_y</p:attrName>
                                        </p:attrNameLst>
                                      </p:cBhvr>
                                      <p:tavLst>
                                        <p:tav tm="0">
                                          <p:val>
                                            <p:strVal val="1+#ppt_h/2"/>
                                          </p:val>
                                        </p:tav>
                                        <p:tav tm="100000">
                                          <p:val>
                                            <p:strVal val="#ppt_y"/>
                                          </p:val>
                                        </p:tav>
                                      </p:tavLst>
                                    </p:anim>
                                  </p:childTnLst>
                                </p:cTn>
                              </p:par>
                              <p:par>
                                <p:cTn id="79" presetID="2" presetClass="entr" presetSubtype="4" fill="hold" grpId="0" nodeType="withEffect">
                                  <p:stCondLst>
                                    <p:cond delay="0"/>
                                  </p:stCondLst>
                                  <p:childTnLst>
                                    <p:set>
                                      <p:cBhvr>
                                        <p:cTn id="80" dur="1" fill="hold">
                                          <p:stCondLst>
                                            <p:cond delay="0"/>
                                          </p:stCondLst>
                                        </p:cTn>
                                        <p:tgtEl>
                                          <p:spTgt spid="25"/>
                                        </p:tgtEl>
                                        <p:attrNameLst>
                                          <p:attrName>style.visibility</p:attrName>
                                        </p:attrNameLst>
                                      </p:cBhvr>
                                      <p:to>
                                        <p:strVal val="visible"/>
                                      </p:to>
                                    </p:set>
                                    <p:anim calcmode="lin" valueType="num">
                                      <p:cBhvr additive="base">
                                        <p:cTn id="81" dur="500" fill="hold"/>
                                        <p:tgtEl>
                                          <p:spTgt spid="25"/>
                                        </p:tgtEl>
                                        <p:attrNameLst>
                                          <p:attrName>ppt_x</p:attrName>
                                        </p:attrNameLst>
                                      </p:cBhvr>
                                      <p:tavLst>
                                        <p:tav tm="0">
                                          <p:val>
                                            <p:strVal val="#ppt_x"/>
                                          </p:val>
                                        </p:tav>
                                        <p:tav tm="100000">
                                          <p:val>
                                            <p:strVal val="#ppt_x"/>
                                          </p:val>
                                        </p:tav>
                                      </p:tavLst>
                                    </p:anim>
                                    <p:anim calcmode="lin" valueType="num">
                                      <p:cBhvr additive="base">
                                        <p:cTn id="82" dur="500" fill="hold"/>
                                        <p:tgtEl>
                                          <p:spTgt spid="25"/>
                                        </p:tgtEl>
                                        <p:attrNameLst>
                                          <p:attrName>ppt_y</p:attrName>
                                        </p:attrNameLst>
                                      </p:cBhvr>
                                      <p:tavLst>
                                        <p:tav tm="0">
                                          <p:val>
                                            <p:strVal val="1+#ppt_h/2"/>
                                          </p:val>
                                        </p:tav>
                                        <p:tav tm="100000">
                                          <p:val>
                                            <p:strVal val="#ppt_y"/>
                                          </p:val>
                                        </p:tav>
                                      </p:tavLst>
                                    </p:anim>
                                  </p:childTnLst>
                                </p:cTn>
                              </p:par>
                              <p:par>
                                <p:cTn id="83" presetID="2" presetClass="entr" presetSubtype="4" fill="hold" nodeType="withEffect">
                                  <p:stCondLst>
                                    <p:cond delay="0"/>
                                  </p:stCondLst>
                                  <p:childTnLst>
                                    <p:set>
                                      <p:cBhvr>
                                        <p:cTn id="84" dur="1" fill="hold">
                                          <p:stCondLst>
                                            <p:cond delay="0"/>
                                          </p:stCondLst>
                                        </p:cTn>
                                        <p:tgtEl>
                                          <p:spTgt spid="22"/>
                                        </p:tgtEl>
                                        <p:attrNameLst>
                                          <p:attrName>style.visibility</p:attrName>
                                        </p:attrNameLst>
                                      </p:cBhvr>
                                      <p:to>
                                        <p:strVal val="visible"/>
                                      </p:to>
                                    </p:set>
                                    <p:anim calcmode="lin" valueType="num">
                                      <p:cBhvr additive="base">
                                        <p:cTn id="85" dur="500" fill="hold"/>
                                        <p:tgtEl>
                                          <p:spTgt spid="22"/>
                                        </p:tgtEl>
                                        <p:attrNameLst>
                                          <p:attrName>ppt_x</p:attrName>
                                        </p:attrNameLst>
                                      </p:cBhvr>
                                      <p:tavLst>
                                        <p:tav tm="0">
                                          <p:val>
                                            <p:strVal val="#ppt_x"/>
                                          </p:val>
                                        </p:tav>
                                        <p:tav tm="100000">
                                          <p:val>
                                            <p:strVal val="#ppt_x"/>
                                          </p:val>
                                        </p:tav>
                                      </p:tavLst>
                                    </p:anim>
                                    <p:anim calcmode="lin" valueType="num">
                                      <p:cBhvr additive="base">
                                        <p:cTn id="86"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3" grpId="0" animBg="1"/>
      <p:bldP spid="14" grpId="0" animBg="1"/>
      <p:bldP spid="15" grpId="0" animBg="1"/>
      <p:bldP spid="18" grpId="0" animBg="1"/>
      <p:bldP spid="19" grpId="0" animBg="1"/>
      <p:bldP spid="20" grpId="0" animBg="1"/>
      <p:bldP spid="23" grpId="0" animBg="1"/>
      <p:bldP spid="24" grpId="0" animBg="1"/>
      <p:bldP spid="2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indent="0" algn="r" rtl="1">
              <a:buNone/>
            </a:pPr>
            <a:r>
              <a:rPr lang="ar-SA" altLang="en-US" sz="900" dirty="0">
                <a:solidFill>
                  <a:srgbClr val="587078"/>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900" dirty="0">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indent="0" algn="l">
              <a:buNone/>
            </a:pPr>
            <a:r>
              <a:rPr lang="en-US" sz="900" dirty="0">
                <a:solidFill>
                  <a:srgbClr val="587078"/>
                </a:solidFill>
                <a:latin typeface="Arial" pitchFamily="34" charset="0"/>
                <a:ea typeface="Arial" pitchFamily="34" charset="-122"/>
                <a:cs typeface="Arial" pitchFamily="34" charset="-120"/>
              </a:rPr>
              <a:t>4</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indent="0" algn="r" rtl="1">
              <a:buNone/>
            </a:pPr>
            <a:r>
              <a:rPr lang="ar-SA" altLang="en-US" sz="2800" b="1" dirty="0">
                <a:solidFill>
                  <a:srgbClr val="0A3540"/>
                </a:solidFill>
                <a:latin typeface="Dubai" panose="020B0503030403030204" pitchFamily="34" charset="-78"/>
                <a:ea typeface="Arial" pitchFamily="34" charset="-122"/>
                <a:cs typeface="Dubai" panose="020B0503030403030204" pitchFamily="34" charset="-78"/>
              </a:rPr>
              <a:t>فكرة </a:t>
            </a:r>
            <a:r>
              <a:rPr lang="ar-SA" altLang="en-US" sz="2900" b="1" dirty="0">
                <a:solidFill>
                  <a:srgbClr val="0A3540"/>
                </a:solidFill>
                <a:latin typeface="Dubai" panose="020B0503030403030204" pitchFamily="34" charset="-78"/>
                <a:ea typeface="Arial" pitchFamily="34" charset="-122"/>
                <a:cs typeface="Dubai" panose="020B0503030403030204" pitchFamily="34" charset="-78"/>
              </a:rPr>
              <a:t>المشروع</a:t>
            </a:r>
            <a:endParaRPr lang="ar-SA" sz="2900" dirty="0">
              <a:latin typeface="Dubai" panose="020B0503030403030204" pitchFamily="34" charset="-78"/>
              <a:cs typeface="Dubai" panose="020B0503030403030204" pitchFamily="34" charset="-78"/>
            </a:endParaRPr>
          </a:p>
        </p:txBody>
      </p:sp>
      <p:sp>
        <p:nvSpPr>
          <p:cNvPr id="5" name="Text 3"/>
          <p:cNvSpPr/>
          <p:nvPr/>
        </p:nvSpPr>
        <p:spPr>
          <a:xfrm>
            <a:off x="548640" y="859536"/>
            <a:ext cx="11094415" cy="347472"/>
          </a:xfrm>
          <a:prstGeom prst="rect">
            <a:avLst/>
          </a:prstGeom>
          <a:noFill/>
          <a:ln/>
        </p:spPr>
        <p:txBody>
          <a:bodyPr wrap="square" lIns="0" tIns="0" rIns="0" bIns="0" rtlCol="0" anchor="ctr"/>
          <a:lstStyle/>
          <a:p>
            <a:pPr marL="0" indent="0" algn="r" rtl="1">
              <a:buNone/>
            </a:pPr>
            <a:r>
              <a:rPr lang="ar-SA" altLang="en-US" sz="1400" dirty="0">
                <a:solidFill>
                  <a:srgbClr val="0E7C86"/>
                </a:solidFill>
                <a:latin typeface="Dubai" panose="020B0503030403030204" pitchFamily="34" charset="-78"/>
                <a:ea typeface="Arial" pitchFamily="34" charset="-122"/>
                <a:cs typeface="Dubai" panose="020B0503030403030204" pitchFamily="34" charset="-78"/>
              </a:rPr>
              <a:t>منصّة واحدة تجمع ملف المريض كاملاً… وتفهمه… وتتصرّف</a:t>
            </a:r>
            <a:endParaRPr lang="ar-SA" sz="1400" dirty="0">
              <a:latin typeface="Dubai" panose="020B0503030403030204" pitchFamily="34" charset="-78"/>
              <a:cs typeface="Dubai" panose="020B0503030403030204" pitchFamily="34" charset="-78"/>
            </a:endParaRPr>
          </a:p>
        </p:txBody>
      </p:sp>
      <p:sp>
        <p:nvSpPr>
          <p:cNvPr id="6" name="Text 4"/>
          <p:cNvSpPr/>
          <p:nvPr/>
        </p:nvSpPr>
        <p:spPr>
          <a:xfrm>
            <a:off x="548640" y="1554480"/>
            <a:ext cx="11094415" cy="868680"/>
          </a:xfrm>
          <a:prstGeom prst="rect">
            <a:avLst/>
          </a:prstGeom>
          <a:noFill/>
          <a:ln/>
        </p:spPr>
        <p:txBody>
          <a:bodyPr wrap="square" rtlCol="0" anchor="t"/>
          <a:lstStyle/>
          <a:p>
            <a:pPr marL="0" indent="0" algn="r" rtl="1">
              <a:lnSpc>
                <a:spcPct val="135000"/>
              </a:lnSpc>
              <a:buNone/>
            </a:pPr>
            <a:r>
              <a:rPr lang="ar-SA" altLang="en-US" sz="1700" dirty="0">
                <a:solidFill>
                  <a:srgbClr val="12333C"/>
                </a:solidFill>
                <a:latin typeface="Dubai" panose="020B0503030403030204" pitchFamily="34" charset="-78"/>
                <a:ea typeface="Arial" pitchFamily="34" charset="-122"/>
                <a:cs typeface="Dubai" panose="020B0503030403030204" pitchFamily="34" charset="-78"/>
              </a:rPr>
              <a:t>بنينا منصّةً صحّية واحدة يجتمع فيها ملف المريض كاملاً: تشخيصاته وتحاليله وأدويته ومواعيده. لكنّها لا تكتفي بالتخزين — بل تفهم البيانات وتتصرّف بناءً عليها.</a:t>
            </a:r>
            <a:endParaRPr lang="ar-SA" sz="1700" dirty="0">
              <a:latin typeface="Dubai" panose="020B0503030403030204" pitchFamily="34" charset="-78"/>
              <a:cs typeface="Dubai" panose="020B0503030403030204" pitchFamily="34" charset="-78"/>
            </a:endParaRPr>
          </a:p>
        </p:txBody>
      </p:sp>
      <p:sp>
        <p:nvSpPr>
          <p:cNvPr id="7" name="Shape 5"/>
          <p:cNvSpPr/>
          <p:nvPr/>
        </p:nvSpPr>
        <p:spPr>
          <a:xfrm>
            <a:off x="8076895" y="2697480"/>
            <a:ext cx="3566160" cy="3154680"/>
          </a:xfrm>
          <a:prstGeom prst="roundRect">
            <a:avLst>
              <a:gd name="adj" fmla="val 2319"/>
            </a:avLst>
          </a:prstGeom>
          <a:solidFill>
            <a:srgbClr val="F2F8F8"/>
          </a:solidFill>
          <a:ln w="9525">
            <a:solidFill>
              <a:srgbClr val="D9E7E9"/>
            </a:solidFill>
            <a:prstDash val="solid"/>
          </a:ln>
        </p:spPr>
      </p:sp>
      <p:sp>
        <p:nvSpPr>
          <p:cNvPr id="8" name="Shape 6"/>
          <p:cNvSpPr/>
          <p:nvPr/>
        </p:nvSpPr>
        <p:spPr>
          <a:xfrm>
            <a:off x="9558223" y="3017520"/>
            <a:ext cx="603504" cy="603504"/>
          </a:xfrm>
          <a:prstGeom prst="ellipse">
            <a:avLst/>
          </a:prstGeom>
          <a:solidFill>
            <a:srgbClr val="0E7C86"/>
          </a:solidFill>
          <a:ln/>
        </p:spPr>
      </p:sp>
      <p:sp>
        <p:nvSpPr>
          <p:cNvPr id="9" name="Text 7"/>
          <p:cNvSpPr/>
          <p:nvPr/>
        </p:nvSpPr>
        <p:spPr>
          <a:xfrm>
            <a:off x="9558223" y="3017520"/>
            <a:ext cx="603504" cy="603504"/>
          </a:xfrm>
          <a:prstGeom prst="rect">
            <a:avLst/>
          </a:prstGeom>
          <a:noFill/>
          <a:ln/>
        </p:spPr>
        <p:txBody>
          <a:bodyPr wrap="square" lIns="0" tIns="0" rIns="0" bIns="0" rtlCol="0" anchor="ctr"/>
          <a:lstStyle/>
          <a:p>
            <a:pPr marL="0" indent="0" algn="ctr" rtl="1">
              <a:buNone/>
            </a:pPr>
            <a:r>
              <a:rPr lang="en-US" altLang="en-US" sz="2000" b="1" dirty="0">
                <a:solidFill>
                  <a:srgbClr val="FFFFFF"/>
                </a:solidFill>
                <a:latin typeface="Dubai" panose="020B0503030403030204" pitchFamily="34" charset="-78"/>
                <a:ea typeface="Arial" pitchFamily="34" charset="-122"/>
                <a:cs typeface="Dubai" panose="020B0503030403030204" pitchFamily="34" charset="-78"/>
              </a:rPr>
              <a:t>1</a:t>
            </a:r>
            <a:endParaRPr lang="ar-SA" sz="2000" dirty="0">
              <a:latin typeface="Dubai" panose="020B0503030403030204" pitchFamily="34" charset="-78"/>
              <a:cs typeface="Dubai" panose="020B0503030403030204" pitchFamily="34" charset="-78"/>
            </a:endParaRPr>
          </a:p>
        </p:txBody>
      </p:sp>
      <p:sp>
        <p:nvSpPr>
          <p:cNvPr id="10" name="Text 8"/>
          <p:cNvSpPr/>
          <p:nvPr/>
        </p:nvSpPr>
        <p:spPr>
          <a:xfrm>
            <a:off x="8259775" y="3794760"/>
            <a:ext cx="3200400" cy="457200"/>
          </a:xfrm>
          <a:prstGeom prst="rect">
            <a:avLst/>
          </a:prstGeom>
          <a:noFill/>
          <a:ln/>
        </p:spPr>
        <p:txBody>
          <a:bodyPr wrap="square" rtlCol="0" anchor="ctr"/>
          <a:lstStyle/>
          <a:p>
            <a:pPr marL="0" indent="0" algn="ctr" rtl="1">
              <a:buNone/>
            </a:pPr>
            <a:r>
              <a:rPr lang="ar-SA" altLang="en-US" sz="1700" b="1" dirty="0">
                <a:solidFill>
                  <a:srgbClr val="0A3540"/>
                </a:solidFill>
                <a:latin typeface="Dubai" panose="020B0503030403030204" pitchFamily="34" charset="-78"/>
                <a:ea typeface="Arial" pitchFamily="34" charset="-122"/>
                <a:cs typeface="Dubai" panose="020B0503030403030204" pitchFamily="34" charset="-78"/>
              </a:rPr>
              <a:t>ملفٌّ موحّد بلغةٍ عالمية</a:t>
            </a:r>
            <a:endParaRPr lang="ar-SA" sz="1700" dirty="0">
              <a:latin typeface="Dubai" panose="020B0503030403030204" pitchFamily="34" charset="-78"/>
              <a:cs typeface="Dubai" panose="020B0503030403030204" pitchFamily="34" charset="-78"/>
            </a:endParaRPr>
          </a:p>
        </p:txBody>
      </p:sp>
      <p:sp>
        <p:nvSpPr>
          <p:cNvPr id="11" name="Text 9"/>
          <p:cNvSpPr/>
          <p:nvPr/>
        </p:nvSpPr>
        <p:spPr>
          <a:xfrm>
            <a:off x="8351215" y="4297680"/>
            <a:ext cx="3017520" cy="1417320"/>
          </a:xfrm>
          <a:prstGeom prst="rect">
            <a:avLst/>
          </a:prstGeom>
          <a:noFill/>
          <a:ln/>
        </p:spPr>
        <p:txBody>
          <a:bodyPr wrap="square" rtlCol="0" anchor="t"/>
          <a:lstStyle/>
          <a:p>
            <a:pPr marL="0" indent="0" algn="ctr" rtl="1">
              <a:lnSpc>
                <a:spcPct val="130000"/>
              </a:lnSpc>
              <a:buNone/>
            </a:pPr>
            <a:r>
              <a:rPr lang="ar-SA" altLang="en-US" sz="1400" dirty="0">
                <a:solidFill>
                  <a:srgbClr val="587078"/>
                </a:solidFill>
                <a:latin typeface="Dubai" panose="020B0503030403030204" pitchFamily="34" charset="-78"/>
                <a:ea typeface="Arial" pitchFamily="34" charset="-122"/>
                <a:cs typeface="Dubai" panose="020B0503030403030204" pitchFamily="34" charset="-78"/>
              </a:rPr>
              <a:t>يُكتب الملف بمعيارٍ دولي موحّد اسمه ‏</a:t>
            </a:r>
            <a:r>
              <a:rPr lang="en-US" altLang="en-US" sz="1400" dirty="0">
                <a:solidFill>
                  <a:srgbClr val="587078"/>
                </a:solidFill>
                <a:latin typeface="Dubai" panose="020B0503030403030204" pitchFamily="34" charset="-78"/>
                <a:ea typeface="Arial" pitchFamily="34" charset="-122"/>
                <a:cs typeface="Dubai" panose="020B0503030403030204" pitchFamily="34" charset="-78"/>
              </a:rPr>
              <a:t>FHIR</a:t>
            </a:r>
            <a:r>
              <a:rPr lang="ar-SA" altLang="en-US" sz="1400" dirty="0">
                <a:solidFill>
                  <a:srgbClr val="587078"/>
                </a:solidFill>
                <a:latin typeface="Dubai" panose="020B0503030403030204" pitchFamily="34" charset="-78"/>
                <a:ea typeface="Arial" pitchFamily="34" charset="-122"/>
                <a:cs typeface="Dubai" panose="020B0503030403030204" pitchFamily="34" charset="-78"/>
              </a:rPr>
              <a:t>‏؛ فيُفهم في أيّ نظامٍ صحي آخر، ولا يضيع تاريخ المريض بعد اليوم.</a:t>
            </a:r>
            <a:endParaRPr lang="ar-SA" sz="1400" dirty="0">
              <a:latin typeface="Dubai" panose="020B0503030403030204" pitchFamily="34" charset="-78"/>
              <a:cs typeface="Dubai" panose="020B0503030403030204" pitchFamily="34" charset="-78"/>
            </a:endParaRPr>
          </a:p>
        </p:txBody>
      </p:sp>
      <p:sp>
        <p:nvSpPr>
          <p:cNvPr id="12" name="Shape 10"/>
          <p:cNvSpPr/>
          <p:nvPr/>
        </p:nvSpPr>
        <p:spPr>
          <a:xfrm>
            <a:off x="4309567" y="2697480"/>
            <a:ext cx="3566160" cy="3154680"/>
          </a:xfrm>
          <a:prstGeom prst="roundRect">
            <a:avLst>
              <a:gd name="adj" fmla="val 2319"/>
            </a:avLst>
          </a:prstGeom>
          <a:solidFill>
            <a:srgbClr val="F2F8F8"/>
          </a:solidFill>
          <a:ln w="9525">
            <a:solidFill>
              <a:srgbClr val="D9E7E9"/>
            </a:solidFill>
            <a:prstDash val="solid"/>
          </a:ln>
        </p:spPr>
      </p:sp>
      <p:sp>
        <p:nvSpPr>
          <p:cNvPr id="13" name="Shape 11"/>
          <p:cNvSpPr/>
          <p:nvPr/>
        </p:nvSpPr>
        <p:spPr>
          <a:xfrm>
            <a:off x="5790895" y="3017520"/>
            <a:ext cx="603504" cy="603504"/>
          </a:xfrm>
          <a:prstGeom prst="ellipse">
            <a:avLst/>
          </a:prstGeom>
          <a:solidFill>
            <a:srgbClr val="02C39A"/>
          </a:solidFill>
          <a:ln/>
        </p:spPr>
      </p:sp>
      <p:sp>
        <p:nvSpPr>
          <p:cNvPr id="14" name="Text 12"/>
          <p:cNvSpPr/>
          <p:nvPr/>
        </p:nvSpPr>
        <p:spPr>
          <a:xfrm>
            <a:off x="5790895" y="3017520"/>
            <a:ext cx="603504" cy="603504"/>
          </a:xfrm>
          <a:prstGeom prst="rect">
            <a:avLst/>
          </a:prstGeom>
          <a:noFill/>
          <a:ln/>
        </p:spPr>
        <p:txBody>
          <a:bodyPr wrap="square" lIns="0" tIns="0" rIns="0" bIns="0" rtlCol="0" anchor="ctr"/>
          <a:lstStyle/>
          <a:p>
            <a:pPr marL="0" indent="0" algn="ctr" rtl="1">
              <a:buNone/>
            </a:pPr>
            <a:r>
              <a:rPr lang="en-US" altLang="en-US" sz="2000" b="1" dirty="0">
                <a:solidFill>
                  <a:srgbClr val="FFFFFF"/>
                </a:solidFill>
                <a:latin typeface="Dubai" panose="020B0503030403030204" pitchFamily="34" charset="-78"/>
                <a:ea typeface="Arial" pitchFamily="34" charset="-122"/>
                <a:cs typeface="Dubai" panose="020B0503030403030204" pitchFamily="34" charset="-78"/>
              </a:rPr>
              <a:t>2</a:t>
            </a:r>
            <a:endParaRPr lang="ar-SA" sz="2000" dirty="0">
              <a:latin typeface="Dubai" panose="020B0503030403030204" pitchFamily="34" charset="-78"/>
              <a:cs typeface="Dubai" panose="020B0503030403030204" pitchFamily="34" charset="-78"/>
            </a:endParaRPr>
          </a:p>
        </p:txBody>
      </p:sp>
      <p:sp>
        <p:nvSpPr>
          <p:cNvPr id="15" name="Text 13"/>
          <p:cNvSpPr/>
          <p:nvPr/>
        </p:nvSpPr>
        <p:spPr>
          <a:xfrm>
            <a:off x="4492447" y="3794760"/>
            <a:ext cx="3200400" cy="457200"/>
          </a:xfrm>
          <a:prstGeom prst="rect">
            <a:avLst/>
          </a:prstGeom>
          <a:noFill/>
          <a:ln/>
        </p:spPr>
        <p:txBody>
          <a:bodyPr wrap="square" rtlCol="0" anchor="ctr"/>
          <a:lstStyle/>
          <a:p>
            <a:pPr marL="0" indent="0" algn="ctr" rtl="1">
              <a:buNone/>
            </a:pPr>
            <a:r>
              <a:rPr lang="ar-SA" altLang="en-US" sz="1700" b="1" dirty="0">
                <a:solidFill>
                  <a:srgbClr val="0A3540"/>
                </a:solidFill>
                <a:latin typeface="Dubai" panose="020B0503030403030204" pitchFamily="34" charset="-78"/>
                <a:ea typeface="Arial" pitchFamily="34" charset="-122"/>
                <a:cs typeface="Dubai" panose="020B0503030403030204" pitchFamily="34" charset="-78"/>
              </a:rPr>
              <a:t>مساعدٌ يقظ للطبيب</a:t>
            </a:r>
            <a:endParaRPr lang="ar-SA" sz="1700" dirty="0">
              <a:latin typeface="Dubai" panose="020B0503030403030204" pitchFamily="34" charset="-78"/>
              <a:cs typeface="Dubai" panose="020B0503030403030204" pitchFamily="34" charset="-78"/>
            </a:endParaRPr>
          </a:p>
        </p:txBody>
      </p:sp>
      <p:sp>
        <p:nvSpPr>
          <p:cNvPr id="16" name="Text 14"/>
          <p:cNvSpPr/>
          <p:nvPr/>
        </p:nvSpPr>
        <p:spPr>
          <a:xfrm>
            <a:off x="4583887" y="4297680"/>
            <a:ext cx="3017520" cy="1417320"/>
          </a:xfrm>
          <a:prstGeom prst="rect">
            <a:avLst/>
          </a:prstGeom>
          <a:noFill/>
          <a:ln/>
        </p:spPr>
        <p:txBody>
          <a:bodyPr wrap="square" rtlCol="0" anchor="t"/>
          <a:lstStyle/>
          <a:p>
            <a:pPr marL="0" indent="0" algn="ctr" rtl="1">
              <a:lnSpc>
                <a:spcPct val="130000"/>
              </a:lnSpc>
              <a:buNone/>
            </a:pPr>
            <a:r>
              <a:rPr lang="ar-SA" altLang="en-US" sz="1400" dirty="0">
                <a:solidFill>
                  <a:srgbClr val="587078"/>
                </a:solidFill>
                <a:latin typeface="Dubai" panose="020B0503030403030204" pitchFamily="34" charset="-78"/>
                <a:ea typeface="Arial" pitchFamily="34" charset="-122"/>
                <a:cs typeface="Dubai" panose="020B0503030403030204" pitchFamily="34" charset="-78"/>
              </a:rPr>
              <a:t>يراقب النظامُ الوصفات والبيانات، فينبّه الطبيب فوراً عند جرعةٍ زائدة أو خطرٍ يستحق الانتباه.</a:t>
            </a:r>
            <a:endParaRPr lang="ar-SA" sz="1400" dirty="0">
              <a:latin typeface="Dubai" panose="020B0503030403030204" pitchFamily="34" charset="-78"/>
              <a:cs typeface="Dubai" panose="020B0503030403030204" pitchFamily="34" charset="-78"/>
            </a:endParaRPr>
          </a:p>
        </p:txBody>
      </p:sp>
      <p:sp>
        <p:nvSpPr>
          <p:cNvPr id="17" name="Shape 15"/>
          <p:cNvSpPr/>
          <p:nvPr/>
        </p:nvSpPr>
        <p:spPr>
          <a:xfrm>
            <a:off x="542239" y="2697480"/>
            <a:ext cx="3566160" cy="3154680"/>
          </a:xfrm>
          <a:prstGeom prst="roundRect">
            <a:avLst>
              <a:gd name="adj" fmla="val 2319"/>
            </a:avLst>
          </a:prstGeom>
          <a:solidFill>
            <a:srgbClr val="F2F8F8"/>
          </a:solidFill>
          <a:ln w="9525">
            <a:solidFill>
              <a:srgbClr val="D9E7E9"/>
            </a:solidFill>
            <a:prstDash val="solid"/>
          </a:ln>
        </p:spPr>
      </p:sp>
      <p:sp>
        <p:nvSpPr>
          <p:cNvPr id="18" name="Shape 16"/>
          <p:cNvSpPr/>
          <p:nvPr/>
        </p:nvSpPr>
        <p:spPr>
          <a:xfrm>
            <a:off x="2023567" y="3017520"/>
            <a:ext cx="603504" cy="603504"/>
          </a:xfrm>
          <a:prstGeom prst="ellipse">
            <a:avLst/>
          </a:prstGeom>
          <a:solidFill>
            <a:srgbClr val="E9B44C"/>
          </a:solidFill>
          <a:ln/>
        </p:spPr>
      </p:sp>
      <p:sp>
        <p:nvSpPr>
          <p:cNvPr id="19" name="Text 17"/>
          <p:cNvSpPr/>
          <p:nvPr/>
        </p:nvSpPr>
        <p:spPr>
          <a:xfrm>
            <a:off x="2023567" y="3017520"/>
            <a:ext cx="603504" cy="603504"/>
          </a:xfrm>
          <a:prstGeom prst="rect">
            <a:avLst/>
          </a:prstGeom>
          <a:noFill/>
          <a:ln/>
        </p:spPr>
        <p:txBody>
          <a:bodyPr wrap="square" lIns="0" tIns="0" rIns="0" bIns="0" rtlCol="0" anchor="ctr"/>
          <a:lstStyle/>
          <a:p>
            <a:pPr marL="0" indent="0" algn="ctr" rtl="1">
              <a:buNone/>
            </a:pPr>
            <a:r>
              <a:rPr lang="en-US" altLang="en-US" sz="2000" b="1" dirty="0">
                <a:solidFill>
                  <a:srgbClr val="0A3540"/>
                </a:solidFill>
                <a:latin typeface="Dubai" panose="020B0503030403030204" pitchFamily="34" charset="-78"/>
                <a:ea typeface="Arial" pitchFamily="34" charset="-122"/>
                <a:cs typeface="Dubai" panose="020B0503030403030204" pitchFamily="34" charset="-78"/>
              </a:rPr>
              <a:t>3</a:t>
            </a:r>
            <a:endParaRPr lang="ar-SA" sz="2000" dirty="0">
              <a:latin typeface="Dubai" panose="020B0503030403030204" pitchFamily="34" charset="-78"/>
              <a:cs typeface="Dubai" panose="020B0503030403030204" pitchFamily="34" charset="-78"/>
            </a:endParaRPr>
          </a:p>
        </p:txBody>
      </p:sp>
      <p:sp>
        <p:nvSpPr>
          <p:cNvPr id="20" name="Text 18"/>
          <p:cNvSpPr/>
          <p:nvPr/>
        </p:nvSpPr>
        <p:spPr>
          <a:xfrm>
            <a:off x="725119" y="3794760"/>
            <a:ext cx="3200400" cy="457200"/>
          </a:xfrm>
          <a:prstGeom prst="rect">
            <a:avLst/>
          </a:prstGeom>
          <a:noFill/>
          <a:ln/>
        </p:spPr>
        <p:txBody>
          <a:bodyPr wrap="square" rtlCol="0" anchor="ctr"/>
          <a:lstStyle/>
          <a:p>
            <a:pPr marL="0" indent="0" algn="ctr" rtl="1">
              <a:buNone/>
            </a:pPr>
            <a:r>
              <a:rPr lang="ar-SA" altLang="en-US" sz="1700" b="1" dirty="0">
                <a:solidFill>
                  <a:srgbClr val="0A3540"/>
                </a:solidFill>
                <a:latin typeface="Dubai" panose="020B0503030403030204" pitchFamily="34" charset="-78"/>
                <a:ea typeface="Arial" pitchFamily="34" charset="-122"/>
                <a:cs typeface="Dubai" panose="020B0503030403030204" pitchFamily="34" charset="-78"/>
              </a:rPr>
              <a:t>ذكاءٌ يتنبّأ بالخطر</a:t>
            </a:r>
            <a:endParaRPr lang="ar-SA" sz="1700" dirty="0">
              <a:latin typeface="Dubai" panose="020B0503030403030204" pitchFamily="34" charset="-78"/>
              <a:cs typeface="Dubai" panose="020B0503030403030204" pitchFamily="34" charset="-78"/>
            </a:endParaRPr>
          </a:p>
        </p:txBody>
      </p:sp>
      <p:sp>
        <p:nvSpPr>
          <p:cNvPr id="21" name="Text 19"/>
          <p:cNvSpPr/>
          <p:nvPr/>
        </p:nvSpPr>
        <p:spPr>
          <a:xfrm>
            <a:off x="816559" y="4297680"/>
            <a:ext cx="3017520" cy="1417320"/>
          </a:xfrm>
          <a:prstGeom prst="rect">
            <a:avLst/>
          </a:prstGeom>
          <a:noFill/>
          <a:ln/>
        </p:spPr>
        <p:txBody>
          <a:bodyPr wrap="square" rtlCol="0" anchor="t"/>
          <a:lstStyle/>
          <a:p>
            <a:pPr marL="0" indent="0" algn="ctr" rtl="1">
              <a:lnSpc>
                <a:spcPct val="130000"/>
              </a:lnSpc>
              <a:buNone/>
            </a:pPr>
            <a:r>
              <a:rPr lang="ar-SA" altLang="en-US" sz="1400" dirty="0">
                <a:solidFill>
                  <a:srgbClr val="587078"/>
                </a:solidFill>
                <a:latin typeface="Dubai" panose="020B0503030403030204" pitchFamily="34" charset="-78"/>
                <a:ea typeface="Arial" pitchFamily="34" charset="-122"/>
                <a:cs typeface="Dubai" panose="020B0503030403030204" pitchFamily="34" charset="-78"/>
              </a:rPr>
              <a:t>نماذج ذكاءٍ اصطناعي تقرأ ملف المريض وتقدّر احتمالات الخطر قبل وقوعه — فتسبق الرعايةُ المرضَ.</a:t>
            </a:r>
            <a:endParaRPr lang="ar-SA" sz="1400" dirty="0">
              <a:latin typeface="Dubai" panose="020B0503030403030204" pitchFamily="34" charset="-78"/>
              <a:cs typeface="Dubai" panose="020B0503030403030204" pitchFamily="34" charset="-78"/>
            </a:endParaRPr>
          </a:p>
        </p:txBody>
      </p:sp>
    </p:spTree>
  </p:cSld>
  <p:clrMapOvr>
    <a:masterClrMapping/>
  </p:clrMapOvr>
  <p:transition spd="slow">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1000"/>
                                        <p:tgtEl>
                                          <p:spTgt spid="9"/>
                                        </p:tgtEl>
                                      </p:cBhvr>
                                    </p:animEffect>
                                    <p:anim calcmode="lin" valueType="num">
                                      <p:cBhvr>
                                        <p:cTn id="13" dur="1000" fill="hold"/>
                                        <p:tgtEl>
                                          <p:spTgt spid="9"/>
                                        </p:tgtEl>
                                        <p:attrNameLst>
                                          <p:attrName>ppt_x</p:attrName>
                                        </p:attrNameLst>
                                      </p:cBhvr>
                                      <p:tavLst>
                                        <p:tav tm="0">
                                          <p:val>
                                            <p:strVal val="#ppt_x"/>
                                          </p:val>
                                        </p:tav>
                                        <p:tav tm="100000">
                                          <p:val>
                                            <p:strVal val="#ppt_x"/>
                                          </p:val>
                                        </p:tav>
                                      </p:tavLst>
                                    </p:anim>
                                    <p:anim calcmode="lin" valueType="num">
                                      <p:cBhvr>
                                        <p:cTn id="14" dur="1000" fill="hold"/>
                                        <p:tgtEl>
                                          <p:spTgt spid="9"/>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anim calcmode="lin" valueType="num">
                                      <p:cBhvr>
                                        <p:cTn id="18" dur="1000" fill="hold"/>
                                        <p:tgtEl>
                                          <p:spTgt spid="10"/>
                                        </p:tgtEl>
                                        <p:attrNameLst>
                                          <p:attrName>ppt_x</p:attrName>
                                        </p:attrNameLst>
                                      </p:cBhvr>
                                      <p:tavLst>
                                        <p:tav tm="0">
                                          <p:val>
                                            <p:strVal val="#ppt_x"/>
                                          </p:val>
                                        </p:tav>
                                        <p:tav tm="100000">
                                          <p:val>
                                            <p:strVal val="#ppt_x"/>
                                          </p:val>
                                        </p:tav>
                                      </p:tavLst>
                                    </p:anim>
                                    <p:anim calcmode="lin" valueType="num">
                                      <p:cBhvr>
                                        <p:cTn id="19" dur="1000" fill="hold"/>
                                        <p:tgtEl>
                                          <p:spTgt spid="10"/>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anim calcmode="lin" valueType="num">
                                      <p:cBhvr>
                                        <p:cTn id="23" dur="1000" fill="hold"/>
                                        <p:tgtEl>
                                          <p:spTgt spid="11"/>
                                        </p:tgtEl>
                                        <p:attrNameLst>
                                          <p:attrName>ppt_x</p:attrName>
                                        </p:attrNameLst>
                                      </p:cBhvr>
                                      <p:tavLst>
                                        <p:tav tm="0">
                                          <p:val>
                                            <p:strVal val="#ppt_x"/>
                                          </p:val>
                                        </p:tav>
                                        <p:tav tm="100000">
                                          <p:val>
                                            <p:strVal val="#ppt_x"/>
                                          </p:val>
                                        </p:tav>
                                      </p:tavLst>
                                    </p:anim>
                                    <p:anim calcmode="lin" valueType="num">
                                      <p:cBhvr>
                                        <p:cTn id="24" dur="1000" fill="hold"/>
                                        <p:tgtEl>
                                          <p:spTgt spid="11"/>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anim calcmode="lin" valueType="num">
                                      <p:cBhvr>
                                        <p:cTn id="28" dur="1000" fill="hold"/>
                                        <p:tgtEl>
                                          <p:spTgt spid="8"/>
                                        </p:tgtEl>
                                        <p:attrNameLst>
                                          <p:attrName>ppt_x</p:attrName>
                                        </p:attrNameLst>
                                      </p:cBhvr>
                                      <p:tavLst>
                                        <p:tav tm="0">
                                          <p:val>
                                            <p:strVal val="#ppt_x"/>
                                          </p:val>
                                        </p:tav>
                                        <p:tav tm="100000">
                                          <p:val>
                                            <p:strVal val="#ppt_x"/>
                                          </p:val>
                                        </p:tav>
                                      </p:tavLst>
                                    </p:anim>
                                    <p:anim calcmode="lin" valueType="num">
                                      <p:cBhvr>
                                        <p:cTn id="2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grpId="0" nodeType="click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1000"/>
                                        <p:tgtEl>
                                          <p:spTgt spid="16"/>
                                        </p:tgtEl>
                                      </p:cBhvr>
                                    </p:animEffect>
                                    <p:anim calcmode="lin" valueType="num">
                                      <p:cBhvr>
                                        <p:cTn id="35" dur="1000" fill="hold"/>
                                        <p:tgtEl>
                                          <p:spTgt spid="16"/>
                                        </p:tgtEl>
                                        <p:attrNameLst>
                                          <p:attrName>ppt_x</p:attrName>
                                        </p:attrNameLst>
                                      </p:cBhvr>
                                      <p:tavLst>
                                        <p:tav tm="0">
                                          <p:val>
                                            <p:strVal val="#ppt_x"/>
                                          </p:val>
                                        </p:tav>
                                        <p:tav tm="100000">
                                          <p:val>
                                            <p:strVal val="#ppt_x"/>
                                          </p:val>
                                        </p:tav>
                                      </p:tavLst>
                                    </p:anim>
                                    <p:anim calcmode="lin" valueType="num">
                                      <p:cBhvr>
                                        <p:cTn id="36" dur="1000" fill="hold"/>
                                        <p:tgtEl>
                                          <p:spTgt spid="16"/>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1000"/>
                                        <p:tgtEl>
                                          <p:spTgt spid="13"/>
                                        </p:tgtEl>
                                      </p:cBhvr>
                                    </p:animEffect>
                                    <p:anim calcmode="lin" valueType="num">
                                      <p:cBhvr>
                                        <p:cTn id="40" dur="1000" fill="hold"/>
                                        <p:tgtEl>
                                          <p:spTgt spid="13"/>
                                        </p:tgtEl>
                                        <p:attrNameLst>
                                          <p:attrName>ppt_x</p:attrName>
                                        </p:attrNameLst>
                                      </p:cBhvr>
                                      <p:tavLst>
                                        <p:tav tm="0">
                                          <p:val>
                                            <p:strVal val="#ppt_x"/>
                                          </p:val>
                                        </p:tav>
                                        <p:tav tm="100000">
                                          <p:val>
                                            <p:strVal val="#ppt_x"/>
                                          </p:val>
                                        </p:tav>
                                      </p:tavLst>
                                    </p:anim>
                                    <p:anim calcmode="lin" valueType="num">
                                      <p:cBhvr>
                                        <p:cTn id="41" dur="1000" fill="hold"/>
                                        <p:tgtEl>
                                          <p:spTgt spid="13"/>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1000"/>
                                        <p:tgtEl>
                                          <p:spTgt spid="15"/>
                                        </p:tgtEl>
                                      </p:cBhvr>
                                    </p:animEffect>
                                    <p:anim calcmode="lin" valueType="num">
                                      <p:cBhvr>
                                        <p:cTn id="45" dur="1000" fill="hold"/>
                                        <p:tgtEl>
                                          <p:spTgt spid="15"/>
                                        </p:tgtEl>
                                        <p:attrNameLst>
                                          <p:attrName>ppt_x</p:attrName>
                                        </p:attrNameLst>
                                      </p:cBhvr>
                                      <p:tavLst>
                                        <p:tav tm="0">
                                          <p:val>
                                            <p:strVal val="#ppt_x"/>
                                          </p:val>
                                        </p:tav>
                                        <p:tav tm="100000">
                                          <p:val>
                                            <p:strVal val="#ppt_x"/>
                                          </p:val>
                                        </p:tav>
                                      </p:tavLst>
                                    </p:anim>
                                    <p:anim calcmode="lin" valueType="num">
                                      <p:cBhvr>
                                        <p:cTn id="46" dur="1000" fill="hold"/>
                                        <p:tgtEl>
                                          <p:spTgt spid="15"/>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1000"/>
                                        <p:tgtEl>
                                          <p:spTgt spid="12"/>
                                        </p:tgtEl>
                                      </p:cBhvr>
                                    </p:animEffect>
                                    <p:anim calcmode="lin" valueType="num">
                                      <p:cBhvr>
                                        <p:cTn id="50" dur="1000" fill="hold"/>
                                        <p:tgtEl>
                                          <p:spTgt spid="12"/>
                                        </p:tgtEl>
                                        <p:attrNameLst>
                                          <p:attrName>ppt_x</p:attrName>
                                        </p:attrNameLst>
                                      </p:cBhvr>
                                      <p:tavLst>
                                        <p:tav tm="0">
                                          <p:val>
                                            <p:strVal val="#ppt_x"/>
                                          </p:val>
                                        </p:tav>
                                        <p:tav tm="100000">
                                          <p:val>
                                            <p:strVal val="#ppt_x"/>
                                          </p:val>
                                        </p:tav>
                                      </p:tavLst>
                                    </p:anim>
                                    <p:anim calcmode="lin" valueType="num">
                                      <p:cBhvr>
                                        <p:cTn id="51"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1000"/>
                                        <p:tgtEl>
                                          <p:spTgt spid="19"/>
                                        </p:tgtEl>
                                      </p:cBhvr>
                                    </p:animEffect>
                                    <p:anim calcmode="lin" valueType="num">
                                      <p:cBhvr>
                                        <p:cTn id="57" dur="1000" fill="hold"/>
                                        <p:tgtEl>
                                          <p:spTgt spid="19"/>
                                        </p:tgtEl>
                                        <p:attrNameLst>
                                          <p:attrName>ppt_x</p:attrName>
                                        </p:attrNameLst>
                                      </p:cBhvr>
                                      <p:tavLst>
                                        <p:tav tm="0">
                                          <p:val>
                                            <p:strVal val="#ppt_x"/>
                                          </p:val>
                                        </p:tav>
                                        <p:tav tm="100000">
                                          <p:val>
                                            <p:strVal val="#ppt_x"/>
                                          </p:val>
                                        </p:tav>
                                      </p:tavLst>
                                    </p:anim>
                                    <p:anim calcmode="lin" valueType="num">
                                      <p:cBhvr>
                                        <p:cTn id="58" dur="1000" fill="hold"/>
                                        <p:tgtEl>
                                          <p:spTgt spid="19"/>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1000"/>
                                        <p:tgtEl>
                                          <p:spTgt spid="17"/>
                                        </p:tgtEl>
                                      </p:cBhvr>
                                    </p:animEffect>
                                    <p:anim calcmode="lin" valueType="num">
                                      <p:cBhvr>
                                        <p:cTn id="62" dur="1000" fill="hold"/>
                                        <p:tgtEl>
                                          <p:spTgt spid="17"/>
                                        </p:tgtEl>
                                        <p:attrNameLst>
                                          <p:attrName>ppt_x</p:attrName>
                                        </p:attrNameLst>
                                      </p:cBhvr>
                                      <p:tavLst>
                                        <p:tav tm="0">
                                          <p:val>
                                            <p:strVal val="#ppt_x"/>
                                          </p:val>
                                        </p:tav>
                                        <p:tav tm="100000">
                                          <p:val>
                                            <p:strVal val="#ppt_x"/>
                                          </p:val>
                                        </p:tav>
                                      </p:tavLst>
                                    </p:anim>
                                    <p:anim calcmode="lin" valueType="num">
                                      <p:cBhvr>
                                        <p:cTn id="63" dur="1000" fill="hold"/>
                                        <p:tgtEl>
                                          <p:spTgt spid="17"/>
                                        </p:tgtEl>
                                        <p:attrNameLst>
                                          <p:attrName>ppt_y</p:attrName>
                                        </p:attrNameLst>
                                      </p:cBhvr>
                                      <p:tavLst>
                                        <p:tav tm="0">
                                          <p:val>
                                            <p:strVal val="#ppt_y+.1"/>
                                          </p:val>
                                        </p:tav>
                                        <p:tav tm="100000">
                                          <p:val>
                                            <p:strVal val="#ppt_y"/>
                                          </p:val>
                                        </p:tav>
                                      </p:tavLst>
                                    </p:anim>
                                  </p:childTnLst>
                                </p:cTn>
                              </p:par>
                              <p:par>
                                <p:cTn id="64" presetID="42" presetClass="entr" presetSubtype="0" fill="hold" grpId="0" nodeType="withEffect">
                                  <p:stCondLst>
                                    <p:cond delay="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1000"/>
                                        <p:tgtEl>
                                          <p:spTgt spid="20"/>
                                        </p:tgtEl>
                                      </p:cBhvr>
                                    </p:animEffect>
                                    <p:anim calcmode="lin" valueType="num">
                                      <p:cBhvr>
                                        <p:cTn id="67" dur="1000" fill="hold"/>
                                        <p:tgtEl>
                                          <p:spTgt spid="20"/>
                                        </p:tgtEl>
                                        <p:attrNameLst>
                                          <p:attrName>ppt_x</p:attrName>
                                        </p:attrNameLst>
                                      </p:cBhvr>
                                      <p:tavLst>
                                        <p:tav tm="0">
                                          <p:val>
                                            <p:strVal val="#ppt_x"/>
                                          </p:val>
                                        </p:tav>
                                        <p:tav tm="100000">
                                          <p:val>
                                            <p:strVal val="#ppt_x"/>
                                          </p:val>
                                        </p:tav>
                                      </p:tavLst>
                                    </p:anim>
                                    <p:anim calcmode="lin" valueType="num">
                                      <p:cBhvr>
                                        <p:cTn id="68" dur="1000" fill="hold"/>
                                        <p:tgtEl>
                                          <p:spTgt spid="20"/>
                                        </p:tgtEl>
                                        <p:attrNameLst>
                                          <p:attrName>ppt_y</p:attrName>
                                        </p:attrNameLst>
                                      </p:cBhvr>
                                      <p:tavLst>
                                        <p:tav tm="0">
                                          <p:val>
                                            <p:strVal val="#ppt_y+.1"/>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1000"/>
                                        <p:tgtEl>
                                          <p:spTgt spid="21"/>
                                        </p:tgtEl>
                                      </p:cBhvr>
                                    </p:animEffect>
                                    <p:anim calcmode="lin" valueType="num">
                                      <p:cBhvr>
                                        <p:cTn id="72" dur="1000" fill="hold"/>
                                        <p:tgtEl>
                                          <p:spTgt spid="21"/>
                                        </p:tgtEl>
                                        <p:attrNameLst>
                                          <p:attrName>ppt_x</p:attrName>
                                        </p:attrNameLst>
                                      </p:cBhvr>
                                      <p:tavLst>
                                        <p:tav tm="0">
                                          <p:val>
                                            <p:strVal val="#ppt_x"/>
                                          </p:val>
                                        </p:tav>
                                        <p:tav tm="100000">
                                          <p:val>
                                            <p:strVal val="#ppt_x"/>
                                          </p:val>
                                        </p:tav>
                                      </p:tavLst>
                                    </p:anim>
                                    <p:anim calcmode="lin" valueType="num">
                                      <p:cBhvr>
                                        <p:cTn id="73" dur="1000" fill="hold"/>
                                        <p:tgtEl>
                                          <p:spTgt spid="21"/>
                                        </p:tgtEl>
                                        <p:attrNameLst>
                                          <p:attrName>ppt_y</p:attrName>
                                        </p:attrNameLst>
                                      </p:cBhvr>
                                      <p:tavLst>
                                        <p:tav tm="0">
                                          <p:val>
                                            <p:strVal val="#ppt_y+.1"/>
                                          </p:val>
                                        </p:tav>
                                        <p:tav tm="100000">
                                          <p:val>
                                            <p:strVal val="#ppt_y"/>
                                          </p:val>
                                        </p:tav>
                                      </p:tavLst>
                                    </p:anim>
                                  </p:childTnLst>
                                </p:cTn>
                              </p:par>
                              <p:par>
                                <p:cTn id="74" presetID="42" presetClass="entr" presetSubtype="0" fill="hold" nodeType="withEffect">
                                  <p:stCondLst>
                                    <p:cond delay="0"/>
                                  </p:stCondLst>
                                  <p:childTnLst>
                                    <p:set>
                                      <p:cBhvr>
                                        <p:cTn id="75" dur="1" fill="hold">
                                          <p:stCondLst>
                                            <p:cond delay="0"/>
                                          </p:stCondLst>
                                        </p:cTn>
                                        <p:tgtEl>
                                          <p:spTgt spid="18"/>
                                        </p:tgtEl>
                                        <p:attrNameLst>
                                          <p:attrName>style.visibility</p:attrName>
                                        </p:attrNameLst>
                                      </p:cBhvr>
                                      <p:to>
                                        <p:strVal val="visible"/>
                                      </p:to>
                                    </p:set>
                                    <p:animEffect transition="in" filter="fade">
                                      <p:cBhvr>
                                        <p:cTn id="76" dur="1000"/>
                                        <p:tgtEl>
                                          <p:spTgt spid="18"/>
                                        </p:tgtEl>
                                      </p:cBhvr>
                                    </p:animEffect>
                                    <p:anim calcmode="lin" valueType="num">
                                      <p:cBhvr>
                                        <p:cTn id="77" dur="1000" fill="hold"/>
                                        <p:tgtEl>
                                          <p:spTgt spid="18"/>
                                        </p:tgtEl>
                                        <p:attrNameLst>
                                          <p:attrName>ppt_x</p:attrName>
                                        </p:attrNameLst>
                                      </p:cBhvr>
                                      <p:tavLst>
                                        <p:tav tm="0">
                                          <p:val>
                                            <p:strVal val="#ppt_x"/>
                                          </p:val>
                                        </p:tav>
                                        <p:tav tm="100000">
                                          <p:val>
                                            <p:strVal val="#ppt_x"/>
                                          </p:val>
                                        </p:tav>
                                      </p:tavLst>
                                    </p:anim>
                                    <p:anim calcmode="lin" valueType="num">
                                      <p:cBhvr>
                                        <p:cTn id="78"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5" grpId="0" animBg="1"/>
      <p:bldP spid="16" grpId="0" animBg="1"/>
      <p:bldP spid="19" grpId="0" animBg="1"/>
      <p:bldP spid="20" grpId="0" animBg="1"/>
      <p:bldP spid="2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indent="0" algn="r" rtl="1">
              <a:buNone/>
            </a:pPr>
            <a:r>
              <a:rPr lang="ar-SA" altLang="en-US" sz="900" dirty="0">
                <a:solidFill>
                  <a:srgbClr val="587078"/>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900" dirty="0">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indent="0" algn="l">
              <a:buNone/>
            </a:pPr>
            <a:r>
              <a:rPr lang="en-US" sz="900" dirty="0">
                <a:solidFill>
                  <a:srgbClr val="587078"/>
                </a:solidFill>
                <a:latin typeface="Arial" pitchFamily="34" charset="0"/>
                <a:ea typeface="Arial" pitchFamily="34" charset="-122"/>
                <a:cs typeface="Arial" pitchFamily="34" charset="-120"/>
              </a:rPr>
              <a:t>5</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indent="0" algn="r" rtl="1">
              <a:buNone/>
            </a:pPr>
            <a:r>
              <a:rPr lang="ar-SA" altLang="en-US" sz="2900" b="1" dirty="0">
                <a:solidFill>
                  <a:srgbClr val="0A3540"/>
                </a:solidFill>
                <a:latin typeface="Dubai" panose="020B0503030403030204" pitchFamily="34" charset="-78"/>
                <a:ea typeface="Arial" pitchFamily="34" charset="-122"/>
                <a:cs typeface="Dubai" panose="020B0503030403030204" pitchFamily="34" charset="-78"/>
              </a:rPr>
              <a:t>ماذا يقدّم النظام لكلّ مستخدم؟</a:t>
            </a:r>
            <a:endParaRPr lang="ar-SA" sz="2900" dirty="0">
              <a:latin typeface="Dubai" panose="020B0503030403030204" pitchFamily="34" charset="-78"/>
              <a:cs typeface="Dubai" panose="020B0503030403030204" pitchFamily="34" charset="-78"/>
            </a:endParaRPr>
          </a:p>
        </p:txBody>
      </p:sp>
      <p:sp>
        <p:nvSpPr>
          <p:cNvPr id="5" name="Text 3"/>
          <p:cNvSpPr/>
          <p:nvPr/>
        </p:nvSpPr>
        <p:spPr>
          <a:xfrm>
            <a:off x="548640" y="859536"/>
            <a:ext cx="11094415" cy="347472"/>
          </a:xfrm>
          <a:prstGeom prst="rect">
            <a:avLst/>
          </a:prstGeom>
          <a:noFill/>
          <a:ln/>
        </p:spPr>
        <p:txBody>
          <a:bodyPr wrap="square" lIns="0" tIns="0" rIns="0" bIns="0" rtlCol="0" anchor="ctr"/>
          <a:lstStyle/>
          <a:p>
            <a:pPr marL="0" indent="0" algn="r" rtl="1">
              <a:buNone/>
            </a:pPr>
            <a:r>
              <a:rPr lang="ar-SA" altLang="en-US" sz="1400" dirty="0">
                <a:solidFill>
                  <a:srgbClr val="0E7C86"/>
                </a:solidFill>
                <a:latin typeface="Dubai" panose="020B0503030403030204" pitchFamily="34" charset="-78"/>
                <a:ea typeface="Arial" pitchFamily="34" charset="-122"/>
                <a:cs typeface="Dubai" panose="020B0503030403030204" pitchFamily="34" charset="-78"/>
              </a:rPr>
              <a:t>أربعة أدوار… ولكلٍّ منها ما يخصّه</a:t>
            </a:r>
            <a:endParaRPr lang="ar-SA" sz="1400" dirty="0">
              <a:latin typeface="Dubai" panose="020B0503030403030204" pitchFamily="34" charset="-78"/>
              <a:cs typeface="Dubai" panose="020B0503030403030204" pitchFamily="34" charset="-78"/>
            </a:endParaRPr>
          </a:p>
        </p:txBody>
      </p:sp>
      <p:sp>
        <p:nvSpPr>
          <p:cNvPr id="6" name="Shape 4"/>
          <p:cNvSpPr/>
          <p:nvPr/>
        </p:nvSpPr>
        <p:spPr>
          <a:xfrm>
            <a:off x="6193231" y="1691640"/>
            <a:ext cx="5449824" cy="1965960"/>
          </a:xfrm>
          <a:prstGeom prst="roundRect">
            <a:avLst>
              <a:gd name="adj" fmla="val 3721"/>
            </a:avLst>
          </a:prstGeom>
          <a:solidFill>
            <a:srgbClr val="F2F8F8"/>
          </a:solidFill>
          <a:ln w="9525">
            <a:solidFill>
              <a:srgbClr val="D9E7E9"/>
            </a:solidFill>
            <a:prstDash val="solid"/>
          </a:ln>
        </p:spPr>
      </p:sp>
      <p:sp>
        <p:nvSpPr>
          <p:cNvPr id="7" name="Shape 5"/>
          <p:cNvSpPr/>
          <p:nvPr/>
        </p:nvSpPr>
        <p:spPr>
          <a:xfrm>
            <a:off x="9357055" y="1920240"/>
            <a:ext cx="2011680" cy="502920"/>
          </a:xfrm>
          <a:prstGeom prst="roundRect">
            <a:avLst>
              <a:gd name="adj" fmla="val 18182"/>
            </a:avLst>
          </a:prstGeom>
          <a:solidFill>
            <a:srgbClr val="0E7C86"/>
          </a:solidFill>
          <a:ln/>
        </p:spPr>
      </p:sp>
      <p:sp>
        <p:nvSpPr>
          <p:cNvPr id="8" name="Text 6"/>
          <p:cNvSpPr/>
          <p:nvPr/>
        </p:nvSpPr>
        <p:spPr>
          <a:xfrm>
            <a:off x="9357055" y="1920240"/>
            <a:ext cx="2011680" cy="502920"/>
          </a:xfrm>
          <a:prstGeom prst="rect">
            <a:avLst/>
          </a:prstGeom>
          <a:noFill/>
          <a:ln/>
        </p:spPr>
        <p:txBody>
          <a:bodyPr wrap="square" lIns="0" tIns="0" rIns="0" bIns="0" rtlCol="0" anchor="ctr"/>
          <a:lstStyle/>
          <a:p>
            <a:pPr marL="0" indent="0" algn="ctr" rtl="1">
              <a:buNone/>
            </a:pPr>
            <a:r>
              <a:rPr lang="ar-SA" altLang="en-US" b="1" dirty="0">
                <a:solidFill>
                  <a:srgbClr val="FFFFFF"/>
                </a:solidFill>
                <a:latin typeface="Dubai" panose="020B0503030403030204" pitchFamily="34" charset="-78"/>
                <a:ea typeface="Arial" pitchFamily="34" charset="-122"/>
                <a:cs typeface="Dubai" panose="020B0503030403030204" pitchFamily="34" charset="-78"/>
              </a:rPr>
              <a:t>الطبيب</a:t>
            </a:r>
            <a:endParaRPr lang="ar-SA" dirty="0">
              <a:latin typeface="Dubai" panose="020B0503030403030204" pitchFamily="34" charset="-78"/>
              <a:cs typeface="Dubai" panose="020B0503030403030204" pitchFamily="34" charset="-78"/>
            </a:endParaRPr>
          </a:p>
        </p:txBody>
      </p:sp>
      <p:sp>
        <p:nvSpPr>
          <p:cNvPr id="9" name="Text 7"/>
          <p:cNvSpPr/>
          <p:nvPr/>
        </p:nvSpPr>
        <p:spPr>
          <a:xfrm>
            <a:off x="6467551" y="2606040"/>
            <a:ext cx="4901184" cy="868680"/>
          </a:xfrm>
          <a:prstGeom prst="rect">
            <a:avLst/>
          </a:prstGeom>
          <a:noFill/>
          <a:ln/>
        </p:spPr>
        <p:txBody>
          <a:bodyPr wrap="square" lIns="0" tIns="0" rIns="0" bIns="0" rtlCol="0" anchor="t"/>
          <a:lstStyle/>
          <a:p>
            <a:pPr marL="0" indent="0" algn="r" rtl="1">
              <a:lnSpc>
                <a:spcPct val="130000"/>
              </a:lnSpc>
              <a:buNone/>
            </a:pPr>
            <a:r>
              <a:rPr lang="ar-SA" altLang="en-US" sz="1600" dirty="0">
                <a:solidFill>
                  <a:srgbClr val="12333C"/>
                </a:solidFill>
                <a:latin typeface="Dubai" panose="020B0503030403030204" pitchFamily="34" charset="-78"/>
                <a:ea typeface="Arial" pitchFamily="34" charset="-122"/>
                <a:cs typeface="Dubai" panose="020B0503030403030204" pitchFamily="34" charset="-78"/>
              </a:rPr>
              <a:t>يجد ملف المريض كاملاً أمامه، وتصله تنبيهات فورية عند الخطر، وقائمةٌ بمن يحتاج انتباهه أولاً.</a:t>
            </a:r>
            <a:endParaRPr lang="ar-SA" sz="1600" dirty="0">
              <a:latin typeface="Dubai" panose="020B0503030403030204" pitchFamily="34" charset="-78"/>
              <a:cs typeface="Dubai" panose="020B0503030403030204" pitchFamily="34" charset="-78"/>
            </a:endParaRPr>
          </a:p>
        </p:txBody>
      </p:sp>
      <p:sp>
        <p:nvSpPr>
          <p:cNvPr id="10" name="Shape 8"/>
          <p:cNvSpPr/>
          <p:nvPr/>
        </p:nvSpPr>
        <p:spPr>
          <a:xfrm>
            <a:off x="551383" y="1691640"/>
            <a:ext cx="5449824" cy="1965960"/>
          </a:xfrm>
          <a:prstGeom prst="roundRect">
            <a:avLst>
              <a:gd name="adj" fmla="val 3721"/>
            </a:avLst>
          </a:prstGeom>
          <a:solidFill>
            <a:srgbClr val="F2F8F8"/>
          </a:solidFill>
          <a:ln w="9525">
            <a:solidFill>
              <a:srgbClr val="D9E7E9"/>
            </a:solidFill>
            <a:prstDash val="solid"/>
          </a:ln>
        </p:spPr>
      </p:sp>
      <p:sp>
        <p:nvSpPr>
          <p:cNvPr id="11" name="Shape 9"/>
          <p:cNvSpPr/>
          <p:nvPr/>
        </p:nvSpPr>
        <p:spPr>
          <a:xfrm>
            <a:off x="3715207" y="1920240"/>
            <a:ext cx="2011680" cy="502920"/>
          </a:xfrm>
          <a:prstGeom prst="roundRect">
            <a:avLst>
              <a:gd name="adj" fmla="val 18182"/>
            </a:avLst>
          </a:prstGeom>
          <a:solidFill>
            <a:srgbClr val="02C39A"/>
          </a:solidFill>
          <a:ln/>
        </p:spPr>
      </p:sp>
      <p:sp>
        <p:nvSpPr>
          <p:cNvPr id="12" name="Text 10"/>
          <p:cNvSpPr/>
          <p:nvPr/>
        </p:nvSpPr>
        <p:spPr>
          <a:xfrm>
            <a:off x="3715207" y="1920240"/>
            <a:ext cx="2011680" cy="502920"/>
          </a:xfrm>
          <a:prstGeom prst="rect">
            <a:avLst/>
          </a:prstGeom>
          <a:noFill/>
          <a:ln/>
        </p:spPr>
        <p:txBody>
          <a:bodyPr wrap="square" lIns="0" tIns="0" rIns="0" bIns="0" rtlCol="0" anchor="ctr"/>
          <a:lstStyle/>
          <a:p>
            <a:pPr marL="0" indent="0" algn="ctr" rtl="1">
              <a:buNone/>
            </a:pPr>
            <a:r>
              <a:rPr lang="ar-SA" altLang="en-US" b="1" dirty="0">
                <a:solidFill>
                  <a:srgbClr val="FFFFFF"/>
                </a:solidFill>
                <a:latin typeface="Dubai" panose="020B0503030403030204" pitchFamily="34" charset="-78"/>
                <a:ea typeface="Arial" pitchFamily="34" charset="-122"/>
                <a:cs typeface="Dubai" panose="020B0503030403030204" pitchFamily="34" charset="-78"/>
              </a:rPr>
              <a:t>المريض</a:t>
            </a:r>
            <a:endParaRPr lang="ar-SA" dirty="0">
              <a:latin typeface="Dubai" panose="020B0503030403030204" pitchFamily="34" charset="-78"/>
              <a:cs typeface="Dubai" panose="020B0503030403030204" pitchFamily="34" charset="-78"/>
            </a:endParaRPr>
          </a:p>
        </p:txBody>
      </p:sp>
      <p:sp>
        <p:nvSpPr>
          <p:cNvPr id="13" name="Text 11"/>
          <p:cNvSpPr/>
          <p:nvPr/>
        </p:nvSpPr>
        <p:spPr>
          <a:xfrm>
            <a:off x="825703" y="2606040"/>
            <a:ext cx="4901184" cy="868680"/>
          </a:xfrm>
          <a:prstGeom prst="rect">
            <a:avLst/>
          </a:prstGeom>
          <a:noFill/>
          <a:ln/>
        </p:spPr>
        <p:txBody>
          <a:bodyPr wrap="square" lIns="0" tIns="0" rIns="0" bIns="0" rtlCol="0" anchor="t"/>
          <a:lstStyle/>
          <a:p>
            <a:pPr marL="0" indent="0" algn="r" rtl="1">
              <a:lnSpc>
                <a:spcPct val="130000"/>
              </a:lnSpc>
              <a:buNone/>
            </a:pPr>
            <a:r>
              <a:rPr lang="ar-SA" altLang="en-US" sz="1600" dirty="0">
                <a:solidFill>
                  <a:srgbClr val="12333C"/>
                </a:solidFill>
                <a:latin typeface="Dubai" panose="020B0503030403030204" pitchFamily="34" charset="-78"/>
                <a:ea typeface="Arial" pitchFamily="34" charset="-122"/>
                <a:cs typeface="Dubai" panose="020B0503030403030204" pitchFamily="34" charset="-78"/>
              </a:rPr>
              <a:t>يطّلع بأمان على ملفه الصحّي ومواعيده وأدويته من حسابه الخاص، وبلغته العربية أو الإنجليزية.</a:t>
            </a:r>
            <a:endParaRPr lang="ar-SA" sz="1600" dirty="0">
              <a:latin typeface="Dubai" panose="020B0503030403030204" pitchFamily="34" charset="-78"/>
              <a:cs typeface="Dubai" panose="020B0503030403030204" pitchFamily="34" charset="-78"/>
            </a:endParaRPr>
          </a:p>
        </p:txBody>
      </p:sp>
      <p:sp>
        <p:nvSpPr>
          <p:cNvPr id="14" name="Shape 12"/>
          <p:cNvSpPr/>
          <p:nvPr/>
        </p:nvSpPr>
        <p:spPr>
          <a:xfrm>
            <a:off x="6193231" y="3931920"/>
            <a:ext cx="5449824" cy="1965960"/>
          </a:xfrm>
          <a:prstGeom prst="roundRect">
            <a:avLst>
              <a:gd name="adj" fmla="val 3721"/>
            </a:avLst>
          </a:prstGeom>
          <a:solidFill>
            <a:srgbClr val="F2F8F8"/>
          </a:solidFill>
          <a:ln w="9525">
            <a:solidFill>
              <a:srgbClr val="D9E7E9"/>
            </a:solidFill>
            <a:prstDash val="solid"/>
          </a:ln>
        </p:spPr>
      </p:sp>
      <p:sp>
        <p:nvSpPr>
          <p:cNvPr id="15" name="Shape 13"/>
          <p:cNvSpPr/>
          <p:nvPr/>
        </p:nvSpPr>
        <p:spPr>
          <a:xfrm>
            <a:off x="9357055" y="4160520"/>
            <a:ext cx="2011680" cy="502920"/>
          </a:xfrm>
          <a:prstGeom prst="roundRect">
            <a:avLst>
              <a:gd name="adj" fmla="val 18182"/>
            </a:avLst>
          </a:prstGeom>
          <a:solidFill>
            <a:srgbClr val="0A3540"/>
          </a:solidFill>
          <a:ln/>
        </p:spPr>
      </p:sp>
      <p:sp>
        <p:nvSpPr>
          <p:cNvPr id="16" name="Text 14"/>
          <p:cNvSpPr/>
          <p:nvPr/>
        </p:nvSpPr>
        <p:spPr>
          <a:xfrm>
            <a:off x="9357055" y="4160520"/>
            <a:ext cx="2011680" cy="502920"/>
          </a:xfrm>
          <a:prstGeom prst="rect">
            <a:avLst/>
          </a:prstGeom>
          <a:noFill/>
          <a:ln/>
        </p:spPr>
        <p:txBody>
          <a:bodyPr wrap="square" lIns="0" tIns="0" rIns="0" bIns="0" rtlCol="0" anchor="ctr"/>
          <a:lstStyle/>
          <a:p>
            <a:pPr marL="0" indent="0" algn="ctr" rtl="1">
              <a:buNone/>
            </a:pPr>
            <a:r>
              <a:rPr lang="ar-SA" altLang="en-US" b="1" dirty="0">
                <a:solidFill>
                  <a:srgbClr val="FFFFFF"/>
                </a:solidFill>
                <a:latin typeface="Dubai" panose="020B0503030403030204" pitchFamily="34" charset="-78"/>
                <a:ea typeface="Arial" pitchFamily="34" charset="-122"/>
                <a:cs typeface="Dubai" panose="020B0503030403030204" pitchFamily="34" charset="-78"/>
              </a:rPr>
              <a:t>مدير المؤسسة</a:t>
            </a:r>
            <a:endParaRPr lang="ar-SA" dirty="0">
              <a:latin typeface="Dubai" panose="020B0503030403030204" pitchFamily="34" charset="-78"/>
              <a:cs typeface="Dubai" panose="020B0503030403030204" pitchFamily="34" charset="-78"/>
            </a:endParaRPr>
          </a:p>
        </p:txBody>
      </p:sp>
      <p:sp>
        <p:nvSpPr>
          <p:cNvPr id="17" name="Text 15"/>
          <p:cNvSpPr/>
          <p:nvPr/>
        </p:nvSpPr>
        <p:spPr>
          <a:xfrm>
            <a:off x="6467551" y="4846320"/>
            <a:ext cx="4901184" cy="868680"/>
          </a:xfrm>
          <a:prstGeom prst="rect">
            <a:avLst/>
          </a:prstGeom>
          <a:noFill/>
          <a:ln/>
        </p:spPr>
        <p:txBody>
          <a:bodyPr wrap="square" lIns="0" tIns="0" rIns="0" bIns="0" rtlCol="0" anchor="t"/>
          <a:lstStyle/>
          <a:p>
            <a:pPr marL="0" indent="0" algn="r" rtl="1">
              <a:lnSpc>
                <a:spcPct val="130000"/>
              </a:lnSpc>
              <a:buNone/>
            </a:pPr>
            <a:r>
              <a:rPr lang="ar-SA" altLang="en-US" sz="1600" dirty="0">
                <a:solidFill>
                  <a:srgbClr val="12333C"/>
                </a:solidFill>
                <a:latin typeface="Dubai" panose="020B0503030403030204" pitchFamily="34" charset="-78"/>
                <a:ea typeface="Arial" pitchFamily="34" charset="-122"/>
                <a:cs typeface="Dubai" panose="020B0503030403030204" pitchFamily="34" charset="-78"/>
              </a:rPr>
              <a:t>يدير الأطباء والكادر، ويكتب قواعد التنبيه بنفسه من شاشة إعدادٍ بسيطة — من دون أيّ برمجة.</a:t>
            </a:r>
            <a:endParaRPr lang="ar-SA" sz="1600" dirty="0">
              <a:latin typeface="Dubai" panose="020B0503030403030204" pitchFamily="34" charset="-78"/>
              <a:cs typeface="Dubai" panose="020B0503030403030204" pitchFamily="34" charset="-78"/>
            </a:endParaRPr>
          </a:p>
        </p:txBody>
      </p:sp>
      <p:sp>
        <p:nvSpPr>
          <p:cNvPr id="18" name="Shape 16"/>
          <p:cNvSpPr/>
          <p:nvPr/>
        </p:nvSpPr>
        <p:spPr>
          <a:xfrm>
            <a:off x="551383" y="3931920"/>
            <a:ext cx="5449824" cy="1965960"/>
          </a:xfrm>
          <a:prstGeom prst="roundRect">
            <a:avLst>
              <a:gd name="adj" fmla="val 3721"/>
            </a:avLst>
          </a:prstGeom>
          <a:solidFill>
            <a:srgbClr val="F2F8F8"/>
          </a:solidFill>
          <a:ln w="9525">
            <a:solidFill>
              <a:srgbClr val="D9E7E9"/>
            </a:solidFill>
            <a:prstDash val="solid"/>
          </a:ln>
        </p:spPr>
      </p:sp>
      <p:sp>
        <p:nvSpPr>
          <p:cNvPr id="19" name="Shape 17"/>
          <p:cNvSpPr/>
          <p:nvPr/>
        </p:nvSpPr>
        <p:spPr>
          <a:xfrm>
            <a:off x="3715207" y="4160520"/>
            <a:ext cx="2011680" cy="502920"/>
          </a:xfrm>
          <a:prstGeom prst="roundRect">
            <a:avLst>
              <a:gd name="adj" fmla="val 18182"/>
            </a:avLst>
          </a:prstGeom>
          <a:solidFill>
            <a:srgbClr val="E9B44C"/>
          </a:solidFill>
          <a:ln/>
        </p:spPr>
      </p:sp>
      <p:sp>
        <p:nvSpPr>
          <p:cNvPr id="20" name="Text 18"/>
          <p:cNvSpPr/>
          <p:nvPr/>
        </p:nvSpPr>
        <p:spPr>
          <a:xfrm>
            <a:off x="3715207" y="4160520"/>
            <a:ext cx="2011680" cy="502920"/>
          </a:xfrm>
          <a:prstGeom prst="rect">
            <a:avLst/>
          </a:prstGeom>
          <a:noFill/>
          <a:ln/>
        </p:spPr>
        <p:txBody>
          <a:bodyPr wrap="square" lIns="0" tIns="0" rIns="0" bIns="0" rtlCol="0" anchor="ctr"/>
          <a:lstStyle/>
          <a:p>
            <a:pPr marL="0" indent="0" algn="ctr" rtl="1">
              <a:buNone/>
            </a:pPr>
            <a:r>
              <a:rPr lang="ar-SA" altLang="en-US" b="1" dirty="0">
                <a:solidFill>
                  <a:srgbClr val="0A3540"/>
                </a:solidFill>
                <a:latin typeface="Dubai" panose="020B0503030403030204" pitchFamily="34" charset="-78"/>
                <a:ea typeface="Arial" pitchFamily="34" charset="-122"/>
                <a:cs typeface="Dubai" panose="020B0503030403030204" pitchFamily="34" charset="-78"/>
              </a:rPr>
              <a:t>مدير النظام</a:t>
            </a:r>
            <a:endParaRPr lang="ar-SA" dirty="0">
              <a:latin typeface="Dubai" panose="020B0503030403030204" pitchFamily="34" charset="-78"/>
              <a:cs typeface="Dubai" panose="020B0503030403030204" pitchFamily="34" charset="-78"/>
            </a:endParaRPr>
          </a:p>
        </p:txBody>
      </p:sp>
      <p:sp>
        <p:nvSpPr>
          <p:cNvPr id="21" name="Text 19"/>
          <p:cNvSpPr/>
          <p:nvPr/>
        </p:nvSpPr>
        <p:spPr>
          <a:xfrm>
            <a:off x="825703" y="4846320"/>
            <a:ext cx="4901184" cy="868680"/>
          </a:xfrm>
          <a:prstGeom prst="rect">
            <a:avLst/>
          </a:prstGeom>
          <a:noFill/>
          <a:ln/>
        </p:spPr>
        <p:txBody>
          <a:bodyPr wrap="square" lIns="0" tIns="0" rIns="0" bIns="0" rtlCol="0" anchor="t"/>
          <a:lstStyle/>
          <a:p>
            <a:pPr marL="0" indent="0" algn="r" rtl="1">
              <a:lnSpc>
                <a:spcPct val="130000"/>
              </a:lnSpc>
              <a:buNone/>
            </a:pPr>
            <a:r>
              <a:rPr lang="ar-SA" altLang="en-US" sz="1600" dirty="0">
                <a:solidFill>
                  <a:srgbClr val="12333C"/>
                </a:solidFill>
                <a:latin typeface="Dubai" panose="020B0503030403030204" pitchFamily="34" charset="-78"/>
                <a:ea typeface="Arial" pitchFamily="34" charset="-122"/>
                <a:cs typeface="Dubai" panose="020B0503030403030204" pitchFamily="34" charset="-78"/>
              </a:rPr>
              <a:t>يدير المؤسسات المشتركة في المنصّة، ويربط خدمات ذكاءٍ اصطناعي خارجية عند الحاجة.</a:t>
            </a:r>
            <a:endParaRPr lang="ar-SA" sz="1600" dirty="0">
              <a:latin typeface="Dubai" panose="020B0503030403030204" pitchFamily="34" charset="-78"/>
              <a:cs typeface="Dubai" panose="020B0503030403030204" pitchFamily="34" charset="-78"/>
            </a:endParaRPr>
          </a:p>
        </p:txBody>
      </p:sp>
    </p:spTree>
  </p:cSld>
  <p:clrMapOvr>
    <a:masterClrMapping/>
  </p:clrMapOvr>
  <p:transition spd="slow">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7"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par>
                                <p:cTn id="10" presetID="47" presetClass="entr" presetSubtype="0" fill="hold"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anim calcmode="lin" valueType="num">
                                      <p:cBhvr>
                                        <p:cTn id="13" dur="1000" fill="hold"/>
                                        <p:tgtEl>
                                          <p:spTgt spid="6"/>
                                        </p:tgtEl>
                                        <p:attrNameLst>
                                          <p:attrName>ppt_x</p:attrName>
                                        </p:attrNameLst>
                                      </p:cBhvr>
                                      <p:tavLst>
                                        <p:tav tm="0">
                                          <p:val>
                                            <p:strVal val="#ppt_x"/>
                                          </p:val>
                                        </p:tav>
                                        <p:tav tm="100000">
                                          <p:val>
                                            <p:strVal val="#ppt_x"/>
                                          </p:val>
                                        </p:tav>
                                      </p:tavLst>
                                    </p:anim>
                                    <p:anim calcmode="lin" valueType="num">
                                      <p:cBhvr>
                                        <p:cTn id="14" dur="1000" fill="hold"/>
                                        <p:tgtEl>
                                          <p:spTgt spid="6"/>
                                        </p:tgtEl>
                                        <p:attrNameLst>
                                          <p:attrName>ppt_y</p:attrName>
                                        </p:attrNameLst>
                                      </p:cBhvr>
                                      <p:tavLst>
                                        <p:tav tm="0">
                                          <p:val>
                                            <p:strVal val="#ppt_y-.1"/>
                                          </p:val>
                                        </p:tav>
                                        <p:tav tm="100000">
                                          <p:val>
                                            <p:strVal val="#ppt_y"/>
                                          </p:val>
                                        </p:tav>
                                      </p:tavLst>
                                    </p:anim>
                                  </p:childTnLst>
                                </p:cTn>
                              </p:par>
                              <p:par>
                                <p:cTn id="15" presetID="47"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1000"/>
                                        <p:tgtEl>
                                          <p:spTgt spid="7"/>
                                        </p:tgtEl>
                                      </p:cBhvr>
                                    </p:animEffect>
                                    <p:anim calcmode="lin" valueType="num">
                                      <p:cBhvr>
                                        <p:cTn id="18" dur="1000" fill="hold"/>
                                        <p:tgtEl>
                                          <p:spTgt spid="7"/>
                                        </p:tgtEl>
                                        <p:attrNameLst>
                                          <p:attrName>ppt_x</p:attrName>
                                        </p:attrNameLst>
                                      </p:cBhvr>
                                      <p:tavLst>
                                        <p:tav tm="0">
                                          <p:val>
                                            <p:strVal val="#ppt_x"/>
                                          </p:val>
                                        </p:tav>
                                        <p:tav tm="100000">
                                          <p:val>
                                            <p:strVal val="#ppt_x"/>
                                          </p:val>
                                        </p:tav>
                                      </p:tavLst>
                                    </p:anim>
                                    <p:anim calcmode="lin" valueType="num">
                                      <p:cBhvr>
                                        <p:cTn id="19" dur="1000" fill="hold"/>
                                        <p:tgtEl>
                                          <p:spTgt spid="7"/>
                                        </p:tgtEl>
                                        <p:attrNameLst>
                                          <p:attrName>ppt_y</p:attrName>
                                        </p:attrNameLst>
                                      </p:cBhvr>
                                      <p:tavLst>
                                        <p:tav tm="0">
                                          <p:val>
                                            <p:strVal val="#ppt_y-.1"/>
                                          </p:val>
                                        </p:tav>
                                        <p:tav tm="100000">
                                          <p:val>
                                            <p:strVal val="#ppt_y"/>
                                          </p:val>
                                        </p:tav>
                                      </p:tavLst>
                                    </p:anim>
                                  </p:childTnLst>
                                </p:cTn>
                              </p:par>
                              <p:par>
                                <p:cTn id="20" presetID="47"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1000"/>
                                        <p:tgtEl>
                                          <p:spTgt spid="8"/>
                                        </p:tgtEl>
                                      </p:cBhvr>
                                    </p:animEffect>
                                    <p:anim calcmode="lin" valueType="num">
                                      <p:cBhvr>
                                        <p:cTn id="23" dur="1000" fill="hold"/>
                                        <p:tgtEl>
                                          <p:spTgt spid="8"/>
                                        </p:tgtEl>
                                        <p:attrNameLst>
                                          <p:attrName>ppt_x</p:attrName>
                                        </p:attrNameLst>
                                      </p:cBhvr>
                                      <p:tavLst>
                                        <p:tav tm="0">
                                          <p:val>
                                            <p:strVal val="#ppt_x"/>
                                          </p:val>
                                        </p:tav>
                                        <p:tav tm="100000">
                                          <p:val>
                                            <p:strVal val="#ppt_x"/>
                                          </p:val>
                                        </p:tav>
                                      </p:tavLst>
                                    </p:anim>
                                    <p:anim calcmode="lin" valueType="num">
                                      <p:cBhvr>
                                        <p:cTn id="2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7" presetClass="entr" presetSubtype="0" fill="hold"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1000"/>
                                        <p:tgtEl>
                                          <p:spTgt spid="11"/>
                                        </p:tgtEl>
                                      </p:cBhvr>
                                    </p:animEffect>
                                    <p:anim calcmode="lin" valueType="num">
                                      <p:cBhvr>
                                        <p:cTn id="30" dur="1000" fill="hold"/>
                                        <p:tgtEl>
                                          <p:spTgt spid="11"/>
                                        </p:tgtEl>
                                        <p:attrNameLst>
                                          <p:attrName>ppt_x</p:attrName>
                                        </p:attrNameLst>
                                      </p:cBhvr>
                                      <p:tavLst>
                                        <p:tav tm="0">
                                          <p:val>
                                            <p:strVal val="#ppt_x"/>
                                          </p:val>
                                        </p:tav>
                                        <p:tav tm="100000">
                                          <p:val>
                                            <p:strVal val="#ppt_x"/>
                                          </p:val>
                                        </p:tav>
                                      </p:tavLst>
                                    </p:anim>
                                    <p:anim calcmode="lin" valueType="num">
                                      <p:cBhvr>
                                        <p:cTn id="31" dur="1000" fill="hold"/>
                                        <p:tgtEl>
                                          <p:spTgt spid="11"/>
                                        </p:tgtEl>
                                        <p:attrNameLst>
                                          <p:attrName>ppt_y</p:attrName>
                                        </p:attrNameLst>
                                      </p:cBhvr>
                                      <p:tavLst>
                                        <p:tav tm="0">
                                          <p:val>
                                            <p:strVal val="#ppt_y-.1"/>
                                          </p:val>
                                        </p:tav>
                                        <p:tav tm="100000">
                                          <p:val>
                                            <p:strVal val="#ppt_y"/>
                                          </p:val>
                                        </p:tav>
                                      </p:tavLst>
                                    </p:anim>
                                  </p:childTnLst>
                                </p:cTn>
                              </p:par>
                              <p:par>
                                <p:cTn id="32" presetID="47" presetClass="entr" presetSubtype="0" fill="hold"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1000"/>
                                        <p:tgtEl>
                                          <p:spTgt spid="10"/>
                                        </p:tgtEl>
                                      </p:cBhvr>
                                    </p:animEffect>
                                    <p:anim calcmode="lin" valueType="num">
                                      <p:cBhvr>
                                        <p:cTn id="35" dur="1000" fill="hold"/>
                                        <p:tgtEl>
                                          <p:spTgt spid="10"/>
                                        </p:tgtEl>
                                        <p:attrNameLst>
                                          <p:attrName>ppt_x</p:attrName>
                                        </p:attrNameLst>
                                      </p:cBhvr>
                                      <p:tavLst>
                                        <p:tav tm="0">
                                          <p:val>
                                            <p:strVal val="#ppt_x"/>
                                          </p:val>
                                        </p:tav>
                                        <p:tav tm="100000">
                                          <p:val>
                                            <p:strVal val="#ppt_x"/>
                                          </p:val>
                                        </p:tav>
                                      </p:tavLst>
                                    </p:anim>
                                    <p:anim calcmode="lin" valueType="num">
                                      <p:cBhvr>
                                        <p:cTn id="36" dur="1000" fill="hold"/>
                                        <p:tgtEl>
                                          <p:spTgt spid="10"/>
                                        </p:tgtEl>
                                        <p:attrNameLst>
                                          <p:attrName>ppt_y</p:attrName>
                                        </p:attrNameLst>
                                      </p:cBhvr>
                                      <p:tavLst>
                                        <p:tav tm="0">
                                          <p:val>
                                            <p:strVal val="#ppt_y-.1"/>
                                          </p:val>
                                        </p:tav>
                                        <p:tav tm="100000">
                                          <p:val>
                                            <p:strVal val="#ppt_y"/>
                                          </p:val>
                                        </p:tav>
                                      </p:tavLst>
                                    </p:anim>
                                  </p:childTnLst>
                                </p:cTn>
                              </p:par>
                              <p:par>
                                <p:cTn id="37" presetID="47"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1000"/>
                                        <p:tgtEl>
                                          <p:spTgt spid="13"/>
                                        </p:tgtEl>
                                      </p:cBhvr>
                                    </p:animEffect>
                                    <p:anim calcmode="lin" valueType="num">
                                      <p:cBhvr>
                                        <p:cTn id="40" dur="1000" fill="hold"/>
                                        <p:tgtEl>
                                          <p:spTgt spid="13"/>
                                        </p:tgtEl>
                                        <p:attrNameLst>
                                          <p:attrName>ppt_x</p:attrName>
                                        </p:attrNameLst>
                                      </p:cBhvr>
                                      <p:tavLst>
                                        <p:tav tm="0">
                                          <p:val>
                                            <p:strVal val="#ppt_x"/>
                                          </p:val>
                                        </p:tav>
                                        <p:tav tm="100000">
                                          <p:val>
                                            <p:strVal val="#ppt_x"/>
                                          </p:val>
                                        </p:tav>
                                      </p:tavLst>
                                    </p:anim>
                                    <p:anim calcmode="lin" valueType="num">
                                      <p:cBhvr>
                                        <p:cTn id="41"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1000"/>
                                        <p:tgtEl>
                                          <p:spTgt spid="16"/>
                                        </p:tgtEl>
                                      </p:cBhvr>
                                    </p:animEffect>
                                    <p:anim calcmode="lin" valueType="num">
                                      <p:cBhvr>
                                        <p:cTn id="47" dur="1000" fill="hold"/>
                                        <p:tgtEl>
                                          <p:spTgt spid="16"/>
                                        </p:tgtEl>
                                        <p:attrNameLst>
                                          <p:attrName>ppt_x</p:attrName>
                                        </p:attrNameLst>
                                      </p:cBhvr>
                                      <p:tavLst>
                                        <p:tav tm="0">
                                          <p:val>
                                            <p:strVal val="#ppt_x"/>
                                          </p:val>
                                        </p:tav>
                                        <p:tav tm="100000">
                                          <p:val>
                                            <p:strVal val="#ppt_x"/>
                                          </p:val>
                                        </p:tav>
                                      </p:tavLst>
                                    </p:anim>
                                    <p:anim calcmode="lin" valueType="num">
                                      <p:cBhvr>
                                        <p:cTn id="48" dur="1000" fill="hold"/>
                                        <p:tgtEl>
                                          <p:spTgt spid="16"/>
                                        </p:tgtEl>
                                        <p:attrNameLst>
                                          <p:attrName>ppt_y</p:attrName>
                                        </p:attrNameLst>
                                      </p:cBhvr>
                                      <p:tavLst>
                                        <p:tav tm="0">
                                          <p:val>
                                            <p:strVal val="#ppt_y+.1"/>
                                          </p:val>
                                        </p:tav>
                                        <p:tav tm="100000">
                                          <p:val>
                                            <p:strVal val="#ppt_y"/>
                                          </p:val>
                                        </p:tav>
                                      </p:tavLst>
                                    </p:anim>
                                  </p:childTnLst>
                                </p:cTn>
                              </p:par>
                              <p:par>
                                <p:cTn id="49" presetID="42" presetClass="entr" presetSubtype="0" fill="hold" nodeType="with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1000"/>
                                        <p:tgtEl>
                                          <p:spTgt spid="14"/>
                                        </p:tgtEl>
                                      </p:cBhvr>
                                    </p:animEffect>
                                    <p:anim calcmode="lin" valueType="num">
                                      <p:cBhvr>
                                        <p:cTn id="52" dur="1000" fill="hold"/>
                                        <p:tgtEl>
                                          <p:spTgt spid="14"/>
                                        </p:tgtEl>
                                        <p:attrNameLst>
                                          <p:attrName>ppt_x</p:attrName>
                                        </p:attrNameLst>
                                      </p:cBhvr>
                                      <p:tavLst>
                                        <p:tav tm="0">
                                          <p:val>
                                            <p:strVal val="#ppt_x"/>
                                          </p:val>
                                        </p:tav>
                                        <p:tav tm="100000">
                                          <p:val>
                                            <p:strVal val="#ppt_x"/>
                                          </p:val>
                                        </p:tav>
                                      </p:tavLst>
                                    </p:anim>
                                    <p:anim calcmode="lin" valueType="num">
                                      <p:cBhvr>
                                        <p:cTn id="53" dur="1000" fill="hold"/>
                                        <p:tgtEl>
                                          <p:spTgt spid="14"/>
                                        </p:tgtEl>
                                        <p:attrNameLst>
                                          <p:attrName>ppt_y</p:attrName>
                                        </p:attrNameLst>
                                      </p:cBhvr>
                                      <p:tavLst>
                                        <p:tav tm="0">
                                          <p:val>
                                            <p:strVal val="#ppt_y+.1"/>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1000"/>
                                        <p:tgtEl>
                                          <p:spTgt spid="17"/>
                                        </p:tgtEl>
                                      </p:cBhvr>
                                    </p:animEffect>
                                    <p:anim calcmode="lin" valueType="num">
                                      <p:cBhvr>
                                        <p:cTn id="57" dur="1000" fill="hold"/>
                                        <p:tgtEl>
                                          <p:spTgt spid="17"/>
                                        </p:tgtEl>
                                        <p:attrNameLst>
                                          <p:attrName>ppt_x</p:attrName>
                                        </p:attrNameLst>
                                      </p:cBhvr>
                                      <p:tavLst>
                                        <p:tav tm="0">
                                          <p:val>
                                            <p:strVal val="#ppt_x"/>
                                          </p:val>
                                        </p:tav>
                                        <p:tav tm="100000">
                                          <p:val>
                                            <p:strVal val="#ppt_x"/>
                                          </p:val>
                                        </p:tav>
                                      </p:tavLst>
                                    </p:anim>
                                    <p:anim calcmode="lin" valueType="num">
                                      <p:cBhvr>
                                        <p:cTn id="58" dur="1000" fill="hold"/>
                                        <p:tgtEl>
                                          <p:spTgt spid="17"/>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15"/>
                                        </p:tgtEl>
                                        <p:attrNameLst>
                                          <p:attrName>style.visibility</p:attrName>
                                        </p:attrNameLst>
                                      </p:cBhvr>
                                      <p:to>
                                        <p:strVal val="visible"/>
                                      </p:to>
                                    </p:set>
                                    <p:animEffect transition="in" filter="fade">
                                      <p:cBhvr>
                                        <p:cTn id="61" dur="1000"/>
                                        <p:tgtEl>
                                          <p:spTgt spid="15"/>
                                        </p:tgtEl>
                                      </p:cBhvr>
                                    </p:animEffect>
                                    <p:anim calcmode="lin" valueType="num">
                                      <p:cBhvr>
                                        <p:cTn id="62" dur="1000" fill="hold"/>
                                        <p:tgtEl>
                                          <p:spTgt spid="15"/>
                                        </p:tgtEl>
                                        <p:attrNameLst>
                                          <p:attrName>ppt_x</p:attrName>
                                        </p:attrNameLst>
                                      </p:cBhvr>
                                      <p:tavLst>
                                        <p:tav tm="0">
                                          <p:val>
                                            <p:strVal val="#ppt_x"/>
                                          </p:val>
                                        </p:tav>
                                        <p:tav tm="100000">
                                          <p:val>
                                            <p:strVal val="#ppt_x"/>
                                          </p:val>
                                        </p:tav>
                                      </p:tavLst>
                                    </p:anim>
                                    <p:anim calcmode="lin" valueType="num">
                                      <p:cBhvr>
                                        <p:cTn id="63"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6" presetID="42" presetClass="entr" presetSubtype="0" fill="hold" grpId="0" nodeType="clickEffect">
                                  <p:stCondLst>
                                    <p:cond delay="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1000"/>
                                        <p:tgtEl>
                                          <p:spTgt spid="20"/>
                                        </p:tgtEl>
                                      </p:cBhvr>
                                    </p:animEffect>
                                    <p:anim calcmode="lin" valueType="num">
                                      <p:cBhvr>
                                        <p:cTn id="69" dur="1000" fill="hold"/>
                                        <p:tgtEl>
                                          <p:spTgt spid="20"/>
                                        </p:tgtEl>
                                        <p:attrNameLst>
                                          <p:attrName>ppt_x</p:attrName>
                                        </p:attrNameLst>
                                      </p:cBhvr>
                                      <p:tavLst>
                                        <p:tav tm="0">
                                          <p:val>
                                            <p:strVal val="#ppt_x"/>
                                          </p:val>
                                        </p:tav>
                                        <p:tav tm="100000">
                                          <p:val>
                                            <p:strVal val="#ppt_x"/>
                                          </p:val>
                                        </p:tav>
                                      </p:tavLst>
                                    </p:anim>
                                    <p:anim calcmode="lin" valueType="num">
                                      <p:cBhvr>
                                        <p:cTn id="70" dur="1000" fill="hold"/>
                                        <p:tgtEl>
                                          <p:spTgt spid="20"/>
                                        </p:tgtEl>
                                        <p:attrNameLst>
                                          <p:attrName>ppt_y</p:attrName>
                                        </p:attrNameLst>
                                      </p:cBhvr>
                                      <p:tavLst>
                                        <p:tav tm="0">
                                          <p:val>
                                            <p:strVal val="#ppt_y+.1"/>
                                          </p:val>
                                        </p:tav>
                                        <p:tav tm="100000">
                                          <p:val>
                                            <p:strVal val="#ppt_y"/>
                                          </p:val>
                                        </p:tav>
                                      </p:tavLst>
                                    </p:anim>
                                  </p:childTnLst>
                                </p:cTn>
                              </p:par>
                              <p:par>
                                <p:cTn id="71" presetID="42" presetClass="entr" presetSubtype="0" fill="hold" nodeType="withEffect">
                                  <p:stCondLst>
                                    <p:cond delay="0"/>
                                  </p:stCondLst>
                                  <p:childTnLst>
                                    <p:set>
                                      <p:cBhvr>
                                        <p:cTn id="72" dur="1" fill="hold">
                                          <p:stCondLst>
                                            <p:cond delay="0"/>
                                          </p:stCondLst>
                                        </p:cTn>
                                        <p:tgtEl>
                                          <p:spTgt spid="18"/>
                                        </p:tgtEl>
                                        <p:attrNameLst>
                                          <p:attrName>style.visibility</p:attrName>
                                        </p:attrNameLst>
                                      </p:cBhvr>
                                      <p:to>
                                        <p:strVal val="visible"/>
                                      </p:to>
                                    </p:set>
                                    <p:animEffect transition="in" filter="fade">
                                      <p:cBhvr>
                                        <p:cTn id="73" dur="1000"/>
                                        <p:tgtEl>
                                          <p:spTgt spid="18"/>
                                        </p:tgtEl>
                                      </p:cBhvr>
                                    </p:animEffect>
                                    <p:anim calcmode="lin" valueType="num">
                                      <p:cBhvr>
                                        <p:cTn id="74" dur="1000" fill="hold"/>
                                        <p:tgtEl>
                                          <p:spTgt spid="18"/>
                                        </p:tgtEl>
                                        <p:attrNameLst>
                                          <p:attrName>ppt_x</p:attrName>
                                        </p:attrNameLst>
                                      </p:cBhvr>
                                      <p:tavLst>
                                        <p:tav tm="0">
                                          <p:val>
                                            <p:strVal val="#ppt_x"/>
                                          </p:val>
                                        </p:tav>
                                        <p:tav tm="100000">
                                          <p:val>
                                            <p:strVal val="#ppt_x"/>
                                          </p:val>
                                        </p:tav>
                                      </p:tavLst>
                                    </p:anim>
                                    <p:anim calcmode="lin" valueType="num">
                                      <p:cBhvr>
                                        <p:cTn id="75" dur="1000" fill="hold"/>
                                        <p:tgtEl>
                                          <p:spTgt spid="18"/>
                                        </p:tgtEl>
                                        <p:attrNameLst>
                                          <p:attrName>ppt_y</p:attrName>
                                        </p:attrNameLst>
                                      </p:cBhvr>
                                      <p:tavLst>
                                        <p:tav tm="0">
                                          <p:val>
                                            <p:strVal val="#ppt_y+.1"/>
                                          </p:val>
                                        </p:tav>
                                        <p:tav tm="100000">
                                          <p:val>
                                            <p:strVal val="#ppt_y"/>
                                          </p:val>
                                        </p:tav>
                                      </p:tavLst>
                                    </p:anim>
                                  </p:childTnLst>
                                </p:cTn>
                              </p:par>
                              <p:par>
                                <p:cTn id="76" presetID="42" presetClass="entr" presetSubtype="0" fill="hold" grpId="0" nodeType="with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1000"/>
                                        <p:tgtEl>
                                          <p:spTgt spid="21"/>
                                        </p:tgtEl>
                                      </p:cBhvr>
                                    </p:animEffect>
                                    <p:anim calcmode="lin" valueType="num">
                                      <p:cBhvr>
                                        <p:cTn id="79" dur="1000" fill="hold"/>
                                        <p:tgtEl>
                                          <p:spTgt spid="21"/>
                                        </p:tgtEl>
                                        <p:attrNameLst>
                                          <p:attrName>ppt_x</p:attrName>
                                        </p:attrNameLst>
                                      </p:cBhvr>
                                      <p:tavLst>
                                        <p:tav tm="0">
                                          <p:val>
                                            <p:strVal val="#ppt_x"/>
                                          </p:val>
                                        </p:tav>
                                        <p:tav tm="100000">
                                          <p:val>
                                            <p:strVal val="#ppt_x"/>
                                          </p:val>
                                        </p:tav>
                                      </p:tavLst>
                                    </p:anim>
                                    <p:anim calcmode="lin" valueType="num">
                                      <p:cBhvr>
                                        <p:cTn id="80" dur="1000" fill="hold"/>
                                        <p:tgtEl>
                                          <p:spTgt spid="21"/>
                                        </p:tgtEl>
                                        <p:attrNameLst>
                                          <p:attrName>ppt_y</p:attrName>
                                        </p:attrNameLst>
                                      </p:cBhvr>
                                      <p:tavLst>
                                        <p:tav tm="0">
                                          <p:val>
                                            <p:strVal val="#ppt_y+.1"/>
                                          </p:val>
                                        </p:tav>
                                        <p:tav tm="100000">
                                          <p:val>
                                            <p:strVal val="#ppt_y"/>
                                          </p:val>
                                        </p:tav>
                                      </p:tavLst>
                                    </p:anim>
                                  </p:childTnLst>
                                </p:cTn>
                              </p:par>
                              <p:par>
                                <p:cTn id="81" presetID="42" presetClass="entr" presetSubtype="0" fill="hold" nodeType="withEffect">
                                  <p:stCondLst>
                                    <p:cond delay="0"/>
                                  </p:stCondLst>
                                  <p:childTnLst>
                                    <p:set>
                                      <p:cBhvr>
                                        <p:cTn id="82" dur="1" fill="hold">
                                          <p:stCondLst>
                                            <p:cond delay="0"/>
                                          </p:stCondLst>
                                        </p:cTn>
                                        <p:tgtEl>
                                          <p:spTgt spid="19"/>
                                        </p:tgtEl>
                                        <p:attrNameLst>
                                          <p:attrName>style.visibility</p:attrName>
                                        </p:attrNameLst>
                                      </p:cBhvr>
                                      <p:to>
                                        <p:strVal val="visible"/>
                                      </p:to>
                                    </p:set>
                                    <p:animEffect transition="in" filter="fade">
                                      <p:cBhvr>
                                        <p:cTn id="83" dur="1000"/>
                                        <p:tgtEl>
                                          <p:spTgt spid="19"/>
                                        </p:tgtEl>
                                      </p:cBhvr>
                                    </p:animEffect>
                                    <p:anim calcmode="lin" valueType="num">
                                      <p:cBhvr>
                                        <p:cTn id="84" dur="1000" fill="hold"/>
                                        <p:tgtEl>
                                          <p:spTgt spid="19"/>
                                        </p:tgtEl>
                                        <p:attrNameLst>
                                          <p:attrName>ppt_x</p:attrName>
                                        </p:attrNameLst>
                                      </p:cBhvr>
                                      <p:tavLst>
                                        <p:tav tm="0">
                                          <p:val>
                                            <p:strVal val="#ppt_x"/>
                                          </p:val>
                                        </p:tav>
                                        <p:tav tm="100000">
                                          <p:val>
                                            <p:strVal val="#ppt_x"/>
                                          </p:val>
                                        </p:tav>
                                      </p:tavLst>
                                    </p:anim>
                                    <p:anim calcmode="lin" valueType="num">
                                      <p:cBhvr>
                                        <p:cTn id="85"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3" grpId="0" animBg="1"/>
      <p:bldP spid="16" grpId="0" animBg="1"/>
      <p:bldP spid="17" grpId="0" animBg="1"/>
      <p:bldP spid="20" grpId="0" animBg="1"/>
      <p:bldP spid="2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indent="0" algn="r" rtl="1">
              <a:buNone/>
            </a:pPr>
            <a:r>
              <a:rPr lang="ar-SA" altLang="en-US" sz="900" dirty="0">
                <a:solidFill>
                  <a:srgbClr val="587078"/>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900" dirty="0">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indent="0" algn="l">
              <a:buNone/>
            </a:pPr>
            <a:r>
              <a:rPr lang="en-US" sz="900" dirty="0">
                <a:solidFill>
                  <a:srgbClr val="587078"/>
                </a:solidFill>
                <a:latin typeface="Arial" pitchFamily="34" charset="0"/>
                <a:ea typeface="Arial" pitchFamily="34" charset="-122"/>
                <a:cs typeface="Arial" pitchFamily="34" charset="-120"/>
              </a:rPr>
              <a:t>6</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indent="0" algn="r" rtl="1">
              <a:buNone/>
            </a:pPr>
            <a:r>
              <a:rPr lang="ar-SA" altLang="en-US" sz="2900" b="1" dirty="0">
                <a:solidFill>
                  <a:srgbClr val="0A3540"/>
                </a:solidFill>
                <a:latin typeface="Dubai" panose="020B0503030403030204" pitchFamily="34" charset="-78"/>
                <a:ea typeface="Arial" pitchFamily="34" charset="-122"/>
                <a:cs typeface="Dubai" panose="020B0503030403030204" pitchFamily="34" charset="-78"/>
              </a:rPr>
              <a:t>كيف يعمل النظام؟</a:t>
            </a:r>
            <a:endParaRPr lang="ar-SA" sz="2900" dirty="0">
              <a:latin typeface="Dubai" panose="020B0503030403030204" pitchFamily="34" charset="-78"/>
              <a:cs typeface="Dubai" panose="020B0503030403030204" pitchFamily="34" charset="-78"/>
            </a:endParaRPr>
          </a:p>
        </p:txBody>
      </p:sp>
      <p:sp>
        <p:nvSpPr>
          <p:cNvPr id="5" name="Text 3"/>
          <p:cNvSpPr/>
          <p:nvPr/>
        </p:nvSpPr>
        <p:spPr>
          <a:xfrm>
            <a:off x="548640" y="859536"/>
            <a:ext cx="11094415" cy="347472"/>
          </a:xfrm>
          <a:prstGeom prst="rect">
            <a:avLst/>
          </a:prstGeom>
          <a:noFill/>
          <a:ln/>
        </p:spPr>
        <p:txBody>
          <a:bodyPr wrap="square" lIns="0" tIns="0" rIns="0" bIns="0" rtlCol="0" anchor="ctr"/>
          <a:lstStyle/>
          <a:p>
            <a:pPr marL="0" indent="0" algn="r" rtl="1">
              <a:buNone/>
            </a:pPr>
            <a:r>
              <a:rPr lang="ar-SA" altLang="en-US" sz="1400" dirty="0">
                <a:solidFill>
                  <a:srgbClr val="0E7C86"/>
                </a:solidFill>
                <a:latin typeface="Dubai" panose="020B0503030403030204" pitchFamily="34" charset="-78"/>
                <a:ea typeface="Arial" pitchFamily="34" charset="-122"/>
                <a:cs typeface="Dubai" panose="020B0503030403030204" pitchFamily="34" charset="-78"/>
              </a:rPr>
              <a:t>صورة مبسّطة من الداخل</a:t>
            </a:r>
            <a:endParaRPr lang="ar-SA" sz="1400" dirty="0">
              <a:latin typeface="Dubai" panose="020B0503030403030204" pitchFamily="34" charset="-78"/>
              <a:cs typeface="Dubai" panose="020B0503030403030204" pitchFamily="34" charset="-78"/>
            </a:endParaRPr>
          </a:p>
        </p:txBody>
      </p:sp>
      <p:sp>
        <p:nvSpPr>
          <p:cNvPr id="6" name="Shape 4"/>
          <p:cNvSpPr/>
          <p:nvPr/>
        </p:nvSpPr>
        <p:spPr>
          <a:xfrm>
            <a:off x="9128455" y="1965960"/>
            <a:ext cx="2514600" cy="1143000"/>
          </a:xfrm>
          <a:prstGeom prst="roundRect">
            <a:avLst>
              <a:gd name="adj" fmla="val 8000"/>
            </a:avLst>
          </a:prstGeom>
          <a:solidFill>
            <a:srgbClr val="0A3540"/>
          </a:solidFill>
          <a:ln/>
        </p:spPr>
      </p:sp>
      <p:sp>
        <p:nvSpPr>
          <p:cNvPr id="7" name="Text 5"/>
          <p:cNvSpPr/>
          <p:nvPr/>
        </p:nvSpPr>
        <p:spPr>
          <a:xfrm>
            <a:off x="9219895" y="1965960"/>
            <a:ext cx="2331720" cy="1143000"/>
          </a:xfrm>
          <a:prstGeom prst="rect">
            <a:avLst/>
          </a:prstGeom>
          <a:noFill/>
          <a:ln/>
        </p:spPr>
        <p:txBody>
          <a:bodyPr wrap="square" lIns="0" tIns="0" rIns="0" bIns="0" rtlCol="0" anchor="ctr"/>
          <a:lstStyle/>
          <a:p>
            <a:pPr marL="0" indent="0" algn="ctr" rtl="1">
              <a:lnSpc>
                <a:spcPct val="125000"/>
              </a:lnSpc>
              <a:buNone/>
            </a:pPr>
            <a:r>
              <a:rPr lang="ar-SA" altLang="en-US" b="1" dirty="0">
                <a:solidFill>
                  <a:srgbClr val="FFFFFF"/>
                </a:solidFill>
                <a:latin typeface="Dubai" panose="020B0503030403030204" pitchFamily="34" charset="-78"/>
                <a:ea typeface="Arial" pitchFamily="34" charset="-122"/>
                <a:cs typeface="Dubai" panose="020B0503030403030204" pitchFamily="34" charset="-78"/>
              </a:rPr>
              <a:t>المستخدمون</a:t>
            </a:r>
            <a:endParaRPr lang="ar-SA" dirty="0">
              <a:latin typeface="Dubai" panose="020B0503030403030204" pitchFamily="34" charset="-78"/>
              <a:cs typeface="Dubai" panose="020B0503030403030204" pitchFamily="34" charset="-78"/>
            </a:endParaRPr>
          </a:p>
          <a:p>
            <a:pPr marL="0" indent="0" algn="ctr" rtl="1">
              <a:lnSpc>
                <a:spcPct val="125000"/>
              </a:lnSpc>
              <a:buNone/>
            </a:pPr>
            <a:r>
              <a:rPr lang="ar-SA" altLang="en-US" sz="1200" dirty="0">
                <a:solidFill>
                  <a:srgbClr val="CFE8EA"/>
                </a:solidFill>
                <a:latin typeface="Dubai" panose="020B0503030403030204" pitchFamily="34" charset="-78"/>
                <a:ea typeface="Arial" pitchFamily="34" charset="-122"/>
                <a:cs typeface="Dubai" panose="020B0503030403030204" pitchFamily="34" charset="-78"/>
              </a:rPr>
              <a:t>طبيب · مريض · مدير</a:t>
            </a:r>
            <a:endParaRPr lang="ar-SA" dirty="0">
              <a:latin typeface="Dubai" panose="020B0503030403030204" pitchFamily="34" charset="-78"/>
              <a:cs typeface="Dubai" panose="020B0503030403030204" pitchFamily="34" charset="-78"/>
            </a:endParaRPr>
          </a:p>
        </p:txBody>
      </p:sp>
      <p:sp>
        <p:nvSpPr>
          <p:cNvPr id="8" name="Text 6"/>
          <p:cNvSpPr/>
          <p:nvPr/>
        </p:nvSpPr>
        <p:spPr>
          <a:xfrm>
            <a:off x="8744407" y="1965960"/>
            <a:ext cx="384048" cy="1143000"/>
          </a:xfrm>
          <a:prstGeom prst="rect">
            <a:avLst/>
          </a:prstGeom>
          <a:noFill/>
          <a:ln/>
        </p:spPr>
        <p:txBody>
          <a:bodyPr wrap="square" lIns="0" tIns="0" rIns="0" bIns="0" rtlCol="0" anchor="ctr"/>
          <a:lstStyle/>
          <a:p>
            <a:pPr marL="0" indent="0" algn="ctr">
              <a:buNone/>
            </a:pPr>
            <a:r>
              <a:rPr lang="en-US" sz="1600" dirty="0">
                <a:solidFill>
                  <a:srgbClr val="02C39A"/>
                </a:solidFill>
                <a:latin typeface="Dubai" panose="020B0503030403030204" pitchFamily="34" charset="-78"/>
                <a:ea typeface="Arial" pitchFamily="34" charset="-122"/>
                <a:cs typeface="Dubai" panose="020B0503030403030204" pitchFamily="34" charset="-78"/>
              </a:rPr>
              <a:t>◀</a:t>
            </a:r>
            <a:endParaRPr lang="en-US" sz="1600" dirty="0">
              <a:latin typeface="Dubai" panose="020B0503030403030204" pitchFamily="34" charset="-78"/>
              <a:cs typeface="Dubai" panose="020B0503030403030204" pitchFamily="34" charset="-78"/>
            </a:endParaRPr>
          </a:p>
        </p:txBody>
      </p:sp>
      <p:sp>
        <p:nvSpPr>
          <p:cNvPr id="9" name="Shape 7"/>
          <p:cNvSpPr/>
          <p:nvPr/>
        </p:nvSpPr>
        <p:spPr>
          <a:xfrm>
            <a:off x="6229807" y="1965960"/>
            <a:ext cx="2514600" cy="1143000"/>
          </a:xfrm>
          <a:prstGeom prst="roundRect">
            <a:avLst>
              <a:gd name="adj" fmla="val 8000"/>
            </a:avLst>
          </a:prstGeom>
          <a:solidFill>
            <a:srgbClr val="0E7C86"/>
          </a:solidFill>
          <a:ln/>
        </p:spPr>
      </p:sp>
      <p:sp>
        <p:nvSpPr>
          <p:cNvPr id="10" name="Text 8"/>
          <p:cNvSpPr/>
          <p:nvPr/>
        </p:nvSpPr>
        <p:spPr>
          <a:xfrm>
            <a:off x="6321247" y="1965960"/>
            <a:ext cx="2331720" cy="1143000"/>
          </a:xfrm>
          <a:prstGeom prst="rect">
            <a:avLst/>
          </a:prstGeom>
          <a:noFill/>
          <a:ln/>
        </p:spPr>
        <p:txBody>
          <a:bodyPr wrap="square" lIns="0" tIns="0" rIns="0" bIns="0" rtlCol="0" anchor="ctr"/>
          <a:lstStyle/>
          <a:p>
            <a:pPr marL="0" indent="0" algn="ctr" rtl="1">
              <a:lnSpc>
                <a:spcPct val="125000"/>
              </a:lnSpc>
              <a:buNone/>
            </a:pPr>
            <a:r>
              <a:rPr lang="ar-SA" altLang="en-US" b="1" dirty="0">
                <a:solidFill>
                  <a:srgbClr val="FFFFFF"/>
                </a:solidFill>
                <a:latin typeface="Dubai" panose="020B0503030403030204" pitchFamily="34" charset="-78"/>
                <a:ea typeface="Arial" pitchFamily="34" charset="-122"/>
                <a:cs typeface="Dubai" panose="020B0503030403030204" pitchFamily="34" charset="-78"/>
              </a:rPr>
              <a:t>واجهة الاستخدام</a:t>
            </a:r>
            <a:endParaRPr lang="ar-SA" dirty="0">
              <a:latin typeface="Dubai" panose="020B0503030403030204" pitchFamily="34" charset="-78"/>
              <a:cs typeface="Dubai" panose="020B0503030403030204" pitchFamily="34" charset="-78"/>
            </a:endParaRPr>
          </a:p>
          <a:p>
            <a:pPr marL="0" indent="0" algn="ctr" rtl="1">
              <a:lnSpc>
                <a:spcPct val="125000"/>
              </a:lnSpc>
              <a:buNone/>
            </a:pPr>
            <a:r>
              <a:rPr lang="ar-SA" altLang="en-US" sz="1200" dirty="0">
                <a:solidFill>
                  <a:srgbClr val="CFE8EA"/>
                </a:solidFill>
                <a:latin typeface="Dubai" panose="020B0503030403030204" pitchFamily="34" charset="-78"/>
                <a:ea typeface="Arial" pitchFamily="34" charset="-122"/>
                <a:cs typeface="Dubai" panose="020B0503030403030204" pitchFamily="34" charset="-78"/>
              </a:rPr>
              <a:t>في المتصفح، بلغتين</a:t>
            </a:r>
            <a:endParaRPr lang="ar-SA" dirty="0">
              <a:latin typeface="Dubai" panose="020B0503030403030204" pitchFamily="34" charset="-78"/>
              <a:cs typeface="Dubai" panose="020B0503030403030204" pitchFamily="34" charset="-78"/>
            </a:endParaRPr>
          </a:p>
        </p:txBody>
      </p:sp>
      <p:sp>
        <p:nvSpPr>
          <p:cNvPr id="11" name="Text 9"/>
          <p:cNvSpPr/>
          <p:nvPr/>
        </p:nvSpPr>
        <p:spPr>
          <a:xfrm>
            <a:off x="5845759" y="1965960"/>
            <a:ext cx="384048" cy="1143000"/>
          </a:xfrm>
          <a:prstGeom prst="rect">
            <a:avLst/>
          </a:prstGeom>
          <a:noFill/>
          <a:ln/>
        </p:spPr>
        <p:txBody>
          <a:bodyPr wrap="square" lIns="0" tIns="0" rIns="0" bIns="0" rtlCol="0" anchor="ctr"/>
          <a:lstStyle/>
          <a:p>
            <a:pPr marL="0" indent="0" algn="ctr">
              <a:buNone/>
            </a:pPr>
            <a:r>
              <a:rPr lang="en-US" sz="1600" dirty="0">
                <a:solidFill>
                  <a:srgbClr val="02C39A"/>
                </a:solidFill>
                <a:latin typeface="Dubai" panose="020B0503030403030204" pitchFamily="34" charset="-78"/>
                <a:ea typeface="Arial" pitchFamily="34" charset="-122"/>
                <a:cs typeface="Dubai" panose="020B0503030403030204" pitchFamily="34" charset="-78"/>
              </a:rPr>
              <a:t>◀</a:t>
            </a:r>
            <a:endParaRPr lang="en-US" sz="1600" dirty="0">
              <a:latin typeface="Dubai" panose="020B0503030403030204" pitchFamily="34" charset="-78"/>
              <a:cs typeface="Dubai" panose="020B0503030403030204" pitchFamily="34" charset="-78"/>
            </a:endParaRPr>
          </a:p>
        </p:txBody>
      </p:sp>
      <p:sp>
        <p:nvSpPr>
          <p:cNvPr id="12" name="Shape 10"/>
          <p:cNvSpPr/>
          <p:nvPr/>
        </p:nvSpPr>
        <p:spPr>
          <a:xfrm>
            <a:off x="3331159" y="1965960"/>
            <a:ext cx="2514600" cy="1143000"/>
          </a:xfrm>
          <a:prstGeom prst="roundRect">
            <a:avLst>
              <a:gd name="adj" fmla="val 8000"/>
            </a:avLst>
          </a:prstGeom>
          <a:solidFill>
            <a:srgbClr val="0E7C86"/>
          </a:solidFill>
          <a:ln/>
        </p:spPr>
      </p:sp>
      <p:sp>
        <p:nvSpPr>
          <p:cNvPr id="13" name="Text 11"/>
          <p:cNvSpPr/>
          <p:nvPr/>
        </p:nvSpPr>
        <p:spPr>
          <a:xfrm>
            <a:off x="3422599" y="1965960"/>
            <a:ext cx="2331720" cy="1143000"/>
          </a:xfrm>
          <a:prstGeom prst="rect">
            <a:avLst/>
          </a:prstGeom>
          <a:noFill/>
          <a:ln/>
        </p:spPr>
        <p:txBody>
          <a:bodyPr wrap="square" lIns="0" tIns="0" rIns="0" bIns="0" rtlCol="0" anchor="ctr"/>
          <a:lstStyle/>
          <a:p>
            <a:pPr marL="0" indent="0" algn="ctr" rtl="1">
              <a:lnSpc>
                <a:spcPct val="125000"/>
              </a:lnSpc>
              <a:buNone/>
            </a:pPr>
            <a:r>
              <a:rPr lang="ar-SA" altLang="en-US" b="1" dirty="0">
                <a:solidFill>
                  <a:srgbClr val="FFFFFF"/>
                </a:solidFill>
                <a:latin typeface="Dubai" panose="020B0503030403030204" pitchFamily="34" charset="-78"/>
                <a:ea typeface="Arial" pitchFamily="34" charset="-122"/>
                <a:cs typeface="Dubai" panose="020B0503030403030204" pitchFamily="34" charset="-78"/>
              </a:rPr>
              <a:t>الخادم المركزي</a:t>
            </a:r>
            <a:endParaRPr lang="ar-SA" sz="1500" dirty="0">
              <a:latin typeface="Dubai" panose="020B0503030403030204" pitchFamily="34" charset="-78"/>
              <a:cs typeface="Dubai" panose="020B0503030403030204" pitchFamily="34" charset="-78"/>
            </a:endParaRPr>
          </a:p>
          <a:p>
            <a:pPr marL="0" indent="0" algn="ctr" rtl="1">
              <a:lnSpc>
                <a:spcPct val="125000"/>
              </a:lnSpc>
              <a:buNone/>
            </a:pPr>
            <a:r>
              <a:rPr lang="ar-SA" altLang="en-US" sz="1200" dirty="0">
                <a:solidFill>
                  <a:srgbClr val="CFE8EA"/>
                </a:solidFill>
                <a:latin typeface="Dubai" panose="020B0503030403030204" pitchFamily="34" charset="-78"/>
                <a:ea typeface="Arial" pitchFamily="34" charset="-122"/>
                <a:cs typeface="Dubai" panose="020B0503030403030204" pitchFamily="34" charset="-78"/>
              </a:rPr>
              <a:t>عقل النظام وقواعده</a:t>
            </a:r>
            <a:endParaRPr lang="ar-SA" dirty="0">
              <a:latin typeface="Dubai" panose="020B0503030403030204" pitchFamily="34" charset="-78"/>
              <a:cs typeface="Dubai" panose="020B0503030403030204" pitchFamily="34" charset="-78"/>
            </a:endParaRPr>
          </a:p>
        </p:txBody>
      </p:sp>
      <p:sp>
        <p:nvSpPr>
          <p:cNvPr id="14" name="Text 12"/>
          <p:cNvSpPr/>
          <p:nvPr/>
        </p:nvSpPr>
        <p:spPr>
          <a:xfrm>
            <a:off x="2947111" y="1965960"/>
            <a:ext cx="384048" cy="1143000"/>
          </a:xfrm>
          <a:prstGeom prst="rect">
            <a:avLst/>
          </a:prstGeom>
          <a:noFill/>
          <a:ln/>
        </p:spPr>
        <p:txBody>
          <a:bodyPr wrap="square" lIns="0" tIns="0" rIns="0" bIns="0" rtlCol="0" anchor="ctr"/>
          <a:lstStyle/>
          <a:p>
            <a:pPr marL="0" indent="0" algn="ctr">
              <a:buNone/>
            </a:pPr>
            <a:r>
              <a:rPr lang="en-US" sz="1600" dirty="0">
                <a:solidFill>
                  <a:srgbClr val="02C39A"/>
                </a:solidFill>
                <a:latin typeface="Dubai" panose="020B0503030403030204" pitchFamily="34" charset="-78"/>
                <a:ea typeface="Arial" pitchFamily="34" charset="-122"/>
                <a:cs typeface="Dubai" panose="020B0503030403030204" pitchFamily="34" charset="-78"/>
              </a:rPr>
              <a:t>◀</a:t>
            </a:r>
            <a:endParaRPr lang="en-US" sz="1600" dirty="0">
              <a:latin typeface="Dubai" panose="020B0503030403030204" pitchFamily="34" charset="-78"/>
              <a:cs typeface="Dubai" panose="020B0503030403030204" pitchFamily="34" charset="-78"/>
            </a:endParaRPr>
          </a:p>
        </p:txBody>
      </p:sp>
      <p:sp>
        <p:nvSpPr>
          <p:cNvPr id="15" name="Shape 13"/>
          <p:cNvSpPr/>
          <p:nvPr/>
        </p:nvSpPr>
        <p:spPr>
          <a:xfrm>
            <a:off x="432511" y="1965960"/>
            <a:ext cx="2514600" cy="1143000"/>
          </a:xfrm>
          <a:prstGeom prst="roundRect">
            <a:avLst>
              <a:gd name="adj" fmla="val 8000"/>
            </a:avLst>
          </a:prstGeom>
          <a:solidFill>
            <a:srgbClr val="0A3540"/>
          </a:solidFill>
          <a:ln/>
        </p:spPr>
      </p:sp>
      <p:sp>
        <p:nvSpPr>
          <p:cNvPr id="16" name="Text 14"/>
          <p:cNvSpPr/>
          <p:nvPr/>
        </p:nvSpPr>
        <p:spPr>
          <a:xfrm>
            <a:off x="523951" y="1965960"/>
            <a:ext cx="2331720" cy="1143000"/>
          </a:xfrm>
          <a:prstGeom prst="rect">
            <a:avLst/>
          </a:prstGeom>
          <a:noFill/>
          <a:ln/>
        </p:spPr>
        <p:txBody>
          <a:bodyPr wrap="square" lIns="0" tIns="0" rIns="0" bIns="0" rtlCol="0" anchor="ctr"/>
          <a:lstStyle/>
          <a:p>
            <a:pPr marL="0" indent="0" algn="ctr" rtl="1">
              <a:lnSpc>
                <a:spcPct val="125000"/>
              </a:lnSpc>
              <a:buNone/>
            </a:pPr>
            <a:r>
              <a:rPr lang="ar-SA" altLang="en-US" b="1" dirty="0">
                <a:solidFill>
                  <a:srgbClr val="FFFFFF"/>
                </a:solidFill>
                <a:latin typeface="Dubai" panose="020B0503030403030204" pitchFamily="34" charset="-78"/>
                <a:ea typeface="Arial" pitchFamily="34" charset="-122"/>
                <a:cs typeface="Dubai" panose="020B0503030403030204" pitchFamily="34" charset="-78"/>
              </a:rPr>
              <a:t>قاعدة البيانات</a:t>
            </a:r>
          </a:p>
          <a:p>
            <a:pPr marL="0" indent="0" algn="ctr" rtl="1">
              <a:lnSpc>
                <a:spcPct val="125000"/>
              </a:lnSpc>
              <a:buNone/>
            </a:pPr>
            <a:r>
              <a:rPr lang="ar-SA" altLang="en-US" sz="1200" dirty="0">
                <a:solidFill>
                  <a:srgbClr val="CFE8EA"/>
                </a:solidFill>
                <a:latin typeface="Dubai" panose="020B0503030403030204" pitchFamily="34" charset="-78"/>
                <a:ea typeface="Arial" pitchFamily="34" charset="-122"/>
                <a:cs typeface="Dubai" panose="020B0503030403030204" pitchFamily="34" charset="-78"/>
              </a:rPr>
              <a:t>الملفات محفوظة بنسخها</a:t>
            </a:r>
            <a:endParaRPr lang="ar-SA" dirty="0">
              <a:latin typeface="Dubai" panose="020B0503030403030204" pitchFamily="34" charset="-78"/>
              <a:cs typeface="Dubai" panose="020B0503030403030204" pitchFamily="34" charset="-78"/>
            </a:endParaRPr>
          </a:p>
        </p:txBody>
      </p:sp>
      <p:sp>
        <p:nvSpPr>
          <p:cNvPr id="17" name="Shape 15"/>
          <p:cNvSpPr/>
          <p:nvPr/>
        </p:nvSpPr>
        <p:spPr>
          <a:xfrm>
            <a:off x="8061808" y="4160520"/>
            <a:ext cx="3017520" cy="1051560"/>
          </a:xfrm>
          <a:prstGeom prst="roundRect">
            <a:avLst>
              <a:gd name="adj" fmla="val 6957"/>
            </a:avLst>
          </a:prstGeom>
          <a:solidFill>
            <a:srgbClr val="F2F8F8"/>
          </a:solidFill>
          <a:ln w="9525">
            <a:solidFill>
              <a:srgbClr val="D9E7E9"/>
            </a:solidFill>
            <a:prstDash val="solid"/>
          </a:ln>
        </p:spPr>
      </p:sp>
      <p:sp>
        <p:nvSpPr>
          <p:cNvPr id="18" name="Text 16"/>
          <p:cNvSpPr/>
          <p:nvPr/>
        </p:nvSpPr>
        <p:spPr>
          <a:xfrm>
            <a:off x="8198968" y="4160520"/>
            <a:ext cx="2743200" cy="1051560"/>
          </a:xfrm>
          <a:prstGeom prst="rect">
            <a:avLst/>
          </a:prstGeom>
          <a:noFill/>
          <a:ln/>
        </p:spPr>
        <p:txBody>
          <a:bodyPr wrap="square" lIns="0" tIns="0" rIns="0" bIns="0" rtlCol="0" anchor="ctr"/>
          <a:lstStyle/>
          <a:p>
            <a:pPr marL="0" indent="0" algn="ctr" rtl="1">
              <a:lnSpc>
                <a:spcPct val="125000"/>
              </a:lnSpc>
              <a:buNone/>
            </a:pPr>
            <a:r>
              <a:rPr lang="ar-SA" altLang="en-US" sz="1600" b="1" dirty="0">
                <a:solidFill>
                  <a:srgbClr val="0E7C86"/>
                </a:solidFill>
                <a:latin typeface="Dubai" panose="020B0503030403030204" pitchFamily="34" charset="-78"/>
                <a:ea typeface="Arial" pitchFamily="34" charset="-122"/>
                <a:cs typeface="Dubai" panose="020B0503030403030204" pitchFamily="34" charset="-78"/>
              </a:rPr>
              <a:t>بوابة الدخول الآمن</a:t>
            </a:r>
            <a:endParaRPr lang="ar-SA" sz="1350" dirty="0">
              <a:latin typeface="Dubai" panose="020B0503030403030204" pitchFamily="34" charset="-78"/>
              <a:cs typeface="Dubai" panose="020B0503030403030204" pitchFamily="34" charset="-78"/>
            </a:endParaRPr>
          </a:p>
          <a:p>
            <a:pPr marL="0" indent="0" algn="ctr" rtl="1">
              <a:lnSpc>
                <a:spcPct val="125000"/>
              </a:lnSpc>
              <a:buNone/>
            </a:pPr>
            <a:r>
              <a:rPr lang="ar-SA" altLang="en-US" sz="1100" dirty="0">
                <a:solidFill>
                  <a:srgbClr val="587078"/>
                </a:solidFill>
                <a:latin typeface="Dubai" panose="020B0503030403030204" pitchFamily="34" charset="-78"/>
                <a:ea typeface="Arial" pitchFamily="34" charset="-122"/>
                <a:cs typeface="Dubai" panose="020B0503030403030204" pitchFamily="34" charset="-78"/>
              </a:rPr>
              <a:t>حسابٌ واحد وتحقّق موحّد</a:t>
            </a:r>
            <a:endParaRPr lang="ar-SA" sz="1400" dirty="0">
              <a:latin typeface="Dubai" panose="020B0503030403030204" pitchFamily="34" charset="-78"/>
              <a:cs typeface="Dubai" panose="020B0503030403030204" pitchFamily="34" charset="-78"/>
            </a:endParaRPr>
          </a:p>
        </p:txBody>
      </p:sp>
      <p:sp>
        <p:nvSpPr>
          <p:cNvPr id="19" name="Shape 17"/>
          <p:cNvSpPr/>
          <p:nvPr/>
        </p:nvSpPr>
        <p:spPr>
          <a:xfrm>
            <a:off x="9570568" y="3108960"/>
            <a:ext cx="0" cy="1051560"/>
          </a:xfrm>
          <a:prstGeom prst="line">
            <a:avLst/>
          </a:prstGeom>
          <a:noFill/>
          <a:ln w="19050">
            <a:solidFill>
              <a:srgbClr val="D9E7E9"/>
            </a:solidFill>
            <a:prstDash val="dash"/>
          </a:ln>
        </p:spPr>
      </p:sp>
      <p:sp>
        <p:nvSpPr>
          <p:cNvPr id="20" name="Shape 18"/>
          <p:cNvSpPr/>
          <p:nvPr/>
        </p:nvSpPr>
        <p:spPr>
          <a:xfrm>
            <a:off x="4587088" y="4160520"/>
            <a:ext cx="3017520" cy="1051560"/>
          </a:xfrm>
          <a:prstGeom prst="roundRect">
            <a:avLst>
              <a:gd name="adj" fmla="val 6957"/>
            </a:avLst>
          </a:prstGeom>
          <a:solidFill>
            <a:srgbClr val="F2F8F8"/>
          </a:solidFill>
          <a:ln w="9525">
            <a:solidFill>
              <a:srgbClr val="D9E7E9"/>
            </a:solidFill>
            <a:prstDash val="solid"/>
          </a:ln>
        </p:spPr>
      </p:sp>
      <p:sp>
        <p:nvSpPr>
          <p:cNvPr id="21" name="Text 19"/>
          <p:cNvSpPr/>
          <p:nvPr/>
        </p:nvSpPr>
        <p:spPr>
          <a:xfrm>
            <a:off x="4724248" y="4160520"/>
            <a:ext cx="2743200" cy="1051560"/>
          </a:xfrm>
          <a:prstGeom prst="rect">
            <a:avLst/>
          </a:prstGeom>
          <a:noFill/>
          <a:ln/>
        </p:spPr>
        <p:txBody>
          <a:bodyPr wrap="square" lIns="0" tIns="0" rIns="0" bIns="0" rtlCol="0" anchor="ctr"/>
          <a:lstStyle/>
          <a:p>
            <a:pPr marL="0" indent="0" algn="ctr" rtl="1">
              <a:lnSpc>
                <a:spcPct val="125000"/>
              </a:lnSpc>
              <a:buNone/>
            </a:pPr>
            <a:r>
              <a:rPr lang="ar-SA" altLang="en-US" sz="1600" b="1" dirty="0">
                <a:solidFill>
                  <a:srgbClr val="0E7C86"/>
                </a:solidFill>
                <a:latin typeface="Dubai" panose="020B0503030403030204" pitchFamily="34" charset="-78"/>
                <a:ea typeface="Arial" pitchFamily="34" charset="-122"/>
                <a:cs typeface="Dubai" panose="020B0503030403030204" pitchFamily="34" charset="-78"/>
              </a:rPr>
              <a:t>نماذج الذكاء الاصطناعي</a:t>
            </a:r>
            <a:endParaRPr lang="ar-SA" sz="1600" dirty="0">
              <a:latin typeface="Dubai" panose="020B0503030403030204" pitchFamily="34" charset="-78"/>
              <a:cs typeface="Dubai" panose="020B0503030403030204" pitchFamily="34" charset="-78"/>
            </a:endParaRPr>
          </a:p>
          <a:p>
            <a:pPr marL="0" indent="0" algn="ctr" rtl="1">
              <a:lnSpc>
                <a:spcPct val="125000"/>
              </a:lnSpc>
              <a:buNone/>
            </a:pPr>
            <a:r>
              <a:rPr lang="ar-SA" altLang="en-US" sz="1100" dirty="0">
                <a:solidFill>
                  <a:srgbClr val="587078"/>
                </a:solidFill>
                <a:latin typeface="Dubai" panose="020B0503030403030204" pitchFamily="34" charset="-78"/>
                <a:ea typeface="Arial" pitchFamily="34" charset="-122"/>
                <a:cs typeface="Dubai" panose="020B0503030403030204" pitchFamily="34" charset="-78"/>
              </a:rPr>
              <a:t>تعمل داخل الخادم نفسه</a:t>
            </a:r>
            <a:endParaRPr lang="ar-SA" sz="1400" dirty="0">
              <a:latin typeface="Dubai" panose="020B0503030403030204" pitchFamily="34" charset="-78"/>
              <a:cs typeface="Dubai" panose="020B0503030403030204" pitchFamily="34" charset="-78"/>
            </a:endParaRPr>
          </a:p>
        </p:txBody>
      </p:sp>
      <p:sp>
        <p:nvSpPr>
          <p:cNvPr id="22" name="Shape 20"/>
          <p:cNvSpPr/>
          <p:nvPr/>
        </p:nvSpPr>
        <p:spPr>
          <a:xfrm>
            <a:off x="6095848" y="3108960"/>
            <a:ext cx="0" cy="1051560"/>
          </a:xfrm>
          <a:prstGeom prst="line">
            <a:avLst/>
          </a:prstGeom>
          <a:noFill/>
          <a:ln w="19050">
            <a:solidFill>
              <a:srgbClr val="D9E7E9"/>
            </a:solidFill>
            <a:prstDash val="dash"/>
          </a:ln>
        </p:spPr>
      </p:sp>
      <p:sp>
        <p:nvSpPr>
          <p:cNvPr id="23" name="Shape 21"/>
          <p:cNvSpPr/>
          <p:nvPr/>
        </p:nvSpPr>
        <p:spPr>
          <a:xfrm>
            <a:off x="1112368" y="4160520"/>
            <a:ext cx="3017520" cy="1051560"/>
          </a:xfrm>
          <a:prstGeom prst="roundRect">
            <a:avLst>
              <a:gd name="adj" fmla="val 6957"/>
            </a:avLst>
          </a:prstGeom>
          <a:solidFill>
            <a:srgbClr val="F2F8F8"/>
          </a:solidFill>
          <a:ln w="9525">
            <a:solidFill>
              <a:srgbClr val="D9E7E9"/>
            </a:solidFill>
            <a:prstDash val="solid"/>
          </a:ln>
        </p:spPr>
      </p:sp>
      <p:sp>
        <p:nvSpPr>
          <p:cNvPr id="24" name="Text 22"/>
          <p:cNvSpPr/>
          <p:nvPr/>
        </p:nvSpPr>
        <p:spPr>
          <a:xfrm>
            <a:off x="1249528" y="4160520"/>
            <a:ext cx="2743200" cy="1051560"/>
          </a:xfrm>
          <a:prstGeom prst="rect">
            <a:avLst/>
          </a:prstGeom>
          <a:noFill/>
          <a:ln/>
        </p:spPr>
        <p:txBody>
          <a:bodyPr wrap="square" lIns="0" tIns="0" rIns="0" bIns="0" rtlCol="0" anchor="ctr"/>
          <a:lstStyle/>
          <a:p>
            <a:pPr marL="0" indent="0" algn="ctr" rtl="1">
              <a:lnSpc>
                <a:spcPct val="125000"/>
              </a:lnSpc>
              <a:buNone/>
            </a:pPr>
            <a:r>
              <a:rPr lang="ar-SA" altLang="en-US" sz="1600" b="1" dirty="0">
                <a:solidFill>
                  <a:srgbClr val="0E7C86"/>
                </a:solidFill>
                <a:latin typeface="Dubai" panose="020B0503030403030204" pitchFamily="34" charset="-78"/>
                <a:ea typeface="Arial" pitchFamily="34" charset="-122"/>
                <a:cs typeface="Dubai" panose="020B0503030403030204" pitchFamily="34" charset="-78"/>
              </a:rPr>
              <a:t>معلومات الأدوية</a:t>
            </a:r>
            <a:endParaRPr lang="ar-SA" sz="1600" dirty="0">
              <a:latin typeface="Dubai" panose="020B0503030403030204" pitchFamily="34" charset="-78"/>
              <a:cs typeface="Dubai" panose="020B0503030403030204" pitchFamily="34" charset="-78"/>
            </a:endParaRPr>
          </a:p>
          <a:p>
            <a:pPr marL="0" indent="0" algn="ctr" rtl="1">
              <a:lnSpc>
                <a:spcPct val="125000"/>
              </a:lnSpc>
              <a:buNone/>
            </a:pPr>
            <a:r>
              <a:rPr lang="ar-SA" altLang="en-US" sz="1100" dirty="0">
                <a:solidFill>
                  <a:srgbClr val="587078"/>
                </a:solidFill>
                <a:latin typeface="Dubai" panose="020B0503030403030204" pitchFamily="34" charset="-78"/>
                <a:ea typeface="Arial" pitchFamily="34" charset="-122"/>
                <a:cs typeface="Dubai" panose="020B0503030403030204" pitchFamily="34" charset="-78"/>
              </a:rPr>
              <a:t>الجرعات والتداخلات</a:t>
            </a:r>
            <a:endParaRPr lang="ar-SA" sz="1400" dirty="0">
              <a:latin typeface="Dubai" panose="020B0503030403030204" pitchFamily="34" charset="-78"/>
              <a:cs typeface="Dubai" panose="020B0503030403030204" pitchFamily="34" charset="-78"/>
            </a:endParaRPr>
          </a:p>
        </p:txBody>
      </p:sp>
      <p:sp>
        <p:nvSpPr>
          <p:cNvPr id="25" name="Shape 23"/>
          <p:cNvSpPr/>
          <p:nvPr/>
        </p:nvSpPr>
        <p:spPr>
          <a:xfrm>
            <a:off x="2621128" y="3108960"/>
            <a:ext cx="0" cy="1051560"/>
          </a:xfrm>
          <a:prstGeom prst="line">
            <a:avLst/>
          </a:prstGeom>
          <a:noFill/>
          <a:ln w="19050">
            <a:solidFill>
              <a:srgbClr val="D9E7E9"/>
            </a:solidFill>
            <a:prstDash val="dash"/>
          </a:ln>
        </p:spPr>
      </p:sp>
      <p:sp>
        <p:nvSpPr>
          <p:cNvPr id="26" name="Text 24"/>
          <p:cNvSpPr/>
          <p:nvPr/>
        </p:nvSpPr>
        <p:spPr>
          <a:xfrm>
            <a:off x="1188720" y="5577840"/>
            <a:ext cx="9814255" cy="640080"/>
          </a:xfrm>
          <a:prstGeom prst="rect">
            <a:avLst/>
          </a:prstGeom>
          <a:noFill/>
          <a:ln/>
        </p:spPr>
        <p:txBody>
          <a:bodyPr wrap="square" rtlCol="0" anchor="t"/>
          <a:lstStyle/>
          <a:p>
            <a:pPr marL="0" indent="0" algn="ctr" rtl="1">
              <a:lnSpc>
                <a:spcPct val="125000"/>
              </a:lnSpc>
              <a:buNone/>
            </a:pPr>
            <a:r>
              <a:rPr lang="ar-SA" altLang="en-US" sz="1400" dirty="0">
                <a:solidFill>
                  <a:srgbClr val="587078"/>
                </a:solidFill>
                <a:latin typeface="Dubai" panose="020B0503030403030204" pitchFamily="34" charset="-78"/>
                <a:ea typeface="Arial" pitchFamily="34" charset="-122"/>
                <a:cs typeface="Dubai" panose="020B0503030403030204" pitchFamily="34" charset="-78"/>
              </a:rPr>
              <a:t>بُني النظام بتقنياتٍ حديثة مفتوحة المصدر — منصّة ‏</a:t>
            </a:r>
            <a:r>
              <a:rPr lang="en-US" altLang="en-US" sz="1400" dirty="0">
                <a:solidFill>
                  <a:srgbClr val="587078"/>
                </a:solidFill>
                <a:latin typeface="Dubai" panose="020B0503030403030204" pitchFamily="34" charset="-78"/>
                <a:ea typeface="Arial" pitchFamily="34" charset="-122"/>
                <a:cs typeface="Dubai" panose="020B0503030403030204" pitchFamily="34" charset="-78"/>
              </a:rPr>
              <a:t>Microsoft .NET</a:t>
            </a:r>
            <a:r>
              <a:rPr lang="ar-SA" altLang="en-US" sz="1400" dirty="0">
                <a:solidFill>
                  <a:srgbClr val="587078"/>
                </a:solidFill>
                <a:latin typeface="Dubai" panose="020B0503030403030204" pitchFamily="34" charset="-78"/>
                <a:ea typeface="Arial" pitchFamily="34" charset="-122"/>
                <a:cs typeface="Dubai" panose="020B0503030403030204" pitchFamily="34" charset="-78"/>
              </a:rPr>
              <a:t>‏ وإطار ‏</a:t>
            </a:r>
            <a:r>
              <a:rPr lang="en-US" altLang="en-US" sz="1400" dirty="0">
                <a:solidFill>
                  <a:srgbClr val="587078"/>
                </a:solidFill>
                <a:latin typeface="Dubai" panose="020B0503030403030204" pitchFamily="34" charset="-78"/>
                <a:ea typeface="Arial" pitchFamily="34" charset="-122"/>
                <a:cs typeface="Dubai" panose="020B0503030403030204" pitchFamily="34" charset="-78"/>
              </a:rPr>
              <a:t>Blazor</a:t>
            </a:r>
            <a:r>
              <a:rPr lang="ar-SA" altLang="en-US" sz="1400" dirty="0">
                <a:solidFill>
                  <a:srgbClr val="587078"/>
                </a:solidFill>
                <a:latin typeface="Dubai" panose="020B0503030403030204" pitchFamily="34" charset="-78"/>
                <a:ea typeface="Arial" pitchFamily="34" charset="-122"/>
                <a:cs typeface="Dubai" panose="020B0503030403030204" pitchFamily="34" charset="-78"/>
              </a:rPr>
              <a:t>‏ وقاعدة ‏</a:t>
            </a:r>
            <a:r>
              <a:rPr lang="en-US" altLang="en-US" sz="1400" dirty="0">
                <a:solidFill>
                  <a:srgbClr val="587078"/>
                </a:solidFill>
                <a:latin typeface="Dubai" panose="020B0503030403030204" pitchFamily="34" charset="-78"/>
                <a:ea typeface="Arial" pitchFamily="34" charset="-122"/>
                <a:cs typeface="Dubai" panose="020B0503030403030204" pitchFamily="34" charset="-78"/>
              </a:rPr>
              <a:t>PostgreSQL</a:t>
            </a:r>
            <a:r>
              <a:rPr lang="ar-SA" altLang="en-US" sz="1400" dirty="0">
                <a:solidFill>
                  <a:srgbClr val="587078"/>
                </a:solidFill>
                <a:latin typeface="Dubai" panose="020B0503030403030204" pitchFamily="34" charset="-78"/>
                <a:ea typeface="Arial" pitchFamily="34" charset="-122"/>
                <a:cs typeface="Dubai" panose="020B0503030403030204" pitchFamily="34" charset="-78"/>
              </a:rPr>
              <a:t>‏ وخادم الهوية ‏</a:t>
            </a:r>
            <a:r>
              <a:rPr lang="en-US" altLang="en-US" sz="1400" dirty="0">
                <a:solidFill>
                  <a:srgbClr val="587078"/>
                </a:solidFill>
                <a:latin typeface="Dubai" panose="020B0503030403030204" pitchFamily="34" charset="-78"/>
                <a:ea typeface="Arial" pitchFamily="34" charset="-122"/>
                <a:cs typeface="Dubai" panose="020B0503030403030204" pitchFamily="34" charset="-78"/>
              </a:rPr>
              <a:t>Keycloak</a:t>
            </a:r>
            <a:r>
              <a:rPr lang="ar-SA" altLang="en-US" sz="1400" dirty="0">
                <a:solidFill>
                  <a:srgbClr val="587078"/>
                </a:solidFill>
                <a:latin typeface="Dubai" panose="020B0503030403030204" pitchFamily="34" charset="-78"/>
                <a:ea typeface="Arial" pitchFamily="34" charset="-122"/>
                <a:cs typeface="Dubai" panose="020B0503030403030204" pitchFamily="34" charset="-78"/>
              </a:rPr>
              <a:t>‏ — وكلّ الاتصالات بينها مشفّرة.</a:t>
            </a:r>
            <a:endParaRPr lang="ar-SA" sz="1400" dirty="0">
              <a:latin typeface="Dubai" panose="020B0503030403030204" pitchFamily="34" charset="-78"/>
              <a:cs typeface="Dubai" panose="020B0503030403030204" pitchFamily="34" charset="-78"/>
            </a:endParaRPr>
          </a:p>
        </p:txBody>
      </p:sp>
    </p:spTree>
  </p:cSld>
  <p:clrMapOvr>
    <a:masterClrMapping/>
  </p:clrMapOvr>
  <p:transition spd="slow">
    <p:wipe dir="r"/>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indent="0" algn="r" rtl="1">
              <a:buNone/>
            </a:pPr>
            <a:r>
              <a:rPr lang="ar-SA" altLang="en-US" sz="900" dirty="0">
                <a:solidFill>
                  <a:srgbClr val="587078"/>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900" dirty="0">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indent="0" algn="l">
              <a:buNone/>
            </a:pPr>
            <a:r>
              <a:rPr lang="en-US" sz="900" dirty="0">
                <a:solidFill>
                  <a:srgbClr val="587078"/>
                </a:solidFill>
                <a:latin typeface="Arial" pitchFamily="34" charset="0"/>
                <a:ea typeface="Arial" pitchFamily="34" charset="-122"/>
                <a:cs typeface="Arial" pitchFamily="34" charset="-120"/>
              </a:rPr>
              <a:t>7</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indent="0" algn="r" rtl="1">
              <a:buNone/>
            </a:pPr>
            <a:r>
              <a:rPr lang="ar-SA" altLang="en-US" sz="2900" b="1" dirty="0">
                <a:solidFill>
                  <a:srgbClr val="0A3540"/>
                </a:solidFill>
                <a:latin typeface="Dubai" panose="020B0503030403030204" pitchFamily="34" charset="-78"/>
                <a:ea typeface="Arial" pitchFamily="34" charset="-122"/>
                <a:cs typeface="Dubai" panose="020B0503030403030204" pitchFamily="34" charset="-78"/>
              </a:rPr>
              <a:t>الطبقة الأولى: لغةٌ موحّدة للبيانات الصحية</a:t>
            </a:r>
            <a:endParaRPr lang="ar-SA" sz="2900" dirty="0">
              <a:latin typeface="Dubai" panose="020B0503030403030204" pitchFamily="34" charset="-78"/>
              <a:cs typeface="Dubai" panose="020B0503030403030204" pitchFamily="34" charset="-78"/>
            </a:endParaRPr>
          </a:p>
        </p:txBody>
      </p:sp>
      <p:sp>
        <p:nvSpPr>
          <p:cNvPr id="5" name="Text 3"/>
          <p:cNvSpPr/>
          <p:nvPr/>
        </p:nvSpPr>
        <p:spPr>
          <a:xfrm>
            <a:off x="548640" y="859536"/>
            <a:ext cx="11094415" cy="347472"/>
          </a:xfrm>
          <a:prstGeom prst="rect">
            <a:avLst/>
          </a:prstGeom>
          <a:noFill/>
          <a:ln/>
        </p:spPr>
        <p:txBody>
          <a:bodyPr wrap="square" lIns="0" tIns="0" rIns="0" bIns="0" rtlCol="0" anchor="ctr"/>
          <a:lstStyle/>
          <a:p>
            <a:pPr marL="0" indent="0" algn="r" rtl="1">
              <a:buNone/>
            </a:pPr>
            <a:r>
              <a:rPr lang="ar-SA" altLang="en-US" sz="1400" dirty="0">
                <a:solidFill>
                  <a:srgbClr val="0E7C86"/>
                </a:solidFill>
                <a:latin typeface="Dubai" panose="020B0503030403030204" pitchFamily="34" charset="-78"/>
                <a:ea typeface="Arial" pitchFamily="34" charset="-122"/>
                <a:cs typeface="Dubai" panose="020B0503030403030204" pitchFamily="34" charset="-78"/>
              </a:rPr>
              <a:t>معيار ‏</a:t>
            </a:r>
            <a:r>
              <a:rPr lang="en-US" altLang="en-US" sz="1400" dirty="0">
                <a:solidFill>
                  <a:srgbClr val="0E7C86"/>
                </a:solidFill>
                <a:latin typeface="Dubai" panose="020B0503030403030204" pitchFamily="34" charset="-78"/>
                <a:ea typeface="Arial" pitchFamily="34" charset="-122"/>
                <a:cs typeface="Dubai" panose="020B0503030403030204" pitchFamily="34" charset="-78"/>
              </a:rPr>
              <a:t>HL7 FHIR</a:t>
            </a:r>
            <a:r>
              <a:rPr lang="ar-SA" altLang="en-US" sz="1400" dirty="0">
                <a:solidFill>
                  <a:srgbClr val="0E7C86"/>
                </a:solidFill>
                <a:latin typeface="Dubai" panose="020B0503030403030204" pitchFamily="34" charset="-78"/>
                <a:ea typeface="Arial" pitchFamily="34" charset="-122"/>
                <a:cs typeface="Dubai" panose="020B0503030403030204" pitchFamily="34" charset="-78"/>
              </a:rPr>
              <a:t>‏ العالمي — الإصدار الخامس</a:t>
            </a:r>
            <a:endParaRPr lang="ar-SA" sz="1400" dirty="0">
              <a:latin typeface="Dubai" panose="020B0503030403030204" pitchFamily="34" charset="-78"/>
              <a:cs typeface="Dubai" panose="020B0503030403030204" pitchFamily="34" charset="-78"/>
            </a:endParaRPr>
          </a:p>
        </p:txBody>
      </p:sp>
      <p:sp>
        <p:nvSpPr>
          <p:cNvPr id="6" name="Shape 4"/>
          <p:cNvSpPr/>
          <p:nvPr/>
        </p:nvSpPr>
        <p:spPr>
          <a:xfrm>
            <a:off x="548640" y="1600200"/>
            <a:ext cx="11094415" cy="1005840"/>
          </a:xfrm>
          <a:prstGeom prst="roundRect">
            <a:avLst>
              <a:gd name="adj" fmla="val 7273"/>
            </a:avLst>
          </a:prstGeom>
          <a:solidFill>
            <a:srgbClr val="F2F8F8"/>
          </a:solidFill>
          <a:ln w="9525">
            <a:solidFill>
              <a:srgbClr val="D9E7E9"/>
            </a:solidFill>
            <a:prstDash val="solid"/>
          </a:ln>
        </p:spPr>
      </p:sp>
      <p:sp>
        <p:nvSpPr>
          <p:cNvPr id="7" name="Text 5"/>
          <p:cNvSpPr/>
          <p:nvPr/>
        </p:nvSpPr>
        <p:spPr>
          <a:xfrm>
            <a:off x="914400" y="1600200"/>
            <a:ext cx="10362895" cy="1005840"/>
          </a:xfrm>
          <a:prstGeom prst="rect">
            <a:avLst/>
          </a:prstGeom>
          <a:noFill/>
          <a:ln/>
        </p:spPr>
        <p:txBody>
          <a:bodyPr wrap="square" rtlCol="0" anchor="ctr"/>
          <a:lstStyle/>
          <a:p>
            <a:pPr marL="0" indent="0" algn="ctr" rtl="1">
              <a:lnSpc>
                <a:spcPct val="130000"/>
              </a:lnSpc>
              <a:buNone/>
            </a:pPr>
            <a:r>
              <a:rPr lang="ar-SA" altLang="en-US" i="1" dirty="0">
                <a:solidFill>
                  <a:srgbClr val="0A3540"/>
                </a:solidFill>
                <a:latin typeface="Dubai" panose="020B0503030403030204" pitchFamily="34" charset="-78"/>
                <a:ea typeface="Arial" pitchFamily="34" charset="-122"/>
                <a:cs typeface="Dubai" panose="020B0503030403030204" pitchFamily="34" charset="-78"/>
              </a:rPr>
              <a:t>تماماً كما وحّد منفذ ‏</a:t>
            </a:r>
            <a:r>
              <a:rPr lang="en-US" altLang="en-US" i="1" dirty="0">
                <a:solidFill>
                  <a:srgbClr val="0A3540"/>
                </a:solidFill>
                <a:latin typeface="Dubai" panose="020B0503030403030204" pitchFamily="34" charset="-78"/>
                <a:ea typeface="Arial" pitchFamily="34" charset="-122"/>
                <a:cs typeface="Dubai" panose="020B0503030403030204" pitchFamily="34" charset="-78"/>
              </a:rPr>
              <a:t>USB</a:t>
            </a:r>
            <a:r>
              <a:rPr lang="ar-SA" altLang="en-US" i="1" dirty="0">
                <a:solidFill>
                  <a:srgbClr val="0A3540"/>
                </a:solidFill>
                <a:latin typeface="Dubai" panose="020B0503030403030204" pitchFamily="34" charset="-78"/>
                <a:ea typeface="Arial" pitchFamily="34" charset="-122"/>
                <a:cs typeface="Dubai" panose="020B0503030403030204" pitchFamily="34" charset="-78"/>
              </a:rPr>
              <a:t>‏ طريقة توصيل الأجهزة على اختلافها، يوحّد معيار ‏</a:t>
            </a:r>
            <a:r>
              <a:rPr lang="en-US" altLang="en-US" i="1" dirty="0">
                <a:solidFill>
                  <a:srgbClr val="0A3540"/>
                </a:solidFill>
                <a:latin typeface="Dubai" panose="020B0503030403030204" pitchFamily="34" charset="-78"/>
                <a:ea typeface="Arial" pitchFamily="34" charset="-122"/>
                <a:cs typeface="Dubai" panose="020B0503030403030204" pitchFamily="34" charset="-78"/>
              </a:rPr>
              <a:t>FHIR</a:t>
            </a:r>
            <a:r>
              <a:rPr lang="ar-SA" altLang="en-US" i="1" dirty="0">
                <a:solidFill>
                  <a:srgbClr val="0A3540"/>
                </a:solidFill>
                <a:latin typeface="Dubai" panose="020B0503030403030204" pitchFamily="34" charset="-78"/>
                <a:ea typeface="Arial" pitchFamily="34" charset="-122"/>
                <a:cs typeface="Dubai" panose="020B0503030403030204" pitchFamily="34" charset="-78"/>
              </a:rPr>
              <a:t>‏ طريقة كتابة البيانات الصحية وتبادلها بين الأنظمة على اختلافها.</a:t>
            </a:r>
            <a:endParaRPr lang="ar-SA" dirty="0">
              <a:latin typeface="Dubai" panose="020B0503030403030204" pitchFamily="34" charset="-78"/>
              <a:cs typeface="Dubai" panose="020B0503030403030204" pitchFamily="34" charset="-78"/>
            </a:endParaRPr>
          </a:p>
        </p:txBody>
      </p:sp>
      <p:sp>
        <p:nvSpPr>
          <p:cNvPr id="8" name="Shape 6"/>
          <p:cNvSpPr/>
          <p:nvPr/>
        </p:nvSpPr>
        <p:spPr>
          <a:xfrm>
            <a:off x="8076895" y="2926080"/>
            <a:ext cx="3566160" cy="2880360"/>
          </a:xfrm>
          <a:prstGeom prst="roundRect">
            <a:avLst>
              <a:gd name="adj" fmla="val 2540"/>
            </a:avLst>
          </a:prstGeom>
          <a:solidFill>
            <a:srgbClr val="F2F8F8"/>
          </a:solidFill>
          <a:ln w="9525">
            <a:solidFill>
              <a:srgbClr val="D9E7E9"/>
            </a:solidFill>
            <a:prstDash val="solid"/>
          </a:ln>
        </p:spPr>
      </p:sp>
      <p:sp>
        <p:nvSpPr>
          <p:cNvPr id="9" name="Shape 7"/>
          <p:cNvSpPr/>
          <p:nvPr/>
        </p:nvSpPr>
        <p:spPr>
          <a:xfrm>
            <a:off x="9585655" y="3200400"/>
            <a:ext cx="548640" cy="548640"/>
          </a:xfrm>
          <a:prstGeom prst="ellipse">
            <a:avLst/>
          </a:prstGeom>
          <a:solidFill>
            <a:srgbClr val="0E7C86"/>
          </a:solidFill>
          <a:ln/>
        </p:spPr>
      </p:sp>
      <p:sp>
        <p:nvSpPr>
          <p:cNvPr id="10" name="Text 8"/>
          <p:cNvSpPr/>
          <p:nvPr/>
        </p:nvSpPr>
        <p:spPr>
          <a:xfrm>
            <a:off x="9585655" y="3200400"/>
            <a:ext cx="548640" cy="548640"/>
          </a:xfrm>
          <a:prstGeom prst="rect">
            <a:avLst/>
          </a:prstGeom>
          <a:noFill/>
          <a:ln/>
        </p:spPr>
        <p:txBody>
          <a:bodyPr wrap="square" lIns="0" tIns="0" rIns="0" bIns="0" rtlCol="0" anchor="ctr"/>
          <a:lstStyle/>
          <a:p>
            <a:pPr marL="0" indent="0" algn="ctr" rtl="1">
              <a:buNone/>
            </a:pPr>
            <a:r>
              <a:rPr lang="en-US" altLang="en-US" sz="1800" b="1" dirty="0">
                <a:solidFill>
                  <a:srgbClr val="FFFFFF"/>
                </a:solidFill>
                <a:latin typeface="Dubai" panose="020B0503030403030204" pitchFamily="34" charset="-78"/>
                <a:ea typeface="Arial" pitchFamily="34" charset="-122"/>
                <a:cs typeface="Dubai" panose="020B0503030403030204" pitchFamily="34" charset="-78"/>
              </a:rPr>
              <a:t>1</a:t>
            </a:r>
            <a:endParaRPr lang="ar-SA" sz="1800" dirty="0">
              <a:latin typeface="Dubai" panose="020B0503030403030204" pitchFamily="34" charset="-78"/>
              <a:cs typeface="Dubai" panose="020B0503030403030204" pitchFamily="34" charset="-78"/>
            </a:endParaRPr>
          </a:p>
        </p:txBody>
      </p:sp>
      <p:sp>
        <p:nvSpPr>
          <p:cNvPr id="11" name="Text 9"/>
          <p:cNvSpPr/>
          <p:nvPr/>
        </p:nvSpPr>
        <p:spPr>
          <a:xfrm>
            <a:off x="8259775" y="3886200"/>
            <a:ext cx="3200400" cy="411480"/>
          </a:xfrm>
          <a:prstGeom prst="rect">
            <a:avLst/>
          </a:prstGeom>
          <a:noFill/>
          <a:ln/>
        </p:spPr>
        <p:txBody>
          <a:bodyPr wrap="square" rtlCol="0" anchor="ctr"/>
          <a:lstStyle/>
          <a:p>
            <a:pPr marL="0" indent="0" algn="ctr" rtl="1">
              <a:buNone/>
            </a:pPr>
            <a:r>
              <a:rPr lang="ar-SA" altLang="en-US" sz="2000" b="1" dirty="0">
                <a:solidFill>
                  <a:srgbClr val="0A3540"/>
                </a:solidFill>
                <a:latin typeface="Dubai" panose="020B0503030403030204" pitchFamily="34" charset="-78"/>
                <a:ea typeface="Arial" pitchFamily="34" charset="-122"/>
                <a:cs typeface="Dubai" panose="020B0503030403030204" pitchFamily="34" charset="-78"/>
              </a:rPr>
              <a:t>لغة واحدة</a:t>
            </a:r>
            <a:endParaRPr lang="ar-SA" sz="2000" dirty="0">
              <a:latin typeface="Dubai" panose="020B0503030403030204" pitchFamily="34" charset="-78"/>
              <a:cs typeface="Dubai" panose="020B0503030403030204" pitchFamily="34" charset="-78"/>
            </a:endParaRPr>
          </a:p>
        </p:txBody>
      </p:sp>
      <p:sp>
        <p:nvSpPr>
          <p:cNvPr id="12" name="Text 10"/>
          <p:cNvSpPr/>
          <p:nvPr/>
        </p:nvSpPr>
        <p:spPr>
          <a:xfrm>
            <a:off x="8351215" y="4343400"/>
            <a:ext cx="3017520" cy="1371600"/>
          </a:xfrm>
          <a:prstGeom prst="rect">
            <a:avLst/>
          </a:prstGeom>
          <a:noFill/>
          <a:ln/>
        </p:spPr>
        <p:txBody>
          <a:bodyPr wrap="square" rtlCol="0" anchor="t"/>
          <a:lstStyle/>
          <a:p>
            <a:pPr marL="0" indent="0" algn="ctr" rtl="1">
              <a:lnSpc>
                <a:spcPct val="130000"/>
              </a:lnSpc>
              <a:buNone/>
            </a:pPr>
            <a:r>
              <a:rPr lang="ar-SA" altLang="en-US" sz="1600" dirty="0">
                <a:solidFill>
                  <a:srgbClr val="587078"/>
                </a:solidFill>
                <a:latin typeface="Dubai" panose="020B0503030403030204" pitchFamily="34" charset="-78"/>
                <a:ea typeface="Arial" pitchFamily="34" charset="-122"/>
                <a:cs typeface="Dubai" panose="020B0503030403030204" pitchFamily="34" charset="-78"/>
              </a:rPr>
              <a:t>كلّ تشخيصٍ وتحليلٍ ودواءٍ يُكتب بصيغة قياسية واحدة يفهمها أيّ نظامٍ صحي حديث في العالم.</a:t>
            </a:r>
            <a:endParaRPr lang="ar-SA" sz="1600" dirty="0">
              <a:latin typeface="Dubai" panose="020B0503030403030204" pitchFamily="34" charset="-78"/>
              <a:cs typeface="Dubai" panose="020B0503030403030204" pitchFamily="34" charset="-78"/>
            </a:endParaRPr>
          </a:p>
        </p:txBody>
      </p:sp>
      <p:sp>
        <p:nvSpPr>
          <p:cNvPr id="13" name="Shape 11"/>
          <p:cNvSpPr/>
          <p:nvPr/>
        </p:nvSpPr>
        <p:spPr>
          <a:xfrm>
            <a:off x="4309567" y="2926080"/>
            <a:ext cx="3566160" cy="2880360"/>
          </a:xfrm>
          <a:prstGeom prst="roundRect">
            <a:avLst>
              <a:gd name="adj" fmla="val 2540"/>
            </a:avLst>
          </a:prstGeom>
          <a:solidFill>
            <a:srgbClr val="F2F8F8"/>
          </a:solidFill>
          <a:ln w="9525">
            <a:solidFill>
              <a:srgbClr val="D9E7E9"/>
            </a:solidFill>
            <a:prstDash val="solid"/>
          </a:ln>
        </p:spPr>
      </p:sp>
      <p:sp>
        <p:nvSpPr>
          <p:cNvPr id="14" name="Shape 12"/>
          <p:cNvSpPr/>
          <p:nvPr/>
        </p:nvSpPr>
        <p:spPr>
          <a:xfrm>
            <a:off x="5818327" y="3200400"/>
            <a:ext cx="548640" cy="548640"/>
          </a:xfrm>
          <a:prstGeom prst="ellipse">
            <a:avLst/>
          </a:prstGeom>
          <a:solidFill>
            <a:srgbClr val="02C39A"/>
          </a:solidFill>
          <a:ln/>
        </p:spPr>
      </p:sp>
      <p:sp>
        <p:nvSpPr>
          <p:cNvPr id="15" name="Text 13"/>
          <p:cNvSpPr/>
          <p:nvPr/>
        </p:nvSpPr>
        <p:spPr>
          <a:xfrm>
            <a:off x="5818327" y="3200400"/>
            <a:ext cx="548640" cy="548640"/>
          </a:xfrm>
          <a:prstGeom prst="rect">
            <a:avLst/>
          </a:prstGeom>
          <a:noFill/>
          <a:ln/>
        </p:spPr>
        <p:txBody>
          <a:bodyPr wrap="square" lIns="0" tIns="0" rIns="0" bIns="0" rtlCol="0" anchor="ctr"/>
          <a:lstStyle/>
          <a:p>
            <a:pPr marL="0" indent="0" algn="ctr" rtl="1">
              <a:buNone/>
            </a:pPr>
            <a:r>
              <a:rPr lang="en-US" altLang="en-US" sz="1800" b="1" dirty="0">
                <a:solidFill>
                  <a:srgbClr val="FFFFFF"/>
                </a:solidFill>
                <a:latin typeface="Dubai" panose="020B0503030403030204" pitchFamily="34" charset="-78"/>
                <a:ea typeface="Arial" pitchFamily="34" charset="-122"/>
                <a:cs typeface="Dubai" panose="020B0503030403030204" pitchFamily="34" charset="-78"/>
              </a:rPr>
              <a:t>2</a:t>
            </a:r>
            <a:endParaRPr lang="ar-SA" sz="1800" dirty="0">
              <a:latin typeface="Dubai" panose="020B0503030403030204" pitchFamily="34" charset="-78"/>
              <a:cs typeface="Dubai" panose="020B0503030403030204" pitchFamily="34" charset="-78"/>
            </a:endParaRPr>
          </a:p>
        </p:txBody>
      </p:sp>
      <p:sp>
        <p:nvSpPr>
          <p:cNvPr id="16" name="Text 14"/>
          <p:cNvSpPr/>
          <p:nvPr/>
        </p:nvSpPr>
        <p:spPr>
          <a:xfrm>
            <a:off x="4492447" y="3886200"/>
            <a:ext cx="3200400" cy="411480"/>
          </a:xfrm>
          <a:prstGeom prst="rect">
            <a:avLst/>
          </a:prstGeom>
          <a:noFill/>
          <a:ln/>
        </p:spPr>
        <p:txBody>
          <a:bodyPr wrap="square" rtlCol="0" anchor="ctr"/>
          <a:lstStyle/>
          <a:p>
            <a:pPr marL="0" indent="0" algn="ctr" rtl="1">
              <a:buNone/>
            </a:pPr>
            <a:r>
              <a:rPr lang="ar-SA" altLang="en-US" sz="2000" b="1" dirty="0">
                <a:solidFill>
                  <a:srgbClr val="0A3540"/>
                </a:solidFill>
                <a:latin typeface="Dubai" panose="020B0503030403030204" pitchFamily="34" charset="-78"/>
                <a:ea typeface="Arial" pitchFamily="34" charset="-122"/>
                <a:cs typeface="Dubai" panose="020B0503030403030204" pitchFamily="34" charset="-78"/>
              </a:rPr>
              <a:t>ذاكرة كاملة</a:t>
            </a:r>
            <a:endParaRPr lang="ar-SA" sz="2000" dirty="0">
              <a:latin typeface="Dubai" panose="020B0503030403030204" pitchFamily="34" charset="-78"/>
              <a:cs typeface="Dubai" panose="020B0503030403030204" pitchFamily="34" charset="-78"/>
            </a:endParaRPr>
          </a:p>
        </p:txBody>
      </p:sp>
      <p:sp>
        <p:nvSpPr>
          <p:cNvPr id="17" name="Text 15"/>
          <p:cNvSpPr/>
          <p:nvPr/>
        </p:nvSpPr>
        <p:spPr>
          <a:xfrm>
            <a:off x="4583887" y="4343400"/>
            <a:ext cx="3017520" cy="1371600"/>
          </a:xfrm>
          <a:prstGeom prst="rect">
            <a:avLst/>
          </a:prstGeom>
          <a:noFill/>
          <a:ln/>
        </p:spPr>
        <p:txBody>
          <a:bodyPr wrap="square" rtlCol="0" anchor="t"/>
          <a:lstStyle/>
          <a:p>
            <a:pPr marL="0" indent="0" algn="ctr" rtl="1">
              <a:lnSpc>
                <a:spcPct val="130000"/>
              </a:lnSpc>
              <a:buNone/>
            </a:pPr>
            <a:r>
              <a:rPr lang="ar-SA" altLang="en-US" sz="1600" dirty="0">
                <a:solidFill>
                  <a:srgbClr val="587078"/>
                </a:solidFill>
                <a:latin typeface="Dubai" panose="020B0503030403030204" pitchFamily="34" charset="-78"/>
                <a:ea typeface="Arial" pitchFamily="34" charset="-122"/>
                <a:cs typeface="Dubai" panose="020B0503030403030204" pitchFamily="34" charset="-78"/>
              </a:rPr>
              <a:t>كلّ تعديلٍ على الملف محفوظ بنسخته وتاريخه وصاحبه — فلا يضيع شيء، ويمكن دائماً معرفة من غيّر وماذا.</a:t>
            </a:r>
            <a:endParaRPr lang="ar-SA" sz="1600" dirty="0">
              <a:latin typeface="Dubai" panose="020B0503030403030204" pitchFamily="34" charset="-78"/>
              <a:cs typeface="Dubai" panose="020B0503030403030204" pitchFamily="34" charset="-78"/>
            </a:endParaRPr>
          </a:p>
        </p:txBody>
      </p:sp>
      <p:sp>
        <p:nvSpPr>
          <p:cNvPr id="18" name="Shape 16"/>
          <p:cNvSpPr/>
          <p:nvPr/>
        </p:nvSpPr>
        <p:spPr>
          <a:xfrm>
            <a:off x="542239" y="2926080"/>
            <a:ext cx="3566160" cy="2880360"/>
          </a:xfrm>
          <a:prstGeom prst="roundRect">
            <a:avLst>
              <a:gd name="adj" fmla="val 2540"/>
            </a:avLst>
          </a:prstGeom>
          <a:solidFill>
            <a:srgbClr val="F2F8F8"/>
          </a:solidFill>
          <a:ln w="9525">
            <a:solidFill>
              <a:srgbClr val="D9E7E9"/>
            </a:solidFill>
            <a:prstDash val="solid"/>
          </a:ln>
        </p:spPr>
      </p:sp>
      <p:sp>
        <p:nvSpPr>
          <p:cNvPr id="19" name="Shape 17"/>
          <p:cNvSpPr/>
          <p:nvPr/>
        </p:nvSpPr>
        <p:spPr>
          <a:xfrm>
            <a:off x="2050999" y="3200400"/>
            <a:ext cx="548640" cy="548640"/>
          </a:xfrm>
          <a:prstGeom prst="ellipse">
            <a:avLst/>
          </a:prstGeom>
          <a:solidFill>
            <a:srgbClr val="E9B44C"/>
          </a:solidFill>
          <a:ln/>
        </p:spPr>
        <p:txBody>
          <a:bodyPr/>
          <a:lstStyle/>
          <a:p>
            <a:endParaRPr lang="en-US" dirty="0"/>
          </a:p>
        </p:txBody>
      </p:sp>
      <p:sp>
        <p:nvSpPr>
          <p:cNvPr id="20" name="Text 18"/>
          <p:cNvSpPr/>
          <p:nvPr/>
        </p:nvSpPr>
        <p:spPr>
          <a:xfrm>
            <a:off x="2050999" y="3200400"/>
            <a:ext cx="548640" cy="548640"/>
          </a:xfrm>
          <a:prstGeom prst="rect">
            <a:avLst/>
          </a:prstGeom>
          <a:noFill/>
          <a:ln/>
        </p:spPr>
        <p:txBody>
          <a:bodyPr wrap="square" lIns="0" tIns="0" rIns="0" bIns="0" rtlCol="0" anchor="ctr"/>
          <a:lstStyle/>
          <a:p>
            <a:pPr marL="0" indent="0" algn="ctr" rtl="1">
              <a:buNone/>
            </a:pPr>
            <a:r>
              <a:rPr lang="en-US" altLang="en-US" sz="1800" b="1" dirty="0">
                <a:solidFill>
                  <a:srgbClr val="0A3540"/>
                </a:solidFill>
                <a:latin typeface="Dubai" panose="020B0503030403030204" pitchFamily="34" charset="-78"/>
                <a:ea typeface="Arial" pitchFamily="34" charset="-122"/>
                <a:cs typeface="Dubai" panose="020B0503030403030204" pitchFamily="34" charset="-78"/>
              </a:rPr>
              <a:t>3</a:t>
            </a:r>
            <a:endParaRPr lang="ar-SA" sz="1800" dirty="0">
              <a:latin typeface="Dubai" panose="020B0503030403030204" pitchFamily="34" charset="-78"/>
              <a:cs typeface="Dubai" panose="020B0503030403030204" pitchFamily="34" charset="-78"/>
            </a:endParaRPr>
          </a:p>
        </p:txBody>
      </p:sp>
      <p:sp>
        <p:nvSpPr>
          <p:cNvPr id="21" name="Text 19"/>
          <p:cNvSpPr/>
          <p:nvPr/>
        </p:nvSpPr>
        <p:spPr>
          <a:xfrm>
            <a:off x="725119" y="3886200"/>
            <a:ext cx="3200400" cy="411480"/>
          </a:xfrm>
          <a:prstGeom prst="rect">
            <a:avLst/>
          </a:prstGeom>
          <a:noFill/>
          <a:ln/>
        </p:spPr>
        <p:txBody>
          <a:bodyPr wrap="square" rtlCol="0" anchor="ctr"/>
          <a:lstStyle/>
          <a:p>
            <a:pPr marL="0" indent="0" algn="ctr" rtl="1">
              <a:buNone/>
            </a:pPr>
            <a:r>
              <a:rPr lang="ar-SA" altLang="en-US" sz="2000" b="1" dirty="0">
                <a:solidFill>
                  <a:srgbClr val="0A3540"/>
                </a:solidFill>
                <a:latin typeface="Dubai" panose="020B0503030403030204" pitchFamily="34" charset="-78"/>
                <a:ea typeface="Arial" pitchFamily="34" charset="-122"/>
                <a:cs typeface="Dubai" panose="020B0503030403030204" pitchFamily="34" charset="-78"/>
              </a:rPr>
              <a:t>جاهز للربط</a:t>
            </a:r>
            <a:endParaRPr lang="ar-SA" sz="2000" dirty="0">
              <a:latin typeface="Dubai" panose="020B0503030403030204" pitchFamily="34" charset="-78"/>
              <a:cs typeface="Dubai" panose="020B0503030403030204" pitchFamily="34" charset="-78"/>
            </a:endParaRPr>
          </a:p>
        </p:txBody>
      </p:sp>
      <p:sp>
        <p:nvSpPr>
          <p:cNvPr id="22" name="Text 20"/>
          <p:cNvSpPr/>
          <p:nvPr/>
        </p:nvSpPr>
        <p:spPr>
          <a:xfrm>
            <a:off x="816559" y="4343400"/>
            <a:ext cx="3017520" cy="1371600"/>
          </a:xfrm>
          <a:prstGeom prst="rect">
            <a:avLst/>
          </a:prstGeom>
          <a:noFill/>
          <a:ln/>
        </p:spPr>
        <p:txBody>
          <a:bodyPr wrap="square" rtlCol="0" anchor="t"/>
          <a:lstStyle/>
          <a:p>
            <a:pPr marL="0" indent="0" algn="ctr" rtl="1">
              <a:lnSpc>
                <a:spcPct val="130000"/>
              </a:lnSpc>
              <a:buNone/>
            </a:pPr>
            <a:r>
              <a:rPr lang="ar-SA" altLang="en-US" sz="1600" dirty="0">
                <a:solidFill>
                  <a:srgbClr val="587078"/>
                </a:solidFill>
                <a:latin typeface="Dubai" panose="020B0503030403030204" pitchFamily="34" charset="-78"/>
                <a:ea typeface="Arial" pitchFamily="34" charset="-122"/>
                <a:cs typeface="Dubai" panose="020B0503030403030204" pitchFamily="34" charset="-78"/>
              </a:rPr>
              <a:t>لأنّ نظامنا يتكلّم اللغة نفسها، يستطيع غداً تبادل الملفات مع أيّ مشفى أو نظامٍ يعتمد المعيار ذاته.</a:t>
            </a:r>
            <a:endParaRPr lang="ar-SA" sz="1600" dirty="0">
              <a:latin typeface="Dubai" panose="020B0503030403030204" pitchFamily="34" charset="-78"/>
              <a:cs typeface="Dubai" panose="020B0503030403030204" pitchFamily="34" charset="-78"/>
            </a:endParaRPr>
          </a:p>
        </p:txBody>
      </p:sp>
    </p:spTree>
  </p:cSld>
  <p:clrMapOvr>
    <a:masterClrMapping/>
  </p:clrMapOvr>
  <p:transition spd="slow">
    <p:wipe dir="r"/>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indent="0" algn="r" rtl="1">
              <a:buNone/>
            </a:pPr>
            <a:r>
              <a:rPr lang="ar-SA" altLang="en-US" sz="900" dirty="0">
                <a:solidFill>
                  <a:srgbClr val="587078"/>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900" dirty="0">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indent="0" algn="l">
              <a:buNone/>
            </a:pPr>
            <a:r>
              <a:rPr lang="en-US" sz="900" dirty="0">
                <a:solidFill>
                  <a:srgbClr val="587078"/>
                </a:solidFill>
                <a:latin typeface="Arial" pitchFamily="34" charset="0"/>
                <a:ea typeface="Arial" pitchFamily="34" charset="-122"/>
                <a:cs typeface="Arial" pitchFamily="34" charset="-120"/>
              </a:rPr>
              <a:t>8</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indent="0" algn="r" rtl="1">
              <a:buNone/>
            </a:pPr>
            <a:r>
              <a:rPr lang="ar-SA" altLang="en-US" sz="2900" b="1" dirty="0">
                <a:solidFill>
                  <a:srgbClr val="0A3540"/>
                </a:solidFill>
                <a:latin typeface="Dubai" panose="020B0503030403030204" pitchFamily="34" charset="-78"/>
                <a:ea typeface="Arial" pitchFamily="34" charset="-122"/>
                <a:cs typeface="Dubai" panose="020B0503030403030204" pitchFamily="34" charset="-78"/>
              </a:rPr>
              <a:t>الطبقة الثانية: مساعدٌ يقظ إلى جانب الطبيب</a:t>
            </a:r>
            <a:endParaRPr lang="ar-SA" sz="2900" dirty="0">
              <a:latin typeface="Dubai" panose="020B0503030403030204" pitchFamily="34" charset="-78"/>
              <a:cs typeface="Dubai" panose="020B0503030403030204" pitchFamily="34" charset="-78"/>
            </a:endParaRPr>
          </a:p>
        </p:txBody>
      </p:sp>
      <p:sp>
        <p:nvSpPr>
          <p:cNvPr id="5" name="Text 3"/>
          <p:cNvSpPr/>
          <p:nvPr/>
        </p:nvSpPr>
        <p:spPr>
          <a:xfrm>
            <a:off x="548640" y="859536"/>
            <a:ext cx="11094415" cy="347472"/>
          </a:xfrm>
          <a:prstGeom prst="rect">
            <a:avLst/>
          </a:prstGeom>
          <a:noFill/>
          <a:ln/>
        </p:spPr>
        <p:txBody>
          <a:bodyPr wrap="square" lIns="0" tIns="0" rIns="0" bIns="0" rtlCol="0" anchor="ctr"/>
          <a:lstStyle/>
          <a:p>
            <a:pPr marL="0" indent="0" algn="r" rtl="1">
              <a:buNone/>
            </a:pPr>
            <a:r>
              <a:rPr lang="ar-SA" altLang="en-US" sz="1400" dirty="0">
                <a:solidFill>
                  <a:srgbClr val="0E7C86"/>
                </a:solidFill>
                <a:latin typeface="Dubai" panose="020B0503030403030204" pitchFamily="34" charset="-78"/>
                <a:ea typeface="Arial" pitchFamily="34" charset="-122"/>
                <a:cs typeface="Dubai" panose="020B0503030403030204" pitchFamily="34" charset="-78"/>
              </a:rPr>
              <a:t>دعم القرار السريري — تنبيهٌ في اللحظة المناسبة</a:t>
            </a:r>
            <a:endParaRPr lang="ar-SA" sz="1400" dirty="0">
              <a:latin typeface="Dubai" panose="020B0503030403030204" pitchFamily="34" charset="-78"/>
              <a:cs typeface="Dubai" panose="020B0503030403030204" pitchFamily="34" charset="-78"/>
            </a:endParaRPr>
          </a:p>
        </p:txBody>
      </p:sp>
      <p:sp>
        <p:nvSpPr>
          <p:cNvPr id="6" name="Shape 4"/>
          <p:cNvSpPr/>
          <p:nvPr/>
        </p:nvSpPr>
        <p:spPr>
          <a:xfrm>
            <a:off x="8351215" y="1737360"/>
            <a:ext cx="3291840" cy="777240"/>
          </a:xfrm>
          <a:prstGeom prst="roundRect">
            <a:avLst>
              <a:gd name="adj" fmla="val 11765"/>
            </a:avLst>
          </a:prstGeom>
          <a:solidFill>
            <a:srgbClr val="0A3540"/>
          </a:solidFill>
          <a:ln/>
        </p:spPr>
      </p:sp>
      <p:sp>
        <p:nvSpPr>
          <p:cNvPr id="7" name="Text 5"/>
          <p:cNvSpPr/>
          <p:nvPr/>
        </p:nvSpPr>
        <p:spPr>
          <a:xfrm>
            <a:off x="8351215" y="1737360"/>
            <a:ext cx="3291840" cy="777240"/>
          </a:xfrm>
          <a:prstGeom prst="rect">
            <a:avLst/>
          </a:prstGeom>
          <a:noFill/>
          <a:ln/>
        </p:spPr>
        <p:txBody>
          <a:bodyPr wrap="square" lIns="0" tIns="0" rIns="0" bIns="0" rtlCol="0" anchor="ctr"/>
          <a:lstStyle/>
          <a:p>
            <a:pPr marL="0" indent="0" algn="ctr" rtl="1">
              <a:buNone/>
            </a:pPr>
            <a:r>
              <a:rPr lang="ar-SA" altLang="en-US" sz="1600" b="1" dirty="0">
                <a:solidFill>
                  <a:srgbClr val="FFFFFF"/>
                </a:solidFill>
                <a:latin typeface="Dubai" panose="020B0503030403030204" pitchFamily="34" charset="-78"/>
                <a:ea typeface="Arial" pitchFamily="34" charset="-122"/>
                <a:cs typeface="Dubai" panose="020B0503030403030204" pitchFamily="34" charset="-78"/>
              </a:rPr>
              <a:t>يصف الطبيب دواءً</a:t>
            </a:r>
            <a:endParaRPr lang="ar-SA" sz="1600" dirty="0">
              <a:latin typeface="Dubai" panose="020B0503030403030204" pitchFamily="34" charset="-78"/>
              <a:cs typeface="Dubai" panose="020B0503030403030204" pitchFamily="34" charset="-78"/>
            </a:endParaRPr>
          </a:p>
        </p:txBody>
      </p:sp>
      <p:sp>
        <p:nvSpPr>
          <p:cNvPr id="8" name="Text 6"/>
          <p:cNvSpPr/>
          <p:nvPr/>
        </p:nvSpPr>
        <p:spPr>
          <a:xfrm>
            <a:off x="7711135" y="1737360"/>
            <a:ext cx="640080" cy="777240"/>
          </a:xfrm>
          <a:prstGeom prst="rect">
            <a:avLst/>
          </a:prstGeom>
          <a:noFill/>
          <a:ln/>
        </p:spPr>
        <p:txBody>
          <a:bodyPr wrap="square" lIns="0" tIns="0" rIns="0" bIns="0" rtlCol="0" anchor="ctr"/>
          <a:lstStyle/>
          <a:p>
            <a:pPr marL="0" indent="0" algn="ctr">
              <a:buNone/>
            </a:pPr>
            <a:r>
              <a:rPr lang="en-US" sz="1600" dirty="0">
                <a:solidFill>
                  <a:srgbClr val="0E7C86"/>
                </a:solidFill>
                <a:latin typeface="Dubai" panose="020B0503030403030204" pitchFamily="34" charset="-78"/>
                <a:ea typeface="Arial" pitchFamily="34" charset="-122"/>
                <a:cs typeface="Dubai" panose="020B0503030403030204" pitchFamily="34" charset="-78"/>
              </a:rPr>
              <a:t>◀</a:t>
            </a:r>
            <a:endParaRPr lang="en-US" sz="1600" dirty="0">
              <a:latin typeface="Dubai" panose="020B0503030403030204" pitchFamily="34" charset="-78"/>
              <a:cs typeface="Dubai" panose="020B0503030403030204" pitchFamily="34" charset="-78"/>
            </a:endParaRPr>
          </a:p>
        </p:txBody>
      </p:sp>
      <p:sp>
        <p:nvSpPr>
          <p:cNvPr id="9" name="Shape 7"/>
          <p:cNvSpPr/>
          <p:nvPr/>
        </p:nvSpPr>
        <p:spPr>
          <a:xfrm>
            <a:off x="4419295" y="1737360"/>
            <a:ext cx="3291840" cy="777240"/>
          </a:xfrm>
          <a:prstGeom prst="roundRect">
            <a:avLst>
              <a:gd name="adj" fmla="val 11765"/>
            </a:avLst>
          </a:prstGeom>
          <a:solidFill>
            <a:srgbClr val="0A3540"/>
          </a:solidFill>
          <a:ln/>
        </p:spPr>
      </p:sp>
      <p:sp>
        <p:nvSpPr>
          <p:cNvPr id="10" name="Text 8"/>
          <p:cNvSpPr/>
          <p:nvPr/>
        </p:nvSpPr>
        <p:spPr>
          <a:xfrm>
            <a:off x="4419295" y="1737360"/>
            <a:ext cx="3291840" cy="777240"/>
          </a:xfrm>
          <a:prstGeom prst="rect">
            <a:avLst/>
          </a:prstGeom>
          <a:noFill/>
          <a:ln/>
        </p:spPr>
        <p:txBody>
          <a:bodyPr wrap="square" lIns="0" tIns="0" rIns="0" bIns="0" rtlCol="0" anchor="ctr"/>
          <a:lstStyle/>
          <a:p>
            <a:pPr marL="0" indent="0" algn="ctr" rtl="1">
              <a:buNone/>
            </a:pPr>
            <a:r>
              <a:rPr lang="ar-SA" altLang="en-US" sz="1600" b="1" dirty="0">
                <a:solidFill>
                  <a:srgbClr val="FFFFFF"/>
                </a:solidFill>
                <a:latin typeface="Dubai" panose="020B0503030403030204" pitchFamily="34" charset="-78"/>
                <a:ea typeface="Arial" pitchFamily="34" charset="-122"/>
                <a:cs typeface="Dubai" panose="020B0503030403030204" pitchFamily="34" charset="-78"/>
              </a:rPr>
              <a:t>يفحص النظام الوصفة تلقائياً</a:t>
            </a:r>
            <a:endParaRPr lang="ar-SA" sz="1600" dirty="0">
              <a:latin typeface="Dubai" panose="020B0503030403030204" pitchFamily="34" charset="-78"/>
              <a:cs typeface="Dubai" panose="020B0503030403030204" pitchFamily="34" charset="-78"/>
            </a:endParaRPr>
          </a:p>
        </p:txBody>
      </p:sp>
      <p:sp>
        <p:nvSpPr>
          <p:cNvPr id="11" name="Text 9"/>
          <p:cNvSpPr/>
          <p:nvPr/>
        </p:nvSpPr>
        <p:spPr>
          <a:xfrm>
            <a:off x="3779215" y="1737360"/>
            <a:ext cx="640080" cy="777240"/>
          </a:xfrm>
          <a:prstGeom prst="rect">
            <a:avLst/>
          </a:prstGeom>
          <a:noFill/>
          <a:ln/>
        </p:spPr>
        <p:txBody>
          <a:bodyPr wrap="square" lIns="0" tIns="0" rIns="0" bIns="0" rtlCol="0" anchor="ctr"/>
          <a:lstStyle/>
          <a:p>
            <a:pPr marL="0" indent="0" algn="ctr">
              <a:buNone/>
            </a:pPr>
            <a:r>
              <a:rPr lang="en-US" sz="1600" dirty="0">
                <a:solidFill>
                  <a:srgbClr val="0E7C86"/>
                </a:solidFill>
                <a:latin typeface="Dubai" panose="020B0503030403030204" pitchFamily="34" charset="-78"/>
                <a:ea typeface="Arial" pitchFamily="34" charset="-122"/>
                <a:cs typeface="Dubai" panose="020B0503030403030204" pitchFamily="34" charset="-78"/>
              </a:rPr>
              <a:t>◀</a:t>
            </a:r>
            <a:endParaRPr lang="en-US" sz="1600" dirty="0">
              <a:latin typeface="Dubai" panose="020B0503030403030204" pitchFamily="34" charset="-78"/>
              <a:cs typeface="Dubai" panose="020B0503030403030204" pitchFamily="34" charset="-78"/>
            </a:endParaRPr>
          </a:p>
        </p:txBody>
      </p:sp>
      <p:sp>
        <p:nvSpPr>
          <p:cNvPr id="12" name="Shape 10"/>
          <p:cNvSpPr/>
          <p:nvPr/>
        </p:nvSpPr>
        <p:spPr>
          <a:xfrm>
            <a:off x="487375" y="1737360"/>
            <a:ext cx="3291840" cy="777240"/>
          </a:xfrm>
          <a:prstGeom prst="roundRect">
            <a:avLst>
              <a:gd name="adj" fmla="val 11765"/>
            </a:avLst>
          </a:prstGeom>
          <a:solidFill>
            <a:srgbClr val="02C39A"/>
          </a:solidFill>
          <a:ln/>
        </p:spPr>
      </p:sp>
      <p:sp>
        <p:nvSpPr>
          <p:cNvPr id="13" name="Text 11"/>
          <p:cNvSpPr/>
          <p:nvPr/>
        </p:nvSpPr>
        <p:spPr>
          <a:xfrm>
            <a:off x="487375" y="1737360"/>
            <a:ext cx="3291840" cy="777240"/>
          </a:xfrm>
          <a:prstGeom prst="rect">
            <a:avLst/>
          </a:prstGeom>
          <a:noFill/>
          <a:ln/>
        </p:spPr>
        <p:txBody>
          <a:bodyPr wrap="square" lIns="0" tIns="0" rIns="0" bIns="0" rtlCol="0" anchor="ctr"/>
          <a:lstStyle/>
          <a:p>
            <a:pPr marL="0" indent="0" algn="ctr" rtl="1">
              <a:buNone/>
            </a:pPr>
            <a:r>
              <a:rPr lang="ar-SA" altLang="en-US" sz="1600" b="1" dirty="0">
                <a:solidFill>
                  <a:srgbClr val="FFFFFF"/>
                </a:solidFill>
                <a:latin typeface="Dubai" panose="020B0503030403030204" pitchFamily="34" charset="-78"/>
                <a:ea typeface="Arial" pitchFamily="34" charset="-122"/>
                <a:cs typeface="Dubai" panose="020B0503030403030204" pitchFamily="34" charset="-78"/>
              </a:rPr>
              <a:t>يظهر تنبيهٌ فوري عند الخطر</a:t>
            </a:r>
            <a:endParaRPr lang="ar-SA" sz="1600" dirty="0">
              <a:latin typeface="Dubai" panose="020B0503030403030204" pitchFamily="34" charset="-78"/>
              <a:cs typeface="Dubai" panose="020B0503030403030204" pitchFamily="34" charset="-78"/>
            </a:endParaRPr>
          </a:p>
        </p:txBody>
      </p:sp>
      <p:sp>
        <p:nvSpPr>
          <p:cNvPr id="14" name="Shape 12"/>
          <p:cNvSpPr/>
          <p:nvPr/>
        </p:nvSpPr>
        <p:spPr>
          <a:xfrm>
            <a:off x="6193231" y="2971800"/>
            <a:ext cx="5449824" cy="2148840"/>
          </a:xfrm>
          <a:prstGeom prst="roundRect">
            <a:avLst>
              <a:gd name="adj" fmla="val 3404"/>
            </a:avLst>
          </a:prstGeom>
          <a:solidFill>
            <a:srgbClr val="F2F8F8"/>
          </a:solidFill>
          <a:ln w="9525">
            <a:solidFill>
              <a:srgbClr val="D9E7E9"/>
            </a:solidFill>
            <a:prstDash val="solid"/>
          </a:ln>
        </p:spPr>
      </p:sp>
      <p:sp>
        <p:nvSpPr>
          <p:cNvPr id="15" name="Text 13"/>
          <p:cNvSpPr/>
          <p:nvPr/>
        </p:nvSpPr>
        <p:spPr>
          <a:xfrm>
            <a:off x="6467551" y="3200400"/>
            <a:ext cx="4901184" cy="457200"/>
          </a:xfrm>
          <a:prstGeom prst="rect">
            <a:avLst/>
          </a:prstGeom>
          <a:noFill/>
          <a:ln/>
        </p:spPr>
        <p:txBody>
          <a:bodyPr wrap="square" lIns="0" tIns="0" rIns="0" bIns="0" rtlCol="0" anchor="ctr"/>
          <a:lstStyle/>
          <a:p>
            <a:pPr marL="0" indent="0" algn="r" rtl="1">
              <a:buNone/>
            </a:pPr>
            <a:r>
              <a:rPr lang="ar-SA" altLang="en-US" b="1" dirty="0">
                <a:solidFill>
                  <a:srgbClr val="0E7C86"/>
                </a:solidFill>
                <a:latin typeface="Dubai" panose="020B0503030403030204" pitchFamily="34" charset="-78"/>
                <a:ea typeface="Arial" pitchFamily="34" charset="-122"/>
                <a:cs typeface="Dubai" panose="020B0503030403030204" pitchFamily="34" charset="-78"/>
              </a:rPr>
              <a:t>من أين تأتي قواعد التنبيه؟</a:t>
            </a:r>
            <a:endParaRPr lang="ar-SA" dirty="0">
              <a:latin typeface="Dubai" panose="020B0503030403030204" pitchFamily="34" charset="-78"/>
              <a:cs typeface="Dubai" panose="020B0503030403030204" pitchFamily="34" charset="-78"/>
            </a:endParaRPr>
          </a:p>
        </p:txBody>
      </p:sp>
      <p:sp>
        <p:nvSpPr>
          <p:cNvPr id="16" name="Text 14"/>
          <p:cNvSpPr/>
          <p:nvPr/>
        </p:nvSpPr>
        <p:spPr>
          <a:xfrm>
            <a:off x="6467551" y="3703320"/>
            <a:ext cx="4901184" cy="1280160"/>
          </a:xfrm>
          <a:prstGeom prst="rect">
            <a:avLst/>
          </a:prstGeom>
          <a:noFill/>
          <a:ln/>
        </p:spPr>
        <p:txBody>
          <a:bodyPr wrap="square" lIns="0" tIns="0" rIns="0" bIns="0" rtlCol="0" anchor="t"/>
          <a:lstStyle/>
          <a:p>
            <a:pPr marL="0" indent="0" algn="r" rtl="1">
              <a:lnSpc>
                <a:spcPct val="130000"/>
              </a:lnSpc>
              <a:buNone/>
            </a:pPr>
            <a:r>
              <a:rPr lang="ar-SA" altLang="en-US" sz="1600" dirty="0">
                <a:solidFill>
                  <a:srgbClr val="587078"/>
                </a:solidFill>
                <a:latin typeface="Dubai" panose="020B0503030403030204" pitchFamily="34" charset="-78"/>
                <a:ea typeface="Arial" pitchFamily="34" charset="-122"/>
                <a:cs typeface="Dubai" panose="020B0503030403030204" pitchFamily="34" charset="-78"/>
              </a:rPr>
              <a:t>يكتبها مدير المؤسسة بنفسه من شاشة إعدادٍ بسيطة — يختار قالباً جاهزاً، يعدّل الشروط، يجرّب القاعدة، ثم يفعّلها. من دون سطر برمجةٍ واحد.</a:t>
            </a:r>
            <a:endParaRPr lang="ar-SA" sz="1600" dirty="0">
              <a:latin typeface="Dubai" panose="020B0503030403030204" pitchFamily="34" charset="-78"/>
              <a:cs typeface="Dubai" panose="020B0503030403030204" pitchFamily="34" charset="-78"/>
            </a:endParaRPr>
          </a:p>
        </p:txBody>
      </p:sp>
      <p:sp>
        <p:nvSpPr>
          <p:cNvPr id="17" name="Shape 15"/>
          <p:cNvSpPr/>
          <p:nvPr/>
        </p:nvSpPr>
        <p:spPr>
          <a:xfrm>
            <a:off x="551383" y="2971800"/>
            <a:ext cx="5449824" cy="2148840"/>
          </a:xfrm>
          <a:prstGeom prst="roundRect">
            <a:avLst>
              <a:gd name="adj" fmla="val 3404"/>
            </a:avLst>
          </a:prstGeom>
          <a:solidFill>
            <a:srgbClr val="F2F8F8"/>
          </a:solidFill>
          <a:ln w="9525">
            <a:solidFill>
              <a:srgbClr val="D9E7E9"/>
            </a:solidFill>
            <a:prstDash val="solid"/>
          </a:ln>
        </p:spPr>
      </p:sp>
      <p:sp>
        <p:nvSpPr>
          <p:cNvPr id="18" name="Text 16"/>
          <p:cNvSpPr/>
          <p:nvPr/>
        </p:nvSpPr>
        <p:spPr>
          <a:xfrm>
            <a:off x="825703" y="3200400"/>
            <a:ext cx="4901184" cy="457200"/>
          </a:xfrm>
          <a:prstGeom prst="rect">
            <a:avLst/>
          </a:prstGeom>
          <a:noFill/>
          <a:ln/>
        </p:spPr>
        <p:txBody>
          <a:bodyPr wrap="square" lIns="0" tIns="0" rIns="0" bIns="0" rtlCol="0" anchor="ctr"/>
          <a:lstStyle/>
          <a:p>
            <a:pPr marL="0" indent="0" algn="r" rtl="1">
              <a:buNone/>
            </a:pPr>
            <a:r>
              <a:rPr lang="ar-SA" altLang="en-US" b="1" dirty="0">
                <a:solidFill>
                  <a:srgbClr val="0E7C86"/>
                </a:solidFill>
                <a:latin typeface="Dubai" panose="020B0503030403030204" pitchFamily="34" charset="-78"/>
                <a:ea typeface="Arial" pitchFamily="34" charset="-122"/>
                <a:cs typeface="Dubai" panose="020B0503030403030204" pitchFamily="34" charset="-78"/>
              </a:rPr>
              <a:t>على ماذا تستند التنبيهات؟</a:t>
            </a:r>
            <a:endParaRPr lang="ar-SA" dirty="0">
              <a:latin typeface="Dubai" panose="020B0503030403030204" pitchFamily="34" charset="-78"/>
              <a:cs typeface="Dubai" panose="020B0503030403030204" pitchFamily="34" charset="-78"/>
            </a:endParaRPr>
          </a:p>
        </p:txBody>
      </p:sp>
      <p:sp>
        <p:nvSpPr>
          <p:cNvPr id="19" name="Text 17"/>
          <p:cNvSpPr/>
          <p:nvPr/>
        </p:nvSpPr>
        <p:spPr>
          <a:xfrm>
            <a:off x="825703" y="3703320"/>
            <a:ext cx="4901184" cy="1280160"/>
          </a:xfrm>
          <a:prstGeom prst="rect">
            <a:avLst/>
          </a:prstGeom>
          <a:noFill/>
          <a:ln/>
        </p:spPr>
        <p:txBody>
          <a:bodyPr wrap="square" lIns="0" tIns="0" rIns="0" bIns="0" rtlCol="0" anchor="t"/>
          <a:lstStyle/>
          <a:p>
            <a:pPr marL="0" indent="0" algn="r" rtl="1">
              <a:lnSpc>
                <a:spcPct val="130000"/>
              </a:lnSpc>
              <a:buNone/>
            </a:pPr>
            <a:r>
              <a:rPr lang="ar-SA" altLang="en-US" sz="1600" dirty="0">
                <a:solidFill>
                  <a:srgbClr val="587078"/>
                </a:solidFill>
                <a:latin typeface="Dubai" panose="020B0503030403030204" pitchFamily="34" charset="-78"/>
                <a:ea typeface="Arial" pitchFamily="34" charset="-122"/>
                <a:cs typeface="Dubai" panose="020B0503030403030204" pitchFamily="34" charset="-78"/>
              </a:rPr>
              <a:t>على ثلاثة مصادر معاً: بيانات المريض نفسه، ومرجع الأدوية بجرعاتها القصوى وتداخلاتها، وتقديرات الذكاء الاصطناعي للمخاطر.</a:t>
            </a:r>
            <a:endParaRPr lang="ar-SA" sz="1600" dirty="0">
              <a:latin typeface="Dubai" panose="020B0503030403030204" pitchFamily="34" charset="-78"/>
              <a:cs typeface="Dubai" panose="020B0503030403030204" pitchFamily="34" charset="-78"/>
            </a:endParaRPr>
          </a:p>
        </p:txBody>
      </p:sp>
      <p:sp>
        <p:nvSpPr>
          <p:cNvPr id="20" name="Shape 18"/>
          <p:cNvSpPr/>
          <p:nvPr/>
        </p:nvSpPr>
        <p:spPr>
          <a:xfrm>
            <a:off x="548640" y="5394960"/>
            <a:ext cx="11094415" cy="731520"/>
          </a:xfrm>
          <a:prstGeom prst="roundRect">
            <a:avLst>
              <a:gd name="adj" fmla="val 10000"/>
            </a:avLst>
          </a:prstGeom>
          <a:solidFill>
            <a:srgbClr val="F2F8F8"/>
          </a:solidFill>
          <a:ln w="9525">
            <a:solidFill>
              <a:srgbClr val="D9E7E9"/>
            </a:solidFill>
            <a:prstDash val="solid"/>
          </a:ln>
        </p:spPr>
      </p:sp>
      <p:sp>
        <p:nvSpPr>
          <p:cNvPr id="21" name="Text 19"/>
          <p:cNvSpPr/>
          <p:nvPr/>
        </p:nvSpPr>
        <p:spPr>
          <a:xfrm>
            <a:off x="822960" y="5394960"/>
            <a:ext cx="10545775" cy="731520"/>
          </a:xfrm>
          <a:prstGeom prst="rect">
            <a:avLst/>
          </a:prstGeom>
          <a:noFill/>
          <a:ln/>
        </p:spPr>
        <p:txBody>
          <a:bodyPr wrap="square" rtlCol="0" anchor="ctr"/>
          <a:lstStyle/>
          <a:p>
            <a:pPr marL="0" indent="0" algn="ctr" rtl="1">
              <a:buNone/>
            </a:pPr>
            <a:r>
              <a:rPr lang="ar-SA" altLang="en-US" b="1" dirty="0">
                <a:solidFill>
                  <a:srgbClr val="0A3540"/>
                </a:solidFill>
                <a:latin typeface="Dubai" panose="020B0503030403030204" pitchFamily="34" charset="-78"/>
                <a:ea typeface="Arial" pitchFamily="34" charset="-122"/>
                <a:cs typeface="Dubai" panose="020B0503030403030204" pitchFamily="34" charset="-78"/>
              </a:rPr>
              <a:t>القرار الأخير دائماً للطبيب — النظام ينبّه ويقترح، ولا يقرّر بدلاً عنه.</a:t>
            </a:r>
            <a:endParaRPr lang="ar-SA" dirty="0">
              <a:latin typeface="Dubai" panose="020B0503030403030204" pitchFamily="34" charset="-78"/>
              <a:cs typeface="Dubai" panose="020B0503030403030204" pitchFamily="34" charset="-78"/>
            </a:endParaRPr>
          </a:p>
        </p:txBody>
      </p:sp>
    </p:spTree>
  </p:cSld>
  <p:clrMapOvr>
    <a:masterClrMapping/>
  </p:clrMapOvr>
  <p:transition spd="slow">
    <p:wipe dir="r"/>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indent="0" algn="r" rtl="1">
              <a:buNone/>
            </a:pPr>
            <a:r>
              <a:rPr lang="ar-SA" altLang="en-US" sz="900" dirty="0">
                <a:solidFill>
                  <a:srgbClr val="587078"/>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900" dirty="0">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indent="0" algn="l">
              <a:buNone/>
            </a:pPr>
            <a:r>
              <a:rPr lang="en-US" sz="900" dirty="0">
                <a:solidFill>
                  <a:srgbClr val="587078"/>
                </a:solidFill>
                <a:latin typeface="Arial" pitchFamily="34" charset="0"/>
                <a:ea typeface="Arial" pitchFamily="34" charset="-122"/>
                <a:cs typeface="Arial" pitchFamily="34" charset="-120"/>
              </a:rPr>
              <a:t>9</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indent="0" algn="r" rtl="1">
              <a:buNone/>
            </a:pPr>
            <a:r>
              <a:rPr lang="ar-SA" altLang="en-US" sz="2900" b="1" dirty="0">
                <a:solidFill>
                  <a:srgbClr val="0A3540"/>
                </a:solidFill>
                <a:latin typeface="Dubai" panose="020B0503030403030204" pitchFamily="34" charset="-78"/>
                <a:ea typeface="Arial" pitchFamily="34" charset="-122"/>
                <a:cs typeface="Dubai" panose="020B0503030403030204" pitchFamily="34" charset="-78"/>
              </a:rPr>
              <a:t>الطبقة الثالثة: ذكاءٌ يتوقّع الخطر قبل وقوعه</a:t>
            </a:r>
            <a:endParaRPr lang="ar-SA" sz="2900" dirty="0">
              <a:latin typeface="Dubai" panose="020B0503030403030204" pitchFamily="34" charset="-78"/>
              <a:cs typeface="Dubai" panose="020B0503030403030204" pitchFamily="34" charset="-78"/>
            </a:endParaRPr>
          </a:p>
        </p:txBody>
      </p:sp>
      <p:sp>
        <p:nvSpPr>
          <p:cNvPr id="5" name="Text 3"/>
          <p:cNvSpPr/>
          <p:nvPr/>
        </p:nvSpPr>
        <p:spPr>
          <a:xfrm>
            <a:off x="548640" y="859536"/>
            <a:ext cx="11094415" cy="347472"/>
          </a:xfrm>
          <a:prstGeom prst="rect">
            <a:avLst/>
          </a:prstGeom>
          <a:noFill/>
          <a:ln/>
        </p:spPr>
        <p:txBody>
          <a:bodyPr wrap="square" lIns="0" tIns="0" rIns="0" bIns="0" rtlCol="0" anchor="ctr"/>
          <a:lstStyle/>
          <a:p>
            <a:pPr marL="0" indent="0" algn="r" rtl="1">
              <a:buNone/>
            </a:pPr>
            <a:r>
              <a:rPr lang="ar-SA" altLang="en-US" sz="1400" dirty="0">
                <a:solidFill>
                  <a:srgbClr val="0E7C86"/>
                </a:solidFill>
                <a:latin typeface="Dubai" panose="020B0503030403030204" pitchFamily="34" charset="-78"/>
                <a:ea typeface="Arial" pitchFamily="34" charset="-122"/>
                <a:cs typeface="Dubai" panose="020B0503030403030204" pitchFamily="34" charset="-78"/>
              </a:rPr>
              <a:t>ثلاثة نماذج تقرأ ملف المريض وتقدّر احتمالات الخطر</a:t>
            </a:r>
            <a:endParaRPr lang="ar-SA" sz="1400" dirty="0">
              <a:latin typeface="Dubai" panose="020B0503030403030204" pitchFamily="34" charset="-78"/>
              <a:cs typeface="Dubai" panose="020B0503030403030204" pitchFamily="34" charset="-78"/>
            </a:endParaRPr>
          </a:p>
        </p:txBody>
      </p:sp>
      <p:sp>
        <p:nvSpPr>
          <p:cNvPr id="6" name="Shape 4"/>
          <p:cNvSpPr/>
          <p:nvPr/>
        </p:nvSpPr>
        <p:spPr>
          <a:xfrm>
            <a:off x="8076895" y="1645920"/>
            <a:ext cx="3566160" cy="2651760"/>
          </a:xfrm>
          <a:prstGeom prst="roundRect">
            <a:avLst>
              <a:gd name="adj" fmla="val 2759"/>
            </a:avLst>
          </a:prstGeom>
          <a:solidFill>
            <a:srgbClr val="F2F8F8"/>
          </a:solidFill>
          <a:ln w="9525">
            <a:solidFill>
              <a:srgbClr val="D9E7E9"/>
            </a:solidFill>
            <a:prstDash val="solid"/>
          </a:ln>
        </p:spPr>
      </p:sp>
      <p:sp>
        <p:nvSpPr>
          <p:cNvPr id="7" name="Shape 5"/>
          <p:cNvSpPr/>
          <p:nvPr/>
        </p:nvSpPr>
        <p:spPr>
          <a:xfrm>
            <a:off x="9585655" y="1874520"/>
            <a:ext cx="548640" cy="548640"/>
          </a:xfrm>
          <a:prstGeom prst="ellipse">
            <a:avLst/>
          </a:prstGeom>
          <a:solidFill>
            <a:srgbClr val="0E7C86"/>
          </a:solidFill>
          <a:ln/>
        </p:spPr>
      </p:sp>
      <p:sp>
        <p:nvSpPr>
          <p:cNvPr id="8" name="Text 6"/>
          <p:cNvSpPr/>
          <p:nvPr/>
        </p:nvSpPr>
        <p:spPr>
          <a:xfrm>
            <a:off x="9585655" y="1874520"/>
            <a:ext cx="548640" cy="548640"/>
          </a:xfrm>
          <a:prstGeom prst="rect">
            <a:avLst/>
          </a:prstGeom>
          <a:noFill/>
          <a:ln/>
        </p:spPr>
        <p:txBody>
          <a:bodyPr wrap="square" lIns="0" tIns="0" rIns="0" bIns="0" rtlCol="0" anchor="ctr"/>
          <a:lstStyle/>
          <a:p>
            <a:pPr marL="0" indent="0" algn="ctr" rtl="1">
              <a:buNone/>
            </a:pPr>
            <a:r>
              <a:rPr lang="en-US" altLang="en-US" sz="1800" b="1" dirty="0">
                <a:solidFill>
                  <a:srgbClr val="FFFFFF"/>
                </a:solidFill>
                <a:latin typeface="Dubai" panose="020B0503030403030204" pitchFamily="34" charset="-78"/>
                <a:ea typeface="Arial" pitchFamily="34" charset="-122"/>
                <a:cs typeface="Dubai" panose="020B0503030403030204" pitchFamily="34" charset="-78"/>
              </a:rPr>
              <a:t>1</a:t>
            </a:r>
            <a:endParaRPr lang="ar-SA" sz="1800" dirty="0">
              <a:latin typeface="Dubai" panose="020B0503030403030204" pitchFamily="34" charset="-78"/>
              <a:cs typeface="Dubai" panose="020B0503030403030204" pitchFamily="34" charset="-78"/>
            </a:endParaRPr>
          </a:p>
        </p:txBody>
      </p:sp>
      <p:sp>
        <p:nvSpPr>
          <p:cNvPr id="9" name="Text 7"/>
          <p:cNvSpPr/>
          <p:nvPr/>
        </p:nvSpPr>
        <p:spPr>
          <a:xfrm>
            <a:off x="8259775" y="2560320"/>
            <a:ext cx="3200400" cy="457200"/>
          </a:xfrm>
          <a:prstGeom prst="rect">
            <a:avLst/>
          </a:prstGeom>
          <a:noFill/>
          <a:ln/>
        </p:spPr>
        <p:txBody>
          <a:bodyPr wrap="square" rtlCol="0" anchor="ctr"/>
          <a:lstStyle/>
          <a:p>
            <a:pPr marL="0" indent="0" algn="ctr" rtl="1">
              <a:buNone/>
            </a:pPr>
            <a:r>
              <a:rPr lang="ar-SA" altLang="en-US" sz="2000" b="1" dirty="0">
                <a:solidFill>
                  <a:srgbClr val="0A3540"/>
                </a:solidFill>
                <a:latin typeface="Dubai" panose="020B0503030403030204" pitchFamily="34" charset="-78"/>
                <a:ea typeface="Arial" pitchFamily="34" charset="-122"/>
                <a:cs typeface="Dubai" panose="020B0503030403030204" pitchFamily="34" charset="-78"/>
              </a:rPr>
              <a:t>خطر السكري</a:t>
            </a:r>
            <a:endParaRPr lang="ar-SA" sz="2000" dirty="0">
              <a:latin typeface="Dubai" panose="020B0503030403030204" pitchFamily="34" charset="-78"/>
              <a:cs typeface="Dubai" panose="020B0503030403030204" pitchFamily="34" charset="-78"/>
            </a:endParaRPr>
          </a:p>
        </p:txBody>
      </p:sp>
      <p:sp>
        <p:nvSpPr>
          <p:cNvPr id="10" name="Text 8"/>
          <p:cNvSpPr/>
          <p:nvPr/>
        </p:nvSpPr>
        <p:spPr>
          <a:xfrm>
            <a:off x="8351215" y="3017520"/>
            <a:ext cx="3017520" cy="1143000"/>
          </a:xfrm>
          <a:prstGeom prst="rect">
            <a:avLst/>
          </a:prstGeom>
          <a:noFill/>
          <a:ln/>
        </p:spPr>
        <p:txBody>
          <a:bodyPr wrap="square" rtlCol="0" anchor="t"/>
          <a:lstStyle/>
          <a:p>
            <a:pPr marL="0" indent="0" algn="ctr" rtl="1">
              <a:lnSpc>
                <a:spcPct val="130000"/>
              </a:lnSpc>
              <a:buNone/>
            </a:pPr>
            <a:r>
              <a:rPr lang="ar-SA" altLang="en-US" sz="1600" dirty="0">
                <a:solidFill>
                  <a:srgbClr val="587078"/>
                </a:solidFill>
                <a:latin typeface="Dubai" panose="020B0503030403030204" pitchFamily="34" charset="-78"/>
                <a:ea typeface="Arial" pitchFamily="34" charset="-122"/>
                <a:cs typeface="Dubai" panose="020B0503030403030204" pitchFamily="34" charset="-78"/>
              </a:rPr>
              <a:t>يقرأ تحاليل السكر وضغط الدم ووزن المريض وعمره، فيقدّر احتمال إصابته بالسكري.</a:t>
            </a:r>
            <a:endParaRPr lang="ar-SA" sz="1600" dirty="0">
              <a:latin typeface="Dubai" panose="020B0503030403030204" pitchFamily="34" charset="-78"/>
              <a:cs typeface="Dubai" panose="020B0503030403030204" pitchFamily="34" charset="-78"/>
            </a:endParaRPr>
          </a:p>
        </p:txBody>
      </p:sp>
      <p:sp>
        <p:nvSpPr>
          <p:cNvPr id="11" name="Shape 9"/>
          <p:cNvSpPr/>
          <p:nvPr/>
        </p:nvSpPr>
        <p:spPr>
          <a:xfrm>
            <a:off x="4309567" y="1645920"/>
            <a:ext cx="3566160" cy="2651760"/>
          </a:xfrm>
          <a:prstGeom prst="roundRect">
            <a:avLst>
              <a:gd name="adj" fmla="val 2759"/>
            </a:avLst>
          </a:prstGeom>
          <a:solidFill>
            <a:srgbClr val="F2F8F8"/>
          </a:solidFill>
          <a:ln w="9525">
            <a:solidFill>
              <a:srgbClr val="D9E7E9"/>
            </a:solidFill>
            <a:prstDash val="solid"/>
          </a:ln>
        </p:spPr>
      </p:sp>
      <p:sp>
        <p:nvSpPr>
          <p:cNvPr id="12" name="Shape 10"/>
          <p:cNvSpPr/>
          <p:nvPr/>
        </p:nvSpPr>
        <p:spPr>
          <a:xfrm>
            <a:off x="5818327" y="1874520"/>
            <a:ext cx="548640" cy="548640"/>
          </a:xfrm>
          <a:prstGeom prst="ellipse">
            <a:avLst/>
          </a:prstGeom>
          <a:solidFill>
            <a:srgbClr val="02C39A"/>
          </a:solidFill>
          <a:ln/>
        </p:spPr>
      </p:sp>
      <p:sp>
        <p:nvSpPr>
          <p:cNvPr id="13" name="Text 11"/>
          <p:cNvSpPr/>
          <p:nvPr/>
        </p:nvSpPr>
        <p:spPr>
          <a:xfrm>
            <a:off x="5818327" y="1874520"/>
            <a:ext cx="548640" cy="548640"/>
          </a:xfrm>
          <a:prstGeom prst="rect">
            <a:avLst/>
          </a:prstGeom>
          <a:noFill/>
          <a:ln/>
        </p:spPr>
        <p:txBody>
          <a:bodyPr wrap="square" lIns="0" tIns="0" rIns="0" bIns="0" rtlCol="0" anchor="ctr"/>
          <a:lstStyle/>
          <a:p>
            <a:pPr marL="0" indent="0" algn="ctr" rtl="1">
              <a:buNone/>
            </a:pPr>
            <a:r>
              <a:rPr lang="en-US" altLang="en-US" sz="1800" b="1" dirty="0">
                <a:solidFill>
                  <a:srgbClr val="FFFFFF"/>
                </a:solidFill>
                <a:latin typeface="Dubai" panose="020B0503030403030204" pitchFamily="34" charset="-78"/>
                <a:ea typeface="Arial" pitchFamily="34" charset="-122"/>
                <a:cs typeface="Dubai" panose="020B0503030403030204" pitchFamily="34" charset="-78"/>
              </a:rPr>
              <a:t>2</a:t>
            </a:r>
            <a:endParaRPr lang="ar-SA" sz="1800" dirty="0">
              <a:latin typeface="Dubai" panose="020B0503030403030204" pitchFamily="34" charset="-78"/>
              <a:cs typeface="Dubai" panose="020B0503030403030204" pitchFamily="34" charset="-78"/>
            </a:endParaRPr>
          </a:p>
        </p:txBody>
      </p:sp>
      <p:sp>
        <p:nvSpPr>
          <p:cNvPr id="14" name="Text 12"/>
          <p:cNvSpPr/>
          <p:nvPr/>
        </p:nvSpPr>
        <p:spPr>
          <a:xfrm>
            <a:off x="4492447" y="2560320"/>
            <a:ext cx="3200400" cy="457200"/>
          </a:xfrm>
          <a:prstGeom prst="rect">
            <a:avLst/>
          </a:prstGeom>
          <a:noFill/>
          <a:ln/>
        </p:spPr>
        <p:txBody>
          <a:bodyPr wrap="square" rtlCol="0" anchor="ctr"/>
          <a:lstStyle/>
          <a:p>
            <a:pPr marL="0" indent="0" algn="ctr" rtl="1">
              <a:buNone/>
            </a:pPr>
            <a:r>
              <a:rPr lang="ar-SA" altLang="en-US" sz="2000" b="1" dirty="0">
                <a:solidFill>
                  <a:srgbClr val="0A3540"/>
                </a:solidFill>
                <a:latin typeface="Dubai" panose="020B0503030403030204" pitchFamily="34" charset="-78"/>
                <a:ea typeface="Arial" pitchFamily="34" charset="-122"/>
                <a:cs typeface="Dubai" panose="020B0503030403030204" pitchFamily="34" charset="-78"/>
              </a:rPr>
              <a:t>خطر أمراض القلب</a:t>
            </a:r>
            <a:endParaRPr lang="ar-SA" sz="2000" dirty="0">
              <a:latin typeface="Dubai" panose="020B0503030403030204" pitchFamily="34" charset="-78"/>
              <a:cs typeface="Dubai" panose="020B0503030403030204" pitchFamily="34" charset="-78"/>
            </a:endParaRPr>
          </a:p>
        </p:txBody>
      </p:sp>
      <p:sp>
        <p:nvSpPr>
          <p:cNvPr id="15" name="Text 13"/>
          <p:cNvSpPr/>
          <p:nvPr/>
        </p:nvSpPr>
        <p:spPr>
          <a:xfrm>
            <a:off x="4583887" y="3017520"/>
            <a:ext cx="3017520" cy="1143000"/>
          </a:xfrm>
          <a:prstGeom prst="rect">
            <a:avLst/>
          </a:prstGeom>
          <a:noFill/>
          <a:ln/>
        </p:spPr>
        <p:txBody>
          <a:bodyPr wrap="square" rtlCol="0" anchor="t"/>
          <a:lstStyle/>
          <a:p>
            <a:pPr marL="0" indent="0" algn="ctr" rtl="1">
              <a:lnSpc>
                <a:spcPct val="130000"/>
              </a:lnSpc>
              <a:buNone/>
            </a:pPr>
            <a:r>
              <a:rPr lang="ar-SA" altLang="en-US" sz="1600" dirty="0">
                <a:solidFill>
                  <a:srgbClr val="587078"/>
                </a:solidFill>
                <a:latin typeface="Dubai" panose="020B0503030403030204" pitchFamily="34" charset="-78"/>
                <a:ea typeface="Arial" pitchFamily="34" charset="-122"/>
                <a:cs typeface="Dubai" panose="020B0503030403030204" pitchFamily="34" charset="-78"/>
              </a:rPr>
              <a:t>يقرأ الضغط والكوليسترول والنبض، فيقدّر احتمال إصابته بمرضٍ قلبي.</a:t>
            </a:r>
            <a:endParaRPr lang="ar-SA" sz="1600" dirty="0">
              <a:latin typeface="Dubai" panose="020B0503030403030204" pitchFamily="34" charset="-78"/>
              <a:cs typeface="Dubai" panose="020B0503030403030204" pitchFamily="34" charset="-78"/>
            </a:endParaRPr>
          </a:p>
        </p:txBody>
      </p:sp>
      <p:sp>
        <p:nvSpPr>
          <p:cNvPr id="16" name="Shape 14"/>
          <p:cNvSpPr/>
          <p:nvPr/>
        </p:nvSpPr>
        <p:spPr>
          <a:xfrm>
            <a:off x="542239" y="1645920"/>
            <a:ext cx="3566160" cy="2651760"/>
          </a:xfrm>
          <a:prstGeom prst="roundRect">
            <a:avLst>
              <a:gd name="adj" fmla="val 2759"/>
            </a:avLst>
          </a:prstGeom>
          <a:solidFill>
            <a:srgbClr val="F2F8F8"/>
          </a:solidFill>
          <a:ln w="9525">
            <a:solidFill>
              <a:srgbClr val="D9E7E9"/>
            </a:solidFill>
            <a:prstDash val="solid"/>
          </a:ln>
        </p:spPr>
      </p:sp>
      <p:sp>
        <p:nvSpPr>
          <p:cNvPr id="17" name="Shape 15"/>
          <p:cNvSpPr/>
          <p:nvPr/>
        </p:nvSpPr>
        <p:spPr>
          <a:xfrm>
            <a:off x="2050999" y="1874520"/>
            <a:ext cx="548640" cy="548640"/>
          </a:xfrm>
          <a:prstGeom prst="ellipse">
            <a:avLst/>
          </a:prstGeom>
          <a:solidFill>
            <a:srgbClr val="E9B44C"/>
          </a:solidFill>
          <a:ln/>
        </p:spPr>
      </p:sp>
      <p:sp>
        <p:nvSpPr>
          <p:cNvPr id="18" name="Text 16"/>
          <p:cNvSpPr/>
          <p:nvPr/>
        </p:nvSpPr>
        <p:spPr>
          <a:xfrm>
            <a:off x="2050999" y="1874520"/>
            <a:ext cx="548640" cy="548640"/>
          </a:xfrm>
          <a:prstGeom prst="rect">
            <a:avLst/>
          </a:prstGeom>
          <a:noFill/>
          <a:ln/>
        </p:spPr>
        <p:txBody>
          <a:bodyPr wrap="square" lIns="0" tIns="0" rIns="0" bIns="0" rtlCol="0" anchor="ctr"/>
          <a:lstStyle/>
          <a:p>
            <a:pPr marL="0" indent="0" algn="ctr" rtl="1">
              <a:buNone/>
            </a:pPr>
            <a:r>
              <a:rPr lang="en-US" altLang="en-US" sz="1800" b="1" dirty="0">
                <a:solidFill>
                  <a:srgbClr val="0A3540"/>
                </a:solidFill>
                <a:latin typeface="Dubai" panose="020B0503030403030204" pitchFamily="34" charset="-78"/>
                <a:ea typeface="Arial" pitchFamily="34" charset="-122"/>
                <a:cs typeface="Dubai" panose="020B0503030403030204" pitchFamily="34" charset="-78"/>
              </a:rPr>
              <a:t>3</a:t>
            </a:r>
            <a:endParaRPr lang="ar-SA" sz="1800" dirty="0">
              <a:latin typeface="Dubai" panose="020B0503030403030204" pitchFamily="34" charset="-78"/>
              <a:cs typeface="Dubai" panose="020B0503030403030204" pitchFamily="34" charset="-78"/>
            </a:endParaRPr>
          </a:p>
        </p:txBody>
      </p:sp>
      <p:sp>
        <p:nvSpPr>
          <p:cNvPr id="19" name="Text 17"/>
          <p:cNvSpPr/>
          <p:nvPr/>
        </p:nvSpPr>
        <p:spPr>
          <a:xfrm>
            <a:off x="725119" y="2560320"/>
            <a:ext cx="3200400" cy="457200"/>
          </a:xfrm>
          <a:prstGeom prst="rect">
            <a:avLst/>
          </a:prstGeom>
          <a:noFill/>
          <a:ln/>
        </p:spPr>
        <p:txBody>
          <a:bodyPr wrap="square" rtlCol="0" anchor="ctr"/>
          <a:lstStyle/>
          <a:p>
            <a:pPr marL="0" indent="0" algn="ctr" rtl="1">
              <a:buNone/>
            </a:pPr>
            <a:r>
              <a:rPr lang="ar-SA" altLang="en-US" sz="2000" b="1" dirty="0">
                <a:solidFill>
                  <a:srgbClr val="0A3540"/>
                </a:solidFill>
                <a:latin typeface="Dubai" panose="020B0503030403030204" pitchFamily="34" charset="-78"/>
                <a:ea typeface="Arial" pitchFamily="34" charset="-122"/>
                <a:cs typeface="Dubai" panose="020B0503030403030204" pitchFamily="34" charset="-78"/>
              </a:rPr>
              <a:t>خطر العودة إلى المشفى</a:t>
            </a:r>
            <a:endParaRPr lang="ar-SA" sz="2000" dirty="0">
              <a:latin typeface="Dubai" panose="020B0503030403030204" pitchFamily="34" charset="-78"/>
              <a:cs typeface="Dubai" panose="020B0503030403030204" pitchFamily="34" charset="-78"/>
            </a:endParaRPr>
          </a:p>
        </p:txBody>
      </p:sp>
      <p:sp>
        <p:nvSpPr>
          <p:cNvPr id="20" name="Text 18"/>
          <p:cNvSpPr/>
          <p:nvPr/>
        </p:nvSpPr>
        <p:spPr>
          <a:xfrm>
            <a:off x="816559" y="3017520"/>
            <a:ext cx="3017520" cy="1143000"/>
          </a:xfrm>
          <a:prstGeom prst="rect">
            <a:avLst/>
          </a:prstGeom>
          <a:noFill/>
          <a:ln/>
        </p:spPr>
        <p:txBody>
          <a:bodyPr wrap="square" rtlCol="0" anchor="t"/>
          <a:lstStyle/>
          <a:p>
            <a:pPr marL="0" indent="0" algn="ctr" rtl="1">
              <a:lnSpc>
                <a:spcPct val="130000"/>
              </a:lnSpc>
              <a:buNone/>
            </a:pPr>
            <a:r>
              <a:rPr lang="ar-SA" altLang="en-US" sz="1600" dirty="0">
                <a:solidFill>
                  <a:srgbClr val="587078"/>
                </a:solidFill>
                <a:latin typeface="Dubai" panose="020B0503030403030204" pitchFamily="34" charset="-78"/>
                <a:ea typeface="Arial" pitchFamily="34" charset="-122"/>
                <a:cs typeface="Dubai" panose="020B0503030403030204" pitchFamily="34" charset="-78"/>
              </a:rPr>
              <a:t>يقرأ عدد أمراضه وأدويته وزياراته، فيقدّر احتمال عودته إلى المشفى خلال شهر.</a:t>
            </a:r>
            <a:endParaRPr lang="ar-SA" sz="1600" dirty="0">
              <a:latin typeface="Dubai" panose="020B0503030403030204" pitchFamily="34" charset="-78"/>
              <a:cs typeface="Dubai" panose="020B0503030403030204" pitchFamily="34" charset="-78"/>
            </a:endParaRPr>
          </a:p>
        </p:txBody>
      </p:sp>
      <p:sp>
        <p:nvSpPr>
          <p:cNvPr id="21" name="Shape 19"/>
          <p:cNvSpPr/>
          <p:nvPr/>
        </p:nvSpPr>
        <p:spPr>
          <a:xfrm>
            <a:off x="548640" y="4572000"/>
            <a:ext cx="11094415" cy="1554480"/>
          </a:xfrm>
          <a:prstGeom prst="roundRect">
            <a:avLst>
              <a:gd name="adj" fmla="val 4706"/>
            </a:avLst>
          </a:prstGeom>
          <a:solidFill>
            <a:srgbClr val="F2F8F8"/>
          </a:solidFill>
          <a:ln w="9525">
            <a:solidFill>
              <a:srgbClr val="D9E7E9"/>
            </a:solidFill>
            <a:prstDash val="solid"/>
          </a:ln>
        </p:spPr>
      </p:sp>
      <p:sp>
        <p:nvSpPr>
          <p:cNvPr id="22" name="Text 20"/>
          <p:cNvSpPr/>
          <p:nvPr/>
        </p:nvSpPr>
        <p:spPr>
          <a:xfrm>
            <a:off x="868680" y="4754880"/>
            <a:ext cx="10454335" cy="1234440"/>
          </a:xfrm>
          <a:prstGeom prst="rect">
            <a:avLst/>
          </a:prstGeom>
          <a:noFill/>
          <a:ln/>
        </p:spPr>
        <p:txBody>
          <a:bodyPr wrap="square" rtlCol="0" anchor="t"/>
          <a:lstStyle/>
          <a:p>
            <a:pPr marL="152400" indent="-152400" algn="r" rtl="1">
              <a:lnSpc>
                <a:spcPct val="120000"/>
              </a:lnSpc>
              <a:spcAft>
                <a:spcPts val="800"/>
              </a:spcAft>
              <a:buSzPct val="100000"/>
              <a:buChar char="•"/>
            </a:pPr>
            <a:r>
              <a:rPr lang="ar-SA" altLang="en-US" sz="1600" dirty="0">
                <a:solidFill>
                  <a:srgbClr val="12333C"/>
                </a:solidFill>
                <a:latin typeface="Dubai" panose="020B0503030403030204" pitchFamily="34" charset="-78"/>
                <a:ea typeface="Arial" pitchFamily="34" charset="-122"/>
                <a:cs typeface="Dubai" panose="020B0503030403030204" pitchFamily="34" charset="-78"/>
              </a:rPr>
              <a:t>دُرّبت النماذج على بياناتٍ طبية منشورة عالمياً، وتعمل داخل النظام على بيانات المريض الفعلية.</a:t>
            </a:r>
            <a:endParaRPr lang="ar-SA" sz="1600" dirty="0">
              <a:latin typeface="Dubai" panose="020B0503030403030204" pitchFamily="34" charset="-78"/>
              <a:cs typeface="Dubai" panose="020B0503030403030204" pitchFamily="34" charset="-78"/>
            </a:endParaRPr>
          </a:p>
          <a:p>
            <a:pPr marL="152400" indent="-152400" algn="r" rtl="1">
              <a:lnSpc>
                <a:spcPct val="120000"/>
              </a:lnSpc>
              <a:spcAft>
                <a:spcPts val="800"/>
              </a:spcAft>
              <a:buSzPct val="100000"/>
              <a:buChar char="•"/>
            </a:pPr>
            <a:r>
              <a:rPr lang="ar-SA" altLang="en-US" sz="1600" dirty="0">
                <a:solidFill>
                  <a:srgbClr val="12333C"/>
                </a:solidFill>
                <a:latin typeface="Dubai" panose="020B0503030403030204" pitchFamily="34" charset="-78"/>
                <a:ea typeface="Arial" pitchFamily="34" charset="-122"/>
                <a:cs typeface="Dubai" panose="020B0503030403030204" pitchFamily="34" charset="-78"/>
              </a:rPr>
              <a:t>النظام صريح: إن نقصت معلومةٌ من الملف أخبر الطبيبَ أنّ التقدير تقريبي.</a:t>
            </a:r>
            <a:endParaRPr lang="ar-SA" sz="1600" dirty="0">
              <a:latin typeface="Dubai" panose="020B0503030403030204" pitchFamily="34" charset="-78"/>
              <a:cs typeface="Dubai" panose="020B0503030403030204" pitchFamily="34" charset="-78"/>
            </a:endParaRPr>
          </a:p>
          <a:p>
            <a:pPr marL="152400" indent="-152400" algn="r" rtl="1">
              <a:lnSpc>
                <a:spcPct val="120000"/>
              </a:lnSpc>
              <a:spcAft>
                <a:spcPts val="800"/>
              </a:spcAft>
              <a:buSzPct val="100000"/>
              <a:buChar char="•"/>
            </a:pPr>
            <a:r>
              <a:rPr lang="ar-SA" altLang="en-US" sz="1600" dirty="0">
                <a:solidFill>
                  <a:srgbClr val="12333C"/>
                </a:solidFill>
                <a:latin typeface="Dubai" panose="020B0503030403030204" pitchFamily="34" charset="-78"/>
                <a:ea typeface="Arial" pitchFamily="34" charset="-122"/>
                <a:cs typeface="Dubai" panose="020B0503030403030204" pitchFamily="34" charset="-78"/>
              </a:rPr>
              <a:t>التقدير يساعد الطبيب على ترتيب أولوياته — ولا يحلّ محلّ حكمه السريري أبداً.</a:t>
            </a:r>
            <a:endParaRPr lang="ar-SA" sz="1600" dirty="0">
              <a:latin typeface="Dubai" panose="020B0503030403030204" pitchFamily="34" charset="-78"/>
              <a:cs typeface="Dubai" panose="020B0503030403030204" pitchFamily="34" charset="-78"/>
            </a:endParaRPr>
          </a:p>
        </p:txBody>
      </p:sp>
    </p:spTree>
  </p:cSld>
  <p:clrMapOvr>
    <a:masterClrMapping/>
  </p:clrMapOvr>
  <p:transition spd="slow">
    <p:wipe dir="r"/>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indent="0" algn="r" rtl="1">
              <a:buNone/>
            </a:pPr>
            <a:r>
              <a:rPr lang="ar-SA" altLang="en-US" sz="900" dirty="0">
                <a:solidFill>
                  <a:srgbClr val="587078"/>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900" dirty="0">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indent="0" algn="l">
              <a:buNone/>
            </a:pPr>
            <a:r>
              <a:rPr lang="en-US" sz="900" dirty="0">
                <a:solidFill>
                  <a:srgbClr val="587078"/>
                </a:solidFill>
                <a:latin typeface="Arial" pitchFamily="34" charset="0"/>
                <a:ea typeface="Arial" pitchFamily="34" charset="-122"/>
                <a:cs typeface="Arial" pitchFamily="34" charset="-120"/>
              </a:rPr>
              <a:t>10</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indent="0" algn="r" rtl="1">
              <a:buNone/>
            </a:pPr>
            <a:r>
              <a:rPr lang="ar-SA" altLang="en-US" sz="2900" b="1" dirty="0">
                <a:solidFill>
                  <a:srgbClr val="0A3540"/>
                </a:solidFill>
                <a:latin typeface="Dubai" panose="020B0503030403030204" pitchFamily="34" charset="-78"/>
                <a:ea typeface="Arial" pitchFamily="34" charset="-122"/>
                <a:cs typeface="Dubai" panose="020B0503030403030204" pitchFamily="34" charset="-78"/>
              </a:rPr>
              <a:t>الأمان والخصوصية</a:t>
            </a:r>
            <a:endParaRPr lang="ar-SA" sz="2900" dirty="0">
              <a:latin typeface="Dubai" panose="020B0503030403030204" pitchFamily="34" charset="-78"/>
              <a:cs typeface="Dubai" panose="020B0503030403030204" pitchFamily="34" charset="-78"/>
            </a:endParaRPr>
          </a:p>
        </p:txBody>
      </p:sp>
      <p:sp>
        <p:nvSpPr>
          <p:cNvPr id="5" name="Text 3"/>
          <p:cNvSpPr/>
          <p:nvPr/>
        </p:nvSpPr>
        <p:spPr>
          <a:xfrm>
            <a:off x="548640" y="859536"/>
            <a:ext cx="11094415" cy="347472"/>
          </a:xfrm>
          <a:prstGeom prst="rect">
            <a:avLst/>
          </a:prstGeom>
          <a:noFill/>
          <a:ln/>
        </p:spPr>
        <p:txBody>
          <a:bodyPr wrap="square" lIns="0" tIns="0" rIns="0" bIns="0" rtlCol="0" anchor="ctr"/>
          <a:lstStyle/>
          <a:p>
            <a:pPr marL="0" indent="0" algn="r" rtl="1">
              <a:buNone/>
            </a:pPr>
            <a:r>
              <a:rPr lang="ar-SA" altLang="en-US" sz="1400" dirty="0">
                <a:solidFill>
                  <a:srgbClr val="0E7C86"/>
                </a:solidFill>
                <a:latin typeface="Dubai" panose="020B0503030403030204" pitchFamily="34" charset="-78"/>
                <a:ea typeface="Arial" pitchFamily="34" charset="-122"/>
                <a:cs typeface="Dubai" panose="020B0503030403030204" pitchFamily="34" charset="-78"/>
              </a:rPr>
              <a:t>البيانات الصحية أمانة — هكذا نحميها</a:t>
            </a:r>
            <a:endParaRPr lang="ar-SA" sz="1400" dirty="0">
              <a:latin typeface="Dubai" panose="020B0503030403030204" pitchFamily="34" charset="-78"/>
              <a:cs typeface="Dubai" panose="020B0503030403030204" pitchFamily="34" charset="-78"/>
            </a:endParaRPr>
          </a:p>
        </p:txBody>
      </p:sp>
      <p:sp>
        <p:nvSpPr>
          <p:cNvPr id="6" name="Shape 4"/>
          <p:cNvSpPr/>
          <p:nvPr/>
        </p:nvSpPr>
        <p:spPr>
          <a:xfrm>
            <a:off x="548640" y="1645920"/>
            <a:ext cx="11094415" cy="960120"/>
          </a:xfrm>
          <a:prstGeom prst="roundRect">
            <a:avLst>
              <a:gd name="adj" fmla="val 7619"/>
            </a:avLst>
          </a:prstGeom>
          <a:solidFill>
            <a:srgbClr val="F2F8F8"/>
          </a:solidFill>
          <a:ln w="9525">
            <a:solidFill>
              <a:srgbClr val="D9E7E9"/>
            </a:solidFill>
            <a:prstDash val="solid"/>
          </a:ln>
        </p:spPr>
      </p:sp>
      <p:sp>
        <p:nvSpPr>
          <p:cNvPr id="7" name="Shape 5"/>
          <p:cNvSpPr/>
          <p:nvPr/>
        </p:nvSpPr>
        <p:spPr>
          <a:xfrm>
            <a:off x="10728655" y="1865376"/>
            <a:ext cx="512064" cy="512064"/>
          </a:xfrm>
          <a:prstGeom prst="ellipse">
            <a:avLst/>
          </a:prstGeom>
          <a:solidFill>
            <a:srgbClr val="0E7C86"/>
          </a:solidFill>
          <a:ln/>
        </p:spPr>
      </p:sp>
      <p:sp>
        <p:nvSpPr>
          <p:cNvPr id="8" name="Text 6"/>
          <p:cNvSpPr/>
          <p:nvPr/>
        </p:nvSpPr>
        <p:spPr>
          <a:xfrm>
            <a:off x="10728655" y="1865376"/>
            <a:ext cx="512064" cy="512064"/>
          </a:xfrm>
          <a:prstGeom prst="rect">
            <a:avLst/>
          </a:prstGeom>
          <a:noFill/>
          <a:ln/>
        </p:spPr>
        <p:txBody>
          <a:bodyPr wrap="square" lIns="0" tIns="0" rIns="0" bIns="0" rtlCol="0" anchor="ctr"/>
          <a:lstStyle/>
          <a:p>
            <a:pPr marL="0" indent="0" algn="ctr">
              <a:buNone/>
            </a:pPr>
            <a:r>
              <a:rPr lang="en-US" sz="1800" b="1" dirty="0">
                <a:solidFill>
                  <a:srgbClr val="FFFFFF"/>
                </a:solidFill>
                <a:latin typeface="Dubai" panose="020B0503030403030204" pitchFamily="34" charset="-78"/>
                <a:ea typeface="Arial" pitchFamily="34" charset="-122"/>
                <a:cs typeface="Dubai" panose="020B0503030403030204" pitchFamily="34" charset="-78"/>
              </a:rPr>
              <a:t>1</a:t>
            </a:r>
            <a:endParaRPr lang="en-US" sz="1800" dirty="0">
              <a:latin typeface="Dubai" panose="020B0503030403030204" pitchFamily="34" charset="-78"/>
              <a:cs typeface="Dubai" panose="020B0503030403030204" pitchFamily="34" charset="-78"/>
            </a:endParaRPr>
          </a:p>
        </p:txBody>
      </p:sp>
      <p:sp>
        <p:nvSpPr>
          <p:cNvPr id="9" name="Text 7"/>
          <p:cNvSpPr/>
          <p:nvPr/>
        </p:nvSpPr>
        <p:spPr>
          <a:xfrm>
            <a:off x="822960" y="1645920"/>
            <a:ext cx="9631375" cy="960120"/>
          </a:xfrm>
          <a:prstGeom prst="rect">
            <a:avLst/>
          </a:prstGeom>
          <a:noFill/>
          <a:ln/>
        </p:spPr>
        <p:txBody>
          <a:bodyPr wrap="square" lIns="0" tIns="0" rIns="0" bIns="0" rtlCol="0" anchor="ctr"/>
          <a:lstStyle/>
          <a:p>
            <a:pPr marL="0" indent="0" algn="r" rtl="1">
              <a:lnSpc>
                <a:spcPct val="120000"/>
              </a:lnSpc>
              <a:buNone/>
            </a:pPr>
            <a:r>
              <a:rPr lang="ar-SA" altLang="en-US" sz="1600" b="1" dirty="0">
                <a:solidFill>
                  <a:srgbClr val="0A3540"/>
                </a:solidFill>
                <a:latin typeface="Dubai" panose="020B0503030403030204" pitchFamily="34" charset="-78"/>
                <a:ea typeface="Arial" pitchFamily="34" charset="-122"/>
                <a:cs typeface="Dubai" panose="020B0503030403030204" pitchFamily="34" charset="-78"/>
              </a:rPr>
              <a:t>حسابٌ واحد وبوابة دخولٍ آمنة   </a:t>
            </a:r>
            <a:r>
              <a:rPr lang="ar-SA" altLang="en-US" sz="1400" dirty="0">
                <a:solidFill>
                  <a:srgbClr val="587078"/>
                </a:solidFill>
                <a:latin typeface="Dubai" panose="020B0503030403030204" pitchFamily="34" charset="-78"/>
                <a:ea typeface="Arial" pitchFamily="34" charset="-122"/>
                <a:cs typeface="Dubai" panose="020B0503030403030204" pitchFamily="34" charset="-78"/>
              </a:rPr>
              <a:t>تسجيل الدخول موحّد عبر بوابة هويةٍ مستقلة، فلا يخزّن النظام كلمات المرور إطلاقاً.</a:t>
            </a:r>
            <a:endParaRPr lang="ar-SA" sz="1600" dirty="0">
              <a:latin typeface="Dubai" panose="020B0503030403030204" pitchFamily="34" charset="-78"/>
              <a:cs typeface="Dubai" panose="020B0503030403030204" pitchFamily="34" charset="-78"/>
            </a:endParaRPr>
          </a:p>
        </p:txBody>
      </p:sp>
      <p:sp>
        <p:nvSpPr>
          <p:cNvPr id="10" name="Shape 8"/>
          <p:cNvSpPr/>
          <p:nvPr/>
        </p:nvSpPr>
        <p:spPr>
          <a:xfrm>
            <a:off x="548640" y="2788920"/>
            <a:ext cx="11094415" cy="960120"/>
          </a:xfrm>
          <a:prstGeom prst="roundRect">
            <a:avLst>
              <a:gd name="adj" fmla="val 7619"/>
            </a:avLst>
          </a:prstGeom>
          <a:solidFill>
            <a:srgbClr val="FFFFFF"/>
          </a:solidFill>
          <a:ln w="9525">
            <a:solidFill>
              <a:srgbClr val="D9E7E9"/>
            </a:solidFill>
            <a:prstDash val="solid"/>
          </a:ln>
        </p:spPr>
      </p:sp>
      <p:sp>
        <p:nvSpPr>
          <p:cNvPr id="11" name="Shape 9"/>
          <p:cNvSpPr/>
          <p:nvPr/>
        </p:nvSpPr>
        <p:spPr>
          <a:xfrm>
            <a:off x="10728655" y="3008376"/>
            <a:ext cx="512064" cy="512064"/>
          </a:xfrm>
          <a:prstGeom prst="ellipse">
            <a:avLst/>
          </a:prstGeom>
          <a:solidFill>
            <a:srgbClr val="0E7C86"/>
          </a:solidFill>
          <a:ln/>
        </p:spPr>
      </p:sp>
      <p:sp>
        <p:nvSpPr>
          <p:cNvPr id="12" name="Text 10"/>
          <p:cNvSpPr/>
          <p:nvPr/>
        </p:nvSpPr>
        <p:spPr>
          <a:xfrm>
            <a:off x="10728655" y="3008376"/>
            <a:ext cx="512064" cy="512064"/>
          </a:xfrm>
          <a:prstGeom prst="rect">
            <a:avLst/>
          </a:prstGeom>
          <a:noFill/>
          <a:ln/>
        </p:spPr>
        <p:txBody>
          <a:bodyPr wrap="square" lIns="0" tIns="0" rIns="0" bIns="0" rtlCol="0" anchor="ctr"/>
          <a:lstStyle/>
          <a:p>
            <a:pPr marL="0" indent="0" algn="ctr">
              <a:buNone/>
            </a:pPr>
            <a:r>
              <a:rPr lang="en-US" sz="1800" b="1" dirty="0">
                <a:solidFill>
                  <a:srgbClr val="FFFFFF"/>
                </a:solidFill>
                <a:latin typeface="Dubai" panose="020B0503030403030204" pitchFamily="34" charset="-78"/>
                <a:ea typeface="Arial" pitchFamily="34" charset="-122"/>
                <a:cs typeface="Dubai" panose="020B0503030403030204" pitchFamily="34" charset="-78"/>
              </a:rPr>
              <a:t>2</a:t>
            </a:r>
            <a:endParaRPr lang="en-US" sz="1800" dirty="0">
              <a:latin typeface="Dubai" panose="020B0503030403030204" pitchFamily="34" charset="-78"/>
              <a:cs typeface="Dubai" panose="020B0503030403030204" pitchFamily="34" charset="-78"/>
            </a:endParaRPr>
          </a:p>
        </p:txBody>
      </p:sp>
      <p:sp>
        <p:nvSpPr>
          <p:cNvPr id="13" name="Text 11"/>
          <p:cNvSpPr/>
          <p:nvPr/>
        </p:nvSpPr>
        <p:spPr>
          <a:xfrm>
            <a:off x="822960" y="2788920"/>
            <a:ext cx="9631375" cy="960120"/>
          </a:xfrm>
          <a:prstGeom prst="rect">
            <a:avLst/>
          </a:prstGeom>
          <a:noFill/>
          <a:ln/>
        </p:spPr>
        <p:txBody>
          <a:bodyPr wrap="square" lIns="0" tIns="0" rIns="0" bIns="0" rtlCol="0" anchor="ctr"/>
          <a:lstStyle/>
          <a:p>
            <a:pPr marL="0" indent="0" algn="r" rtl="1">
              <a:lnSpc>
                <a:spcPct val="120000"/>
              </a:lnSpc>
              <a:buNone/>
            </a:pPr>
            <a:r>
              <a:rPr lang="ar-SA" altLang="en-US" sz="1600" b="1" dirty="0">
                <a:solidFill>
                  <a:srgbClr val="0A3540"/>
                </a:solidFill>
                <a:latin typeface="Dubai" panose="020B0503030403030204" pitchFamily="34" charset="-78"/>
                <a:ea typeface="Arial" pitchFamily="34" charset="-122"/>
                <a:cs typeface="Dubai" panose="020B0503030403030204" pitchFamily="34" charset="-78"/>
              </a:rPr>
              <a:t>كلٌّ يرى ما يخصّه فقط   </a:t>
            </a:r>
            <a:r>
              <a:rPr lang="ar-SA" altLang="en-US" sz="1400" dirty="0">
                <a:solidFill>
                  <a:srgbClr val="587078"/>
                </a:solidFill>
                <a:latin typeface="Dubai" panose="020B0503030403030204" pitchFamily="34" charset="-78"/>
                <a:ea typeface="Arial" pitchFamily="34" charset="-122"/>
                <a:cs typeface="Dubai" panose="020B0503030403030204" pitchFamily="34" charset="-78"/>
              </a:rPr>
              <a:t>صلاحياتٌ دقيقة بحسب الدور: المريض لا يرى إلا ملفه، والطبيب لا يتجاوز مرضاه، والمدير حدوده واضحة.</a:t>
            </a:r>
            <a:endParaRPr lang="ar-SA" sz="1600" dirty="0">
              <a:latin typeface="Dubai" panose="020B0503030403030204" pitchFamily="34" charset="-78"/>
              <a:cs typeface="Dubai" panose="020B0503030403030204" pitchFamily="34" charset="-78"/>
            </a:endParaRPr>
          </a:p>
        </p:txBody>
      </p:sp>
      <p:sp>
        <p:nvSpPr>
          <p:cNvPr id="14" name="Shape 12"/>
          <p:cNvSpPr/>
          <p:nvPr/>
        </p:nvSpPr>
        <p:spPr>
          <a:xfrm>
            <a:off x="548640" y="3931920"/>
            <a:ext cx="11094415" cy="960120"/>
          </a:xfrm>
          <a:prstGeom prst="roundRect">
            <a:avLst>
              <a:gd name="adj" fmla="val 7619"/>
            </a:avLst>
          </a:prstGeom>
          <a:solidFill>
            <a:srgbClr val="F2F8F8"/>
          </a:solidFill>
          <a:ln w="9525">
            <a:solidFill>
              <a:srgbClr val="D9E7E9"/>
            </a:solidFill>
            <a:prstDash val="solid"/>
          </a:ln>
        </p:spPr>
      </p:sp>
      <p:sp>
        <p:nvSpPr>
          <p:cNvPr id="15" name="Shape 13"/>
          <p:cNvSpPr/>
          <p:nvPr/>
        </p:nvSpPr>
        <p:spPr>
          <a:xfrm>
            <a:off x="10728655" y="4151376"/>
            <a:ext cx="512064" cy="512064"/>
          </a:xfrm>
          <a:prstGeom prst="ellipse">
            <a:avLst/>
          </a:prstGeom>
          <a:solidFill>
            <a:srgbClr val="0E7C86"/>
          </a:solidFill>
          <a:ln/>
        </p:spPr>
      </p:sp>
      <p:sp>
        <p:nvSpPr>
          <p:cNvPr id="16" name="Text 14"/>
          <p:cNvSpPr/>
          <p:nvPr/>
        </p:nvSpPr>
        <p:spPr>
          <a:xfrm>
            <a:off x="10728655" y="4151376"/>
            <a:ext cx="512064" cy="512064"/>
          </a:xfrm>
          <a:prstGeom prst="rect">
            <a:avLst/>
          </a:prstGeom>
          <a:noFill/>
          <a:ln/>
        </p:spPr>
        <p:txBody>
          <a:bodyPr wrap="square" lIns="0" tIns="0" rIns="0" bIns="0" rtlCol="0" anchor="ctr"/>
          <a:lstStyle/>
          <a:p>
            <a:pPr marL="0" indent="0" algn="ctr">
              <a:buNone/>
            </a:pPr>
            <a:r>
              <a:rPr lang="en-US" sz="1800" b="1" dirty="0">
                <a:solidFill>
                  <a:srgbClr val="FFFFFF"/>
                </a:solidFill>
                <a:latin typeface="Dubai" panose="020B0503030403030204" pitchFamily="34" charset="-78"/>
                <a:ea typeface="Arial" pitchFamily="34" charset="-122"/>
                <a:cs typeface="Dubai" panose="020B0503030403030204" pitchFamily="34" charset="-78"/>
              </a:rPr>
              <a:t>3</a:t>
            </a:r>
            <a:endParaRPr lang="en-US" sz="1800" dirty="0">
              <a:latin typeface="Dubai" panose="020B0503030403030204" pitchFamily="34" charset="-78"/>
              <a:cs typeface="Dubai" panose="020B0503030403030204" pitchFamily="34" charset="-78"/>
            </a:endParaRPr>
          </a:p>
        </p:txBody>
      </p:sp>
      <p:sp>
        <p:nvSpPr>
          <p:cNvPr id="17" name="Text 15"/>
          <p:cNvSpPr/>
          <p:nvPr/>
        </p:nvSpPr>
        <p:spPr>
          <a:xfrm>
            <a:off x="822960" y="3931920"/>
            <a:ext cx="9631375" cy="960120"/>
          </a:xfrm>
          <a:prstGeom prst="rect">
            <a:avLst/>
          </a:prstGeom>
          <a:noFill/>
          <a:ln/>
        </p:spPr>
        <p:txBody>
          <a:bodyPr wrap="square" lIns="0" tIns="0" rIns="0" bIns="0" rtlCol="0" anchor="ctr"/>
          <a:lstStyle/>
          <a:p>
            <a:pPr marL="0" indent="0" algn="r" rtl="1">
              <a:lnSpc>
                <a:spcPct val="120000"/>
              </a:lnSpc>
              <a:buNone/>
            </a:pPr>
            <a:r>
              <a:rPr lang="ar-SA" altLang="en-US" sz="1600" b="1" dirty="0">
                <a:solidFill>
                  <a:srgbClr val="0A3540"/>
                </a:solidFill>
                <a:latin typeface="Dubai" panose="020B0503030403030204" pitchFamily="34" charset="-78"/>
                <a:ea typeface="Arial" pitchFamily="34" charset="-122"/>
                <a:cs typeface="Dubai" panose="020B0503030403030204" pitchFamily="34" charset="-78"/>
              </a:rPr>
              <a:t>اتصالاتٌ مشفّرة بالكامل   </a:t>
            </a:r>
            <a:r>
              <a:rPr lang="ar-SA" altLang="en-US" sz="1400" dirty="0">
                <a:solidFill>
                  <a:srgbClr val="587078"/>
                </a:solidFill>
                <a:latin typeface="Dubai" panose="020B0503030403030204" pitchFamily="34" charset="-78"/>
                <a:ea typeface="Arial" pitchFamily="34" charset="-122"/>
                <a:cs typeface="Dubai" panose="020B0503030403030204" pitchFamily="34" charset="-78"/>
              </a:rPr>
              <a:t>كلّ ما ينتقل بين المتصفح والخوادم مشفّر، ولا تُحفَظ أسرار الربط الخارجي إلا مشفّرةً كذلك.</a:t>
            </a:r>
            <a:endParaRPr lang="ar-SA" sz="1600" dirty="0">
              <a:latin typeface="Dubai" panose="020B0503030403030204" pitchFamily="34" charset="-78"/>
              <a:cs typeface="Dubai" panose="020B0503030403030204" pitchFamily="34" charset="-78"/>
            </a:endParaRPr>
          </a:p>
        </p:txBody>
      </p:sp>
      <p:sp>
        <p:nvSpPr>
          <p:cNvPr id="18" name="Shape 16"/>
          <p:cNvSpPr/>
          <p:nvPr/>
        </p:nvSpPr>
        <p:spPr>
          <a:xfrm>
            <a:off x="548640" y="5074920"/>
            <a:ext cx="11094415" cy="960120"/>
          </a:xfrm>
          <a:prstGeom prst="roundRect">
            <a:avLst>
              <a:gd name="adj" fmla="val 7619"/>
            </a:avLst>
          </a:prstGeom>
          <a:solidFill>
            <a:srgbClr val="FFFFFF"/>
          </a:solidFill>
          <a:ln w="9525">
            <a:solidFill>
              <a:srgbClr val="D9E7E9"/>
            </a:solidFill>
            <a:prstDash val="solid"/>
          </a:ln>
        </p:spPr>
      </p:sp>
      <p:sp>
        <p:nvSpPr>
          <p:cNvPr id="19" name="Shape 17"/>
          <p:cNvSpPr/>
          <p:nvPr/>
        </p:nvSpPr>
        <p:spPr>
          <a:xfrm>
            <a:off x="10728655" y="5294376"/>
            <a:ext cx="512064" cy="512064"/>
          </a:xfrm>
          <a:prstGeom prst="ellipse">
            <a:avLst/>
          </a:prstGeom>
          <a:solidFill>
            <a:srgbClr val="0E7C86"/>
          </a:solidFill>
          <a:ln/>
        </p:spPr>
      </p:sp>
      <p:sp>
        <p:nvSpPr>
          <p:cNvPr id="20" name="Text 18"/>
          <p:cNvSpPr/>
          <p:nvPr/>
        </p:nvSpPr>
        <p:spPr>
          <a:xfrm>
            <a:off x="10728655" y="5294376"/>
            <a:ext cx="512064" cy="512064"/>
          </a:xfrm>
          <a:prstGeom prst="rect">
            <a:avLst/>
          </a:prstGeom>
          <a:noFill/>
          <a:ln/>
        </p:spPr>
        <p:txBody>
          <a:bodyPr wrap="square" lIns="0" tIns="0" rIns="0" bIns="0" rtlCol="0" anchor="ctr"/>
          <a:lstStyle/>
          <a:p>
            <a:pPr marL="0" indent="0" algn="ctr">
              <a:buNone/>
            </a:pPr>
            <a:r>
              <a:rPr lang="en-US" sz="1800" b="1" dirty="0">
                <a:solidFill>
                  <a:srgbClr val="FFFFFF"/>
                </a:solidFill>
                <a:latin typeface="Dubai" panose="020B0503030403030204" pitchFamily="34" charset="-78"/>
                <a:ea typeface="Arial" pitchFamily="34" charset="-122"/>
                <a:cs typeface="Dubai" panose="020B0503030403030204" pitchFamily="34" charset="-78"/>
              </a:rPr>
              <a:t>4</a:t>
            </a:r>
            <a:endParaRPr lang="en-US" sz="1800" dirty="0">
              <a:latin typeface="Dubai" panose="020B0503030403030204" pitchFamily="34" charset="-78"/>
              <a:cs typeface="Dubai" panose="020B0503030403030204" pitchFamily="34" charset="-78"/>
            </a:endParaRPr>
          </a:p>
        </p:txBody>
      </p:sp>
      <p:sp>
        <p:nvSpPr>
          <p:cNvPr id="21" name="Text 19"/>
          <p:cNvSpPr/>
          <p:nvPr/>
        </p:nvSpPr>
        <p:spPr>
          <a:xfrm>
            <a:off x="822960" y="5074920"/>
            <a:ext cx="9631375" cy="960120"/>
          </a:xfrm>
          <a:prstGeom prst="rect">
            <a:avLst/>
          </a:prstGeom>
          <a:noFill/>
          <a:ln/>
        </p:spPr>
        <p:txBody>
          <a:bodyPr wrap="square" lIns="0" tIns="0" rIns="0" bIns="0" rtlCol="0" anchor="ctr"/>
          <a:lstStyle/>
          <a:p>
            <a:pPr marL="0" indent="0" algn="r" rtl="1">
              <a:lnSpc>
                <a:spcPct val="120000"/>
              </a:lnSpc>
              <a:buNone/>
            </a:pPr>
            <a:r>
              <a:rPr lang="ar-SA" altLang="en-US" sz="1600" b="1" dirty="0">
                <a:solidFill>
                  <a:srgbClr val="0A3540"/>
                </a:solidFill>
                <a:latin typeface="Dubai" panose="020B0503030403030204" pitchFamily="34" charset="-78"/>
                <a:ea typeface="Arial" pitchFamily="34" charset="-122"/>
                <a:cs typeface="Dubai" panose="020B0503030403030204" pitchFamily="34" charset="-78"/>
              </a:rPr>
              <a:t>كلّ تعديلٍ موثَّق   </a:t>
            </a:r>
            <a:r>
              <a:rPr lang="ar-SA" altLang="en-US" sz="1400" dirty="0">
                <a:solidFill>
                  <a:srgbClr val="587078"/>
                </a:solidFill>
                <a:latin typeface="Dubai" panose="020B0503030403030204" pitchFamily="34" charset="-78"/>
                <a:ea typeface="Arial" pitchFamily="34" charset="-122"/>
                <a:cs typeface="Dubai" panose="020B0503030403030204" pitchFamily="34" charset="-78"/>
              </a:rPr>
              <a:t>أيّ تغييرٍ على أيّ سجل يُحفَظ بنسخته وتاريخه وصاحبه — أساسٌ للمساءلة والتدقيق الطبي.</a:t>
            </a:r>
            <a:endParaRPr lang="ar-SA" sz="1600" dirty="0">
              <a:latin typeface="Dubai" panose="020B0503030403030204" pitchFamily="34" charset="-78"/>
              <a:cs typeface="Dubai" panose="020B0503030403030204" pitchFamily="34" charset="-78"/>
            </a:endParaRPr>
          </a:p>
        </p:txBody>
      </p:sp>
    </p:spTree>
  </p:cSld>
  <p:clrMapOvr>
    <a:masterClrMapping/>
  </p:clrMapOvr>
  <p:transition spd="slow">
    <p:wipe dir="r"/>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indent="0" algn="r" rtl="1">
              <a:buNone/>
            </a:pPr>
            <a:r>
              <a:rPr lang="ar-SA" altLang="en-US" sz="900" dirty="0">
                <a:solidFill>
                  <a:srgbClr val="587078"/>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900" dirty="0">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indent="0" algn="l">
              <a:buNone/>
            </a:pPr>
            <a:r>
              <a:rPr lang="en-US" sz="900" dirty="0">
                <a:solidFill>
                  <a:srgbClr val="587078"/>
                </a:solidFill>
                <a:latin typeface="Arial" pitchFamily="34" charset="0"/>
                <a:ea typeface="Arial" pitchFamily="34" charset="-122"/>
                <a:cs typeface="Arial" pitchFamily="34" charset="-120"/>
              </a:rPr>
              <a:t>11</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indent="0" algn="r" rtl="1">
              <a:buNone/>
            </a:pPr>
            <a:r>
              <a:rPr lang="ar-SA" altLang="en-US" sz="2900" b="1" dirty="0">
                <a:solidFill>
                  <a:srgbClr val="0A3540"/>
                </a:solidFill>
                <a:latin typeface="Dubai" panose="020B0503030403030204" pitchFamily="34" charset="-78"/>
                <a:ea typeface="Arial" pitchFamily="34" charset="-122"/>
                <a:cs typeface="Dubai" panose="020B0503030403030204" pitchFamily="34" charset="-78"/>
              </a:rPr>
              <a:t>من يستخدم النظام؟</a:t>
            </a:r>
            <a:endParaRPr lang="ar-SA" sz="2900" dirty="0">
              <a:latin typeface="Dubai" panose="020B0503030403030204" pitchFamily="34" charset="-78"/>
              <a:cs typeface="Dubai" panose="020B0503030403030204" pitchFamily="34" charset="-78"/>
            </a:endParaRPr>
          </a:p>
        </p:txBody>
      </p:sp>
      <p:sp>
        <p:nvSpPr>
          <p:cNvPr id="5" name="Text 3"/>
          <p:cNvSpPr/>
          <p:nvPr/>
        </p:nvSpPr>
        <p:spPr>
          <a:xfrm>
            <a:off x="548640" y="859536"/>
            <a:ext cx="11094415" cy="347472"/>
          </a:xfrm>
          <a:prstGeom prst="rect">
            <a:avLst/>
          </a:prstGeom>
          <a:noFill/>
          <a:ln/>
        </p:spPr>
        <p:txBody>
          <a:bodyPr wrap="square" lIns="0" tIns="0" rIns="0" bIns="0" rtlCol="0" anchor="ctr"/>
          <a:lstStyle/>
          <a:p>
            <a:pPr marL="0" indent="0" algn="r" rtl="1">
              <a:buNone/>
            </a:pPr>
            <a:r>
              <a:rPr lang="ar-SA" altLang="en-US" sz="1400" dirty="0">
                <a:solidFill>
                  <a:srgbClr val="0E7C86"/>
                </a:solidFill>
                <a:latin typeface="Dubai" panose="020B0503030403030204" pitchFamily="34" charset="-78"/>
                <a:ea typeface="Arial" pitchFamily="34" charset="-122"/>
                <a:cs typeface="Dubai" panose="020B0503030403030204" pitchFamily="34" charset="-78"/>
              </a:rPr>
              <a:t>خمسة أدوار تتدرّج صلاحياتها — من الدراسة التحليلية للمشروع</a:t>
            </a:r>
            <a:endParaRPr lang="ar-SA" sz="1400" dirty="0">
              <a:latin typeface="Dubai" panose="020B0503030403030204" pitchFamily="34" charset="-78"/>
              <a:cs typeface="Dubai" panose="020B0503030403030204" pitchFamily="34" charset="-78"/>
            </a:endParaRPr>
          </a:p>
        </p:txBody>
      </p:sp>
      <p:sp>
        <p:nvSpPr>
          <p:cNvPr id="6" name="Shape 4"/>
          <p:cNvSpPr/>
          <p:nvPr/>
        </p:nvSpPr>
        <p:spPr>
          <a:xfrm>
            <a:off x="877824" y="1609344"/>
            <a:ext cx="2743951" cy="4782312"/>
          </a:xfrm>
          <a:prstGeom prst="rect">
            <a:avLst/>
          </a:prstGeom>
          <a:solidFill>
            <a:srgbClr val="FFFFFF"/>
          </a:solidFill>
          <a:ln w="12700">
            <a:solidFill>
              <a:srgbClr val="D9E7E9"/>
            </a:solidFill>
            <a:prstDash val="solid"/>
          </a:ln>
          <a:effectLst>
            <a:outerShdw blurRad="76200" dist="25400" dir="5400000" algn="bl" rotWithShape="0">
              <a:srgbClr val="808F93">
                <a:alpha val="35000"/>
              </a:srgbClr>
            </a:outerShdw>
          </a:effectLst>
        </p:spPr>
      </p:sp>
      <p:pic>
        <p:nvPicPr>
          <p:cNvPr id="7" name="Image 0" descr="D:/Code/ASP/DMRS/docs/diagrams/usecase-overview.png"/>
          <p:cNvPicPr>
            <a:picLocks noChangeAspect="1"/>
          </p:cNvPicPr>
          <p:nvPr/>
        </p:nvPicPr>
        <p:blipFill>
          <a:blip r:embed="rId3"/>
          <a:stretch>
            <a:fillRect/>
          </a:stretch>
        </p:blipFill>
        <p:spPr>
          <a:xfrm>
            <a:off x="914400" y="1645920"/>
            <a:ext cx="2670799" cy="4709160"/>
          </a:xfrm>
          <a:prstGeom prst="rect">
            <a:avLst/>
          </a:prstGeom>
        </p:spPr>
      </p:pic>
      <p:sp>
        <p:nvSpPr>
          <p:cNvPr id="8" name="Shape 5"/>
          <p:cNvSpPr/>
          <p:nvPr/>
        </p:nvSpPr>
        <p:spPr>
          <a:xfrm>
            <a:off x="4042399" y="1645920"/>
            <a:ext cx="7600656" cy="822960"/>
          </a:xfrm>
          <a:prstGeom prst="roundRect">
            <a:avLst>
              <a:gd name="adj" fmla="val 8889"/>
            </a:avLst>
          </a:prstGeom>
          <a:solidFill>
            <a:srgbClr val="F2F8F8"/>
          </a:solidFill>
          <a:ln w="9525">
            <a:solidFill>
              <a:srgbClr val="D9E7E9"/>
            </a:solidFill>
            <a:prstDash val="solid"/>
          </a:ln>
        </p:spPr>
      </p:sp>
      <p:sp>
        <p:nvSpPr>
          <p:cNvPr id="9" name="Text 6"/>
          <p:cNvSpPr/>
          <p:nvPr/>
        </p:nvSpPr>
        <p:spPr>
          <a:xfrm>
            <a:off x="4298431" y="1645920"/>
            <a:ext cx="7088592" cy="822960"/>
          </a:xfrm>
          <a:prstGeom prst="rect">
            <a:avLst/>
          </a:prstGeom>
          <a:noFill/>
          <a:ln/>
        </p:spPr>
        <p:txBody>
          <a:bodyPr wrap="square" lIns="0" tIns="0" rIns="0" bIns="0" rtlCol="0" anchor="ctr"/>
          <a:lstStyle/>
          <a:p>
            <a:pPr marL="0" indent="0" algn="r" rtl="1">
              <a:lnSpc>
                <a:spcPct val="115000"/>
              </a:lnSpc>
              <a:buNone/>
            </a:pPr>
            <a:r>
              <a:rPr lang="ar-SA" altLang="en-US" sz="1600" b="1" dirty="0">
                <a:solidFill>
                  <a:srgbClr val="0E7C86"/>
                </a:solidFill>
                <a:latin typeface="Dubai" panose="020B0503030403030204" pitchFamily="34" charset="-78"/>
                <a:ea typeface="Arial" pitchFamily="34" charset="-122"/>
                <a:cs typeface="Dubai" panose="020B0503030403030204" pitchFamily="34" charset="-78"/>
              </a:rPr>
              <a:t>الزائر  —  </a:t>
            </a:r>
            <a:r>
              <a:rPr lang="ar-SA" altLang="en-US" sz="1600" dirty="0">
                <a:solidFill>
                  <a:srgbClr val="587078"/>
                </a:solidFill>
                <a:latin typeface="Dubai" panose="020B0503030403030204" pitchFamily="34" charset="-78"/>
                <a:ea typeface="Arial" pitchFamily="34" charset="-122"/>
                <a:cs typeface="Dubai" panose="020B0503030403030204" pitchFamily="34" charset="-78"/>
              </a:rPr>
              <a:t>يتعرّف على المنصّة ويبدّل لغتها ويسجّل دخوله.</a:t>
            </a:r>
            <a:endParaRPr lang="ar-SA" sz="1600" dirty="0">
              <a:latin typeface="Dubai" panose="020B0503030403030204" pitchFamily="34" charset="-78"/>
              <a:cs typeface="Dubai" panose="020B0503030403030204" pitchFamily="34" charset="-78"/>
            </a:endParaRPr>
          </a:p>
        </p:txBody>
      </p:sp>
      <p:sp>
        <p:nvSpPr>
          <p:cNvPr id="10" name="Shape 7"/>
          <p:cNvSpPr/>
          <p:nvPr/>
        </p:nvSpPr>
        <p:spPr>
          <a:xfrm>
            <a:off x="4042399" y="2587752"/>
            <a:ext cx="7600656" cy="822960"/>
          </a:xfrm>
          <a:prstGeom prst="roundRect">
            <a:avLst>
              <a:gd name="adj" fmla="val 8889"/>
            </a:avLst>
          </a:prstGeom>
          <a:solidFill>
            <a:srgbClr val="F2F8F8"/>
          </a:solidFill>
          <a:ln w="9525">
            <a:solidFill>
              <a:srgbClr val="D9E7E9"/>
            </a:solidFill>
            <a:prstDash val="solid"/>
          </a:ln>
        </p:spPr>
      </p:sp>
      <p:sp>
        <p:nvSpPr>
          <p:cNvPr id="11" name="Text 8"/>
          <p:cNvSpPr/>
          <p:nvPr/>
        </p:nvSpPr>
        <p:spPr>
          <a:xfrm>
            <a:off x="4298431" y="2587752"/>
            <a:ext cx="7088592" cy="822960"/>
          </a:xfrm>
          <a:prstGeom prst="rect">
            <a:avLst/>
          </a:prstGeom>
          <a:noFill/>
          <a:ln/>
        </p:spPr>
        <p:txBody>
          <a:bodyPr wrap="square" lIns="0" tIns="0" rIns="0" bIns="0" rtlCol="0" anchor="ctr"/>
          <a:lstStyle/>
          <a:p>
            <a:pPr marL="0" indent="0" algn="r" rtl="1">
              <a:lnSpc>
                <a:spcPct val="115000"/>
              </a:lnSpc>
              <a:buNone/>
            </a:pPr>
            <a:r>
              <a:rPr lang="ar-SA" altLang="en-US" sz="1600" b="1" dirty="0">
                <a:solidFill>
                  <a:srgbClr val="0E7C86"/>
                </a:solidFill>
                <a:latin typeface="Dubai" panose="020B0503030403030204" pitchFamily="34" charset="-78"/>
                <a:ea typeface="Arial" pitchFamily="34" charset="-122"/>
                <a:cs typeface="Dubai" panose="020B0503030403030204" pitchFamily="34" charset="-78"/>
              </a:rPr>
              <a:t>المريض  —  </a:t>
            </a:r>
            <a:r>
              <a:rPr lang="ar-SA" altLang="en-US" sz="1600" dirty="0">
                <a:solidFill>
                  <a:srgbClr val="587078"/>
                </a:solidFill>
                <a:latin typeface="Dubai" panose="020B0503030403030204" pitchFamily="34" charset="-78"/>
                <a:ea typeface="Arial" pitchFamily="34" charset="-122"/>
                <a:cs typeface="Dubai" panose="020B0503030403030204" pitchFamily="34" charset="-78"/>
              </a:rPr>
              <a:t>يطّلع على ملفه ومواعيده وأدويته ضمن حدوده فقط.</a:t>
            </a:r>
            <a:endParaRPr lang="ar-SA" sz="1600" dirty="0">
              <a:latin typeface="Dubai" panose="020B0503030403030204" pitchFamily="34" charset="-78"/>
              <a:cs typeface="Dubai" panose="020B0503030403030204" pitchFamily="34" charset="-78"/>
            </a:endParaRPr>
          </a:p>
        </p:txBody>
      </p:sp>
      <p:sp>
        <p:nvSpPr>
          <p:cNvPr id="12" name="Shape 9"/>
          <p:cNvSpPr/>
          <p:nvPr/>
        </p:nvSpPr>
        <p:spPr>
          <a:xfrm>
            <a:off x="4042399" y="3529584"/>
            <a:ext cx="7600656" cy="822960"/>
          </a:xfrm>
          <a:prstGeom prst="roundRect">
            <a:avLst>
              <a:gd name="adj" fmla="val 8889"/>
            </a:avLst>
          </a:prstGeom>
          <a:solidFill>
            <a:srgbClr val="F2F8F8"/>
          </a:solidFill>
          <a:ln w="9525">
            <a:solidFill>
              <a:srgbClr val="D9E7E9"/>
            </a:solidFill>
            <a:prstDash val="solid"/>
          </a:ln>
        </p:spPr>
      </p:sp>
      <p:sp>
        <p:nvSpPr>
          <p:cNvPr id="13" name="Text 10"/>
          <p:cNvSpPr/>
          <p:nvPr/>
        </p:nvSpPr>
        <p:spPr>
          <a:xfrm>
            <a:off x="4298431" y="3529584"/>
            <a:ext cx="7088592" cy="822960"/>
          </a:xfrm>
          <a:prstGeom prst="rect">
            <a:avLst/>
          </a:prstGeom>
          <a:noFill/>
          <a:ln/>
        </p:spPr>
        <p:txBody>
          <a:bodyPr wrap="square" lIns="0" tIns="0" rIns="0" bIns="0" rtlCol="0" anchor="ctr"/>
          <a:lstStyle/>
          <a:p>
            <a:pPr marL="0" indent="0" algn="r" rtl="1">
              <a:lnSpc>
                <a:spcPct val="115000"/>
              </a:lnSpc>
              <a:buNone/>
            </a:pPr>
            <a:r>
              <a:rPr lang="ar-SA" altLang="en-US" sz="1600" b="1" dirty="0">
                <a:solidFill>
                  <a:srgbClr val="0E7C86"/>
                </a:solidFill>
                <a:latin typeface="Dubai" panose="020B0503030403030204" pitchFamily="34" charset="-78"/>
                <a:ea typeface="Arial" pitchFamily="34" charset="-122"/>
                <a:cs typeface="Dubai" panose="020B0503030403030204" pitchFamily="34" charset="-78"/>
              </a:rPr>
              <a:t>الطبيب / الممارس  —  </a:t>
            </a:r>
            <a:r>
              <a:rPr lang="ar-SA" altLang="en-US" sz="1600" dirty="0">
                <a:solidFill>
                  <a:srgbClr val="587078"/>
                </a:solidFill>
                <a:latin typeface="Dubai" panose="020B0503030403030204" pitchFamily="34" charset="-78"/>
                <a:ea typeface="Arial" pitchFamily="34" charset="-122"/>
                <a:cs typeface="Dubai" panose="020B0503030403030204" pitchFamily="34" charset="-78"/>
              </a:rPr>
              <a:t>يدير مرضاه وملفاتهم ويتلقّى التنبيهات وتقديرات الخطر.</a:t>
            </a:r>
            <a:endParaRPr lang="ar-SA" sz="1600" dirty="0">
              <a:latin typeface="Dubai" panose="020B0503030403030204" pitchFamily="34" charset="-78"/>
              <a:cs typeface="Dubai" panose="020B0503030403030204" pitchFamily="34" charset="-78"/>
            </a:endParaRPr>
          </a:p>
        </p:txBody>
      </p:sp>
      <p:sp>
        <p:nvSpPr>
          <p:cNvPr id="14" name="Shape 11"/>
          <p:cNvSpPr/>
          <p:nvPr/>
        </p:nvSpPr>
        <p:spPr>
          <a:xfrm>
            <a:off x="4042399" y="4471416"/>
            <a:ext cx="7600656" cy="822960"/>
          </a:xfrm>
          <a:prstGeom prst="roundRect">
            <a:avLst>
              <a:gd name="adj" fmla="val 8889"/>
            </a:avLst>
          </a:prstGeom>
          <a:solidFill>
            <a:srgbClr val="F2F8F8"/>
          </a:solidFill>
          <a:ln w="9525">
            <a:solidFill>
              <a:srgbClr val="D9E7E9"/>
            </a:solidFill>
            <a:prstDash val="solid"/>
          </a:ln>
        </p:spPr>
      </p:sp>
      <p:sp>
        <p:nvSpPr>
          <p:cNvPr id="15" name="Text 12"/>
          <p:cNvSpPr/>
          <p:nvPr/>
        </p:nvSpPr>
        <p:spPr>
          <a:xfrm>
            <a:off x="4298431" y="4471416"/>
            <a:ext cx="7088592" cy="822960"/>
          </a:xfrm>
          <a:prstGeom prst="rect">
            <a:avLst/>
          </a:prstGeom>
          <a:noFill/>
          <a:ln/>
        </p:spPr>
        <p:txBody>
          <a:bodyPr wrap="square" lIns="0" tIns="0" rIns="0" bIns="0" rtlCol="0" anchor="ctr"/>
          <a:lstStyle/>
          <a:p>
            <a:pPr marL="0" indent="0" algn="r" rtl="1">
              <a:lnSpc>
                <a:spcPct val="115000"/>
              </a:lnSpc>
              <a:buNone/>
            </a:pPr>
            <a:r>
              <a:rPr lang="ar-SA" altLang="en-US" sz="1600" b="1" dirty="0">
                <a:solidFill>
                  <a:srgbClr val="0E7C86"/>
                </a:solidFill>
                <a:latin typeface="Dubai" panose="020B0503030403030204" pitchFamily="34" charset="-78"/>
                <a:ea typeface="Arial" pitchFamily="34" charset="-122"/>
                <a:cs typeface="Dubai" panose="020B0503030403030204" pitchFamily="34" charset="-78"/>
              </a:rPr>
              <a:t>مدير المؤسسة  —  </a:t>
            </a:r>
            <a:r>
              <a:rPr lang="ar-SA" altLang="en-US" sz="1600" dirty="0">
                <a:solidFill>
                  <a:srgbClr val="587078"/>
                </a:solidFill>
                <a:latin typeface="Dubai" panose="020B0503030403030204" pitchFamily="34" charset="-78"/>
                <a:ea typeface="Arial" pitchFamily="34" charset="-122"/>
                <a:cs typeface="Dubai" panose="020B0503030403030204" pitchFamily="34" charset="-78"/>
              </a:rPr>
              <a:t>يضيف قدرات إدارة الكادر وكتابة قواعد التنبيه — فوق قدرات الطبيب.</a:t>
            </a:r>
            <a:endParaRPr lang="ar-SA" sz="1600" dirty="0">
              <a:latin typeface="Dubai" panose="020B0503030403030204" pitchFamily="34" charset="-78"/>
              <a:cs typeface="Dubai" panose="020B0503030403030204" pitchFamily="34" charset="-78"/>
            </a:endParaRPr>
          </a:p>
        </p:txBody>
      </p:sp>
      <p:sp>
        <p:nvSpPr>
          <p:cNvPr id="16" name="Shape 13"/>
          <p:cNvSpPr/>
          <p:nvPr/>
        </p:nvSpPr>
        <p:spPr>
          <a:xfrm>
            <a:off x="4042399" y="5413248"/>
            <a:ext cx="7600656" cy="822960"/>
          </a:xfrm>
          <a:prstGeom prst="roundRect">
            <a:avLst>
              <a:gd name="adj" fmla="val 8889"/>
            </a:avLst>
          </a:prstGeom>
          <a:solidFill>
            <a:srgbClr val="F2F8F8"/>
          </a:solidFill>
          <a:ln w="9525">
            <a:solidFill>
              <a:srgbClr val="D9E7E9"/>
            </a:solidFill>
            <a:prstDash val="solid"/>
          </a:ln>
        </p:spPr>
      </p:sp>
      <p:sp>
        <p:nvSpPr>
          <p:cNvPr id="17" name="Text 14"/>
          <p:cNvSpPr/>
          <p:nvPr/>
        </p:nvSpPr>
        <p:spPr>
          <a:xfrm>
            <a:off x="4298431" y="5413248"/>
            <a:ext cx="7088592" cy="822960"/>
          </a:xfrm>
          <a:prstGeom prst="rect">
            <a:avLst/>
          </a:prstGeom>
          <a:noFill/>
          <a:ln/>
        </p:spPr>
        <p:txBody>
          <a:bodyPr wrap="square" lIns="0" tIns="0" rIns="0" bIns="0" rtlCol="0" anchor="ctr"/>
          <a:lstStyle/>
          <a:p>
            <a:pPr marL="0" indent="0" algn="r" rtl="1">
              <a:lnSpc>
                <a:spcPct val="115000"/>
              </a:lnSpc>
              <a:buNone/>
            </a:pPr>
            <a:r>
              <a:rPr lang="ar-SA" altLang="en-US" sz="1600" b="1" dirty="0">
                <a:solidFill>
                  <a:srgbClr val="0E7C86"/>
                </a:solidFill>
                <a:latin typeface="Dubai" panose="020B0503030403030204" pitchFamily="34" charset="-78"/>
                <a:ea typeface="Arial" pitchFamily="34" charset="-122"/>
                <a:cs typeface="Dubai" panose="020B0503030403030204" pitchFamily="34" charset="-78"/>
              </a:rPr>
              <a:t>مدير النظام  —  </a:t>
            </a:r>
            <a:r>
              <a:rPr lang="ar-SA" altLang="en-US" sz="1600" dirty="0">
                <a:solidFill>
                  <a:srgbClr val="587078"/>
                </a:solidFill>
                <a:latin typeface="Dubai" panose="020B0503030403030204" pitchFamily="34" charset="-78"/>
                <a:ea typeface="Arial" pitchFamily="34" charset="-122"/>
                <a:cs typeface="Dubai" panose="020B0503030403030204" pitchFamily="34" charset="-78"/>
              </a:rPr>
              <a:t>أعلى صلاحية: يدير المؤسسات على مستوى المنصّة كاملة.</a:t>
            </a:r>
            <a:endParaRPr lang="ar-SA" sz="1600" dirty="0">
              <a:latin typeface="Dubai" panose="020B0503030403030204" pitchFamily="34" charset="-78"/>
              <a:cs typeface="Dubai" panose="020B0503030403030204" pitchFamily="34" charset="-78"/>
            </a:endParaRPr>
          </a:p>
        </p:txBody>
      </p:sp>
    </p:spTree>
  </p:cSld>
  <p:clrMapOvr>
    <a:masterClrMapping/>
  </p:clrMapOvr>
  <p:transition spd="slow">
    <p:wipe dir="r"/>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marR="0" lvl="0" indent="0" algn="r" defTabSz="914400" rtl="1" eaLnBrk="1" fontAlgn="auto" latinLnBrk="0" hangingPunct="1">
              <a:lnSpc>
                <a:spcPct val="100000"/>
              </a:lnSpc>
              <a:spcBef>
                <a:spcPts val="0"/>
              </a:spcBef>
              <a:spcAft>
                <a:spcPts val="0"/>
              </a:spcAft>
              <a:buClrTx/>
              <a:buSzTx/>
              <a:buFontTx/>
              <a:buNone/>
              <a:tabLst/>
              <a:defRPr/>
            </a:pPr>
            <a:r>
              <a:rPr kumimoji="0" lang="ar-SA" altLang="en-US" sz="900" b="0" i="0" u="none" strike="noStrike" kern="1200" cap="none" spc="0" normalizeH="0" baseline="0" noProof="0" dirty="0">
                <a:ln>
                  <a:noFill/>
                </a:ln>
                <a:solidFill>
                  <a:srgbClr val="587078"/>
                </a:solidFill>
                <a:effectLst/>
                <a:uLnTx/>
                <a:uFillTx/>
                <a:latin typeface="Dubai" panose="020B0503030403030204" pitchFamily="34" charset="-78"/>
                <a:ea typeface="Arial" pitchFamily="34" charset="-122"/>
                <a:cs typeface="Dubai" panose="020B0503030403030204" pitchFamily="34" charset="-78"/>
              </a:rPr>
              <a:t>نبض — نظام السجلات الطبية الرقمية</a:t>
            </a:r>
            <a:endParaRPr kumimoji="0" lang="ar-SA" sz="9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ar-SY" sz="900" b="0" i="0" u="none" strike="noStrike" kern="1200" cap="none" spc="0" normalizeH="0" baseline="0" noProof="0" dirty="0">
                <a:ln>
                  <a:noFill/>
                </a:ln>
                <a:solidFill>
                  <a:srgbClr val="587078"/>
                </a:solidFill>
                <a:effectLst/>
                <a:uLnTx/>
                <a:uFillTx/>
                <a:latin typeface="Dubai" panose="020B0503030403030204" pitchFamily="34" charset="-78"/>
                <a:ea typeface="Arial" pitchFamily="34" charset="-122"/>
                <a:cs typeface="Dubai" panose="020B0503030403030204" pitchFamily="34" charset="-78"/>
              </a:rPr>
              <a:t>12</a:t>
            </a:r>
            <a:endParaRPr kumimoji="0" lang="en-US" sz="9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marR="0" lvl="0" indent="0" algn="r" defTabSz="914400" rtl="1" eaLnBrk="1" fontAlgn="auto" latinLnBrk="0" hangingPunct="1">
              <a:lnSpc>
                <a:spcPct val="100000"/>
              </a:lnSpc>
              <a:spcBef>
                <a:spcPts val="0"/>
              </a:spcBef>
              <a:spcAft>
                <a:spcPts val="0"/>
              </a:spcAft>
              <a:buClrTx/>
              <a:buSzTx/>
              <a:buFontTx/>
              <a:buNone/>
              <a:tabLst/>
              <a:defRPr/>
            </a:pPr>
            <a:r>
              <a:rPr kumimoji="0" lang="ar-SA" altLang="en-US" sz="2900" b="1" i="0" u="none" strike="noStrike" kern="1200" cap="none" spc="0" normalizeH="0" baseline="0" noProof="0" dirty="0">
                <a:ln>
                  <a:noFill/>
                </a:ln>
                <a:solidFill>
                  <a:srgbClr val="0A3540"/>
                </a:solidFill>
                <a:effectLst/>
                <a:uLnTx/>
                <a:uFillTx/>
                <a:latin typeface="Dubai" panose="020B0503030403030204" pitchFamily="34" charset="-78"/>
                <a:ea typeface="Arial" pitchFamily="34" charset="-122"/>
                <a:cs typeface="Dubai" panose="020B0503030403030204" pitchFamily="34" charset="-78"/>
              </a:rPr>
              <a:t>مخطّط قاعدة البيانات ‏</a:t>
            </a:r>
            <a:r>
              <a:rPr kumimoji="0" lang="en-US" altLang="en-US" sz="2900" b="1" i="0" u="none" strike="noStrike" kern="1200" cap="none" spc="0" normalizeH="0" baseline="0" noProof="0" dirty="0">
                <a:ln>
                  <a:noFill/>
                </a:ln>
                <a:solidFill>
                  <a:srgbClr val="0A3540"/>
                </a:solidFill>
                <a:effectLst/>
                <a:uLnTx/>
                <a:uFillTx/>
                <a:latin typeface="Dubai" panose="020B0503030403030204" pitchFamily="34" charset="-78"/>
                <a:ea typeface="Arial" pitchFamily="34" charset="-122"/>
                <a:cs typeface="Dubai" panose="020B0503030403030204" pitchFamily="34" charset="-78"/>
              </a:rPr>
              <a:t>ERD</a:t>
            </a:r>
            <a:endParaRPr kumimoji="0" lang="ar-SA" sz="29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p:txBody>
      </p:sp>
      <p:sp>
        <p:nvSpPr>
          <p:cNvPr id="5" name="Text 3"/>
          <p:cNvSpPr/>
          <p:nvPr/>
        </p:nvSpPr>
        <p:spPr>
          <a:xfrm>
            <a:off x="548640" y="859536"/>
            <a:ext cx="11094415" cy="347472"/>
          </a:xfrm>
          <a:prstGeom prst="rect">
            <a:avLst/>
          </a:prstGeom>
          <a:noFill/>
          <a:ln/>
        </p:spPr>
        <p:txBody>
          <a:bodyPr wrap="square" lIns="0" tIns="0" rIns="0" bIns="0" rtlCol="0" anchor="ctr"/>
          <a:lstStyle/>
          <a:p>
            <a:pPr marL="0" marR="0" lvl="0" indent="0" algn="r" defTabSz="914400" rtl="1" eaLnBrk="1" fontAlgn="auto" latinLnBrk="0" hangingPunct="1">
              <a:lnSpc>
                <a:spcPct val="100000"/>
              </a:lnSpc>
              <a:spcBef>
                <a:spcPts val="0"/>
              </a:spcBef>
              <a:spcAft>
                <a:spcPts val="0"/>
              </a:spcAft>
              <a:buClrTx/>
              <a:buSzTx/>
              <a:buFontTx/>
              <a:buNone/>
              <a:tabLst/>
              <a:defRPr/>
            </a:pPr>
            <a:r>
              <a:rPr kumimoji="0" lang="ar-SA" altLang="en-US" sz="1400" b="0" i="0" u="none" strike="noStrike" kern="1200" cap="none" spc="0" normalizeH="0" baseline="0" noProof="0" dirty="0">
                <a:ln>
                  <a:noFill/>
                </a:ln>
                <a:solidFill>
                  <a:srgbClr val="0E7C86"/>
                </a:solidFill>
                <a:effectLst/>
                <a:uLnTx/>
                <a:uFillTx/>
                <a:latin typeface="Dubai" panose="020B0503030403030204" pitchFamily="34" charset="-78"/>
                <a:ea typeface="Arial" pitchFamily="34" charset="-122"/>
                <a:cs typeface="Dubai" panose="020B0503030403030204" pitchFamily="34" charset="-78"/>
              </a:rPr>
              <a:t>تصميمٌ عام: مستند ‏</a:t>
            </a:r>
            <a:r>
              <a:rPr kumimoji="0" lang="en-US" altLang="en-US" sz="1400" b="0" i="0" u="none" strike="noStrike" kern="1200" cap="none" spc="0" normalizeH="0" baseline="0" noProof="0" dirty="0">
                <a:ln>
                  <a:noFill/>
                </a:ln>
                <a:solidFill>
                  <a:srgbClr val="0E7C86"/>
                </a:solidFill>
                <a:effectLst/>
                <a:uLnTx/>
                <a:uFillTx/>
                <a:latin typeface="Dubai" panose="020B0503030403030204" pitchFamily="34" charset="-78"/>
                <a:ea typeface="Arial" pitchFamily="34" charset="-122"/>
                <a:cs typeface="Dubai" panose="020B0503030403030204" pitchFamily="34" charset="-78"/>
              </a:rPr>
              <a:t>FHIR</a:t>
            </a:r>
            <a:r>
              <a:rPr kumimoji="0" lang="ar-SA" altLang="en-US" sz="1400" b="0" i="0" u="none" strike="noStrike" kern="1200" cap="none" spc="0" normalizeH="0" baseline="0" noProof="0" dirty="0">
                <a:ln>
                  <a:noFill/>
                </a:ln>
                <a:solidFill>
                  <a:srgbClr val="0E7C86"/>
                </a:solidFill>
                <a:effectLst/>
                <a:uLnTx/>
                <a:uFillTx/>
                <a:latin typeface="Dubai" panose="020B0503030403030204" pitchFamily="34" charset="-78"/>
                <a:ea typeface="Arial" pitchFamily="34" charset="-122"/>
                <a:cs typeface="Dubai" panose="020B0503030403030204" pitchFamily="34" charset="-78"/>
              </a:rPr>
              <a:t>‏ في المركز، وحوله جداول الفهرسة والنسخ والدعم</a:t>
            </a:r>
            <a:endParaRPr kumimoji="0" lang="ar-SA" sz="14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p:txBody>
      </p:sp>
      <p:sp>
        <p:nvSpPr>
          <p:cNvPr id="6" name="Shape 4"/>
          <p:cNvSpPr/>
          <p:nvPr/>
        </p:nvSpPr>
        <p:spPr>
          <a:xfrm>
            <a:off x="786384" y="660456"/>
            <a:ext cx="3816822" cy="5731200"/>
          </a:xfrm>
          <a:prstGeom prst="rect">
            <a:avLst/>
          </a:prstGeom>
          <a:solidFill>
            <a:srgbClr val="FFFFFF"/>
          </a:solidFill>
          <a:ln w="12700">
            <a:solidFill>
              <a:srgbClr val="D9E7E9"/>
            </a:solidFill>
            <a:prstDash val="solid"/>
          </a:ln>
          <a:effectLst>
            <a:outerShdw blurRad="76200" dist="25400" dir="5400000" algn="bl" rotWithShape="0">
              <a:srgbClr val="808F93">
                <a:alpha val="35000"/>
              </a:srgbClr>
            </a:outerShdw>
          </a:effectLst>
        </p:spPr>
      </p:sp>
      <p:pic>
        <p:nvPicPr>
          <p:cNvPr id="7" name="Image 0" descr="D:/Code/ASP/DMRS/docs/diagrams/erd.png"/>
          <p:cNvPicPr>
            <a:picLocks noChangeAspect="1"/>
          </p:cNvPicPr>
          <p:nvPr/>
        </p:nvPicPr>
        <p:blipFill>
          <a:blip r:embed="rId3"/>
          <a:stretch>
            <a:fillRect/>
          </a:stretch>
        </p:blipFill>
        <p:spPr>
          <a:xfrm>
            <a:off x="822959" y="660456"/>
            <a:ext cx="3742819" cy="5694624"/>
          </a:xfrm>
          <a:prstGeom prst="rect">
            <a:avLst/>
          </a:prstGeom>
        </p:spPr>
      </p:pic>
      <p:sp>
        <p:nvSpPr>
          <p:cNvPr id="8" name="Text 5"/>
          <p:cNvSpPr/>
          <p:nvPr/>
        </p:nvSpPr>
        <p:spPr>
          <a:xfrm>
            <a:off x="4420998" y="1737360"/>
            <a:ext cx="7222057" cy="4572000"/>
          </a:xfrm>
          <a:prstGeom prst="rect">
            <a:avLst/>
          </a:prstGeom>
          <a:noFill/>
          <a:ln/>
        </p:spPr>
        <p:txBody>
          <a:bodyPr wrap="square" rtlCol="0" anchor="t"/>
          <a:lstStyle/>
          <a:p>
            <a:pPr marL="152400" marR="0" lvl="0" indent="-152400" algn="r" defTabSz="914400" rtl="1" eaLnBrk="1" fontAlgn="auto" latinLnBrk="0" hangingPunct="1">
              <a:lnSpc>
                <a:spcPct val="120000"/>
              </a:lnSpc>
              <a:spcBef>
                <a:spcPts val="0"/>
              </a:spcBef>
              <a:spcAft>
                <a:spcPts val="1300"/>
              </a:spcAft>
              <a:buClrTx/>
              <a:buSzPct val="100000"/>
              <a:buFontTx/>
              <a:buChar char="•"/>
              <a:tabLst/>
              <a:defRPr/>
            </a:pP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جدول ‏</a:t>
            </a:r>
            <a:r>
              <a:rPr kumimoji="0" lang="en-US"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FhirResource</a:t>
            </a: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 يحفظ النسخة الحالية لكلّ مورد: النوع والمعرّف ومستند ‏</a:t>
            </a:r>
            <a:r>
              <a:rPr kumimoji="0" lang="en-US"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JSON</a:t>
            </a: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a:t>
            </a:r>
            <a:endParaRPr kumimoji="0" lang="ar-SA" sz="14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a:p>
            <a:pPr marL="152400" marR="0" lvl="0" indent="-152400" algn="r" defTabSz="914400" rtl="1" eaLnBrk="1" fontAlgn="auto" latinLnBrk="0" hangingPunct="1">
              <a:lnSpc>
                <a:spcPct val="120000"/>
              </a:lnSpc>
              <a:spcBef>
                <a:spcPts val="0"/>
              </a:spcBef>
              <a:spcAft>
                <a:spcPts val="1300"/>
              </a:spcAft>
              <a:buClrTx/>
              <a:buSzPct val="100000"/>
              <a:buFontTx/>
              <a:buChar char="•"/>
              <a:tabLst/>
              <a:defRPr/>
            </a:pP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جدول ‏</a:t>
            </a:r>
            <a:r>
              <a:rPr kumimoji="0" lang="en-US"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FhirResourceVersion</a:t>
            </a: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 يحفظ تاريخ النسخ كاملاً لكلّ مورد (أثرٌ تدقيقي).</a:t>
            </a:r>
            <a:endParaRPr kumimoji="0" lang="ar-SA" sz="14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a:p>
            <a:pPr marL="152400" marR="0" lvl="0" indent="-152400" algn="r" defTabSz="914400" rtl="1" eaLnBrk="1" fontAlgn="auto" latinLnBrk="0" hangingPunct="1">
              <a:lnSpc>
                <a:spcPct val="120000"/>
              </a:lnSpc>
              <a:spcBef>
                <a:spcPts val="0"/>
              </a:spcBef>
              <a:spcAft>
                <a:spcPts val="1300"/>
              </a:spcAft>
              <a:buClrTx/>
              <a:buSzPct val="100000"/>
              <a:buFontTx/>
              <a:buChar char="•"/>
              <a:tabLst/>
              <a:defRPr/>
            </a:pP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فهرس ‏</a:t>
            </a:r>
            <a:r>
              <a:rPr kumimoji="0" lang="en-US"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ResourceIndex</a:t>
            </a: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 فهرس بحثٍ مُسطَّح يُبنى تلقائياً من الموارد.</a:t>
            </a:r>
            <a:endParaRPr kumimoji="0" lang="ar-SA" sz="14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a:p>
            <a:pPr marL="152400" marR="0" lvl="0" indent="-152400" algn="r" defTabSz="914400" rtl="1" eaLnBrk="1" fontAlgn="auto" latinLnBrk="0" hangingPunct="1">
              <a:lnSpc>
                <a:spcPct val="120000"/>
              </a:lnSpc>
              <a:spcBef>
                <a:spcPts val="0"/>
              </a:spcBef>
              <a:spcAft>
                <a:spcPts val="1300"/>
              </a:spcAft>
              <a:buClrTx/>
              <a:buSzPct val="100000"/>
              <a:buFontTx/>
              <a:buChar char="•"/>
              <a:tabLst/>
              <a:defRPr/>
            </a:pP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علاقة ‏</a:t>
            </a:r>
            <a:r>
              <a:rPr kumimoji="0" lang="en-US"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CdsRuleDefinition</a:t>
            </a: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 مع ‏</a:t>
            </a:r>
            <a:r>
              <a:rPr kumimoji="0" lang="en-US"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CdsRuleVersion</a:t>
            </a: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 تحقّق نشراً مُصدَّر النسخ لقواعد دعم القرار.</a:t>
            </a:r>
            <a:endParaRPr kumimoji="0" lang="ar-SA" sz="14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a:p>
            <a:pPr marL="152400" marR="0" lvl="0" indent="-152400" algn="r" defTabSz="914400" rtl="1" eaLnBrk="1" fontAlgn="auto" latinLnBrk="0" hangingPunct="1">
              <a:lnSpc>
                <a:spcPct val="120000"/>
              </a:lnSpc>
              <a:spcBef>
                <a:spcPts val="0"/>
              </a:spcBef>
              <a:spcAft>
                <a:spcPts val="1300"/>
              </a:spcAft>
              <a:buClrTx/>
              <a:buSzPct val="100000"/>
              <a:buFontTx/>
              <a:buChar char="•"/>
              <a:tabLst/>
              <a:defRPr/>
            </a:pP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جدول ‏</a:t>
            </a:r>
            <a:r>
              <a:rPr kumimoji="0" lang="en-US"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MedicineKnowledgeRecord</a:t>
            </a: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 ذاكرةٌ مؤقّتة لمعرفة الأدوية.</a:t>
            </a:r>
            <a:endParaRPr kumimoji="0" lang="ar-SA" sz="14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a:p>
            <a:pPr marL="152400" marR="0" lvl="0" indent="-152400" algn="r" defTabSz="914400" rtl="1" eaLnBrk="1" fontAlgn="auto" latinLnBrk="0" hangingPunct="1">
              <a:lnSpc>
                <a:spcPct val="120000"/>
              </a:lnSpc>
              <a:spcBef>
                <a:spcPts val="0"/>
              </a:spcBef>
              <a:spcAft>
                <a:spcPts val="1300"/>
              </a:spcAft>
              <a:buClrTx/>
              <a:buSzPct val="100000"/>
              <a:buFontTx/>
              <a:buChar char="•"/>
              <a:tabLst/>
              <a:defRPr/>
            </a:pP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جدول ‏</a:t>
            </a:r>
            <a:r>
              <a:rPr kumimoji="0" lang="en-US"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ExternalAiModel</a:t>
            </a: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 سجلّ النماذج الخارجية بأسرارٍ مشفّرة.</a:t>
            </a:r>
            <a:endParaRPr kumimoji="0" lang="ar-SA" sz="14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a:p>
            <a:pPr marL="152400" marR="0" lvl="0" indent="-152400" algn="r" defTabSz="914400" rtl="1" eaLnBrk="1" fontAlgn="auto" latinLnBrk="0" hangingPunct="1">
              <a:lnSpc>
                <a:spcPct val="120000"/>
              </a:lnSpc>
              <a:spcBef>
                <a:spcPts val="0"/>
              </a:spcBef>
              <a:spcAft>
                <a:spcPts val="1300"/>
              </a:spcAft>
              <a:buClrTx/>
              <a:buSzPct val="100000"/>
              <a:buFontTx/>
              <a:buChar char="•"/>
              <a:tabLst/>
              <a:defRPr/>
            </a:pP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قاعدة مستقلة ‏</a:t>
            </a:r>
            <a:r>
              <a:rPr kumimoji="0" lang="en-US"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DMRSMedicine</a:t>
            </a:r>
            <a:r>
              <a:rPr kumimoji="0" lang="ar-SA" altLang="en-US" sz="1400" b="0" i="0" u="none" strike="noStrike" kern="1200" cap="none" spc="0" normalizeH="0" baseline="0" noProof="0" dirty="0">
                <a:ln>
                  <a:noFill/>
                </a:ln>
                <a:solidFill>
                  <a:srgbClr val="12333C"/>
                </a:solidFill>
                <a:effectLst/>
                <a:uLnTx/>
                <a:uFillTx/>
                <a:latin typeface="Dubai" panose="020B0503030403030204" pitchFamily="34" charset="-78"/>
                <a:ea typeface="Arial" pitchFamily="34" charset="-122"/>
                <a:cs typeface="Dubai" panose="020B0503030403030204" pitchFamily="34" charset="-78"/>
              </a:rPr>
              <a:t>‏ للأدوية والمكوّنات بعلاقة متعدّد-متعدّد.</a:t>
            </a:r>
            <a:endParaRPr kumimoji="0" lang="ar-SA" sz="14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p:txBody>
      </p:sp>
    </p:spTree>
  </p:cSld>
  <p:clrMapOvr>
    <a:masterClrMapping/>
  </p:clrMapOvr>
  <p:transition spd="slow">
    <p:wipe dir="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marR="0" lvl="0" indent="0" algn="r" defTabSz="914400" rtl="1" eaLnBrk="1" fontAlgn="auto" latinLnBrk="0" hangingPunct="1">
              <a:lnSpc>
                <a:spcPct val="100000"/>
              </a:lnSpc>
              <a:spcBef>
                <a:spcPts val="0"/>
              </a:spcBef>
              <a:spcAft>
                <a:spcPts val="0"/>
              </a:spcAft>
              <a:buClrTx/>
              <a:buSzTx/>
              <a:buFontTx/>
              <a:buNone/>
              <a:tabLst/>
              <a:defRPr/>
            </a:pPr>
            <a:r>
              <a:rPr kumimoji="0" lang="ar-SA" altLang="en-US" sz="900" b="0" i="0" u="none" strike="noStrike" kern="1200" cap="none" spc="0" normalizeH="0" baseline="0" noProof="0" dirty="0">
                <a:ln>
                  <a:noFill/>
                </a:ln>
                <a:solidFill>
                  <a:srgbClr val="587078"/>
                </a:solidFill>
                <a:effectLst/>
                <a:uLnTx/>
                <a:uFillTx/>
                <a:latin typeface="Dubai" panose="020B0503030403030204" pitchFamily="34" charset="-78"/>
                <a:ea typeface="Arial" pitchFamily="34" charset="-122"/>
                <a:cs typeface="Dubai" panose="020B0503030403030204" pitchFamily="34" charset="-78"/>
              </a:rPr>
              <a:t>نبض — نظام السجلات الطبية الرقمية</a:t>
            </a:r>
            <a:endParaRPr kumimoji="0" lang="ar-SA" sz="9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87078"/>
                </a:solidFill>
                <a:effectLst/>
                <a:uLnTx/>
                <a:uFillTx/>
                <a:latin typeface="Arial" pitchFamily="34" charset="0"/>
                <a:ea typeface="Arial" pitchFamily="34" charset="-122"/>
                <a:cs typeface="Arial" pitchFamily="34" charset="-120"/>
              </a:rPr>
              <a:t>13</a:t>
            </a:r>
            <a:endParaRPr kumimoji="0" lang="en-US" sz="900" b="0" i="0" u="none" strike="noStrike" kern="1200" cap="none" spc="0" normalizeH="0" baseline="0" noProof="0" dirty="0">
              <a:ln>
                <a:noFill/>
              </a:ln>
              <a:solidFill>
                <a:prstClr val="black"/>
              </a:solidFill>
              <a:effectLst/>
              <a:uLnTx/>
              <a:uFillTx/>
              <a:latin typeface="Arial"/>
              <a:ea typeface="+mn-ea"/>
              <a:cs typeface="+mn-cs"/>
            </a:endParaRPr>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marR="0" lvl="0" indent="0" algn="r" defTabSz="914400" rtl="1" eaLnBrk="1" fontAlgn="auto" latinLnBrk="0" hangingPunct="1">
              <a:lnSpc>
                <a:spcPct val="100000"/>
              </a:lnSpc>
              <a:spcBef>
                <a:spcPts val="0"/>
              </a:spcBef>
              <a:spcAft>
                <a:spcPts val="0"/>
              </a:spcAft>
              <a:buClrTx/>
              <a:buSzTx/>
              <a:buFontTx/>
              <a:buNone/>
              <a:tabLst/>
              <a:defRPr/>
            </a:pPr>
            <a:r>
              <a:rPr kumimoji="0" lang="ar-SA" altLang="en-US" sz="2900" b="1" i="0" u="none" strike="noStrike" kern="1200" cap="none" spc="0" normalizeH="0" baseline="0" noProof="0" dirty="0">
                <a:ln>
                  <a:noFill/>
                </a:ln>
                <a:solidFill>
                  <a:srgbClr val="0A3540"/>
                </a:solidFill>
                <a:effectLst/>
                <a:uLnTx/>
                <a:uFillTx/>
                <a:latin typeface="Dubai" panose="020B0503030403030204" pitchFamily="34" charset="-78"/>
                <a:ea typeface="Arial" pitchFamily="34" charset="-122"/>
                <a:cs typeface="Dubai" panose="020B0503030403030204" pitchFamily="34" charset="-78"/>
              </a:rPr>
              <a:t>هل نثق بأنّ النظام يعمل؟</a:t>
            </a:r>
            <a:endParaRPr kumimoji="0" lang="ar-SA" sz="29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p:txBody>
      </p:sp>
      <p:sp>
        <p:nvSpPr>
          <p:cNvPr id="5" name="Text 3"/>
          <p:cNvSpPr/>
          <p:nvPr/>
        </p:nvSpPr>
        <p:spPr>
          <a:xfrm>
            <a:off x="548640" y="859536"/>
            <a:ext cx="11094415" cy="347472"/>
          </a:xfrm>
          <a:prstGeom prst="rect">
            <a:avLst/>
          </a:prstGeom>
          <a:noFill/>
          <a:ln/>
        </p:spPr>
        <p:txBody>
          <a:bodyPr wrap="square" lIns="0" tIns="0" rIns="0" bIns="0" rtlCol="0" anchor="ctr"/>
          <a:lstStyle/>
          <a:p>
            <a:pPr marL="0" marR="0" lvl="0" indent="0" algn="r" defTabSz="914400" rtl="1" eaLnBrk="1" fontAlgn="auto" latinLnBrk="0" hangingPunct="1">
              <a:lnSpc>
                <a:spcPct val="100000"/>
              </a:lnSpc>
              <a:spcBef>
                <a:spcPts val="0"/>
              </a:spcBef>
              <a:spcAft>
                <a:spcPts val="0"/>
              </a:spcAft>
              <a:buClrTx/>
              <a:buSzTx/>
              <a:buFontTx/>
              <a:buNone/>
              <a:tabLst/>
              <a:defRPr/>
            </a:pPr>
            <a:r>
              <a:rPr kumimoji="0" lang="ar-SA" altLang="en-US" sz="1400" b="0" i="0" u="none" strike="noStrike" kern="1200" cap="none" spc="0" normalizeH="0" baseline="0" noProof="0" dirty="0">
                <a:ln>
                  <a:noFill/>
                </a:ln>
                <a:solidFill>
                  <a:srgbClr val="0E7C86"/>
                </a:solidFill>
                <a:effectLst/>
                <a:uLnTx/>
                <a:uFillTx/>
                <a:latin typeface="Dubai" panose="020B0503030403030204" pitchFamily="34" charset="-78"/>
                <a:ea typeface="Arial" pitchFamily="34" charset="-122"/>
                <a:cs typeface="Dubai" panose="020B0503030403030204" pitchFamily="34" charset="-78"/>
              </a:rPr>
              <a:t>منظومة اختباراتٍ آلية تُشغَّل بأمرٍ واحد وتفحص النظام كلّه</a:t>
            </a:r>
            <a:endParaRPr kumimoji="0" lang="ar-SA" sz="14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p:txBody>
      </p:sp>
      <p:sp>
        <p:nvSpPr>
          <p:cNvPr id="6" name="Shape 4"/>
          <p:cNvSpPr/>
          <p:nvPr/>
        </p:nvSpPr>
        <p:spPr>
          <a:xfrm>
            <a:off x="548640" y="1572768"/>
            <a:ext cx="11094415" cy="786384"/>
          </a:xfrm>
          <a:prstGeom prst="roundRect">
            <a:avLst>
              <a:gd name="adj" fmla="val 9302"/>
            </a:avLst>
          </a:prstGeom>
          <a:solidFill>
            <a:srgbClr val="0A3540"/>
          </a:solidFill>
          <a:ln/>
        </p:spPr>
      </p:sp>
      <p:sp>
        <p:nvSpPr>
          <p:cNvPr id="7" name="Text 5"/>
          <p:cNvSpPr/>
          <p:nvPr/>
        </p:nvSpPr>
        <p:spPr>
          <a:xfrm>
            <a:off x="868680" y="1572768"/>
            <a:ext cx="10454335" cy="786384"/>
          </a:xfrm>
          <a:prstGeom prst="rect">
            <a:avLst/>
          </a:prstGeom>
          <a:noFill/>
          <a:ln/>
        </p:spPr>
        <p:txBody>
          <a:bodyPr wrap="square" lIns="0" tIns="0" rIns="0" bIns="0" rtlCol="0" anchor="ctr"/>
          <a:lstStyle/>
          <a:p>
            <a:pPr marL="0" marR="0" lvl="0" indent="0" algn="r" defTabSz="914400" rtl="1" eaLnBrk="1" fontAlgn="auto" latinLnBrk="0" hangingPunct="1">
              <a:lnSpc>
                <a:spcPct val="100000"/>
              </a:lnSpc>
              <a:spcBef>
                <a:spcPts val="0"/>
              </a:spcBef>
              <a:spcAft>
                <a:spcPts val="0"/>
              </a:spcAft>
              <a:buClrTx/>
              <a:buSzTx/>
              <a:buFontTx/>
              <a:buNone/>
              <a:tabLst/>
              <a:defRPr/>
            </a:pPr>
            <a:r>
              <a:rPr kumimoji="0" lang="ar-SA" altLang="en-US" sz="2000" b="1" i="0" u="none" strike="noStrike" kern="1200" cap="none" spc="0" normalizeH="0" baseline="0" noProof="0" dirty="0">
                <a:ln>
                  <a:noFill/>
                </a:ln>
                <a:solidFill>
                  <a:srgbClr val="FFFFFF"/>
                </a:solidFill>
                <a:effectLst/>
                <a:uLnTx/>
                <a:uFillTx/>
                <a:latin typeface="Dubai" panose="020B0503030403030204" pitchFamily="34" charset="-78"/>
                <a:ea typeface="Arial" pitchFamily="34" charset="-122"/>
                <a:cs typeface="Dubai" panose="020B0503030403030204" pitchFamily="34" charset="-78"/>
              </a:rPr>
              <a:t>٢١٥ اختباراً آلياً — جميعها ناجحة</a:t>
            </a:r>
            <a:endParaRPr kumimoji="0" lang="ar-SA" sz="20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p:txBody>
      </p:sp>
      <p:sp>
        <p:nvSpPr>
          <p:cNvPr id="8" name="Shape 6"/>
          <p:cNvSpPr/>
          <p:nvPr/>
        </p:nvSpPr>
        <p:spPr>
          <a:xfrm>
            <a:off x="6193231" y="2542032"/>
            <a:ext cx="5449824" cy="1591056"/>
          </a:xfrm>
          <a:prstGeom prst="roundRect">
            <a:avLst>
              <a:gd name="adj" fmla="val 4598"/>
            </a:avLst>
          </a:prstGeom>
          <a:solidFill>
            <a:srgbClr val="F2F8F8"/>
          </a:solidFill>
          <a:ln w="9525">
            <a:solidFill>
              <a:srgbClr val="D9E7E9"/>
            </a:solidFill>
            <a:prstDash val="solid"/>
          </a:ln>
        </p:spPr>
      </p:sp>
      <p:sp>
        <p:nvSpPr>
          <p:cNvPr id="9" name="Shape 7"/>
          <p:cNvSpPr/>
          <p:nvPr/>
        </p:nvSpPr>
        <p:spPr>
          <a:xfrm>
            <a:off x="10984687" y="2743200"/>
            <a:ext cx="402336" cy="402336"/>
          </a:xfrm>
          <a:prstGeom prst="ellipse">
            <a:avLst/>
          </a:prstGeom>
          <a:solidFill>
            <a:srgbClr val="0E7C86"/>
          </a:solidFill>
          <a:ln/>
        </p:spPr>
      </p:sp>
      <p:sp>
        <p:nvSpPr>
          <p:cNvPr id="10" name="Text 8"/>
          <p:cNvSpPr/>
          <p:nvPr/>
        </p:nvSpPr>
        <p:spPr>
          <a:xfrm>
            <a:off x="6467551" y="2761488"/>
            <a:ext cx="4352544" cy="457200"/>
          </a:xfrm>
          <a:prstGeom prst="rect">
            <a:avLst/>
          </a:prstGeom>
          <a:noFill/>
          <a:ln/>
        </p:spPr>
        <p:txBody>
          <a:bodyPr wrap="square" lIns="0" tIns="0" rIns="0" bIns="0" rtlCol="0" anchor="ctr"/>
          <a:lstStyle/>
          <a:p>
            <a:pPr marL="0" marR="0" lvl="0" indent="0" algn="r" defTabSz="914400" rtl="1" eaLnBrk="1" fontAlgn="auto" latinLnBrk="0" hangingPunct="1">
              <a:lnSpc>
                <a:spcPct val="100000"/>
              </a:lnSpc>
              <a:spcBef>
                <a:spcPts val="0"/>
              </a:spcBef>
              <a:spcAft>
                <a:spcPts val="0"/>
              </a:spcAft>
              <a:buClrTx/>
              <a:buSzTx/>
              <a:buFontTx/>
              <a:buNone/>
              <a:tabLst/>
              <a:defRPr/>
            </a:pPr>
            <a:r>
              <a:rPr kumimoji="0" lang="ar-SA" altLang="en-US" b="1" i="0" u="none" strike="noStrike" kern="1200" cap="none" spc="0" normalizeH="0" baseline="0" noProof="0" dirty="0">
                <a:ln>
                  <a:noFill/>
                </a:ln>
                <a:solidFill>
                  <a:srgbClr val="0A3540"/>
                </a:solidFill>
                <a:effectLst/>
                <a:uLnTx/>
                <a:uFillTx/>
                <a:latin typeface="Dubai" panose="020B0503030403030204" pitchFamily="34" charset="-78"/>
                <a:ea typeface="Arial" pitchFamily="34" charset="-122"/>
                <a:cs typeface="Dubai" panose="020B0503030403030204" pitchFamily="34" charset="-78"/>
              </a:rPr>
              <a:t>الوظائف والواجهة البرمجية</a:t>
            </a:r>
            <a:endParaRPr kumimoji="0" lang="ar-SA"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p:txBody>
      </p:sp>
      <p:sp>
        <p:nvSpPr>
          <p:cNvPr id="11" name="Text 9"/>
          <p:cNvSpPr/>
          <p:nvPr/>
        </p:nvSpPr>
        <p:spPr>
          <a:xfrm>
            <a:off x="6467551" y="3291840"/>
            <a:ext cx="4901184" cy="676656"/>
          </a:xfrm>
          <a:prstGeom prst="rect">
            <a:avLst/>
          </a:prstGeom>
          <a:noFill/>
          <a:ln/>
        </p:spPr>
        <p:txBody>
          <a:bodyPr wrap="square" lIns="0" tIns="0" rIns="0" bIns="0" rtlCol="0" anchor="t"/>
          <a:lstStyle/>
          <a:p>
            <a:pPr marL="0" marR="0" lvl="0" indent="0" algn="r" defTabSz="914400" rtl="1" eaLnBrk="1" fontAlgn="auto" latinLnBrk="0" hangingPunct="1">
              <a:lnSpc>
                <a:spcPct val="130000"/>
              </a:lnSpc>
              <a:spcBef>
                <a:spcPts val="0"/>
              </a:spcBef>
              <a:spcAft>
                <a:spcPts val="0"/>
              </a:spcAft>
              <a:buClrTx/>
              <a:buSzTx/>
              <a:buFontTx/>
              <a:buNone/>
              <a:tabLst/>
              <a:defRPr/>
            </a:pPr>
            <a:r>
              <a:rPr kumimoji="0" lang="ar-SA" altLang="en-US" sz="1600" b="0" i="0" u="none" strike="noStrike" kern="1200" cap="none" spc="0" normalizeH="0" baseline="0" noProof="0" dirty="0">
                <a:ln>
                  <a:noFill/>
                </a:ln>
                <a:solidFill>
                  <a:srgbClr val="587078"/>
                </a:solidFill>
                <a:effectLst/>
                <a:uLnTx/>
                <a:uFillTx/>
                <a:latin typeface="Dubai" panose="020B0503030403030204" pitchFamily="34" charset="-78"/>
                <a:ea typeface="Arial" pitchFamily="34" charset="-122"/>
                <a:cs typeface="Dubai" panose="020B0503030403030204" pitchFamily="34" charset="-78"/>
              </a:rPr>
              <a:t>دورة حياة السجل كاملةً: إنشاء وتعديل وحفظ النسخ وحذف وبحث — ومطابقة الواجهة لمعيار ‏</a:t>
            </a:r>
            <a:r>
              <a:rPr kumimoji="0" lang="en-US" altLang="en-US" sz="1600" b="0" i="0" u="none" strike="noStrike" kern="1200" cap="none" spc="0" normalizeH="0" baseline="0" noProof="0" dirty="0">
                <a:ln>
                  <a:noFill/>
                </a:ln>
                <a:solidFill>
                  <a:srgbClr val="587078"/>
                </a:solidFill>
                <a:effectLst/>
                <a:uLnTx/>
                <a:uFillTx/>
                <a:latin typeface="Dubai" panose="020B0503030403030204" pitchFamily="34" charset="-78"/>
                <a:ea typeface="Arial" pitchFamily="34" charset="-122"/>
                <a:cs typeface="Dubai" panose="020B0503030403030204" pitchFamily="34" charset="-78"/>
              </a:rPr>
              <a:t>FHIR</a:t>
            </a:r>
            <a:r>
              <a:rPr kumimoji="0" lang="ar-SA" altLang="en-US" sz="1600" b="0" i="0" u="none" strike="noStrike" kern="1200" cap="none" spc="0" normalizeH="0" baseline="0" noProof="0" dirty="0">
                <a:ln>
                  <a:noFill/>
                </a:ln>
                <a:solidFill>
                  <a:srgbClr val="587078"/>
                </a:solidFill>
                <a:effectLst/>
                <a:uLnTx/>
                <a:uFillTx/>
                <a:latin typeface="Dubai" panose="020B0503030403030204" pitchFamily="34" charset="-78"/>
                <a:ea typeface="Arial" pitchFamily="34" charset="-122"/>
                <a:cs typeface="Dubai" panose="020B0503030403030204" pitchFamily="34" charset="-78"/>
              </a:rPr>
              <a:t>‏.</a:t>
            </a:r>
            <a:endParaRPr kumimoji="0" lang="ar-SA" sz="16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p:txBody>
      </p:sp>
      <p:sp>
        <p:nvSpPr>
          <p:cNvPr id="12" name="Shape 10"/>
          <p:cNvSpPr/>
          <p:nvPr/>
        </p:nvSpPr>
        <p:spPr>
          <a:xfrm>
            <a:off x="551383" y="2542032"/>
            <a:ext cx="5449824" cy="1591056"/>
          </a:xfrm>
          <a:prstGeom prst="roundRect">
            <a:avLst>
              <a:gd name="adj" fmla="val 4598"/>
            </a:avLst>
          </a:prstGeom>
          <a:solidFill>
            <a:srgbClr val="F2F8F8"/>
          </a:solidFill>
          <a:ln w="9525">
            <a:solidFill>
              <a:srgbClr val="D9E7E9"/>
            </a:solidFill>
            <a:prstDash val="solid"/>
          </a:ln>
        </p:spPr>
      </p:sp>
      <p:sp>
        <p:nvSpPr>
          <p:cNvPr id="13" name="Shape 11"/>
          <p:cNvSpPr/>
          <p:nvPr/>
        </p:nvSpPr>
        <p:spPr>
          <a:xfrm>
            <a:off x="5342839" y="2743200"/>
            <a:ext cx="402336" cy="402336"/>
          </a:xfrm>
          <a:prstGeom prst="ellipse">
            <a:avLst/>
          </a:prstGeom>
          <a:solidFill>
            <a:srgbClr val="0E7C86"/>
          </a:solidFill>
          <a:ln/>
        </p:spPr>
      </p:sp>
      <p:sp>
        <p:nvSpPr>
          <p:cNvPr id="14" name="Text 12"/>
          <p:cNvSpPr/>
          <p:nvPr/>
        </p:nvSpPr>
        <p:spPr>
          <a:xfrm>
            <a:off x="825703" y="2761488"/>
            <a:ext cx="4352544" cy="457200"/>
          </a:xfrm>
          <a:prstGeom prst="rect">
            <a:avLst/>
          </a:prstGeom>
          <a:noFill/>
          <a:ln/>
        </p:spPr>
        <p:txBody>
          <a:bodyPr wrap="square" lIns="0" tIns="0" rIns="0" bIns="0" rtlCol="0" anchor="ctr"/>
          <a:lstStyle/>
          <a:p>
            <a:pPr marL="0" marR="0" lvl="0" indent="0" algn="r" defTabSz="914400" rtl="1" eaLnBrk="1" fontAlgn="auto" latinLnBrk="0" hangingPunct="1">
              <a:lnSpc>
                <a:spcPct val="100000"/>
              </a:lnSpc>
              <a:spcBef>
                <a:spcPts val="0"/>
              </a:spcBef>
              <a:spcAft>
                <a:spcPts val="0"/>
              </a:spcAft>
              <a:buClrTx/>
              <a:buSzTx/>
              <a:buFontTx/>
              <a:buNone/>
              <a:tabLst/>
              <a:defRPr/>
            </a:pPr>
            <a:r>
              <a:rPr kumimoji="0" lang="ar-SA" altLang="en-US" b="1" i="0" u="none" strike="noStrike" kern="1200" cap="none" spc="0" normalizeH="0" baseline="0" noProof="0" dirty="0">
                <a:ln>
                  <a:noFill/>
                </a:ln>
                <a:solidFill>
                  <a:srgbClr val="0A3540"/>
                </a:solidFill>
                <a:effectLst/>
                <a:uLnTx/>
                <a:uFillTx/>
                <a:latin typeface="Dubai" panose="020B0503030403030204" pitchFamily="34" charset="-78"/>
                <a:ea typeface="Arial" pitchFamily="34" charset="-122"/>
                <a:cs typeface="Dubai" panose="020B0503030403030204" pitchFamily="34" charset="-78"/>
              </a:rPr>
              <a:t>الصلاحيات وحماية الخصوصية</a:t>
            </a:r>
            <a:endParaRPr kumimoji="0" lang="ar-SA"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p:txBody>
      </p:sp>
      <p:sp>
        <p:nvSpPr>
          <p:cNvPr id="15" name="Text 13"/>
          <p:cNvSpPr/>
          <p:nvPr/>
        </p:nvSpPr>
        <p:spPr>
          <a:xfrm>
            <a:off x="825703" y="3291840"/>
            <a:ext cx="4901184" cy="676656"/>
          </a:xfrm>
          <a:prstGeom prst="rect">
            <a:avLst/>
          </a:prstGeom>
          <a:noFill/>
          <a:ln/>
        </p:spPr>
        <p:txBody>
          <a:bodyPr wrap="square" lIns="0" tIns="0" rIns="0" bIns="0" rtlCol="0" anchor="t"/>
          <a:lstStyle/>
          <a:p>
            <a:pPr marL="0" marR="0" lvl="0" indent="0" algn="r" defTabSz="914400" rtl="1" eaLnBrk="1" fontAlgn="auto" latinLnBrk="0" hangingPunct="1">
              <a:lnSpc>
                <a:spcPct val="130000"/>
              </a:lnSpc>
              <a:spcBef>
                <a:spcPts val="0"/>
              </a:spcBef>
              <a:spcAft>
                <a:spcPts val="0"/>
              </a:spcAft>
              <a:buClrTx/>
              <a:buSzTx/>
              <a:buFontTx/>
              <a:buNone/>
              <a:tabLst/>
              <a:defRPr/>
            </a:pPr>
            <a:r>
              <a:rPr kumimoji="0" lang="ar-SA" altLang="en-US" sz="1600" b="0" i="0" u="none" strike="noStrike" kern="1200" cap="none" spc="0" normalizeH="0" baseline="0" noProof="0" dirty="0">
                <a:ln>
                  <a:noFill/>
                </a:ln>
                <a:solidFill>
                  <a:srgbClr val="587078"/>
                </a:solidFill>
                <a:effectLst/>
                <a:uLnTx/>
                <a:uFillTx/>
                <a:latin typeface="Dubai" panose="020B0503030403030204" pitchFamily="34" charset="-78"/>
                <a:ea typeface="Arial" pitchFamily="34" charset="-122"/>
                <a:cs typeface="Dubai" panose="020B0503030403030204" pitchFamily="34" charset="-78"/>
              </a:rPr>
              <a:t>التأكّد آلياً أنّ المريض لا يصل إلى سجلّ غيره، وأنّ المؤسسة لا تتجاوز حدودها.</a:t>
            </a:r>
            <a:endParaRPr kumimoji="0" lang="ar-SA" sz="16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p:txBody>
      </p:sp>
      <p:sp>
        <p:nvSpPr>
          <p:cNvPr id="16" name="Shape 14"/>
          <p:cNvSpPr/>
          <p:nvPr/>
        </p:nvSpPr>
        <p:spPr>
          <a:xfrm>
            <a:off x="6193231" y="4352544"/>
            <a:ext cx="5449824" cy="1591056"/>
          </a:xfrm>
          <a:prstGeom prst="roundRect">
            <a:avLst>
              <a:gd name="adj" fmla="val 4598"/>
            </a:avLst>
          </a:prstGeom>
          <a:solidFill>
            <a:srgbClr val="F2F8F8"/>
          </a:solidFill>
          <a:ln w="9525">
            <a:solidFill>
              <a:srgbClr val="D9E7E9"/>
            </a:solidFill>
            <a:prstDash val="solid"/>
          </a:ln>
        </p:spPr>
      </p:sp>
      <p:sp>
        <p:nvSpPr>
          <p:cNvPr id="17" name="Shape 15"/>
          <p:cNvSpPr/>
          <p:nvPr/>
        </p:nvSpPr>
        <p:spPr>
          <a:xfrm>
            <a:off x="10984687" y="4553712"/>
            <a:ext cx="402336" cy="402336"/>
          </a:xfrm>
          <a:prstGeom prst="ellipse">
            <a:avLst/>
          </a:prstGeom>
          <a:solidFill>
            <a:srgbClr val="02C39A"/>
          </a:solidFill>
          <a:ln/>
        </p:spPr>
      </p:sp>
      <p:sp>
        <p:nvSpPr>
          <p:cNvPr id="18" name="Text 16"/>
          <p:cNvSpPr/>
          <p:nvPr/>
        </p:nvSpPr>
        <p:spPr>
          <a:xfrm>
            <a:off x="6467551" y="4572000"/>
            <a:ext cx="4352544" cy="457200"/>
          </a:xfrm>
          <a:prstGeom prst="rect">
            <a:avLst/>
          </a:prstGeom>
          <a:noFill/>
          <a:ln/>
        </p:spPr>
        <p:txBody>
          <a:bodyPr wrap="square" lIns="0" tIns="0" rIns="0" bIns="0" rtlCol="0" anchor="ctr"/>
          <a:lstStyle/>
          <a:p>
            <a:pPr marL="0" marR="0" lvl="0" indent="0" algn="r" defTabSz="914400" rtl="1" eaLnBrk="1" fontAlgn="auto" latinLnBrk="0" hangingPunct="1">
              <a:lnSpc>
                <a:spcPct val="100000"/>
              </a:lnSpc>
              <a:spcBef>
                <a:spcPts val="0"/>
              </a:spcBef>
              <a:spcAft>
                <a:spcPts val="0"/>
              </a:spcAft>
              <a:buClrTx/>
              <a:buSzTx/>
              <a:buFontTx/>
              <a:buNone/>
              <a:tabLst/>
              <a:defRPr/>
            </a:pPr>
            <a:r>
              <a:rPr kumimoji="0" lang="ar-SA" altLang="en-US" b="1" i="0" u="none" strike="noStrike" kern="1200" cap="none" spc="0" normalizeH="0" baseline="0" noProof="0" dirty="0">
                <a:ln>
                  <a:noFill/>
                </a:ln>
                <a:solidFill>
                  <a:srgbClr val="0A3540"/>
                </a:solidFill>
                <a:effectLst/>
                <a:uLnTx/>
                <a:uFillTx/>
                <a:latin typeface="Dubai" panose="020B0503030403030204" pitchFamily="34" charset="-78"/>
                <a:ea typeface="Arial" pitchFamily="34" charset="-122"/>
                <a:cs typeface="Dubai" panose="020B0503030403030204" pitchFamily="34" charset="-78"/>
              </a:rPr>
              <a:t>نماذج الذكاء الاصطناعي</a:t>
            </a:r>
            <a:endParaRPr kumimoji="0" lang="ar-SA"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p:txBody>
      </p:sp>
      <p:sp>
        <p:nvSpPr>
          <p:cNvPr id="19" name="Text 17"/>
          <p:cNvSpPr/>
          <p:nvPr/>
        </p:nvSpPr>
        <p:spPr>
          <a:xfrm>
            <a:off x="6467551" y="5102352"/>
            <a:ext cx="4901184" cy="676656"/>
          </a:xfrm>
          <a:prstGeom prst="rect">
            <a:avLst/>
          </a:prstGeom>
          <a:noFill/>
          <a:ln/>
        </p:spPr>
        <p:txBody>
          <a:bodyPr wrap="square" lIns="0" tIns="0" rIns="0" bIns="0" rtlCol="0" anchor="t"/>
          <a:lstStyle/>
          <a:p>
            <a:pPr marL="0" marR="0" lvl="0" indent="0" algn="r" defTabSz="914400" rtl="1" eaLnBrk="1" fontAlgn="auto" latinLnBrk="0" hangingPunct="1">
              <a:lnSpc>
                <a:spcPct val="130000"/>
              </a:lnSpc>
              <a:spcBef>
                <a:spcPts val="0"/>
              </a:spcBef>
              <a:spcAft>
                <a:spcPts val="0"/>
              </a:spcAft>
              <a:buClrTx/>
              <a:buSzTx/>
              <a:buFontTx/>
              <a:buNone/>
              <a:tabLst/>
              <a:defRPr/>
            </a:pPr>
            <a:r>
              <a:rPr kumimoji="0" lang="ar-SA" altLang="en-US" sz="1600" b="0" i="0" u="none" strike="noStrike" kern="1200" cap="none" spc="0" normalizeH="0" baseline="0" noProof="0" dirty="0">
                <a:ln>
                  <a:noFill/>
                </a:ln>
                <a:solidFill>
                  <a:srgbClr val="587078"/>
                </a:solidFill>
                <a:effectLst/>
                <a:uLnTx/>
                <a:uFillTx/>
                <a:latin typeface="Dubai" panose="020B0503030403030204" pitchFamily="34" charset="-78"/>
                <a:ea typeface="Arial" pitchFamily="34" charset="-122"/>
                <a:cs typeface="Dubai" panose="020B0503030403030204" pitchFamily="34" charset="-78"/>
              </a:rPr>
              <a:t>تُشغَّل النماذج فعلياً — لا نسخاً وهمية — ويُتحقَّق من سماتها ونتائجها وحدودها.</a:t>
            </a:r>
            <a:endParaRPr kumimoji="0" lang="ar-SA" sz="16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p:txBody>
      </p:sp>
      <p:sp>
        <p:nvSpPr>
          <p:cNvPr id="20" name="Shape 18"/>
          <p:cNvSpPr/>
          <p:nvPr/>
        </p:nvSpPr>
        <p:spPr>
          <a:xfrm>
            <a:off x="551383" y="4352544"/>
            <a:ext cx="5449824" cy="1591056"/>
          </a:xfrm>
          <a:prstGeom prst="roundRect">
            <a:avLst>
              <a:gd name="adj" fmla="val 4598"/>
            </a:avLst>
          </a:prstGeom>
          <a:solidFill>
            <a:srgbClr val="F2F8F8"/>
          </a:solidFill>
          <a:ln w="9525">
            <a:solidFill>
              <a:srgbClr val="D9E7E9"/>
            </a:solidFill>
            <a:prstDash val="solid"/>
          </a:ln>
        </p:spPr>
      </p:sp>
      <p:sp>
        <p:nvSpPr>
          <p:cNvPr id="21" name="Shape 19"/>
          <p:cNvSpPr/>
          <p:nvPr/>
        </p:nvSpPr>
        <p:spPr>
          <a:xfrm>
            <a:off x="5342839" y="4553712"/>
            <a:ext cx="402336" cy="402336"/>
          </a:xfrm>
          <a:prstGeom prst="ellipse">
            <a:avLst/>
          </a:prstGeom>
          <a:solidFill>
            <a:srgbClr val="02C39A"/>
          </a:solidFill>
          <a:ln/>
        </p:spPr>
      </p:sp>
      <p:sp>
        <p:nvSpPr>
          <p:cNvPr id="22" name="Text 20"/>
          <p:cNvSpPr/>
          <p:nvPr/>
        </p:nvSpPr>
        <p:spPr>
          <a:xfrm>
            <a:off x="825703" y="4572000"/>
            <a:ext cx="4352544" cy="457200"/>
          </a:xfrm>
          <a:prstGeom prst="rect">
            <a:avLst/>
          </a:prstGeom>
          <a:noFill/>
          <a:ln/>
        </p:spPr>
        <p:txBody>
          <a:bodyPr wrap="square" lIns="0" tIns="0" rIns="0" bIns="0" rtlCol="0" anchor="ctr"/>
          <a:lstStyle/>
          <a:p>
            <a:pPr marL="0" marR="0" lvl="0" indent="0" algn="r" defTabSz="914400" rtl="1" eaLnBrk="1" fontAlgn="auto" latinLnBrk="0" hangingPunct="1">
              <a:lnSpc>
                <a:spcPct val="100000"/>
              </a:lnSpc>
              <a:spcBef>
                <a:spcPts val="0"/>
              </a:spcBef>
              <a:spcAft>
                <a:spcPts val="0"/>
              </a:spcAft>
              <a:buClrTx/>
              <a:buSzTx/>
              <a:buFontTx/>
              <a:buNone/>
              <a:tabLst/>
              <a:defRPr/>
            </a:pPr>
            <a:r>
              <a:rPr kumimoji="0" lang="ar-SA" altLang="en-US" b="1" i="0" u="none" strike="noStrike" kern="1200" cap="none" spc="0" normalizeH="0" baseline="0" noProof="0" dirty="0">
                <a:ln>
                  <a:noFill/>
                </a:ln>
                <a:solidFill>
                  <a:srgbClr val="0A3540"/>
                </a:solidFill>
                <a:effectLst/>
                <a:uLnTx/>
                <a:uFillTx/>
                <a:latin typeface="Dubai" panose="020B0503030403030204" pitchFamily="34" charset="-78"/>
                <a:ea typeface="Arial" pitchFamily="34" charset="-122"/>
                <a:cs typeface="Dubai" panose="020B0503030403030204" pitchFamily="34" charset="-78"/>
              </a:rPr>
              <a:t>تعدّد المستخدمين والأداء</a:t>
            </a:r>
            <a:endParaRPr kumimoji="0" lang="ar-SA"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p:txBody>
      </p:sp>
      <p:sp>
        <p:nvSpPr>
          <p:cNvPr id="23" name="Text 21"/>
          <p:cNvSpPr/>
          <p:nvPr/>
        </p:nvSpPr>
        <p:spPr>
          <a:xfrm>
            <a:off x="825703" y="5102352"/>
            <a:ext cx="4901184" cy="676656"/>
          </a:xfrm>
          <a:prstGeom prst="rect">
            <a:avLst/>
          </a:prstGeom>
          <a:noFill/>
          <a:ln/>
        </p:spPr>
        <p:txBody>
          <a:bodyPr wrap="square" lIns="0" tIns="0" rIns="0" bIns="0" rtlCol="0" anchor="t"/>
          <a:lstStyle/>
          <a:p>
            <a:pPr marL="0" marR="0" lvl="0" indent="0" algn="r" defTabSz="914400" rtl="1" eaLnBrk="1" fontAlgn="auto" latinLnBrk="0" hangingPunct="1">
              <a:lnSpc>
                <a:spcPct val="130000"/>
              </a:lnSpc>
              <a:spcBef>
                <a:spcPts val="0"/>
              </a:spcBef>
              <a:spcAft>
                <a:spcPts val="0"/>
              </a:spcAft>
              <a:buClrTx/>
              <a:buSzTx/>
              <a:buFontTx/>
              <a:buNone/>
              <a:tabLst/>
              <a:defRPr/>
            </a:pPr>
            <a:r>
              <a:rPr kumimoji="0" lang="ar-SA" altLang="en-US" sz="1600" b="0" i="0" u="none" strike="noStrike" kern="1200" cap="none" spc="0" normalizeH="0" baseline="0" noProof="0" dirty="0">
                <a:ln>
                  <a:noFill/>
                </a:ln>
                <a:solidFill>
                  <a:srgbClr val="587078"/>
                </a:solidFill>
                <a:effectLst/>
                <a:uLnTx/>
                <a:uFillTx/>
                <a:latin typeface="Dubai" panose="020B0503030403030204" pitchFamily="34" charset="-78"/>
                <a:ea typeface="Arial" pitchFamily="34" charset="-122"/>
                <a:cs typeface="Dubai" panose="020B0503030403030204" pitchFamily="34" charset="-78"/>
              </a:rPr>
              <a:t>عزل بيانات كلّ مستخدم تحت الاستخدام المتزامن، وقياس تحسّن الأداء نحو ١٩ ضعفاً.</a:t>
            </a:r>
            <a:endParaRPr kumimoji="0" lang="ar-SA" sz="16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p:txBody>
      </p:sp>
      <p:sp>
        <p:nvSpPr>
          <p:cNvPr id="24" name="Text 22"/>
          <p:cNvSpPr/>
          <p:nvPr/>
        </p:nvSpPr>
        <p:spPr>
          <a:xfrm>
            <a:off x="548640" y="6016752"/>
            <a:ext cx="11094415" cy="365760"/>
          </a:xfrm>
          <a:prstGeom prst="rect">
            <a:avLst/>
          </a:prstGeom>
          <a:noFill/>
          <a:ln/>
        </p:spPr>
        <p:txBody>
          <a:bodyPr wrap="square" lIns="0" tIns="0" rIns="0" bIns="0" rtlCol="0" anchor="ctr"/>
          <a:lstStyle/>
          <a:p>
            <a:pPr marL="0" marR="0" lvl="0" indent="0" algn="r" defTabSz="914400" rtl="1" eaLnBrk="1" fontAlgn="auto" latinLnBrk="0" hangingPunct="1">
              <a:lnSpc>
                <a:spcPct val="100000"/>
              </a:lnSpc>
              <a:spcBef>
                <a:spcPts val="0"/>
              </a:spcBef>
              <a:spcAft>
                <a:spcPts val="0"/>
              </a:spcAft>
              <a:buClrTx/>
              <a:buSzTx/>
              <a:buFontTx/>
              <a:buNone/>
              <a:tabLst/>
              <a:defRPr/>
            </a:pPr>
            <a:r>
              <a:rPr kumimoji="0" lang="ar-SA" altLang="en-US" sz="1200" b="0" i="1" u="none" strike="noStrike" kern="1200" cap="none" spc="0" normalizeH="0" baseline="0" noProof="0" dirty="0">
                <a:ln>
                  <a:noFill/>
                </a:ln>
                <a:solidFill>
                  <a:srgbClr val="587078"/>
                </a:solidFill>
                <a:effectLst/>
                <a:uLnTx/>
                <a:uFillTx/>
                <a:latin typeface="Dubai" panose="020B0503030403030204" pitchFamily="34" charset="-78"/>
                <a:ea typeface="Arial" pitchFamily="34" charset="-122"/>
                <a:cs typeface="Dubai" panose="020B0503030403030204" pitchFamily="34" charset="-78"/>
              </a:rPr>
              <a:t>وأثبتت الاختبارات قدرتها على كشف الخطأ فعلياً: عند تعطيل فحصٍ أمني عمداً على سبيل التجربة، أخفق اختبارا عزل المريض وحدهما دون سواهما.</a:t>
            </a:r>
            <a:endParaRPr kumimoji="0" lang="ar-SA" sz="1200" b="0" i="0" u="none" strike="noStrike" kern="1200" cap="none" spc="0" normalizeH="0" baseline="0" noProof="0" dirty="0">
              <a:ln>
                <a:noFill/>
              </a:ln>
              <a:solidFill>
                <a:prstClr val="black"/>
              </a:solidFill>
              <a:effectLst/>
              <a:uLnTx/>
              <a:uFillTx/>
              <a:latin typeface="Dubai" panose="020B0503030403030204" pitchFamily="34" charset="-78"/>
              <a:cs typeface="Dubai" panose="020B0503030403030204" pitchFamily="34" charset="-78"/>
            </a:endParaRPr>
          </a:p>
        </p:txBody>
      </p:sp>
    </p:spTree>
    <p:extLst>
      <p:ext uri="{BB962C8B-B14F-4D97-AF65-F5344CB8AC3E}">
        <p14:creationId xmlns:p14="http://schemas.microsoft.com/office/powerpoint/2010/main" val="2016552987"/>
      </p:ext>
    </p:extLst>
  </p:cSld>
  <p:clrMapOvr>
    <a:masterClrMapping/>
  </p:clrMapOvr>
  <p:transition spd="slow">
    <p:wipe dir="r"/>
  </p:transition>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marL="0" indent="0" algn="r" rtl="1">
              <a:buNone/>
            </a:pPr>
            <a:r>
              <a:rPr lang="ar-SA" altLang="en-US" sz="900" dirty="0">
                <a:solidFill>
                  <a:srgbClr val="587078"/>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900" dirty="0">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indent="0" algn="l">
              <a:buNone/>
            </a:pPr>
            <a:r>
              <a:rPr lang="ar-SY" sz="900" dirty="0">
                <a:solidFill>
                  <a:srgbClr val="587078"/>
                </a:solidFill>
                <a:latin typeface="Arial" pitchFamily="34" charset="0"/>
                <a:ea typeface="Arial" pitchFamily="34" charset="-122"/>
                <a:cs typeface="Arial" pitchFamily="34" charset="-120"/>
              </a:rPr>
              <a:t>1</a:t>
            </a:r>
            <a:r>
              <a:rPr lang="en-US" sz="900" dirty="0">
                <a:solidFill>
                  <a:srgbClr val="587078"/>
                </a:solidFill>
                <a:latin typeface="Arial" pitchFamily="34" charset="0"/>
                <a:ea typeface="Arial" pitchFamily="34" charset="-122"/>
                <a:cs typeface="Arial" pitchFamily="34" charset="-120"/>
              </a:rPr>
              <a:t>4</a:t>
            </a:r>
            <a:endParaRPr lang="ar-SY" sz="900" dirty="0">
              <a:solidFill>
                <a:srgbClr val="587078"/>
              </a:solidFill>
              <a:latin typeface="Arial" pitchFamily="34" charset="0"/>
              <a:ea typeface="Arial" pitchFamily="34" charset="-122"/>
              <a:cs typeface="Arial" pitchFamily="34" charset="-120"/>
            </a:endParaRPr>
          </a:p>
        </p:txBody>
      </p:sp>
      <p:sp>
        <p:nvSpPr>
          <p:cNvPr id="4" name="Text 2"/>
          <p:cNvSpPr/>
          <p:nvPr/>
        </p:nvSpPr>
        <p:spPr>
          <a:xfrm>
            <a:off x="548640" y="292608"/>
            <a:ext cx="11094415" cy="566928"/>
          </a:xfrm>
          <a:prstGeom prst="rect">
            <a:avLst/>
          </a:prstGeom>
          <a:noFill/>
          <a:ln/>
        </p:spPr>
        <p:txBody>
          <a:bodyPr wrap="square" lIns="0" tIns="0" rIns="0" bIns="0" rtlCol="0" anchor="ctr"/>
          <a:lstStyle/>
          <a:p>
            <a:pPr marL="0" indent="0" algn="r" rtl="1">
              <a:buNone/>
            </a:pPr>
            <a:r>
              <a:rPr lang="ar-SA" altLang="en-US" sz="2900" b="1" dirty="0">
                <a:solidFill>
                  <a:srgbClr val="0A3540"/>
                </a:solidFill>
                <a:latin typeface="Dubai" panose="020B0503030403030204" pitchFamily="34" charset="-78"/>
                <a:ea typeface="Arial" pitchFamily="34" charset="-122"/>
                <a:cs typeface="Dubai" panose="020B0503030403030204" pitchFamily="34" charset="-78"/>
              </a:rPr>
              <a:t>الآفاق المستقبلية</a:t>
            </a:r>
            <a:endParaRPr lang="ar-SA" sz="2900" dirty="0">
              <a:latin typeface="Dubai" panose="020B0503030403030204" pitchFamily="34" charset="-78"/>
              <a:cs typeface="Dubai" panose="020B0503030403030204" pitchFamily="34" charset="-78"/>
            </a:endParaRPr>
          </a:p>
        </p:txBody>
      </p:sp>
      <p:sp>
        <p:nvSpPr>
          <p:cNvPr id="5" name="Text 3"/>
          <p:cNvSpPr/>
          <p:nvPr/>
        </p:nvSpPr>
        <p:spPr>
          <a:xfrm>
            <a:off x="548640" y="859536"/>
            <a:ext cx="11094415" cy="347472"/>
          </a:xfrm>
          <a:prstGeom prst="rect">
            <a:avLst/>
          </a:prstGeom>
          <a:noFill/>
          <a:ln/>
        </p:spPr>
        <p:txBody>
          <a:bodyPr wrap="square" lIns="0" tIns="0" rIns="0" bIns="0" rtlCol="0" anchor="ctr"/>
          <a:lstStyle/>
          <a:p>
            <a:pPr marL="0" indent="0" algn="r" rtl="1">
              <a:buNone/>
            </a:pPr>
            <a:r>
              <a:rPr lang="ar-SA" altLang="en-US" sz="1400" dirty="0">
                <a:solidFill>
                  <a:srgbClr val="0E7C86"/>
                </a:solidFill>
                <a:latin typeface="Dubai" panose="020B0503030403030204" pitchFamily="34" charset="-78"/>
                <a:ea typeface="Arial" pitchFamily="34" charset="-122"/>
                <a:cs typeface="Dubai" panose="020B0503030403030204" pitchFamily="34" charset="-78"/>
              </a:rPr>
              <a:t>أساسٌ متين… والبناء عليه ممكن في اتجاهاتٍ عدّة</a:t>
            </a:r>
            <a:endParaRPr lang="ar-SA" sz="1400" dirty="0">
              <a:latin typeface="Dubai" panose="020B0503030403030204" pitchFamily="34" charset="-78"/>
              <a:cs typeface="Dubai" panose="020B0503030403030204" pitchFamily="34" charset="-78"/>
            </a:endParaRPr>
          </a:p>
        </p:txBody>
      </p:sp>
      <p:sp>
        <p:nvSpPr>
          <p:cNvPr id="6" name="Shape 4"/>
          <p:cNvSpPr/>
          <p:nvPr/>
        </p:nvSpPr>
        <p:spPr>
          <a:xfrm>
            <a:off x="6193231" y="1691640"/>
            <a:ext cx="5449824" cy="1965960"/>
          </a:xfrm>
          <a:prstGeom prst="roundRect">
            <a:avLst>
              <a:gd name="adj" fmla="val 3721"/>
            </a:avLst>
          </a:prstGeom>
          <a:solidFill>
            <a:srgbClr val="F2F8F8"/>
          </a:solidFill>
          <a:ln w="9525">
            <a:solidFill>
              <a:srgbClr val="D9E7E9"/>
            </a:solidFill>
            <a:prstDash val="solid"/>
          </a:ln>
        </p:spPr>
      </p:sp>
      <p:sp>
        <p:nvSpPr>
          <p:cNvPr id="7" name="Shape 5"/>
          <p:cNvSpPr/>
          <p:nvPr/>
        </p:nvSpPr>
        <p:spPr>
          <a:xfrm>
            <a:off x="10984687" y="1911096"/>
            <a:ext cx="402336" cy="402336"/>
          </a:xfrm>
          <a:prstGeom prst="ellipse">
            <a:avLst/>
          </a:prstGeom>
          <a:solidFill>
            <a:srgbClr val="0E7C86"/>
          </a:solidFill>
          <a:ln/>
        </p:spPr>
      </p:sp>
      <p:sp>
        <p:nvSpPr>
          <p:cNvPr id="8" name="Text 6"/>
          <p:cNvSpPr/>
          <p:nvPr/>
        </p:nvSpPr>
        <p:spPr>
          <a:xfrm>
            <a:off x="6467551" y="1947672"/>
            <a:ext cx="4352544" cy="457200"/>
          </a:xfrm>
          <a:prstGeom prst="rect">
            <a:avLst/>
          </a:prstGeom>
          <a:noFill/>
          <a:ln/>
        </p:spPr>
        <p:txBody>
          <a:bodyPr wrap="square" lIns="0" tIns="0" rIns="0" bIns="0" rtlCol="0" anchor="ctr"/>
          <a:lstStyle/>
          <a:p>
            <a:pPr marL="0" indent="0" algn="r" rtl="1">
              <a:buNone/>
            </a:pPr>
            <a:r>
              <a:rPr lang="ar-SA" altLang="en-US" b="1" dirty="0">
                <a:solidFill>
                  <a:srgbClr val="0A3540"/>
                </a:solidFill>
                <a:latin typeface="Dubai" panose="020B0503030403030204" pitchFamily="34" charset="-78"/>
                <a:ea typeface="Arial" pitchFamily="34" charset="-122"/>
                <a:cs typeface="Dubai" panose="020B0503030403030204" pitchFamily="34" charset="-78"/>
              </a:rPr>
              <a:t>بيانات محلية حقيقية</a:t>
            </a:r>
            <a:endParaRPr lang="ar-SA" dirty="0">
              <a:latin typeface="Dubai" panose="020B0503030403030204" pitchFamily="34" charset="-78"/>
              <a:cs typeface="Dubai" panose="020B0503030403030204" pitchFamily="34" charset="-78"/>
            </a:endParaRPr>
          </a:p>
        </p:txBody>
      </p:sp>
      <p:sp>
        <p:nvSpPr>
          <p:cNvPr id="9" name="Text 7"/>
          <p:cNvSpPr/>
          <p:nvPr/>
        </p:nvSpPr>
        <p:spPr>
          <a:xfrm>
            <a:off x="6467551" y="2514600"/>
            <a:ext cx="4901184" cy="960120"/>
          </a:xfrm>
          <a:prstGeom prst="rect">
            <a:avLst/>
          </a:prstGeom>
          <a:noFill/>
          <a:ln/>
        </p:spPr>
        <p:txBody>
          <a:bodyPr wrap="square" lIns="0" tIns="0" rIns="0" bIns="0" rtlCol="0" anchor="t"/>
          <a:lstStyle/>
          <a:p>
            <a:pPr marL="0" indent="0" algn="r" rtl="1">
              <a:lnSpc>
                <a:spcPct val="130000"/>
              </a:lnSpc>
              <a:buNone/>
            </a:pPr>
            <a:r>
              <a:rPr lang="ar-SA" altLang="en-US" dirty="0">
                <a:solidFill>
                  <a:srgbClr val="587078"/>
                </a:solidFill>
                <a:latin typeface="Dubai" panose="020B0503030403030204" pitchFamily="34" charset="-78"/>
                <a:ea typeface="Arial" pitchFamily="34" charset="-122"/>
                <a:cs typeface="Dubai" panose="020B0503030403030204" pitchFamily="34" charset="-78"/>
              </a:rPr>
              <a:t>إعادة تدريب نماذج الذكاء على بيانات مرضى محليين لرفع دقّتها وملاءمتها لمجتمعنا.</a:t>
            </a:r>
            <a:endParaRPr lang="ar-SA" dirty="0">
              <a:latin typeface="Dubai" panose="020B0503030403030204" pitchFamily="34" charset="-78"/>
              <a:cs typeface="Dubai" panose="020B0503030403030204" pitchFamily="34" charset="-78"/>
            </a:endParaRPr>
          </a:p>
        </p:txBody>
      </p:sp>
      <p:sp>
        <p:nvSpPr>
          <p:cNvPr id="10" name="Shape 8"/>
          <p:cNvSpPr/>
          <p:nvPr/>
        </p:nvSpPr>
        <p:spPr>
          <a:xfrm>
            <a:off x="551383" y="1691640"/>
            <a:ext cx="5449824" cy="1965960"/>
          </a:xfrm>
          <a:prstGeom prst="roundRect">
            <a:avLst>
              <a:gd name="adj" fmla="val 3721"/>
            </a:avLst>
          </a:prstGeom>
          <a:solidFill>
            <a:srgbClr val="F2F8F8"/>
          </a:solidFill>
          <a:ln w="9525">
            <a:solidFill>
              <a:srgbClr val="D9E7E9"/>
            </a:solidFill>
            <a:prstDash val="solid"/>
          </a:ln>
        </p:spPr>
      </p:sp>
      <p:sp>
        <p:nvSpPr>
          <p:cNvPr id="11" name="Shape 9"/>
          <p:cNvSpPr/>
          <p:nvPr/>
        </p:nvSpPr>
        <p:spPr>
          <a:xfrm>
            <a:off x="5342839" y="1911096"/>
            <a:ext cx="402336" cy="402336"/>
          </a:xfrm>
          <a:prstGeom prst="ellipse">
            <a:avLst/>
          </a:prstGeom>
          <a:solidFill>
            <a:srgbClr val="0E7C86"/>
          </a:solidFill>
          <a:ln/>
        </p:spPr>
      </p:sp>
      <p:sp>
        <p:nvSpPr>
          <p:cNvPr id="12" name="Text 10"/>
          <p:cNvSpPr/>
          <p:nvPr/>
        </p:nvSpPr>
        <p:spPr>
          <a:xfrm>
            <a:off x="825703" y="1947672"/>
            <a:ext cx="4352544" cy="457200"/>
          </a:xfrm>
          <a:prstGeom prst="rect">
            <a:avLst/>
          </a:prstGeom>
          <a:noFill/>
          <a:ln/>
        </p:spPr>
        <p:txBody>
          <a:bodyPr wrap="square" lIns="0" tIns="0" rIns="0" bIns="0" rtlCol="0" anchor="ctr"/>
          <a:lstStyle/>
          <a:p>
            <a:pPr marL="0" indent="0" algn="r" rtl="1">
              <a:buNone/>
            </a:pPr>
            <a:r>
              <a:rPr lang="ar-SA" altLang="en-US" b="1" dirty="0">
                <a:solidFill>
                  <a:srgbClr val="0A3540"/>
                </a:solidFill>
                <a:latin typeface="Dubai" panose="020B0503030403030204" pitchFamily="34" charset="-78"/>
                <a:ea typeface="Arial" pitchFamily="34" charset="-122"/>
                <a:cs typeface="Dubai" panose="020B0503030403030204" pitchFamily="34" charset="-78"/>
              </a:rPr>
              <a:t>تطبيق موبايل</a:t>
            </a:r>
            <a:endParaRPr lang="ar-SA" dirty="0">
              <a:latin typeface="Dubai" panose="020B0503030403030204" pitchFamily="34" charset="-78"/>
              <a:cs typeface="Dubai" panose="020B0503030403030204" pitchFamily="34" charset="-78"/>
            </a:endParaRPr>
          </a:p>
        </p:txBody>
      </p:sp>
      <p:sp>
        <p:nvSpPr>
          <p:cNvPr id="13" name="Text 11"/>
          <p:cNvSpPr/>
          <p:nvPr/>
        </p:nvSpPr>
        <p:spPr>
          <a:xfrm>
            <a:off x="825703" y="2514600"/>
            <a:ext cx="4901184" cy="960120"/>
          </a:xfrm>
          <a:prstGeom prst="rect">
            <a:avLst/>
          </a:prstGeom>
          <a:noFill/>
          <a:ln/>
        </p:spPr>
        <p:txBody>
          <a:bodyPr wrap="square" lIns="0" tIns="0" rIns="0" bIns="0" rtlCol="0" anchor="t"/>
          <a:lstStyle/>
          <a:p>
            <a:pPr marL="0" indent="0" algn="r" rtl="1">
              <a:lnSpc>
                <a:spcPct val="130000"/>
              </a:lnSpc>
              <a:buNone/>
            </a:pPr>
            <a:r>
              <a:rPr lang="ar-SA" altLang="en-US" dirty="0">
                <a:solidFill>
                  <a:srgbClr val="587078"/>
                </a:solidFill>
                <a:latin typeface="Dubai" panose="020B0503030403030204" pitchFamily="34" charset="-78"/>
                <a:ea typeface="Arial" pitchFamily="34" charset="-122"/>
                <a:cs typeface="Dubai" panose="020B0503030403030204" pitchFamily="34" charset="-78"/>
              </a:rPr>
              <a:t>تطبيقٌ للهاتف يقرّب النظام من المرضى والكادر الطبي أينما كانوا.</a:t>
            </a:r>
            <a:endParaRPr lang="ar-SA" dirty="0">
              <a:latin typeface="Dubai" panose="020B0503030403030204" pitchFamily="34" charset="-78"/>
              <a:cs typeface="Dubai" panose="020B0503030403030204" pitchFamily="34" charset="-78"/>
            </a:endParaRPr>
          </a:p>
        </p:txBody>
      </p:sp>
      <p:sp>
        <p:nvSpPr>
          <p:cNvPr id="14" name="Shape 12"/>
          <p:cNvSpPr/>
          <p:nvPr/>
        </p:nvSpPr>
        <p:spPr>
          <a:xfrm>
            <a:off x="6193231" y="3931920"/>
            <a:ext cx="5449824" cy="1965960"/>
          </a:xfrm>
          <a:prstGeom prst="roundRect">
            <a:avLst>
              <a:gd name="adj" fmla="val 3721"/>
            </a:avLst>
          </a:prstGeom>
          <a:solidFill>
            <a:srgbClr val="F2F8F8"/>
          </a:solidFill>
          <a:ln w="9525">
            <a:solidFill>
              <a:srgbClr val="D9E7E9"/>
            </a:solidFill>
            <a:prstDash val="solid"/>
          </a:ln>
        </p:spPr>
      </p:sp>
      <p:sp>
        <p:nvSpPr>
          <p:cNvPr id="15" name="Shape 13"/>
          <p:cNvSpPr/>
          <p:nvPr/>
        </p:nvSpPr>
        <p:spPr>
          <a:xfrm>
            <a:off x="10984687" y="4151376"/>
            <a:ext cx="402336" cy="402336"/>
          </a:xfrm>
          <a:prstGeom prst="ellipse">
            <a:avLst/>
          </a:prstGeom>
          <a:solidFill>
            <a:srgbClr val="02C39A"/>
          </a:solidFill>
          <a:ln/>
        </p:spPr>
      </p:sp>
      <p:sp>
        <p:nvSpPr>
          <p:cNvPr id="16" name="Text 14"/>
          <p:cNvSpPr/>
          <p:nvPr/>
        </p:nvSpPr>
        <p:spPr>
          <a:xfrm>
            <a:off x="6467551" y="4187952"/>
            <a:ext cx="4352544" cy="457200"/>
          </a:xfrm>
          <a:prstGeom prst="rect">
            <a:avLst/>
          </a:prstGeom>
          <a:noFill/>
          <a:ln/>
        </p:spPr>
        <p:txBody>
          <a:bodyPr wrap="square" lIns="0" tIns="0" rIns="0" bIns="0" rtlCol="0" anchor="ctr"/>
          <a:lstStyle/>
          <a:p>
            <a:pPr marL="0" indent="0" algn="r" rtl="1">
              <a:buNone/>
            </a:pPr>
            <a:r>
              <a:rPr lang="ar-SA" altLang="en-US" b="1" dirty="0">
                <a:solidFill>
                  <a:srgbClr val="0A3540"/>
                </a:solidFill>
                <a:latin typeface="Dubai" panose="020B0503030403030204" pitchFamily="34" charset="-78"/>
                <a:ea typeface="Arial" pitchFamily="34" charset="-122"/>
                <a:cs typeface="Dubai" panose="020B0503030403030204" pitchFamily="34" charset="-78"/>
              </a:rPr>
              <a:t>نشرٌ على نطاق أوسع</a:t>
            </a:r>
            <a:endParaRPr lang="ar-SA" dirty="0">
              <a:latin typeface="Dubai" panose="020B0503030403030204" pitchFamily="34" charset="-78"/>
              <a:cs typeface="Dubai" panose="020B0503030403030204" pitchFamily="34" charset="-78"/>
            </a:endParaRPr>
          </a:p>
        </p:txBody>
      </p:sp>
      <p:sp>
        <p:nvSpPr>
          <p:cNvPr id="17" name="Text 15"/>
          <p:cNvSpPr/>
          <p:nvPr/>
        </p:nvSpPr>
        <p:spPr>
          <a:xfrm>
            <a:off x="6467551" y="4754880"/>
            <a:ext cx="4901184" cy="960120"/>
          </a:xfrm>
          <a:prstGeom prst="rect">
            <a:avLst/>
          </a:prstGeom>
          <a:noFill/>
          <a:ln/>
        </p:spPr>
        <p:txBody>
          <a:bodyPr wrap="square" lIns="0" tIns="0" rIns="0" bIns="0" rtlCol="0" anchor="t"/>
          <a:lstStyle/>
          <a:p>
            <a:pPr marL="0" indent="0" algn="r" rtl="1">
              <a:lnSpc>
                <a:spcPct val="130000"/>
              </a:lnSpc>
              <a:buNone/>
            </a:pPr>
            <a:r>
              <a:rPr lang="ar-SA" altLang="en-US" dirty="0">
                <a:solidFill>
                  <a:srgbClr val="587078"/>
                </a:solidFill>
                <a:latin typeface="Dubai" panose="020B0503030403030204" pitchFamily="34" charset="-78"/>
                <a:ea typeface="Arial" pitchFamily="34" charset="-122"/>
                <a:cs typeface="Dubai" panose="020B0503030403030204" pitchFamily="34" charset="-78"/>
              </a:rPr>
              <a:t>تهيئة النظام للعمل السحابي وخدمة أكثر من مؤسسة بموثوقية عالية.</a:t>
            </a:r>
            <a:endParaRPr lang="ar-SA" dirty="0">
              <a:latin typeface="Dubai" panose="020B0503030403030204" pitchFamily="34" charset="-78"/>
              <a:cs typeface="Dubai" panose="020B0503030403030204" pitchFamily="34" charset="-78"/>
            </a:endParaRPr>
          </a:p>
        </p:txBody>
      </p:sp>
      <p:sp>
        <p:nvSpPr>
          <p:cNvPr id="18" name="Shape 16"/>
          <p:cNvSpPr/>
          <p:nvPr/>
        </p:nvSpPr>
        <p:spPr>
          <a:xfrm>
            <a:off x="551383" y="3931920"/>
            <a:ext cx="5449824" cy="1965960"/>
          </a:xfrm>
          <a:prstGeom prst="roundRect">
            <a:avLst>
              <a:gd name="adj" fmla="val 3721"/>
            </a:avLst>
          </a:prstGeom>
          <a:solidFill>
            <a:srgbClr val="F2F8F8"/>
          </a:solidFill>
          <a:ln w="9525">
            <a:solidFill>
              <a:srgbClr val="D9E7E9"/>
            </a:solidFill>
            <a:prstDash val="solid"/>
          </a:ln>
        </p:spPr>
      </p:sp>
      <p:sp>
        <p:nvSpPr>
          <p:cNvPr id="19" name="Shape 17"/>
          <p:cNvSpPr/>
          <p:nvPr/>
        </p:nvSpPr>
        <p:spPr>
          <a:xfrm>
            <a:off x="5342839" y="4151376"/>
            <a:ext cx="402336" cy="402336"/>
          </a:xfrm>
          <a:prstGeom prst="ellipse">
            <a:avLst/>
          </a:prstGeom>
          <a:solidFill>
            <a:srgbClr val="02C39A"/>
          </a:solidFill>
          <a:ln/>
        </p:spPr>
      </p:sp>
      <p:sp>
        <p:nvSpPr>
          <p:cNvPr id="20" name="Text 18"/>
          <p:cNvSpPr/>
          <p:nvPr/>
        </p:nvSpPr>
        <p:spPr>
          <a:xfrm>
            <a:off x="825703" y="4187952"/>
            <a:ext cx="4352544" cy="457200"/>
          </a:xfrm>
          <a:prstGeom prst="rect">
            <a:avLst/>
          </a:prstGeom>
          <a:noFill/>
          <a:ln/>
        </p:spPr>
        <p:txBody>
          <a:bodyPr wrap="square" lIns="0" tIns="0" rIns="0" bIns="0" rtlCol="0" anchor="ctr"/>
          <a:lstStyle/>
          <a:p>
            <a:pPr marL="0" indent="0" algn="r" rtl="1">
              <a:buNone/>
            </a:pPr>
            <a:r>
              <a:rPr lang="ar-SA" altLang="en-US" b="1" dirty="0">
                <a:solidFill>
                  <a:srgbClr val="0A3540"/>
                </a:solidFill>
                <a:latin typeface="Dubai" panose="020B0503030403030204" pitchFamily="34" charset="-78"/>
                <a:ea typeface="Arial" pitchFamily="34" charset="-122"/>
                <a:cs typeface="Dubai" panose="020B0503030403030204" pitchFamily="34" charset="-78"/>
              </a:rPr>
              <a:t>ربطٌ أعمق بالمنظومة الصحية</a:t>
            </a:r>
            <a:endParaRPr lang="ar-SA" dirty="0">
              <a:latin typeface="Dubai" panose="020B0503030403030204" pitchFamily="34" charset="-78"/>
              <a:cs typeface="Dubai" panose="020B0503030403030204" pitchFamily="34" charset="-78"/>
            </a:endParaRPr>
          </a:p>
        </p:txBody>
      </p:sp>
      <p:sp>
        <p:nvSpPr>
          <p:cNvPr id="21" name="Text 19"/>
          <p:cNvSpPr/>
          <p:nvPr/>
        </p:nvSpPr>
        <p:spPr>
          <a:xfrm>
            <a:off x="825703" y="4754880"/>
            <a:ext cx="4901184" cy="960120"/>
          </a:xfrm>
          <a:prstGeom prst="rect">
            <a:avLst/>
          </a:prstGeom>
          <a:noFill/>
          <a:ln/>
        </p:spPr>
        <p:txBody>
          <a:bodyPr wrap="square" lIns="0" tIns="0" rIns="0" bIns="0" rtlCol="0" anchor="t"/>
          <a:lstStyle/>
          <a:p>
            <a:pPr marL="0" indent="0" algn="r" rtl="1">
              <a:lnSpc>
                <a:spcPct val="130000"/>
              </a:lnSpc>
              <a:buNone/>
            </a:pPr>
            <a:r>
              <a:rPr lang="ar-SA" altLang="en-US" dirty="0">
                <a:solidFill>
                  <a:srgbClr val="587078"/>
                </a:solidFill>
                <a:latin typeface="Dubai" panose="020B0503030403030204" pitchFamily="34" charset="-78"/>
                <a:ea typeface="Arial" pitchFamily="34" charset="-122"/>
                <a:cs typeface="Dubai" panose="020B0503030403030204" pitchFamily="34" charset="-78"/>
              </a:rPr>
              <a:t>تبادل الملفات مع الأنظمة الأخرى المعتمدة على المعيار نفسه، ليصبح النظام عقدةً في شبكةٍ صحية وطنية.</a:t>
            </a:r>
            <a:endParaRPr lang="ar-SA" dirty="0">
              <a:latin typeface="Dubai" panose="020B0503030403030204" pitchFamily="34" charset="-78"/>
              <a:cs typeface="Dubai" panose="020B0503030403030204" pitchFamily="34" charset="-78"/>
            </a:endParaRPr>
          </a:p>
        </p:txBody>
      </p:sp>
    </p:spTree>
  </p:cSld>
  <p:clrMapOvr>
    <a:masterClrMapping/>
  </p:clrMapOvr>
  <p:transition spd="slow">
    <p:wipe dir="r"/>
  </p:transition>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0A3540"/>
        </a:solidFill>
        <a:effectLst/>
      </p:bgPr>
    </p:bg>
    <p:spTree>
      <p:nvGrpSpPr>
        <p:cNvPr id="1" name=""/>
        <p:cNvGrpSpPr/>
        <p:nvPr/>
      </p:nvGrpSpPr>
      <p:grpSpPr>
        <a:xfrm>
          <a:off x="0" y="0"/>
          <a:ext cx="0" cy="0"/>
          <a:chOff x="0" y="0"/>
          <a:chExt cx="0" cy="0"/>
        </a:xfrm>
      </p:grpSpPr>
      <p:sp>
        <p:nvSpPr>
          <p:cNvPr id="4" name="Shape 2"/>
          <p:cNvSpPr/>
          <p:nvPr/>
        </p:nvSpPr>
        <p:spPr>
          <a:xfrm>
            <a:off x="-1463040" y="4480560"/>
            <a:ext cx="4754880" cy="4754880"/>
          </a:xfrm>
          <a:prstGeom prst="ellipse">
            <a:avLst/>
          </a:prstGeom>
          <a:solidFill>
            <a:srgbClr val="FFFFFF">
              <a:alpha val="5000"/>
            </a:srgbClr>
          </a:solidFill>
          <a:ln/>
        </p:spPr>
        <p:txBody>
          <a:bodyPr/>
          <a:lstStyle/>
          <a:p>
            <a:endParaRPr lang="en-US" dirty="0"/>
          </a:p>
        </p:txBody>
      </p:sp>
      <p:sp>
        <p:nvSpPr>
          <p:cNvPr id="2" name="Text 0"/>
          <p:cNvSpPr/>
          <p:nvPr/>
        </p:nvSpPr>
        <p:spPr>
          <a:xfrm>
            <a:off x="7436815" y="6473952"/>
            <a:ext cx="4206240" cy="274320"/>
          </a:xfrm>
          <a:prstGeom prst="rect">
            <a:avLst/>
          </a:prstGeom>
          <a:noFill/>
          <a:ln/>
        </p:spPr>
        <p:txBody>
          <a:bodyPr wrap="square" lIns="0" tIns="0" rIns="0" bIns="0" rtlCol="0" anchor="ctr"/>
          <a:lstStyle/>
          <a:p>
            <a:pPr marL="0" indent="0" algn="r" rtl="1">
              <a:buNone/>
            </a:pPr>
            <a:r>
              <a:rPr lang="ar-SA" altLang="en-US" sz="900" dirty="0">
                <a:solidFill>
                  <a:srgbClr val="CFE8EA"/>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900" dirty="0">
              <a:latin typeface="Dubai" panose="020B0503030403030204" pitchFamily="34" charset="-78"/>
              <a:cs typeface="Dubai" panose="020B0503030403030204" pitchFamily="34" charset="-78"/>
            </a:endParaRPr>
          </a:p>
        </p:txBody>
      </p:sp>
      <p:sp>
        <p:nvSpPr>
          <p:cNvPr id="3" name="Text 1"/>
          <p:cNvSpPr/>
          <p:nvPr/>
        </p:nvSpPr>
        <p:spPr>
          <a:xfrm>
            <a:off x="548640" y="6473952"/>
            <a:ext cx="548640" cy="274320"/>
          </a:xfrm>
          <a:prstGeom prst="rect">
            <a:avLst/>
          </a:prstGeom>
          <a:noFill/>
          <a:ln/>
        </p:spPr>
        <p:txBody>
          <a:bodyPr wrap="square" lIns="0" tIns="0" rIns="0" bIns="0" rtlCol="0" anchor="ctr"/>
          <a:lstStyle/>
          <a:p>
            <a:pPr marL="0" indent="0" algn="l">
              <a:buNone/>
            </a:pPr>
            <a:r>
              <a:rPr lang="en-US" sz="900" dirty="0">
                <a:solidFill>
                  <a:srgbClr val="CFE8EA"/>
                </a:solidFill>
                <a:latin typeface="Arial" pitchFamily="34" charset="0"/>
                <a:ea typeface="Arial" pitchFamily="34" charset="-122"/>
                <a:cs typeface="Arial" pitchFamily="34" charset="-120"/>
              </a:rPr>
              <a:t>15</a:t>
            </a:r>
            <a:endParaRPr lang="ar-SY" sz="900" dirty="0">
              <a:solidFill>
                <a:srgbClr val="CFE8EA"/>
              </a:solidFill>
              <a:latin typeface="Arial" pitchFamily="34" charset="0"/>
              <a:ea typeface="Arial" pitchFamily="34" charset="-122"/>
              <a:cs typeface="Arial" pitchFamily="34" charset="-120"/>
            </a:endParaRPr>
          </a:p>
        </p:txBody>
      </p:sp>
      <p:sp>
        <p:nvSpPr>
          <p:cNvPr id="5" name="Shape 3"/>
          <p:cNvSpPr/>
          <p:nvPr/>
        </p:nvSpPr>
        <p:spPr>
          <a:xfrm>
            <a:off x="9692640" y="-2194560"/>
            <a:ext cx="4206240" cy="4206240"/>
          </a:xfrm>
          <a:prstGeom prst="ellipse">
            <a:avLst/>
          </a:prstGeom>
          <a:solidFill>
            <a:srgbClr val="02C39A">
              <a:alpha val="12000"/>
            </a:srgbClr>
          </a:solidFill>
          <a:ln/>
        </p:spPr>
      </p:sp>
      <p:sp>
        <p:nvSpPr>
          <p:cNvPr id="6" name="Shape 4"/>
          <p:cNvSpPr/>
          <p:nvPr/>
        </p:nvSpPr>
        <p:spPr>
          <a:xfrm>
            <a:off x="10881360" y="5394960"/>
            <a:ext cx="2194560" cy="2194560"/>
          </a:xfrm>
          <a:prstGeom prst="ellipse">
            <a:avLst/>
          </a:prstGeom>
          <a:solidFill>
            <a:srgbClr val="E9B44C">
              <a:alpha val="12000"/>
            </a:srgbClr>
          </a:solidFill>
          <a:ln/>
        </p:spPr>
      </p:sp>
      <p:sp>
        <p:nvSpPr>
          <p:cNvPr id="7" name="Text 5"/>
          <p:cNvSpPr/>
          <p:nvPr/>
        </p:nvSpPr>
        <p:spPr>
          <a:xfrm>
            <a:off x="548640" y="640080"/>
            <a:ext cx="11094415" cy="640080"/>
          </a:xfrm>
          <a:prstGeom prst="rect">
            <a:avLst/>
          </a:prstGeom>
          <a:noFill/>
          <a:ln/>
        </p:spPr>
        <p:txBody>
          <a:bodyPr wrap="square" rtlCol="0" anchor="ctr"/>
          <a:lstStyle/>
          <a:p>
            <a:pPr marL="0" indent="0" algn="ctr" rtl="1">
              <a:buNone/>
            </a:pPr>
            <a:r>
              <a:rPr lang="ar-SA" altLang="en-US" sz="3400" b="1" dirty="0">
                <a:solidFill>
                  <a:srgbClr val="FFFFFF"/>
                </a:solidFill>
                <a:latin typeface="Dubai" panose="020B0503030403030204" pitchFamily="34" charset="-78"/>
                <a:ea typeface="Arial" pitchFamily="34" charset="-122"/>
                <a:cs typeface="Dubai" panose="020B0503030403030204" pitchFamily="34" charset="-78"/>
              </a:rPr>
              <a:t>الخاتمة</a:t>
            </a:r>
            <a:endParaRPr lang="ar-SA" sz="3400" dirty="0">
              <a:latin typeface="Dubai" panose="020B0503030403030204" pitchFamily="34" charset="-78"/>
              <a:cs typeface="Dubai" panose="020B0503030403030204" pitchFamily="34" charset="-78"/>
            </a:endParaRPr>
          </a:p>
        </p:txBody>
      </p:sp>
      <p:sp>
        <p:nvSpPr>
          <p:cNvPr id="8" name="Text 6"/>
          <p:cNvSpPr/>
          <p:nvPr/>
        </p:nvSpPr>
        <p:spPr>
          <a:xfrm>
            <a:off x="1371600" y="1737360"/>
            <a:ext cx="9448495" cy="2377440"/>
          </a:xfrm>
          <a:prstGeom prst="rect">
            <a:avLst/>
          </a:prstGeom>
          <a:noFill/>
          <a:ln/>
        </p:spPr>
        <p:txBody>
          <a:bodyPr wrap="square" rtlCol="0" anchor="t"/>
          <a:lstStyle/>
          <a:p>
            <a:pPr marL="0" indent="0" algn="ctr" rtl="1">
              <a:lnSpc>
                <a:spcPct val="155000"/>
              </a:lnSpc>
              <a:buNone/>
            </a:pPr>
            <a:r>
              <a:rPr lang="ar-SA" altLang="en-US" sz="2000" dirty="0">
                <a:solidFill>
                  <a:srgbClr val="CFE8EA"/>
                </a:solidFill>
                <a:latin typeface="Dubai" panose="020B0503030403030204" pitchFamily="34" charset="-78"/>
                <a:ea typeface="Arial" pitchFamily="34" charset="-122"/>
                <a:cs typeface="Dubai" panose="020B0503030403030204" pitchFamily="34" charset="-78"/>
              </a:rPr>
              <a:t>بدأنا من مشكلةٍ يعيشها كلّ مريض: ملفٌّ مبعثر، وفحوصٌ مكرّرة، وغيابُ إنذارٍ مبكر. وانتهينا إلى منصّةٍ واحدة تجمع الملف الطبي بلغةٍ عالمية موحّدة، وتضع إلى جانب الطبيب مساعداً يقظاً ينبّهه في اللحظة المناسبة، وذكاءً اصطناعياً يتوقّع الخطر قبل وقوعه، وتفتح للمريض باباً آمناً إلى ملفه. نظامٌ مكتمل الأركان، بُني بمعايير عالمية، وجاهزٌ للبناء عليه.</a:t>
            </a:r>
            <a:endParaRPr lang="ar-SA" sz="2000" dirty="0">
              <a:latin typeface="Dubai" panose="020B0503030403030204" pitchFamily="34" charset="-78"/>
              <a:cs typeface="Dubai" panose="020B0503030403030204" pitchFamily="34" charset="-78"/>
            </a:endParaRPr>
          </a:p>
        </p:txBody>
      </p:sp>
      <p:sp>
        <p:nvSpPr>
          <p:cNvPr id="9" name="Shape 7"/>
          <p:cNvSpPr/>
          <p:nvPr/>
        </p:nvSpPr>
        <p:spPr>
          <a:xfrm>
            <a:off x="10142068" y="4617720"/>
            <a:ext cx="1600200" cy="475488"/>
          </a:xfrm>
          <a:prstGeom prst="roundRect">
            <a:avLst>
              <a:gd name="adj" fmla="val 50000"/>
            </a:avLst>
          </a:prstGeom>
          <a:solidFill>
            <a:srgbClr val="10485A"/>
          </a:solidFill>
          <a:ln w="12700">
            <a:solidFill>
              <a:srgbClr val="02C39A"/>
            </a:solidFill>
            <a:prstDash val="solid"/>
          </a:ln>
        </p:spPr>
      </p:sp>
      <p:sp>
        <p:nvSpPr>
          <p:cNvPr id="10" name="Text 8"/>
          <p:cNvSpPr/>
          <p:nvPr/>
        </p:nvSpPr>
        <p:spPr>
          <a:xfrm>
            <a:off x="10142068" y="4617720"/>
            <a:ext cx="1600200" cy="475488"/>
          </a:xfrm>
          <a:prstGeom prst="rect">
            <a:avLst/>
          </a:prstGeom>
          <a:noFill/>
          <a:ln/>
        </p:spPr>
        <p:txBody>
          <a:bodyPr wrap="square" lIns="0" tIns="0" rIns="0" bIns="0" rtlCol="0" anchor="ctr"/>
          <a:lstStyle/>
          <a:p>
            <a:pPr marL="0" indent="0" algn="ctr" rtl="1">
              <a:buNone/>
            </a:pPr>
            <a:r>
              <a:rPr lang="ar-SA" altLang="en-US" sz="1400" b="1" dirty="0">
                <a:solidFill>
                  <a:srgbClr val="FFFFFF"/>
                </a:solidFill>
                <a:latin typeface="Dubai" panose="020B0503030403030204" pitchFamily="34" charset="-78"/>
                <a:ea typeface="Arial" pitchFamily="34" charset="-122"/>
                <a:cs typeface="Dubai" panose="020B0503030403030204" pitchFamily="34" charset="-78"/>
              </a:rPr>
              <a:t>ملفٌّ موحّد</a:t>
            </a:r>
            <a:endParaRPr lang="ar-SA" sz="1400" dirty="0">
              <a:latin typeface="Dubai" panose="020B0503030403030204" pitchFamily="34" charset="-78"/>
              <a:cs typeface="Dubai" panose="020B0503030403030204" pitchFamily="34" charset="-78"/>
            </a:endParaRPr>
          </a:p>
        </p:txBody>
      </p:sp>
      <p:sp>
        <p:nvSpPr>
          <p:cNvPr id="11" name="Shape 9"/>
          <p:cNvSpPr/>
          <p:nvPr/>
        </p:nvSpPr>
        <p:spPr>
          <a:xfrm>
            <a:off x="8130388" y="4617720"/>
            <a:ext cx="1783080" cy="475488"/>
          </a:xfrm>
          <a:prstGeom prst="roundRect">
            <a:avLst>
              <a:gd name="adj" fmla="val 50000"/>
            </a:avLst>
          </a:prstGeom>
          <a:solidFill>
            <a:srgbClr val="10485A"/>
          </a:solidFill>
          <a:ln w="12700">
            <a:solidFill>
              <a:srgbClr val="02C39A"/>
            </a:solidFill>
            <a:prstDash val="solid"/>
          </a:ln>
        </p:spPr>
      </p:sp>
      <p:sp>
        <p:nvSpPr>
          <p:cNvPr id="12" name="Text 10"/>
          <p:cNvSpPr/>
          <p:nvPr/>
        </p:nvSpPr>
        <p:spPr>
          <a:xfrm>
            <a:off x="8130388" y="4617720"/>
            <a:ext cx="1783080" cy="475488"/>
          </a:xfrm>
          <a:prstGeom prst="rect">
            <a:avLst/>
          </a:prstGeom>
          <a:noFill/>
          <a:ln/>
        </p:spPr>
        <p:txBody>
          <a:bodyPr wrap="square" lIns="0" tIns="0" rIns="0" bIns="0" rtlCol="0" anchor="ctr"/>
          <a:lstStyle/>
          <a:p>
            <a:pPr marL="0" indent="0" algn="ctr" rtl="1">
              <a:buNone/>
            </a:pPr>
            <a:r>
              <a:rPr lang="ar-SA" altLang="en-US" sz="1400" b="1" dirty="0">
                <a:solidFill>
                  <a:srgbClr val="FFFFFF"/>
                </a:solidFill>
                <a:latin typeface="Dubai" panose="020B0503030403030204" pitchFamily="34" charset="-78"/>
                <a:ea typeface="Arial" pitchFamily="34" charset="-122"/>
                <a:cs typeface="Dubai" panose="020B0503030403030204" pitchFamily="34" charset="-78"/>
              </a:rPr>
              <a:t>مساعدٌ للطبيب</a:t>
            </a:r>
            <a:endParaRPr lang="ar-SA" sz="1400" dirty="0">
              <a:latin typeface="Dubai" panose="020B0503030403030204" pitchFamily="34" charset="-78"/>
              <a:cs typeface="Dubai" panose="020B0503030403030204" pitchFamily="34" charset="-78"/>
            </a:endParaRPr>
          </a:p>
        </p:txBody>
      </p:sp>
      <p:sp>
        <p:nvSpPr>
          <p:cNvPr id="13" name="Shape 11"/>
          <p:cNvSpPr/>
          <p:nvPr/>
        </p:nvSpPr>
        <p:spPr>
          <a:xfrm>
            <a:off x="6301588" y="4617720"/>
            <a:ext cx="1600200" cy="475488"/>
          </a:xfrm>
          <a:prstGeom prst="roundRect">
            <a:avLst>
              <a:gd name="adj" fmla="val 50000"/>
            </a:avLst>
          </a:prstGeom>
          <a:solidFill>
            <a:srgbClr val="10485A"/>
          </a:solidFill>
          <a:ln w="12700">
            <a:solidFill>
              <a:srgbClr val="02C39A"/>
            </a:solidFill>
            <a:prstDash val="solid"/>
          </a:ln>
        </p:spPr>
      </p:sp>
      <p:sp>
        <p:nvSpPr>
          <p:cNvPr id="14" name="Text 12"/>
          <p:cNvSpPr/>
          <p:nvPr/>
        </p:nvSpPr>
        <p:spPr>
          <a:xfrm>
            <a:off x="6301588" y="4617720"/>
            <a:ext cx="1600200" cy="475488"/>
          </a:xfrm>
          <a:prstGeom prst="rect">
            <a:avLst/>
          </a:prstGeom>
          <a:noFill/>
          <a:ln/>
        </p:spPr>
        <p:txBody>
          <a:bodyPr wrap="square" lIns="0" tIns="0" rIns="0" bIns="0" rtlCol="0" anchor="ctr"/>
          <a:lstStyle/>
          <a:p>
            <a:pPr marL="0" indent="0" algn="ctr" rtl="1">
              <a:buNone/>
            </a:pPr>
            <a:r>
              <a:rPr lang="ar-SA" altLang="en-US" sz="1400" b="1" dirty="0">
                <a:solidFill>
                  <a:srgbClr val="FFFFFF"/>
                </a:solidFill>
                <a:latin typeface="Dubai" panose="020B0503030403030204" pitchFamily="34" charset="-78"/>
                <a:ea typeface="Arial" pitchFamily="34" charset="-122"/>
                <a:cs typeface="Dubai" panose="020B0503030403030204" pitchFamily="34" charset="-78"/>
              </a:rPr>
              <a:t>ذكاءٌ يتنبّأ</a:t>
            </a:r>
            <a:endParaRPr lang="ar-SA" sz="1400" dirty="0">
              <a:latin typeface="Dubai" panose="020B0503030403030204" pitchFamily="34" charset="-78"/>
              <a:cs typeface="Dubai" panose="020B0503030403030204" pitchFamily="34" charset="-78"/>
            </a:endParaRPr>
          </a:p>
        </p:txBody>
      </p:sp>
      <p:sp>
        <p:nvSpPr>
          <p:cNvPr id="15" name="Shape 13"/>
          <p:cNvSpPr/>
          <p:nvPr/>
        </p:nvSpPr>
        <p:spPr>
          <a:xfrm>
            <a:off x="4381348" y="4617720"/>
            <a:ext cx="1691640" cy="475488"/>
          </a:xfrm>
          <a:prstGeom prst="roundRect">
            <a:avLst>
              <a:gd name="adj" fmla="val 50000"/>
            </a:avLst>
          </a:prstGeom>
          <a:solidFill>
            <a:srgbClr val="10485A"/>
          </a:solidFill>
          <a:ln w="12700">
            <a:solidFill>
              <a:srgbClr val="02C39A"/>
            </a:solidFill>
            <a:prstDash val="solid"/>
          </a:ln>
        </p:spPr>
      </p:sp>
      <p:sp>
        <p:nvSpPr>
          <p:cNvPr id="16" name="Text 14"/>
          <p:cNvSpPr/>
          <p:nvPr/>
        </p:nvSpPr>
        <p:spPr>
          <a:xfrm>
            <a:off x="4381348" y="4617720"/>
            <a:ext cx="1691640" cy="475488"/>
          </a:xfrm>
          <a:prstGeom prst="rect">
            <a:avLst/>
          </a:prstGeom>
          <a:noFill/>
          <a:ln/>
        </p:spPr>
        <p:txBody>
          <a:bodyPr wrap="square" lIns="0" tIns="0" rIns="0" bIns="0" rtlCol="0" anchor="ctr"/>
          <a:lstStyle/>
          <a:p>
            <a:pPr marL="0" indent="0" algn="ctr" rtl="1">
              <a:buNone/>
            </a:pPr>
            <a:r>
              <a:rPr lang="ar-SA" altLang="en-US" sz="1400" b="1" dirty="0">
                <a:solidFill>
                  <a:srgbClr val="FFFFFF"/>
                </a:solidFill>
                <a:latin typeface="Dubai" panose="020B0503030403030204" pitchFamily="34" charset="-78"/>
                <a:ea typeface="Arial" pitchFamily="34" charset="-122"/>
                <a:cs typeface="Dubai" panose="020B0503030403030204" pitchFamily="34" charset="-78"/>
              </a:rPr>
              <a:t>بوابةٌ للمريض</a:t>
            </a:r>
            <a:endParaRPr lang="ar-SA" sz="1400" dirty="0">
              <a:latin typeface="Dubai" panose="020B0503030403030204" pitchFamily="34" charset="-78"/>
              <a:cs typeface="Dubai" panose="020B0503030403030204" pitchFamily="34" charset="-78"/>
            </a:endParaRPr>
          </a:p>
        </p:txBody>
      </p:sp>
      <p:sp>
        <p:nvSpPr>
          <p:cNvPr id="17" name="Shape 15"/>
          <p:cNvSpPr/>
          <p:nvPr/>
        </p:nvSpPr>
        <p:spPr>
          <a:xfrm>
            <a:off x="2278228" y="4617720"/>
            <a:ext cx="1874520" cy="475488"/>
          </a:xfrm>
          <a:prstGeom prst="roundRect">
            <a:avLst>
              <a:gd name="adj" fmla="val 50000"/>
            </a:avLst>
          </a:prstGeom>
          <a:solidFill>
            <a:srgbClr val="10485A"/>
          </a:solidFill>
          <a:ln w="12700">
            <a:solidFill>
              <a:srgbClr val="02C39A"/>
            </a:solidFill>
            <a:prstDash val="solid"/>
          </a:ln>
        </p:spPr>
      </p:sp>
      <p:sp>
        <p:nvSpPr>
          <p:cNvPr id="18" name="Text 16"/>
          <p:cNvSpPr/>
          <p:nvPr/>
        </p:nvSpPr>
        <p:spPr>
          <a:xfrm>
            <a:off x="2278228" y="4617720"/>
            <a:ext cx="1874520" cy="475488"/>
          </a:xfrm>
          <a:prstGeom prst="rect">
            <a:avLst/>
          </a:prstGeom>
          <a:noFill/>
          <a:ln/>
        </p:spPr>
        <p:txBody>
          <a:bodyPr wrap="square" lIns="0" tIns="0" rIns="0" bIns="0" rtlCol="0" anchor="ctr"/>
          <a:lstStyle/>
          <a:p>
            <a:pPr marL="0" indent="0" algn="ctr" rtl="1">
              <a:buNone/>
            </a:pPr>
            <a:r>
              <a:rPr lang="ar-SA" altLang="en-US" sz="1400" b="1" dirty="0">
                <a:solidFill>
                  <a:srgbClr val="FFFFFF"/>
                </a:solidFill>
                <a:latin typeface="Dubai" panose="020B0503030403030204" pitchFamily="34" charset="-78"/>
                <a:ea typeface="Arial" pitchFamily="34" charset="-122"/>
                <a:cs typeface="Dubai" panose="020B0503030403030204" pitchFamily="34" charset="-78"/>
              </a:rPr>
              <a:t>أمانٌ وخصوصية</a:t>
            </a:r>
            <a:endParaRPr lang="ar-SA" sz="1400" dirty="0">
              <a:latin typeface="Dubai" panose="020B0503030403030204" pitchFamily="34" charset="-78"/>
              <a:cs typeface="Dubai" panose="020B0503030403030204" pitchFamily="34" charset="-78"/>
            </a:endParaRPr>
          </a:p>
        </p:txBody>
      </p:sp>
      <p:sp>
        <p:nvSpPr>
          <p:cNvPr id="19" name="Shape 17"/>
          <p:cNvSpPr/>
          <p:nvPr/>
        </p:nvSpPr>
        <p:spPr>
          <a:xfrm>
            <a:off x="449428" y="4617720"/>
            <a:ext cx="1600200" cy="475488"/>
          </a:xfrm>
          <a:prstGeom prst="roundRect">
            <a:avLst>
              <a:gd name="adj" fmla="val 50000"/>
            </a:avLst>
          </a:prstGeom>
          <a:solidFill>
            <a:srgbClr val="10485A"/>
          </a:solidFill>
          <a:ln w="12700">
            <a:solidFill>
              <a:srgbClr val="02C39A"/>
            </a:solidFill>
            <a:prstDash val="solid"/>
          </a:ln>
        </p:spPr>
      </p:sp>
      <p:sp>
        <p:nvSpPr>
          <p:cNvPr id="20" name="Text 18"/>
          <p:cNvSpPr/>
          <p:nvPr/>
        </p:nvSpPr>
        <p:spPr>
          <a:xfrm>
            <a:off x="449428" y="4617720"/>
            <a:ext cx="1600200" cy="475488"/>
          </a:xfrm>
          <a:prstGeom prst="rect">
            <a:avLst/>
          </a:prstGeom>
          <a:noFill/>
          <a:ln/>
        </p:spPr>
        <p:txBody>
          <a:bodyPr wrap="square" lIns="0" tIns="0" rIns="0" bIns="0" rtlCol="0" anchor="ctr"/>
          <a:lstStyle/>
          <a:p>
            <a:pPr marL="0" indent="0" algn="ctr" rtl="1">
              <a:buNone/>
            </a:pPr>
            <a:r>
              <a:rPr lang="ar-SA" altLang="en-US" sz="1200" b="1" dirty="0">
                <a:solidFill>
                  <a:srgbClr val="FFFFFF"/>
                </a:solidFill>
                <a:latin typeface="Dubai" panose="020B0503030403030204" pitchFamily="34" charset="-78"/>
                <a:ea typeface="Arial" pitchFamily="34" charset="-122"/>
                <a:cs typeface="Dubai" panose="020B0503030403030204" pitchFamily="34" charset="-78"/>
              </a:rPr>
              <a:t>عربي / إنجليزي</a:t>
            </a:r>
            <a:endParaRPr lang="ar-SA" sz="1200" dirty="0">
              <a:latin typeface="Dubai" panose="020B0503030403030204" pitchFamily="34" charset="-78"/>
              <a:cs typeface="Dubai" panose="020B0503030403030204" pitchFamily="34" charset="-78"/>
            </a:endParaRPr>
          </a:p>
        </p:txBody>
      </p:sp>
      <p:sp>
        <p:nvSpPr>
          <p:cNvPr id="21" name="Text 19"/>
          <p:cNvSpPr/>
          <p:nvPr/>
        </p:nvSpPr>
        <p:spPr>
          <a:xfrm>
            <a:off x="548640" y="5577840"/>
            <a:ext cx="11094415" cy="457200"/>
          </a:xfrm>
          <a:prstGeom prst="rect">
            <a:avLst/>
          </a:prstGeom>
          <a:noFill/>
          <a:ln/>
        </p:spPr>
        <p:txBody>
          <a:bodyPr wrap="square" rtlCol="0" anchor="ctr"/>
          <a:lstStyle/>
          <a:p>
            <a:pPr marL="0" indent="0" algn="ctr" rtl="1">
              <a:buNone/>
            </a:pPr>
            <a:r>
              <a:rPr lang="ar-SA" altLang="en-US" sz="1600" i="1" dirty="0">
                <a:solidFill>
                  <a:srgbClr val="E9B44C"/>
                </a:solidFill>
                <a:latin typeface="Dubai" panose="020B0503030403030204" pitchFamily="34" charset="-78"/>
                <a:ea typeface="Arial" pitchFamily="34" charset="-122"/>
                <a:cs typeface="Dubai" panose="020B0503030403030204" pitchFamily="34" charset="-78"/>
              </a:rPr>
              <a:t>«من ملفٍّ مبعثر… إلى رعايةٍ تسبق المرض»</a:t>
            </a:r>
            <a:endParaRPr lang="ar-SA" sz="1600" dirty="0">
              <a:latin typeface="Dubai" panose="020B0503030403030204" pitchFamily="34" charset="-78"/>
              <a:cs typeface="Dubai" panose="020B0503030403030204" pitchFamily="34" charset="-78"/>
            </a:endParaRPr>
          </a:p>
        </p:txBody>
      </p:sp>
    </p:spTree>
  </p:cSld>
  <p:clrMapOvr>
    <a:masterClrMapping/>
  </p:clrMapOvr>
  <p:transition spd="slow">
    <p:wipe dir="r"/>
  </p:transition>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0A3540"/>
        </a:solidFill>
        <a:effectLst/>
      </p:bgPr>
    </p:bg>
    <p:spTree>
      <p:nvGrpSpPr>
        <p:cNvPr id="1" name=""/>
        <p:cNvGrpSpPr/>
        <p:nvPr/>
      </p:nvGrpSpPr>
      <p:grpSpPr>
        <a:xfrm>
          <a:off x="0" y="0"/>
          <a:ext cx="0" cy="0"/>
          <a:chOff x="0" y="0"/>
          <a:chExt cx="0" cy="0"/>
        </a:xfrm>
      </p:grpSpPr>
      <p:sp>
        <p:nvSpPr>
          <p:cNvPr id="2" name="Shape 0"/>
          <p:cNvSpPr/>
          <p:nvPr/>
        </p:nvSpPr>
        <p:spPr>
          <a:xfrm>
            <a:off x="-1463040" y="4480560"/>
            <a:ext cx="4754880" cy="4754880"/>
          </a:xfrm>
          <a:prstGeom prst="ellipse">
            <a:avLst/>
          </a:prstGeom>
          <a:solidFill>
            <a:srgbClr val="FFFFFF">
              <a:alpha val="5000"/>
            </a:srgbClr>
          </a:solidFill>
          <a:ln/>
        </p:spPr>
      </p:sp>
      <p:sp>
        <p:nvSpPr>
          <p:cNvPr id="3" name="Shape 1"/>
          <p:cNvSpPr/>
          <p:nvPr/>
        </p:nvSpPr>
        <p:spPr>
          <a:xfrm>
            <a:off x="9692640" y="-2194560"/>
            <a:ext cx="4206240" cy="4206240"/>
          </a:xfrm>
          <a:prstGeom prst="ellipse">
            <a:avLst/>
          </a:prstGeom>
          <a:solidFill>
            <a:srgbClr val="02C39A">
              <a:alpha val="12000"/>
            </a:srgbClr>
          </a:solidFill>
          <a:ln/>
        </p:spPr>
      </p:sp>
      <p:sp>
        <p:nvSpPr>
          <p:cNvPr id="4" name="Shape 2"/>
          <p:cNvSpPr/>
          <p:nvPr/>
        </p:nvSpPr>
        <p:spPr>
          <a:xfrm>
            <a:off x="10881360" y="5394960"/>
            <a:ext cx="2194560" cy="2194560"/>
          </a:xfrm>
          <a:prstGeom prst="ellipse">
            <a:avLst/>
          </a:prstGeom>
          <a:solidFill>
            <a:srgbClr val="E9B44C">
              <a:alpha val="12000"/>
            </a:srgbClr>
          </a:solidFill>
          <a:ln/>
        </p:spPr>
      </p:sp>
      <p:sp>
        <p:nvSpPr>
          <p:cNvPr id="5" name="Text 3"/>
          <p:cNvSpPr/>
          <p:nvPr/>
        </p:nvSpPr>
        <p:spPr>
          <a:xfrm>
            <a:off x="548640" y="2468880"/>
            <a:ext cx="11094415" cy="1005840"/>
          </a:xfrm>
          <a:prstGeom prst="rect">
            <a:avLst/>
          </a:prstGeom>
          <a:noFill/>
          <a:ln/>
        </p:spPr>
        <p:txBody>
          <a:bodyPr wrap="square" rtlCol="0" anchor="ctr"/>
          <a:lstStyle/>
          <a:p>
            <a:pPr marL="0" indent="0" algn="ctr" rtl="1">
              <a:buNone/>
            </a:pPr>
            <a:r>
              <a:rPr lang="ar-SA" altLang="en-US" sz="8000" b="1" dirty="0">
                <a:solidFill>
                  <a:srgbClr val="FFFFFF"/>
                </a:solidFill>
                <a:latin typeface="Dubai" panose="020B0503030403030204" pitchFamily="34" charset="-78"/>
                <a:ea typeface="Arial" pitchFamily="34" charset="-122"/>
                <a:cs typeface="Dubai" panose="020B0503030403030204" pitchFamily="34" charset="-78"/>
              </a:rPr>
              <a:t>شكراً لحسن إصغائكم</a:t>
            </a:r>
            <a:endParaRPr lang="ar-SA" sz="8000" dirty="0">
              <a:latin typeface="Dubai" panose="020B0503030403030204" pitchFamily="34" charset="-78"/>
              <a:cs typeface="Dubai" panose="020B0503030403030204" pitchFamily="34" charset="-78"/>
            </a:endParaRPr>
          </a:p>
        </p:txBody>
      </p:sp>
      <p:sp>
        <p:nvSpPr>
          <p:cNvPr id="6" name="Text 4"/>
          <p:cNvSpPr/>
          <p:nvPr/>
        </p:nvSpPr>
        <p:spPr>
          <a:xfrm>
            <a:off x="548640" y="3657600"/>
            <a:ext cx="11094415" cy="548640"/>
          </a:xfrm>
          <a:prstGeom prst="rect">
            <a:avLst/>
          </a:prstGeom>
          <a:noFill/>
          <a:ln/>
        </p:spPr>
        <p:txBody>
          <a:bodyPr wrap="square" rtlCol="0" anchor="ctr"/>
          <a:lstStyle/>
          <a:p>
            <a:pPr marL="0" indent="0" algn="ctr" rtl="1">
              <a:buNone/>
            </a:pPr>
            <a:r>
              <a:rPr lang="ar-SA" altLang="en-US" sz="4000" dirty="0">
                <a:solidFill>
                  <a:srgbClr val="02C39A"/>
                </a:solidFill>
                <a:latin typeface="Dubai" panose="020B0503030403030204" pitchFamily="34" charset="-78"/>
                <a:ea typeface="Arial" pitchFamily="34" charset="-122"/>
                <a:cs typeface="Dubai" panose="020B0503030403030204" pitchFamily="34" charset="-78"/>
              </a:rPr>
              <a:t>نسعد بأسئلتكم وملاحظاتكم</a:t>
            </a:r>
            <a:endParaRPr lang="ar-SA" sz="4000" dirty="0">
              <a:latin typeface="Dubai" panose="020B0503030403030204" pitchFamily="34" charset="-78"/>
              <a:cs typeface="Dubai" panose="020B0503030403030204" pitchFamily="34" charset="-78"/>
            </a:endParaRPr>
          </a:p>
        </p:txBody>
      </p:sp>
      <p:sp>
        <p:nvSpPr>
          <p:cNvPr id="7" name="Text 5"/>
          <p:cNvSpPr/>
          <p:nvPr/>
        </p:nvSpPr>
        <p:spPr>
          <a:xfrm>
            <a:off x="548640" y="6035040"/>
            <a:ext cx="11094415" cy="365760"/>
          </a:xfrm>
          <a:prstGeom prst="rect">
            <a:avLst/>
          </a:prstGeom>
          <a:noFill/>
          <a:ln/>
        </p:spPr>
        <p:txBody>
          <a:bodyPr wrap="square" rtlCol="0" anchor="ctr"/>
          <a:lstStyle/>
          <a:p>
            <a:pPr marL="0" indent="0" algn="ctr" rtl="1">
              <a:buNone/>
            </a:pPr>
            <a:r>
              <a:rPr lang="ar-SA" altLang="en-US" sz="2400" dirty="0">
                <a:solidFill>
                  <a:srgbClr val="CFE8EA"/>
                </a:solidFill>
                <a:latin typeface="Dubai" panose="020B0503030403030204" pitchFamily="34" charset="-78"/>
                <a:ea typeface="Arial" pitchFamily="34" charset="-122"/>
                <a:cs typeface="Dubai" panose="020B0503030403030204" pitchFamily="34" charset="-78"/>
              </a:rPr>
              <a:t>نبض — نظام السجلات الطبية الرقمية</a:t>
            </a:r>
            <a:endParaRPr lang="ar-SA" sz="2400" dirty="0">
              <a:latin typeface="Dubai" panose="020B0503030403030204" pitchFamily="34" charset="-78"/>
              <a:cs typeface="Dubai" panose="020B0503030403030204" pitchFamily="34" charset="-78"/>
            </a:endParaRPr>
          </a:p>
        </p:txBody>
      </p:sp>
    </p:spTree>
  </p:cSld>
  <p:clrMapOvr>
    <a:masterClrMapping/>
  </p:clrMapOvr>
  <p:transition spd="slow">
    <p:wipe dir="r"/>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108</TotalTime>
  <Words>2286</Words>
  <Application>Microsoft Office PowerPoint</Application>
  <PresentationFormat>Widescreen</PresentationFormat>
  <Paragraphs>239</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Aptos</vt:lpstr>
      <vt:lpstr>Arial</vt:lpstr>
      <vt:lpstr>Dubai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Khair Horani</cp:lastModifiedBy>
  <cp:revision>16</cp:revision>
  <dcterms:created xsi:type="dcterms:W3CDTF">2026-07-20T19:08:56Z</dcterms:created>
  <dcterms:modified xsi:type="dcterms:W3CDTF">2026-07-24T13:40:37Z</dcterms:modified>
</cp:coreProperties>
</file>