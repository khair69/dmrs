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3" r:id="rId14"/>
    <p:sldId id="270" r:id="rId15"/>
    <p:sldId id="271"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114"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ir Horani" userId="946f668c7de71607" providerId="LiveId" clId="{CCD28977-8E33-449C-8E9C-F6FAD7DB90E3}"/>
    <pc:docChg chg="undo custSel addSld delSld modSld">
      <pc:chgData name="Khair Horani" userId="946f668c7de71607" providerId="LiveId" clId="{CCD28977-8E33-449C-8E9C-F6FAD7DB90E3}" dt="2026-07-21T15:50:36.148" v="7" actId="14100"/>
      <pc:docMkLst>
        <pc:docMk/>
      </pc:docMkLst>
      <pc:sldChg chg="del">
        <pc:chgData name="Khair Horani" userId="946f668c7de71607" providerId="LiveId" clId="{CCD28977-8E33-449C-8E9C-F6FAD7DB90E3}" dt="2026-07-21T15:48:49.441" v="0" actId="47"/>
        <pc:sldMkLst>
          <pc:docMk/>
          <pc:sldMk cId="0" sldId="267"/>
        </pc:sldMkLst>
      </pc:sldChg>
      <pc:sldChg chg="del">
        <pc:chgData name="Khair Horani" userId="946f668c7de71607" providerId="LiveId" clId="{CCD28977-8E33-449C-8E9C-F6FAD7DB90E3}" dt="2026-07-21T15:48:49.441" v="0" actId="47"/>
        <pc:sldMkLst>
          <pc:docMk/>
          <pc:sldMk cId="0" sldId="268"/>
        </pc:sldMkLst>
      </pc:sldChg>
      <pc:sldChg chg="modSp add del mod">
        <pc:chgData name="Khair Horani" userId="946f668c7de71607" providerId="LiveId" clId="{CCD28977-8E33-449C-8E9C-F6FAD7DB90E3}" dt="2026-07-21T15:50:36.148" v="7" actId="14100"/>
        <pc:sldMkLst>
          <pc:docMk/>
          <pc:sldMk cId="0" sldId="269"/>
        </pc:sldMkLst>
        <pc:spChg chg="mod">
          <ac:chgData name="Khair Horani" userId="946f668c7de71607" providerId="LiveId" clId="{CCD28977-8E33-449C-8E9C-F6FAD7DB90E3}" dt="2026-07-21T15:50:36.148" v="7" actId="14100"/>
          <ac:spMkLst>
            <pc:docMk/>
            <pc:sldMk cId="0" sldId="269"/>
            <ac:spMk id="6" creationId="{00000000-0000-0000-0000-000000000000}"/>
          </ac:spMkLst>
        </pc:spChg>
        <pc:picChg chg="mod">
          <ac:chgData name="Khair Horani" userId="946f668c7de71607" providerId="LiveId" clId="{CCD28977-8E33-449C-8E9C-F6FAD7DB90E3}" dt="2026-07-21T15:50:20.400" v="5" actId="14100"/>
          <ac:picMkLst>
            <pc:docMk/>
            <pc:sldMk cId="0" sldId="269"/>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2648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نرحّب بلجنة التحكيم الموقّرة، ونعرض مشروع تخرّجنا: نظام السجلات الطبية الرقمية — ملفٌّ طبي موحّد لكلّ مريض، ومساعدٌ ذكي لكلّ طبيب.</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سنمرّ بستّ محطات: نبدأ بالمشكلة التي دفعتنا إلى المشروع وفكرته، ثم ماذا يقدّم لكلّ مستخدم، فكيف يعمل من الداخل بصورة مبسّطة، ثم طبقاته الذكية الثلاث، فجولة في واجهاته، ونختم بالآفاق المستقبلية.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لنبدأ من قصة نعرفها جميعاً: مريضٌ يراجع مشفى جديداً، فيُسأل عن تاريخه من الصفر، وتُعاد له تحاليل أُجريت قبل أسبوع. بياناته مبعثرة بين أنظمةٍ لا تتواصل، ولا شيء ينبّه الطبيب إلى خطرٍ قادم، والمريض نفسه لا يستطيع الاطّلاع على ملفه. هذه هي المشكلة التي انطلقنا منها.</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فكرتنا بجملة واحدة: منصّة واحدة تجمع ملف المريض كاملاً، وتفهمه، وتتصرّف بناءً عليه. ثلاث ركائز: ملفٌ موحّد يُكتب بلغةٍ عالمية فيفهمه أيّ نظامٍ صحي؛ ومساعدٌ يقظ ينبّه الطبيب في اللحظة المناسبة؛ وذكاءٌ اصطناعي يتنبّأ بالخطر قبل وقوعه.</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ينظّم النظام مستخدميه في أربعة أدوار: الطبيب يجد الملف الكامل والتنبيهات وقائمة الأولويات؛ والمريض يطّلع على ملفه بأمان وبلغته؛ ومدير المؤسسة يدير الكادر ويكتب قواعد التنبيه بلا برمجة؛ ومدير النظام يدير المنصّة كلّها. وكلّ مستخدمٍ يرى ما يخصّه فقط.</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الداخل، الصورة بسيطة: المستخدمون يفتحون واجهة الاستخدام في المتصفح، والواجهة تخاطب الخادم المركزي — عقل النظام — الذي يحفظ الملفات في قاعدة بيانات تحتفظ بكلّ نسخة من كلّ سجل. وتسند الخادمَ ثلاثُ خدمات: بوابة دخولٍ آمنة موحّدة، ونماذج الذكاء الاصطناعي التي تعمل داخله مباشرة، ومرجعٌ لمعلومات الأدوية. وكلّ الاتصالات مشفّرة.</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الطبقة الأولى هي الأساس: بدل أن يخترع كلّ نظامٍ صيغته الخاصة، اعتمدنا المعيار العالمي HL7 FHIR في إصداره الخامس. شبّهوه بمنفذ USB: لغةُ توصيلٍ واحدة للجميع. النتيجة ثلاثية: لغة واحدة يفهمها أيّ نظام حديث، وذاكرة كاملة تحفظ كلّ تعديل بنسخته وصاحبه، وجاهزية للربط مستقبلاً مع أيّ مؤسسة تعتمد المعيار نفسه.</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الطبقة الثانية مساعدٌ يقظ: حين يصف الطبيب دواءً، يفحص النظام الوصفة تلقائياً في اللحظة نفسها، فإن وجد جرعةً زائدة أو تداخلاً أو خطراً أظهر تنبيهاً فورياً. الجميل أنّ قواعد التنبيه لا تكتبها شركة البرمجة، بل مدير المؤسسة نفسه من شاشة إعدادٍ بسيطة. وتستند التنبيهات إلى بيانات المريض ومرجع الأدوية وتقديرات الذكاء الاصطناعي معاً. ونؤكّد: القرار الأخير دائماً للطبيب.</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الطبقة الثالثة تنقل الرعاية من ردّ الفعل إلى الاستباق: ثلاثة نماذج ذكاءٍ اصطناعي تقرأ ملف المريض الفعلي فتقدّر خطر السكري، وخطر أمراض القلب، وخطر عودته إلى المشفى خلال شهر. دُرّبت على بياناتٍ طبية منشورة عالمياً. ونحرص على الأمانة العلمية: إن نقصت معلومة يخبر النظامُ الطبيبَ أنّ التقدير تقريبي، والتقدير يساعد الطبيب ولا يحلّ محلّ حكمه أبداً.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البيانات الصحية من أكثر البيانات حساسية، لذا كان الأمان شرطاً لا ميزة: دخولٌ موحّد عبر بوابة هويةٍ مستقلة فلا نخزّن كلمات مرور؛ وصلاحياتٌ دقيقة تجعل كلّ مستخدمٍ يرى ما يخصّه فقط — المريض لا يرى إلا ملفه؛ واتصالاتٌ مشفّرة بالكامل؛ وكلّ تعديلٍ موثَّق بصاحبه وتاريخه.</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حدّدنا في الدراسة التحليلية خمسة أدوار تتدرّج صلاحياتها كالسلّم: الزائر، فالمريض، فالطبيب، فمدير المؤسسة الذي يرث قدرات الطبيب ويضيف الإدارة، فمدير النظام في القمّة. وهذا المخطّط وأمثاله موثَّقة تفصيلياً في كتاب المشروع.</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جوهر التصميم أنّ مستند FHIR نفسه هو مصدر الحقيقة: جدولٌ للنسخة الحالية، وجدولٌ للتاريخ، وفهرسٌ مُسطَّح للبحث. وإلى جانبها جداول دعم القرار بنشرٍ مُصدَّر النسخ، وسجلّ النماذج الخارجية، وقاعدةٌ مستقلة لمعرفة الأدوية.</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ويبقى سؤال: هل نثق بأنّ النظام يعمل كما نقول؟ لذلك بنينا منظومة اختباراتٍ آلية تُشغَّل بأمرٍ واحد، وعددها مئتان وخمسة عشر اختباراً تعمل جميعها بنجاح. تغطّي أربعة محاور: الوظائف الأساسية وواجهة النظام البرمجية ومطابقتها للمعيار؛ والصلاحيات، حيث نتأكّد آلياً أنّ المريض لا يصل إلى سجلّ غيره؛ ونماذج الذكاء الاصطناعي التي تُشغَّل فعلياً في الاختبار لا نسخاً وهمية؛ وأخيراً تعدّد المستخدمين والأداء. والأهمّ أنّ هذه الاختبارات أثبتت قدرتها على كشف الخطأ فعلياً: فحين عطّلنا فحصاً أمنياً عمداً على سبيل التجربة، أخفق اختبارا عزل المريض وحدهما دون سواهما — أي أنّها اختباراتٌ ذات قيمةٍ تشخيصية حقيقية لا مجرّد توكيداتٍ شكلية.</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2589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النظام اليوم مكتمل الوظائف الأساسية، والبناء عليه ممكن في أربعة اتجاهات: إعادة تدريب النماذج على بيانات محلية حقيقية لرفع دقّتها؛ وتطبيق موبايل يقرّبه من الناس؛ ونشرٌ سحابي يخدم مؤسساتٍ أكثر؛ وربطٌ أعمق بالمنظومة الصحية ليصبح عقدةً في شبكةٍ وطنية.</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بدأنا من مشكلةٍ يعيشها كلّ مريض، وانتهينا إلى منصّةٍ تجمع الملف وتفهمه وتتصرّف: ملفٌ موحّد بلغةٍ عالمية، ومساعدٌ يقظ للطبيب، وذكاءٌ يتوقّع الخطر، وبابٌ آمن للمريض. ومن ملفٍّ مبعثر… إلى رعايةٍ تسبق المرض.</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شكراً لحسن إصغائكم، ونسعد الآن بالإجابة عن أسئلتكم. وسنعرض بعد ذلك التسجيل العملي للنظام.</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540"/>
        </a:solidFill>
        <a:effectLst/>
      </p:bgPr>
    </p:bg>
    <p:spTree>
      <p:nvGrpSpPr>
        <p:cNvPr id="1" name=""/>
        <p:cNvGrpSpPr/>
        <p:nvPr/>
      </p:nvGrpSpPr>
      <p:grpSpPr>
        <a:xfrm>
          <a:off x="0" y="0"/>
          <a:ext cx="0" cy="0"/>
          <a:chOff x="0" y="0"/>
          <a:chExt cx="0" cy="0"/>
        </a:xfrm>
      </p:grpSpPr>
      <p:sp>
        <p:nvSpPr>
          <p:cNvPr id="2" name="Shape 0"/>
          <p:cNvSpPr/>
          <p:nvPr/>
        </p:nvSpPr>
        <p:spPr>
          <a:xfrm>
            <a:off x="-1463040" y="4480560"/>
            <a:ext cx="4754880" cy="4754880"/>
          </a:xfrm>
          <a:prstGeom prst="ellipse">
            <a:avLst/>
          </a:prstGeom>
          <a:solidFill>
            <a:srgbClr val="FFFFFF">
              <a:alpha val="5000"/>
            </a:srgbClr>
          </a:solidFill>
          <a:ln/>
        </p:spPr>
      </p:sp>
      <p:sp>
        <p:nvSpPr>
          <p:cNvPr id="3" name="Shape 1"/>
          <p:cNvSpPr/>
          <p:nvPr/>
        </p:nvSpPr>
        <p:spPr>
          <a:xfrm>
            <a:off x="9692640" y="-2194560"/>
            <a:ext cx="4206240" cy="4206240"/>
          </a:xfrm>
          <a:prstGeom prst="ellipse">
            <a:avLst/>
          </a:prstGeom>
          <a:solidFill>
            <a:srgbClr val="02C39A">
              <a:alpha val="12000"/>
            </a:srgbClr>
          </a:solidFill>
          <a:ln/>
        </p:spPr>
      </p:sp>
      <p:sp>
        <p:nvSpPr>
          <p:cNvPr id="4" name="Shape 2"/>
          <p:cNvSpPr/>
          <p:nvPr/>
        </p:nvSpPr>
        <p:spPr>
          <a:xfrm>
            <a:off x="10881360" y="5394960"/>
            <a:ext cx="2194560" cy="2194560"/>
          </a:xfrm>
          <a:prstGeom prst="ellipse">
            <a:avLst/>
          </a:prstGeom>
          <a:solidFill>
            <a:srgbClr val="E9B44C">
              <a:alpha val="12000"/>
            </a:srgbClr>
          </a:solidFill>
          <a:ln/>
        </p:spPr>
      </p:sp>
      <p:sp>
        <p:nvSpPr>
          <p:cNvPr id="5" name="Text 3"/>
          <p:cNvSpPr/>
          <p:nvPr/>
        </p:nvSpPr>
        <p:spPr>
          <a:xfrm>
            <a:off x="548640" y="457200"/>
            <a:ext cx="11094415" cy="292608"/>
          </a:xfrm>
          <a:prstGeom prst="rect">
            <a:avLst/>
          </a:prstGeom>
          <a:noFill/>
          <a:ln/>
        </p:spPr>
        <p:txBody>
          <a:bodyPr wrap="square" rtlCol="0" anchor="ctr"/>
          <a:lstStyle/>
          <a:p>
            <a:pPr marL="0" indent="0" algn="ctr" rtl="1">
              <a:buNone/>
            </a:pPr>
            <a:r>
              <a:rPr lang="ar-SA" altLang="en-US" sz="1300" dirty="0">
                <a:solidFill>
                  <a:srgbClr val="CFE8EA"/>
                </a:solidFill>
                <a:latin typeface="Dubai" panose="020B0503030403030204" pitchFamily="34" charset="-78"/>
                <a:ea typeface="Arial" pitchFamily="34" charset="-122"/>
                <a:cs typeface="Dubai" panose="020B0503030403030204" pitchFamily="34" charset="-78"/>
              </a:rPr>
              <a:t>الجمهورية العربية السورية — وزارة التعليم العالي والبحث العلمي</a:t>
            </a:r>
            <a:endParaRPr lang="ar-SA" sz="1300" dirty="0">
              <a:latin typeface="Dubai" panose="020B0503030403030204" pitchFamily="34" charset="-78"/>
              <a:cs typeface="Dubai" panose="020B0503030403030204" pitchFamily="34" charset="-78"/>
            </a:endParaRPr>
          </a:p>
        </p:txBody>
      </p:sp>
      <p:sp>
        <p:nvSpPr>
          <p:cNvPr id="6" name="Text 4"/>
          <p:cNvSpPr/>
          <p:nvPr/>
        </p:nvSpPr>
        <p:spPr>
          <a:xfrm>
            <a:off x="548640" y="768096"/>
            <a:ext cx="11094415" cy="292608"/>
          </a:xfrm>
          <a:prstGeom prst="rect">
            <a:avLst/>
          </a:prstGeom>
          <a:noFill/>
          <a:ln/>
        </p:spPr>
        <p:txBody>
          <a:bodyPr wrap="square" rtlCol="0" anchor="ctr"/>
          <a:lstStyle/>
          <a:p>
            <a:pPr marL="0" indent="0" algn="ctr" rtl="1">
              <a:buNone/>
            </a:pPr>
            <a:r>
              <a:rPr lang="ar-SA" altLang="en-US" sz="1300" dirty="0">
                <a:solidFill>
                  <a:srgbClr val="CFE8EA"/>
                </a:solidFill>
                <a:latin typeface="Dubai" panose="020B0503030403030204" pitchFamily="34" charset="-78"/>
                <a:ea typeface="Arial" pitchFamily="34" charset="-122"/>
                <a:cs typeface="Dubai" panose="020B0503030403030204" pitchFamily="34" charset="-78"/>
              </a:rPr>
              <a:t>الجامعة الوطنية الخاصة — كلية الهندسة — قسم هندسة الحاسوب</a:t>
            </a:r>
            <a:endParaRPr lang="ar-SA" sz="1300" dirty="0">
              <a:latin typeface="Dubai" panose="020B0503030403030204" pitchFamily="34" charset="-78"/>
              <a:cs typeface="Dubai" panose="020B0503030403030204" pitchFamily="34" charset="-78"/>
            </a:endParaRPr>
          </a:p>
        </p:txBody>
      </p:sp>
      <p:sp>
        <p:nvSpPr>
          <p:cNvPr id="7" name="Shape 5"/>
          <p:cNvSpPr/>
          <p:nvPr/>
        </p:nvSpPr>
        <p:spPr>
          <a:xfrm>
            <a:off x="5135728" y="1371600"/>
            <a:ext cx="1920240" cy="420624"/>
          </a:xfrm>
          <a:prstGeom prst="roundRect">
            <a:avLst>
              <a:gd name="adj" fmla="val 50000"/>
            </a:avLst>
          </a:prstGeom>
          <a:solidFill>
            <a:srgbClr val="E9B44C"/>
          </a:solidFill>
          <a:ln/>
        </p:spPr>
      </p:sp>
      <p:sp>
        <p:nvSpPr>
          <p:cNvPr id="8" name="Text 6"/>
          <p:cNvSpPr/>
          <p:nvPr/>
        </p:nvSpPr>
        <p:spPr>
          <a:xfrm>
            <a:off x="5135728" y="1371600"/>
            <a:ext cx="1920240" cy="420624"/>
          </a:xfrm>
          <a:prstGeom prst="rect">
            <a:avLst/>
          </a:prstGeom>
          <a:noFill/>
          <a:ln/>
        </p:spPr>
        <p:txBody>
          <a:bodyPr wrap="square" lIns="0" tIns="0" rIns="0" bIns="0" rtlCol="0" anchor="ctr"/>
          <a:lstStyle/>
          <a:p>
            <a:pPr marL="0" indent="0" algn="ctr" rtl="1">
              <a:buNone/>
            </a:pPr>
            <a:r>
              <a:rPr lang="ar-SA" altLang="en-US" sz="1500" b="1" dirty="0">
                <a:solidFill>
                  <a:srgbClr val="0A3540"/>
                </a:solidFill>
                <a:latin typeface="Dubai" panose="020B0503030403030204" pitchFamily="34" charset="-78"/>
                <a:ea typeface="Arial" pitchFamily="34" charset="-122"/>
                <a:cs typeface="Dubai" panose="020B0503030403030204" pitchFamily="34" charset="-78"/>
              </a:rPr>
              <a:t>مشروع تخرّج</a:t>
            </a:r>
            <a:endParaRPr lang="ar-SA" sz="1500" dirty="0">
              <a:latin typeface="Dubai" panose="020B0503030403030204" pitchFamily="34" charset="-78"/>
              <a:cs typeface="Dubai" panose="020B0503030403030204" pitchFamily="34" charset="-78"/>
            </a:endParaRPr>
          </a:p>
        </p:txBody>
      </p:sp>
      <p:sp>
        <p:nvSpPr>
          <p:cNvPr id="9" name="Text 7"/>
          <p:cNvSpPr/>
          <p:nvPr/>
        </p:nvSpPr>
        <p:spPr>
          <a:xfrm>
            <a:off x="548640" y="1883664"/>
            <a:ext cx="11094415" cy="658368"/>
          </a:xfrm>
          <a:prstGeom prst="rect">
            <a:avLst/>
          </a:prstGeom>
          <a:noFill/>
          <a:ln/>
        </p:spPr>
        <p:txBody>
          <a:bodyPr wrap="square" rtlCol="0" anchor="ctr"/>
          <a:lstStyle/>
          <a:p>
            <a:pPr marL="0" indent="0" algn="ctr" rtl="1">
              <a:buNone/>
            </a:pPr>
            <a:r>
              <a:rPr lang="ar-SA" altLang="en-US" sz="4600" b="1" dirty="0">
                <a:solidFill>
                  <a:srgbClr val="FFFFFF"/>
                </a:solidFill>
                <a:latin typeface="Dubai" panose="020B0503030403030204" pitchFamily="34" charset="-78"/>
                <a:ea typeface="Arial" pitchFamily="34" charset="-122"/>
                <a:cs typeface="Dubai" panose="020B0503030403030204" pitchFamily="34" charset="-78"/>
              </a:rPr>
              <a:t>نبض</a:t>
            </a:r>
            <a:endParaRPr lang="ar-SA" sz="4600" dirty="0">
              <a:latin typeface="Dubai" panose="020B0503030403030204" pitchFamily="34" charset="-78"/>
              <a:cs typeface="Dubai" panose="020B0503030403030204" pitchFamily="34" charset="-78"/>
            </a:endParaRPr>
          </a:p>
        </p:txBody>
      </p:sp>
      <p:sp>
        <p:nvSpPr>
          <p:cNvPr id="10" name="Text 8"/>
          <p:cNvSpPr/>
          <p:nvPr/>
        </p:nvSpPr>
        <p:spPr>
          <a:xfrm>
            <a:off x="548640" y="2523744"/>
            <a:ext cx="11094415" cy="384048"/>
          </a:xfrm>
          <a:prstGeom prst="rect">
            <a:avLst/>
          </a:prstGeom>
          <a:noFill/>
          <a:ln/>
        </p:spPr>
        <p:txBody>
          <a:bodyPr wrap="square" rtlCol="0" anchor="ctr"/>
          <a:lstStyle/>
          <a:p>
            <a:pPr marL="0" indent="0" algn="ctr" rtl="1">
              <a:buNone/>
            </a:pPr>
            <a:r>
              <a:rPr lang="ar-SA" altLang="en-US" sz="2100" b="1" dirty="0">
                <a:solidFill>
                  <a:srgbClr val="CFE8EA"/>
                </a:solidFill>
                <a:latin typeface="Dubai" panose="020B0503030403030204" pitchFamily="34" charset="-78"/>
                <a:ea typeface="Arial" pitchFamily="34" charset="-122"/>
                <a:cs typeface="Dubai" panose="020B0503030403030204" pitchFamily="34" charset="-78"/>
              </a:rPr>
              <a:t>نظام السجلات الطبية الرقمية</a:t>
            </a:r>
            <a:endParaRPr lang="ar-SA" sz="2100" dirty="0">
              <a:latin typeface="Dubai" panose="020B0503030403030204" pitchFamily="34" charset="-78"/>
              <a:cs typeface="Dubai" panose="020B0503030403030204" pitchFamily="34" charset="-78"/>
            </a:endParaRPr>
          </a:p>
        </p:txBody>
      </p:sp>
      <p:sp>
        <p:nvSpPr>
          <p:cNvPr id="11" name="Text 9"/>
          <p:cNvSpPr/>
          <p:nvPr/>
        </p:nvSpPr>
        <p:spPr>
          <a:xfrm>
            <a:off x="548640" y="2926080"/>
            <a:ext cx="11094415" cy="457200"/>
          </a:xfrm>
          <a:prstGeom prst="rect">
            <a:avLst/>
          </a:prstGeom>
          <a:noFill/>
          <a:ln/>
        </p:spPr>
        <p:txBody>
          <a:bodyPr wrap="square" rtlCol="0" anchor="ctr"/>
          <a:lstStyle/>
          <a:p>
            <a:pPr marL="0" indent="0" algn="ctr">
              <a:buNone/>
            </a:pPr>
            <a:r>
              <a:rPr lang="en-US" sz="2000" b="1" dirty="0">
                <a:solidFill>
                  <a:srgbClr val="02C39A"/>
                </a:solidFill>
                <a:latin typeface="Dubai" panose="020B0503030403030204" pitchFamily="34" charset="-78"/>
                <a:ea typeface="Arial" pitchFamily="34" charset="-122"/>
                <a:cs typeface="Dubai" panose="020B0503030403030204" pitchFamily="34" charset="-78"/>
              </a:rPr>
              <a:t>Nabd — Digital Medical Records System</a:t>
            </a:r>
            <a:endParaRPr lang="en-US" sz="2000" dirty="0">
              <a:latin typeface="Dubai" panose="020B0503030403030204" pitchFamily="34" charset="-78"/>
              <a:cs typeface="Dubai" panose="020B0503030403030204" pitchFamily="34" charset="-78"/>
            </a:endParaRPr>
          </a:p>
        </p:txBody>
      </p:sp>
      <p:sp>
        <p:nvSpPr>
          <p:cNvPr id="12" name="Text 10"/>
          <p:cNvSpPr/>
          <p:nvPr/>
        </p:nvSpPr>
        <p:spPr>
          <a:xfrm>
            <a:off x="548640" y="3429000"/>
            <a:ext cx="11094415" cy="411480"/>
          </a:xfrm>
          <a:prstGeom prst="rect">
            <a:avLst/>
          </a:prstGeom>
          <a:noFill/>
          <a:ln/>
        </p:spPr>
        <p:txBody>
          <a:bodyPr wrap="square" rtlCol="0" anchor="ctr"/>
          <a:lstStyle/>
          <a:p>
            <a:pPr marL="0" indent="0" algn="ctr" rtl="1">
              <a:buNone/>
            </a:pPr>
            <a:r>
              <a:rPr lang="ar-SA" altLang="en-US" sz="1500" i="1" dirty="0">
                <a:solidFill>
                  <a:srgbClr val="CFE8EA"/>
                </a:solidFill>
                <a:latin typeface="Dubai" panose="020B0503030403030204" pitchFamily="34" charset="-78"/>
                <a:ea typeface="Arial" pitchFamily="34" charset="-122"/>
                <a:cs typeface="Dubai" panose="020B0503030403030204" pitchFamily="34" charset="-78"/>
              </a:rPr>
              <a:t>ملفٌّ طبي موحّد لكلّ مريض، ومساعدٌ ذكي لكلّ طبيب</a:t>
            </a:r>
            <a:endParaRPr lang="ar-SA" sz="1500" dirty="0">
              <a:latin typeface="Dubai" panose="020B0503030403030204" pitchFamily="34" charset="-78"/>
              <a:cs typeface="Dubai" panose="020B0503030403030204" pitchFamily="34" charset="-78"/>
            </a:endParaRPr>
          </a:p>
        </p:txBody>
      </p:sp>
      <p:sp>
        <p:nvSpPr>
          <p:cNvPr id="13" name="Text 11"/>
          <p:cNvSpPr/>
          <p:nvPr/>
        </p:nvSpPr>
        <p:spPr>
          <a:xfrm>
            <a:off x="548640" y="4297680"/>
            <a:ext cx="11094415" cy="868680"/>
          </a:xfrm>
          <a:prstGeom prst="rect">
            <a:avLst/>
          </a:prstGeom>
          <a:noFill/>
          <a:ln/>
        </p:spPr>
        <p:txBody>
          <a:bodyPr wrap="square" rtlCol="0" anchor="ctr"/>
          <a:lstStyle/>
          <a:p>
            <a:pPr marL="0" indent="0" algn="ctr" rtl="1">
              <a:lnSpc>
                <a:spcPct val="140000"/>
              </a:lnSpc>
              <a:buNone/>
            </a:pPr>
            <a:r>
              <a:rPr lang="ar-SA" altLang="en-US" sz="1400" b="1" dirty="0">
                <a:solidFill>
                  <a:srgbClr val="02C39A"/>
                </a:solidFill>
                <a:latin typeface="Dubai" panose="020B0503030403030204" pitchFamily="34" charset="-78"/>
                <a:ea typeface="Arial" pitchFamily="34" charset="-122"/>
                <a:cs typeface="Dubai" panose="020B0503030403030204" pitchFamily="34" charset="-78"/>
              </a:rPr>
              <a:t>إعداد الطلاب</a:t>
            </a:r>
            <a:endParaRPr lang="ar-SA" sz="1400" dirty="0">
              <a:latin typeface="Dubai" panose="020B0503030403030204" pitchFamily="34" charset="-78"/>
              <a:cs typeface="Dubai" panose="020B0503030403030204" pitchFamily="34" charset="-78"/>
            </a:endParaRPr>
          </a:p>
          <a:p>
            <a:pPr marL="0" indent="0" algn="ctr" rtl="1">
              <a:lnSpc>
                <a:spcPct val="140000"/>
              </a:lnSpc>
              <a:buNone/>
            </a:pPr>
            <a:r>
              <a:rPr lang="ar-SA" altLang="en-US" sz="1700" b="1" dirty="0">
                <a:solidFill>
                  <a:srgbClr val="FFFFFF"/>
                </a:solidFill>
                <a:latin typeface="Dubai" panose="020B0503030403030204" pitchFamily="34" charset="-78"/>
                <a:ea typeface="Arial" pitchFamily="34" charset="-122"/>
                <a:cs typeface="Dubai" panose="020B0503030403030204" pitchFamily="34" charset="-78"/>
              </a:rPr>
              <a:t>أمير المنصور      محمد خير الحوراني      ميزر عمري</a:t>
            </a:r>
            <a:endParaRPr lang="ar-SA" sz="1400" dirty="0">
              <a:latin typeface="Dubai" panose="020B0503030403030204" pitchFamily="34" charset="-78"/>
              <a:cs typeface="Dubai" panose="020B0503030403030204" pitchFamily="34" charset="-78"/>
            </a:endParaRPr>
          </a:p>
        </p:txBody>
      </p:sp>
      <p:sp>
        <p:nvSpPr>
          <p:cNvPr id="14" name="Text 12"/>
          <p:cNvSpPr/>
          <p:nvPr/>
        </p:nvSpPr>
        <p:spPr>
          <a:xfrm>
            <a:off x="548640" y="5257800"/>
            <a:ext cx="11094415" cy="777240"/>
          </a:xfrm>
          <a:prstGeom prst="rect">
            <a:avLst/>
          </a:prstGeom>
          <a:noFill/>
          <a:ln/>
        </p:spPr>
        <p:txBody>
          <a:bodyPr wrap="square" rtlCol="0" anchor="ctr"/>
          <a:lstStyle/>
          <a:p>
            <a:pPr marL="0" indent="0" algn="ctr" rtl="1">
              <a:lnSpc>
                <a:spcPct val="140000"/>
              </a:lnSpc>
              <a:buNone/>
            </a:pPr>
            <a:r>
              <a:rPr lang="ar-SA" altLang="en-US" sz="1400" b="1" dirty="0">
                <a:solidFill>
                  <a:srgbClr val="02C39A"/>
                </a:solidFill>
                <a:latin typeface="Dubai" panose="020B0503030403030204" pitchFamily="34" charset="-78"/>
                <a:ea typeface="Arial" pitchFamily="34" charset="-122"/>
                <a:cs typeface="Dubai" panose="020B0503030403030204" pitchFamily="34" charset="-78"/>
              </a:rPr>
              <a:t>بإشراف</a:t>
            </a:r>
            <a:endParaRPr lang="ar-SA" sz="1400" dirty="0">
              <a:latin typeface="Dubai" panose="020B0503030403030204" pitchFamily="34" charset="-78"/>
              <a:cs typeface="Dubai" panose="020B0503030403030204" pitchFamily="34" charset="-78"/>
            </a:endParaRPr>
          </a:p>
          <a:p>
            <a:pPr marL="0" indent="0" algn="ctr" rtl="1">
              <a:lnSpc>
                <a:spcPct val="140000"/>
              </a:lnSpc>
              <a:buNone/>
            </a:pPr>
            <a:r>
              <a:rPr lang="ar-SA" altLang="en-US" sz="1600" b="1" dirty="0">
                <a:solidFill>
                  <a:srgbClr val="FFFFFF"/>
                </a:solidFill>
                <a:latin typeface="Dubai" panose="020B0503030403030204" pitchFamily="34" charset="-78"/>
                <a:ea typeface="Arial" pitchFamily="34" charset="-122"/>
                <a:cs typeface="Dubai" panose="020B0503030403030204" pitchFamily="34" charset="-78"/>
              </a:rPr>
              <a:t>د. وسيم رمضان</a:t>
            </a:r>
            <a:endParaRPr lang="ar-SA" sz="1400" dirty="0">
              <a:latin typeface="Dubai" panose="020B0503030403030204" pitchFamily="34" charset="-78"/>
              <a:cs typeface="Dubai" panose="020B0503030403030204" pitchFamily="34" charset="-78"/>
            </a:endParaRPr>
          </a:p>
        </p:txBody>
      </p:sp>
      <p:sp>
        <p:nvSpPr>
          <p:cNvPr id="15" name="Text 13"/>
          <p:cNvSpPr/>
          <p:nvPr/>
        </p:nvSpPr>
        <p:spPr>
          <a:xfrm>
            <a:off x="548640" y="6172200"/>
            <a:ext cx="11094415" cy="320040"/>
          </a:xfrm>
          <a:prstGeom prst="rect">
            <a:avLst/>
          </a:prstGeom>
          <a:noFill/>
          <a:ln/>
        </p:spPr>
        <p:txBody>
          <a:bodyPr wrap="square" rtlCol="0" anchor="ctr"/>
          <a:lstStyle/>
          <a:p>
            <a:pPr marL="0" indent="0" algn="ctr" rtl="1">
              <a:buNone/>
            </a:pPr>
            <a:r>
              <a:rPr lang="ar-SA" altLang="en-US" sz="1300" dirty="0">
                <a:solidFill>
                  <a:srgbClr val="CFE8EA"/>
                </a:solidFill>
                <a:latin typeface="Dubai" panose="020B0503030403030204" pitchFamily="34" charset="-78"/>
                <a:ea typeface="Arial" pitchFamily="34" charset="-122"/>
                <a:cs typeface="Dubai" panose="020B0503030403030204" pitchFamily="34" charset="-78"/>
              </a:rPr>
              <a:t>العام الدراسي ٢٠٢٥ – ٢٠٢٦</a:t>
            </a:r>
            <a:endParaRPr lang="ar-SA" sz="1300" dirty="0">
              <a:latin typeface="Dubai" panose="020B0503030403030204" pitchFamily="34" charset="-78"/>
              <a:cs typeface="Dubai" panose="020B0503030403030204" pitchFamily="34"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587078"/>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900" dirty="0">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en-US" sz="900" dirty="0">
                <a:solidFill>
                  <a:srgbClr val="587078"/>
                </a:solidFill>
                <a:latin typeface="Arial" pitchFamily="34" charset="0"/>
                <a:ea typeface="Arial" pitchFamily="34" charset="-122"/>
                <a:cs typeface="Arial" pitchFamily="34" charset="-120"/>
              </a:rPr>
              <a:t>2</a:t>
            </a:r>
            <a:endParaRPr lang="en-US" sz="900" dirty="0"/>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indent="0" algn="r" rtl="1">
              <a:buNone/>
            </a:pPr>
            <a:r>
              <a:rPr lang="ar-SA" altLang="en-US" sz="2900" b="1" dirty="0">
                <a:solidFill>
                  <a:srgbClr val="0A3540"/>
                </a:solidFill>
                <a:latin typeface="Dubai" panose="020B0503030403030204" pitchFamily="34" charset="-78"/>
                <a:ea typeface="Arial" pitchFamily="34" charset="-122"/>
                <a:cs typeface="Dubai" panose="020B0503030403030204" pitchFamily="34" charset="-78"/>
              </a:rPr>
              <a:t>مخطّط العرض</a:t>
            </a:r>
            <a:endParaRPr lang="ar-SA" sz="2900" dirty="0">
              <a:latin typeface="Dubai" panose="020B0503030403030204" pitchFamily="34" charset="-78"/>
              <a:cs typeface="Dubai" panose="020B0503030403030204" pitchFamily="34" charset="-78"/>
            </a:endParaRPr>
          </a:p>
        </p:txBody>
      </p:sp>
      <p:sp>
        <p:nvSpPr>
          <p:cNvPr id="6" name="Shape 4"/>
          <p:cNvSpPr/>
          <p:nvPr/>
        </p:nvSpPr>
        <p:spPr>
          <a:xfrm>
            <a:off x="6293815" y="1828800"/>
            <a:ext cx="5349240" cy="1097280"/>
          </a:xfrm>
          <a:prstGeom prst="roundRect">
            <a:avLst>
              <a:gd name="adj" fmla="val 6667"/>
            </a:avLst>
          </a:prstGeom>
          <a:solidFill>
            <a:srgbClr val="F2F8F8"/>
          </a:solidFill>
          <a:ln w="9525">
            <a:solidFill>
              <a:srgbClr val="D9E7E9"/>
            </a:solidFill>
            <a:prstDash val="solid"/>
          </a:ln>
        </p:spPr>
      </p:sp>
      <p:sp>
        <p:nvSpPr>
          <p:cNvPr id="7" name="Shape 5"/>
          <p:cNvSpPr/>
          <p:nvPr/>
        </p:nvSpPr>
        <p:spPr>
          <a:xfrm>
            <a:off x="10728655" y="2112264"/>
            <a:ext cx="530352" cy="530352"/>
          </a:xfrm>
          <a:prstGeom prst="ellipse">
            <a:avLst/>
          </a:prstGeom>
          <a:solidFill>
            <a:srgbClr val="0E7C86"/>
          </a:solidFill>
          <a:ln/>
        </p:spPr>
      </p:sp>
      <p:sp>
        <p:nvSpPr>
          <p:cNvPr id="8" name="Text 6"/>
          <p:cNvSpPr/>
          <p:nvPr/>
        </p:nvSpPr>
        <p:spPr>
          <a:xfrm>
            <a:off x="10728655" y="2112264"/>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6568135" y="1828800"/>
            <a:ext cx="3977640" cy="1097280"/>
          </a:xfrm>
          <a:prstGeom prst="rect">
            <a:avLst/>
          </a:prstGeom>
          <a:noFill/>
          <a:ln/>
        </p:spPr>
        <p:txBody>
          <a:bodyPr wrap="square" lIns="0" tIns="0" rIns="0" bIns="0" rtlCol="0" anchor="ctr"/>
          <a:lstStyle/>
          <a:p>
            <a:pPr marL="0" indent="0" algn="r" rtl="1">
              <a:buNone/>
            </a:pPr>
            <a:r>
              <a:rPr lang="ar-SA" altLang="en-US" b="1" dirty="0">
                <a:solidFill>
                  <a:srgbClr val="12333C"/>
                </a:solidFill>
                <a:latin typeface="Dubai" panose="020B0503030403030204" pitchFamily="34" charset="-78"/>
                <a:ea typeface="Arial" pitchFamily="34" charset="-122"/>
                <a:cs typeface="Dubai" panose="020B0503030403030204" pitchFamily="34" charset="-78"/>
              </a:rPr>
              <a:t>المشكلة وفكرة المشروع</a:t>
            </a:r>
            <a:endParaRPr lang="ar-SA" dirty="0">
              <a:latin typeface="Dubai" panose="020B0503030403030204" pitchFamily="34" charset="-78"/>
              <a:cs typeface="Dubai" panose="020B0503030403030204" pitchFamily="34" charset="-78"/>
            </a:endParaRPr>
          </a:p>
        </p:txBody>
      </p:sp>
      <p:sp>
        <p:nvSpPr>
          <p:cNvPr id="10" name="Shape 8"/>
          <p:cNvSpPr/>
          <p:nvPr/>
        </p:nvSpPr>
        <p:spPr>
          <a:xfrm>
            <a:off x="6293815" y="3200400"/>
            <a:ext cx="5349240" cy="1097280"/>
          </a:xfrm>
          <a:prstGeom prst="roundRect">
            <a:avLst>
              <a:gd name="adj" fmla="val 6667"/>
            </a:avLst>
          </a:prstGeom>
          <a:solidFill>
            <a:srgbClr val="F2F8F8"/>
          </a:solidFill>
          <a:ln w="9525">
            <a:solidFill>
              <a:srgbClr val="D9E7E9"/>
            </a:solidFill>
            <a:prstDash val="solid"/>
          </a:ln>
        </p:spPr>
      </p:sp>
      <p:sp>
        <p:nvSpPr>
          <p:cNvPr id="11" name="Shape 9"/>
          <p:cNvSpPr/>
          <p:nvPr/>
        </p:nvSpPr>
        <p:spPr>
          <a:xfrm>
            <a:off x="10728655" y="3483864"/>
            <a:ext cx="530352" cy="530352"/>
          </a:xfrm>
          <a:prstGeom prst="ellipse">
            <a:avLst/>
          </a:prstGeom>
          <a:solidFill>
            <a:srgbClr val="0E7C86"/>
          </a:solidFill>
          <a:ln/>
        </p:spPr>
      </p:sp>
      <p:sp>
        <p:nvSpPr>
          <p:cNvPr id="12" name="Text 10"/>
          <p:cNvSpPr/>
          <p:nvPr/>
        </p:nvSpPr>
        <p:spPr>
          <a:xfrm>
            <a:off x="10728655" y="3483864"/>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6568135" y="3200400"/>
            <a:ext cx="3977640" cy="1097280"/>
          </a:xfrm>
          <a:prstGeom prst="rect">
            <a:avLst/>
          </a:prstGeom>
          <a:noFill/>
          <a:ln/>
        </p:spPr>
        <p:txBody>
          <a:bodyPr wrap="square" lIns="0" tIns="0" rIns="0" bIns="0" rtlCol="0" anchor="ctr"/>
          <a:lstStyle/>
          <a:p>
            <a:pPr marL="0" indent="0" algn="r" rtl="1">
              <a:buNone/>
            </a:pPr>
            <a:r>
              <a:rPr lang="ar-SA" altLang="en-US" b="1" dirty="0">
                <a:solidFill>
                  <a:srgbClr val="12333C"/>
                </a:solidFill>
                <a:latin typeface="Dubai" panose="020B0503030403030204" pitchFamily="34" charset="-78"/>
                <a:ea typeface="Arial" pitchFamily="34" charset="-122"/>
                <a:cs typeface="Dubai" panose="020B0503030403030204" pitchFamily="34" charset="-78"/>
              </a:rPr>
              <a:t>ماذا يقدّم النظام لكلّ مستخدم؟</a:t>
            </a:r>
            <a:endParaRPr lang="ar-SA" dirty="0">
              <a:latin typeface="Dubai" panose="020B0503030403030204" pitchFamily="34" charset="-78"/>
              <a:cs typeface="Dubai" panose="020B0503030403030204" pitchFamily="34" charset="-78"/>
            </a:endParaRPr>
          </a:p>
        </p:txBody>
      </p:sp>
      <p:sp>
        <p:nvSpPr>
          <p:cNvPr id="14" name="Shape 12"/>
          <p:cNvSpPr/>
          <p:nvPr/>
        </p:nvSpPr>
        <p:spPr>
          <a:xfrm>
            <a:off x="6293815" y="4572000"/>
            <a:ext cx="5349240" cy="1097280"/>
          </a:xfrm>
          <a:prstGeom prst="roundRect">
            <a:avLst>
              <a:gd name="adj" fmla="val 6667"/>
            </a:avLst>
          </a:prstGeom>
          <a:solidFill>
            <a:srgbClr val="F2F8F8"/>
          </a:solidFill>
          <a:ln w="9525">
            <a:solidFill>
              <a:srgbClr val="D9E7E9"/>
            </a:solidFill>
            <a:prstDash val="solid"/>
          </a:ln>
        </p:spPr>
      </p:sp>
      <p:sp>
        <p:nvSpPr>
          <p:cNvPr id="15" name="Shape 13"/>
          <p:cNvSpPr/>
          <p:nvPr/>
        </p:nvSpPr>
        <p:spPr>
          <a:xfrm>
            <a:off x="10728655" y="4855464"/>
            <a:ext cx="530352" cy="530352"/>
          </a:xfrm>
          <a:prstGeom prst="ellipse">
            <a:avLst/>
          </a:prstGeom>
          <a:solidFill>
            <a:srgbClr val="0E7C86"/>
          </a:solidFill>
          <a:ln/>
        </p:spPr>
      </p:sp>
      <p:sp>
        <p:nvSpPr>
          <p:cNvPr id="16" name="Text 14"/>
          <p:cNvSpPr/>
          <p:nvPr/>
        </p:nvSpPr>
        <p:spPr>
          <a:xfrm>
            <a:off x="10728655" y="4855464"/>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6568135" y="4572000"/>
            <a:ext cx="3977640" cy="1097280"/>
          </a:xfrm>
          <a:prstGeom prst="rect">
            <a:avLst/>
          </a:prstGeom>
          <a:noFill/>
          <a:ln/>
        </p:spPr>
        <p:txBody>
          <a:bodyPr wrap="square" lIns="0" tIns="0" rIns="0" bIns="0" rtlCol="0" anchor="ctr"/>
          <a:lstStyle/>
          <a:p>
            <a:pPr marL="0" indent="0" algn="r" rtl="1">
              <a:buNone/>
            </a:pPr>
            <a:r>
              <a:rPr lang="ar-SA" altLang="en-US" b="1" dirty="0">
                <a:solidFill>
                  <a:srgbClr val="12333C"/>
                </a:solidFill>
                <a:latin typeface="Dubai" panose="020B0503030403030204" pitchFamily="34" charset="-78"/>
                <a:ea typeface="Arial" pitchFamily="34" charset="-122"/>
                <a:cs typeface="Dubai" panose="020B0503030403030204" pitchFamily="34" charset="-78"/>
              </a:rPr>
              <a:t>كيف يعمل النظام؟</a:t>
            </a:r>
            <a:endParaRPr lang="ar-SA" dirty="0">
              <a:latin typeface="Dubai" panose="020B0503030403030204" pitchFamily="34" charset="-78"/>
              <a:cs typeface="Dubai" panose="020B0503030403030204" pitchFamily="34" charset="-78"/>
            </a:endParaRPr>
          </a:p>
        </p:txBody>
      </p:sp>
      <p:sp>
        <p:nvSpPr>
          <p:cNvPr id="18" name="Shape 16"/>
          <p:cNvSpPr/>
          <p:nvPr/>
        </p:nvSpPr>
        <p:spPr>
          <a:xfrm>
            <a:off x="548640" y="1828800"/>
            <a:ext cx="5349240" cy="1097280"/>
          </a:xfrm>
          <a:prstGeom prst="roundRect">
            <a:avLst>
              <a:gd name="adj" fmla="val 6667"/>
            </a:avLst>
          </a:prstGeom>
          <a:solidFill>
            <a:srgbClr val="F2F8F8"/>
          </a:solidFill>
          <a:ln w="9525">
            <a:solidFill>
              <a:srgbClr val="D9E7E9"/>
            </a:solidFill>
            <a:prstDash val="solid"/>
          </a:ln>
        </p:spPr>
      </p:sp>
      <p:sp>
        <p:nvSpPr>
          <p:cNvPr id="19" name="Shape 17"/>
          <p:cNvSpPr/>
          <p:nvPr/>
        </p:nvSpPr>
        <p:spPr>
          <a:xfrm>
            <a:off x="4983480" y="2112264"/>
            <a:ext cx="530352" cy="530352"/>
          </a:xfrm>
          <a:prstGeom prst="ellipse">
            <a:avLst/>
          </a:prstGeom>
          <a:solidFill>
            <a:srgbClr val="0E7C86"/>
          </a:solidFill>
          <a:ln/>
        </p:spPr>
      </p:sp>
      <p:sp>
        <p:nvSpPr>
          <p:cNvPr id="20" name="Text 18"/>
          <p:cNvSpPr/>
          <p:nvPr/>
        </p:nvSpPr>
        <p:spPr>
          <a:xfrm>
            <a:off x="4983480" y="2112264"/>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9"/>
          <p:cNvSpPr/>
          <p:nvPr/>
        </p:nvSpPr>
        <p:spPr>
          <a:xfrm>
            <a:off x="822960" y="1828800"/>
            <a:ext cx="3977640" cy="1097280"/>
          </a:xfrm>
          <a:prstGeom prst="rect">
            <a:avLst/>
          </a:prstGeom>
          <a:noFill/>
          <a:ln/>
        </p:spPr>
        <p:txBody>
          <a:bodyPr wrap="square" lIns="0" tIns="0" rIns="0" bIns="0" rtlCol="0" anchor="ctr"/>
          <a:lstStyle/>
          <a:p>
            <a:pPr marL="0" indent="0" algn="r" rtl="1">
              <a:buNone/>
            </a:pPr>
            <a:r>
              <a:rPr lang="ar-SA" altLang="en-US" b="1" dirty="0">
                <a:solidFill>
                  <a:srgbClr val="12333C"/>
                </a:solidFill>
                <a:latin typeface="Dubai" panose="020B0503030403030204" pitchFamily="34" charset="-78"/>
                <a:ea typeface="Arial" pitchFamily="34" charset="-122"/>
                <a:cs typeface="Dubai" panose="020B0503030403030204" pitchFamily="34" charset="-78"/>
              </a:rPr>
              <a:t>الطبقات الذكية: لغةٌ موحّدة، ومساعدٌ للطبيب، وذكاءٌ يتنبّأ</a:t>
            </a:r>
            <a:endParaRPr lang="ar-SA" dirty="0">
              <a:latin typeface="Dubai" panose="020B0503030403030204" pitchFamily="34" charset="-78"/>
              <a:cs typeface="Dubai" panose="020B0503030403030204" pitchFamily="34" charset="-78"/>
            </a:endParaRPr>
          </a:p>
        </p:txBody>
      </p:sp>
      <p:sp>
        <p:nvSpPr>
          <p:cNvPr id="22" name="Shape 20"/>
          <p:cNvSpPr/>
          <p:nvPr/>
        </p:nvSpPr>
        <p:spPr>
          <a:xfrm>
            <a:off x="548640" y="3200400"/>
            <a:ext cx="5349240" cy="1097280"/>
          </a:xfrm>
          <a:prstGeom prst="roundRect">
            <a:avLst>
              <a:gd name="adj" fmla="val 6667"/>
            </a:avLst>
          </a:prstGeom>
          <a:solidFill>
            <a:srgbClr val="F2F8F8"/>
          </a:solidFill>
          <a:ln w="9525">
            <a:solidFill>
              <a:srgbClr val="D9E7E9"/>
            </a:solidFill>
            <a:prstDash val="solid"/>
          </a:ln>
        </p:spPr>
      </p:sp>
      <p:sp>
        <p:nvSpPr>
          <p:cNvPr id="23" name="Shape 21"/>
          <p:cNvSpPr/>
          <p:nvPr/>
        </p:nvSpPr>
        <p:spPr>
          <a:xfrm>
            <a:off x="4983480" y="3483864"/>
            <a:ext cx="530352" cy="530352"/>
          </a:xfrm>
          <a:prstGeom prst="ellipse">
            <a:avLst/>
          </a:prstGeom>
          <a:solidFill>
            <a:srgbClr val="0E7C86"/>
          </a:solidFill>
          <a:ln/>
        </p:spPr>
      </p:sp>
      <p:sp>
        <p:nvSpPr>
          <p:cNvPr id="24" name="Text 22"/>
          <p:cNvSpPr/>
          <p:nvPr/>
        </p:nvSpPr>
        <p:spPr>
          <a:xfrm>
            <a:off x="4983480" y="3483864"/>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5" name="Text 23"/>
          <p:cNvSpPr/>
          <p:nvPr/>
        </p:nvSpPr>
        <p:spPr>
          <a:xfrm>
            <a:off x="822960" y="3200400"/>
            <a:ext cx="3977640" cy="1097280"/>
          </a:xfrm>
          <a:prstGeom prst="rect">
            <a:avLst/>
          </a:prstGeom>
          <a:noFill/>
          <a:ln/>
        </p:spPr>
        <p:txBody>
          <a:bodyPr wrap="square" lIns="0" tIns="0" rIns="0" bIns="0" rtlCol="0" anchor="ctr"/>
          <a:lstStyle/>
          <a:p>
            <a:pPr marL="0" indent="0" algn="r" rtl="1">
              <a:buNone/>
            </a:pPr>
            <a:r>
              <a:rPr lang="ar-SA" altLang="en-US" b="1" dirty="0">
                <a:solidFill>
                  <a:srgbClr val="12333C"/>
                </a:solidFill>
                <a:latin typeface="Dubai" panose="020B0503030403030204" pitchFamily="34" charset="-78"/>
                <a:ea typeface="Arial" pitchFamily="34" charset="-122"/>
                <a:cs typeface="Dubai" panose="020B0503030403030204" pitchFamily="34" charset="-78"/>
              </a:rPr>
              <a:t>جولة في واجهات النظام</a:t>
            </a:r>
            <a:endParaRPr lang="ar-SA" dirty="0">
              <a:latin typeface="Dubai" panose="020B0503030403030204" pitchFamily="34" charset="-78"/>
              <a:cs typeface="Dubai" panose="020B0503030403030204" pitchFamily="34" charset="-78"/>
            </a:endParaRPr>
          </a:p>
        </p:txBody>
      </p:sp>
      <p:sp>
        <p:nvSpPr>
          <p:cNvPr id="26" name="Shape 24"/>
          <p:cNvSpPr/>
          <p:nvPr/>
        </p:nvSpPr>
        <p:spPr>
          <a:xfrm>
            <a:off x="548640" y="4572000"/>
            <a:ext cx="5349240" cy="1097280"/>
          </a:xfrm>
          <a:prstGeom prst="roundRect">
            <a:avLst>
              <a:gd name="adj" fmla="val 6667"/>
            </a:avLst>
          </a:prstGeom>
          <a:solidFill>
            <a:srgbClr val="F2F8F8"/>
          </a:solidFill>
          <a:ln w="9525">
            <a:solidFill>
              <a:srgbClr val="D9E7E9"/>
            </a:solidFill>
            <a:prstDash val="solid"/>
          </a:ln>
        </p:spPr>
      </p:sp>
      <p:sp>
        <p:nvSpPr>
          <p:cNvPr id="27" name="Shape 25"/>
          <p:cNvSpPr/>
          <p:nvPr/>
        </p:nvSpPr>
        <p:spPr>
          <a:xfrm>
            <a:off x="4983480" y="4855464"/>
            <a:ext cx="530352" cy="530352"/>
          </a:xfrm>
          <a:prstGeom prst="ellipse">
            <a:avLst/>
          </a:prstGeom>
          <a:solidFill>
            <a:srgbClr val="0E7C86"/>
          </a:solidFill>
          <a:ln/>
        </p:spPr>
      </p:sp>
      <p:sp>
        <p:nvSpPr>
          <p:cNvPr id="28" name="Text 26"/>
          <p:cNvSpPr/>
          <p:nvPr/>
        </p:nvSpPr>
        <p:spPr>
          <a:xfrm>
            <a:off x="4983480" y="4855464"/>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29" name="Text 27"/>
          <p:cNvSpPr/>
          <p:nvPr/>
        </p:nvSpPr>
        <p:spPr>
          <a:xfrm>
            <a:off x="822960" y="4572000"/>
            <a:ext cx="3977640" cy="1097280"/>
          </a:xfrm>
          <a:prstGeom prst="rect">
            <a:avLst/>
          </a:prstGeom>
          <a:noFill/>
          <a:ln/>
        </p:spPr>
        <p:txBody>
          <a:bodyPr wrap="square" lIns="0" tIns="0" rIns="0" bIns="0" rtlCol="0" anchor="ctr"/>
          <a:lstStyle/>
          <a:p>
            <a:pPr marL="0" indent="0" algn="r" rtl="1">
              <a:buNone/>
            </a:pPr>
            <a:r>
              <a:rPr lang="ar-SA" altLang="en-US" b="1" dirty="0">
                <a:solidFill>
                  <a:srgbClr val="12333C"/>
                </a:solidFill>
                <a:latin typeface="Dubai" panose="020B0503030403030204" pitchFamily="34" charset="-78"/>
                <a:ea typeface="Arial" pitchFamily="34" charset="-122"/>
                <a:cs typeface="Dubai" panose="020B0503030403030204" pitchFamily="34" charset="-78"/>
              </a:rPr>
              <a:t>الآفاق المستقبلية والخاتمة</a:t>
            </a:r>
            <a:endParaRPr lang="ar-SA" dirty="0">
              <a:latin typeface="Dubai" panose="020B0503030403030204" pitchFamily="34" charset="-78"/>
              <a:cs typeface="Dubai" panose="020B0503030403030204" pitchFamily="34"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587078"/>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900" dirty="0">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en-US" sz="900" dirty="0">
                <a:solidFill>
                  <a:srgbClr val="587078"/>
                </a:solidFill>
                <a:latin typeface="Arial" pitchFamily="34" charset="0"/>
                <a:ea typeface="Arial" pitchFamily="34" charset="-122"/>
                <a:cs typeface="Arial" pitchFamily="34" charset="-120"/>
              </a:rPr>
              <a:t>3</a:t>
            </a:r>
            <a:endParaRPr lang="en-US" sz="900" dirty="0"/>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indent="0" algn="r" rtl="1">
              <a:buNone/>
            </a:pPr>
            <a:r>
              <a:rPr lang="ar-SA" altLang="en-US" sz="2900" b="1" dirty="0">
                <a:solidFill>
                  <a:srgbClr val="0A3540"/>
                </a:solidFill>
                <a:latin typeface="Dubai" panose="020B0503030403030204" pitchFamily="34" charset="-78"/>
                <a:ea typeface="Arial" pitchFamily="34" charset="-122"/>
                <a:cs typeface="Dubai" panose="020B0503030403030204" pitchFamily="34" charset="-78"/>
              </a:rPr>
              <a:t>المشكلة: أين يذهب ملف المريض؟</a:t>
            </a:r>
            <a:endParaRPr lang="ar-SA" sz="2900" dirty="0">
              <a:latin typeface="Dubai" panose="020B0503030403030204" pitchFamily="34" charset="-78"/>
              <a:cs typeface="Dubai" panose="020B0503030403030204" pitchFamily="34" charset="-78"/>
            </a:endParaRPr>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indent="0" algn="r" rtl="1">
              <a:buNone/>
            </a:pPr>
            <a:r>
              <a:rPr lang="ar-SA" altLang="en-US" sz="1400" dirty="0">
                <a:solidFill>
                  <a:srgbClr val="0E7C86"/>
                </a:solidFill>
                <a:latin typeface="Dubai" panose="020B0503030403030204" pitchFamily="34" charset="-78"/>
                <a:ea typeface="Arial" pitchFamily="34" charset="-122"/>
                <a:cs typeface="Dubai" panose="020B0503030403030204" pitchFamily="34" charset="-78"/>
              </a:rPr>
              <a:t>قصة نعرفها جميعاً من أيّ زيارةٍ للمشفى</a:t>
            </a:r>
            <a:endParaRPr lang="ar-SA" sz="1400" dirty="0">
              <a:latin typeface="Dubai" panose="020B0503030403030204" pitchFamily="34" charset="-78"/>
              <a:cs typeface="Dubai" panose="020B0503030403030204" pitchFamily="34" charset="-78"/>
            </a:endParaRPr>
          </a:p>
        </p:txBody>
      </p:sp>
      <p:sp>
        <p:nvSpPr>
          <p:cNvPr id="6" name="Shape 4"/>
          <p:cNvSpPr/>
          <p:nvPr/>
        </p:nvSpPr>
        <p:spPr>
          <a:xfrm>
            <a:off x="6193231" y="1691640"/>
            <a:ext cx="5449824" cy="1965960"/>
          </a:xfrm>
          <a:prstGeom prst="roundRect">
            <a:avLst>
              <a:gd name="adj" fmla="val 3721"/>
            </a:avLst>
          </a:prstGeom>
          <a:solidFill>
            <a:srgbClr val="F2F8F8"/>
          </a:solidFill>
          <a:ln w="9525">
            <a:solidFill>
              <a:srgbClr val="D9E7E9"/>
            </a:solidFill>
            <a:prstDash val="solid"/>
          </a:ln>
        </p:spPr>
      </p:sp>
      <p:sp>
        <p:nvSpPr>
          <p:cNvPr id="7" name="Shape 5"/>
          <p:cNvSpPr/>
          <p:nvPr/>
        </p:nvSpPr>
        <p:spPr>
          <a:xfrm>
            <a:off x="10957255" y="1920240"/>
            <a:ext cx="420624" cy="420624"/>
          </a:xfrm>
          <a:prstGeom prst="ellipse">
            <a:avLst/>
          </a:prstGeom>
          <a:solidFill>
            <a:srgbClr val="0E7C86"/>
          </a:solidFill>
          <a:ln/>
        </p:spPr>
      </p:sp>
      <p:sp>
        <p:nvSpPr>
          <p:cNvPr id="8" name="Text 6"/>
          <p:cNvSpPr/>
          <p:nvPr/>
        </p:nvSpPr>
        <p:spPr>
          <a:xfrm>
            <a:off x="10957255"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6467551" y="1892808"/>
            <a:ext cx="4261104" cy="457200"/>
          </a:xfrm>
          <a:prstGeom prst="rect">
            <a:avLst/>
          </a:prstGeom>
          <a:noFill/>
          <a:ln/>
        </p:spPr>
        <p:txBody>
          <a:bodyPr wrap="square" lIns="0" tIns="0" rIns="0" bIns="0" rtlCol="0" anchor="ctr"/>
          <a:lstStyle/>
          <a:p>
            <a:pPr marL="0" indent="0" algn="r" rtl="1">
              <a:buNone/>
            </a:pPr>
            <a:r>
              <a:rPr lang="ar-SA" altLang="en-US" b="1" dirty="0">
                <a:solidFill>
                  <a:srgbClr val="0E7C86"/>
                </a:solidFill>
                <a:latin typeface="Dubai" panose="020B0503030403030204" pitchFamily="34" charset="-78"/>
                <a:ea typeface="Arial" pitchFamily="34" charset="-122"/>
                <a:cs typeface="Dubai" panose="020B0503030403030204" pitchFamily="34" charset="-78"/>
              </a:rPr>
              <a:t>ملفٌ مبعثر</a:t>
            </a:r>
            <a:endParaRPr lang="ar-SA" dirty="0">
              <a:latin typeface="Dubai" panose="020B0503030403030204" pitchFamily="34" charset="-78"/>
              <a:cs typeface="Dubai" panose="020B0503030403030204" pitchFamily="34" charset="-78"/>
            </a:endParaRPr>
          </a:p>
        </p:txBody>
      </p:sp>
      <p:sp>
        <p:nvSpPr>
          <p:cNvPr id="10" name="Text 8"/>
          <p:cNvSpPr/>
          <p:nvPr/>
        </p:nvSpPr>
        <p:spPr>
          <a:xfrm>
            <a:off x="6467551" y="2468880"/>
            <a:ext cx="4901184" cy="1005840"/>
          </a:xfrm>
          <a:prstGeom prst="rect">
            <a:avLst/>
          </a:prstGeom>
          <a:noFill/>
          <a:ln/>
        </p:spPr>
        <p:txBody>
          <a:bodyPr wrap="square" lIns="0" tIns="0" rIns="0" bIns="0" rtlCol="0" anchor="t"/>
          <a:lstStyle/>
          <a:p>
            <a:pPr marL="0" indent="0" algn="r" rtl="1">
              <a:lnSpc>
                <a:spcPct val="125000"/>
              </a:lnSpc>
              <a:buNone/>
            </a:pPr>
            <a:r>
              <a:rPr lang="ar-SA" altLang="en-US" sz="1600" dirty="0">
                <a:solidFill>
                  <a:srgbClr val="587078"/>
                </a:solidFill>
                <a:latin typeface="Dubai" panose="020B0503030403030204" pitchFamily="34" charset="-78"/>
                <a:ea typeface="Arial" pitchFamily="34" charset="-122"/>
                <a:cs typeface="Dubai" panose="020B0503030403030204" pitchFamily="34" charset="-78"/>
              </a:rPr>
              <a:t>بيانات المريض موزّعة بين مشافٍ وعياداتٍ ومخابر لا تتواصل فيما بينها؛ فيبدأ من الصفر مع كلّ طبيبٍ جديد.</a:t>
            </a:r>
            <a:endParaRPr lang="ar-SA" sz="1600" dirty="0">
              <a:latin typeface="Dubai" panose="020B0503030403030204" pitchFamily="34" charset="-78"/>
              <a:cs typeface="Dubai" panose="020B0503030403030204" pitchFamily="34" charset="-78"/>
            </a:endParaRPr>
          </a:p>
        </p:txBody>
      </p:sp>
      <p:sp>
        <p:nvSpPr>
          <p:cNvPr id="11" name="Shape 9"/>
          <p:cNvSpPr/>
          <p:nvPr/>
        </p:nvSpPr>
        <p:spPr>
          <a:xfrm>
            <a:off x="551383" y="1691640"/>
            <a:ext cx="5449824" cy="1965960"/>
          </a:xfrm>
          <a:prstGeom prst="roundRect">
            <a:avLst>
              <a:gd name="adj" fmla="val 3721"/>
            </a:avLst>
          </a:prstGeom>
          <a:solidFill>
            <a:srgbClr val="F2F8F8"/>
          </a:solidFill>
          <a:ln w="9525">
            <a:solidFill>
              <a:srgbClr val="D9E7E9"/>
            </a:solidFill>
            <a:prstDash val="solid"/>
          </a:ln>
        </p:spPr>
      </p:sp>
      <p:sp>
        <p:nvSpPr>
          <p:cNvPr id="12" name="Shape 10"/>
          <p:cNvSpPr/>
          <p:nvPr/>
        </p:nvSpPr>
        <p:spPr>
          <a:xfrm>
            <a:off x="5315407" y="1920240"/>
            <a:ext cx="420624" cy="420624"/>
          </a:xfrm>
          <a:prstGeom prst="ellipse">
            <a:avLst/>
          </a:prstGeom>
          <a:solidFill>
            <a:srgbClr val="0E7C86"/>
          </a:solidFill>
          <a:ln/>
        </p:spPr>
      </p:sp>
      <p:sp>
        <p:nvSpPr>
          <p:cNvPr id="13" name="Text 11"/>
          <p:cNvSpPr/>
          <p:nvPr/>
        </p:nvSpPr>
        <p:spPr>
          <a:xfrm>
            <a:off x="5315407"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825703" y="1892808"/>
            <a:ext cx="4261104" cy="457200"/>
          </a:xfrm>
          <a:prstGeom prst="rect">
            <a:avLst/>
          </a:prstGeom>
          <a:noFill/>
          <a:ln/>
        </p:spPr>
        <p:txBody>
          <a:bodyPr wrap="square" lIns="0" tIns="0" rIns="0" bIns="0" rtlCol="0" anchor="ctr"/>
          <a:lstStyle/>
          <a:p>
            <a:pPr marL="0" indent="0" algn="r" rtl="1">
              <a:buNone/>
            </a:pPr>
            <a:r>
              <a:rPr lang="ar-SA" altLang="en-US" b="1" dirty="0">
                <a:solidFill>
                  <a:srgbClr val="0E7C86"/>
                </a:solidFill>
                <a:latin typeface="Dubai" panose="020B0503030403030204" pitchFamily="34" charset="-78"/>
                <a:ea typeface="Arial" pitchFamily="34" charset="-122"/>
                <a:cs typeface="Dubai" panose="020B0503030403030204" pitchFamily="34" charset="-78"/>
              </a:rPr>
              <a:t>فحوصٌ مكرّرة</a:t>
            </a:r>
            <a:endParaRPr lang="ar-SA" dirty="0">
              <a:latin typeface="Dubai" panose="020B0503030403030204" pitchFamily="34" charset="-78"/>
              <a:cs typeface="Dubai" panose="020B0503030403030204" pitchFamily="34" charset="-78"/>
            </a:endParaRPr>
          </a:p>
        </p:txBody>
      </p:sp>
      <p:sp>
        <p:nvSpPr>
          <p:cNvPr id="15" name="Text 13"/>
          <p:cNvSpPr/>
          <p:nvPr/>
        </p:nvSpPr>
        <p:spPr>
          <a:xfrm>
            <a:off x="825703" y="2468880"/>
            <a:ext cx="4901184" cy="1005840"/>
          </a:xfrm>
          <a:prstGeom prst="rect">
            <a:avLst/>
          </a:prstGeom>
          <a:noFill/>
          <a:ln/>
        </p:spPr>
        <p:txBody>
          <a:bodyPr wrap="square" lIns="0" tIns="0" rIns="0" bIns="0" rtlCol="0" anchor="t"/>
          <a:lstStyle/>
          <a:p>
            <a:pPr marL="0" indent="0" algn="r" rtl="1">
              <a:lnSpc>
                <a:spcPct val="125000"/>
              </a:lnSpc>
              <a:buNone/>
            </a:pPr>
            <a:r>
              <a:rPr lang="ar-SA" altLang="en-US" sz="1600" dirty="0">
                <a:solidFill>
                  <a:srgbClr val="587078"/>
                </a:solidFill>
                <a:latin typeface="Dubai" panose="020B0503030403030204" pitchFamily="34" charset="-78"/>
                <a:ea typeface="Arial" pitchFamily="34" charset="-122"/>
                <a:cs typeface="Dubai" panose="020B0503030403030204" pitchFamily="34" charset="-78"/>
              </a:rPr>
              <a:t>غياب الملف الكامل يعني إعادة التحاليل والصور مراراً — وقتٌ ضائع وتكلفةٌ بلا داعٍ.</a:t>
            </a:r>
            <a:endParaRPr lang="ar-SA" sz="1600" dirty="0">
              <a:latin typeface="Dubai" panose="020B0503030403030204" pitchFamily="34" charset="-78"/>
              <a:cs typeface="Dubai" panose="020B0503030403030204" pitchFamily="34" charset="-78"/>
            </a:endParaRPr>
          </a:p>
        </p:txBody>
      </p:sp>
      <p:sp>
        <p:nvSpPr>
          <p:cNvPr id="16" name="Shape 14"/>
          <p:cNvSpPr/>
          <p:nvPr/>
        </p:nvSpPr>
        <p:spPr>
          <a:xfrm>
            <a:off x="6193231" y="3931920"/>
            <a:ext cx="5449824" cy="1965960"/>
          </a:xfrm>
          <a:prstGeom prst="roundRect">
            <a:avLst>
              <a:gd name="adj" fmla="val 3721"/>
            </a:avLst>
          </a:prstGeom>
          <a:solidFill>
            <a:srgbClr val="F2F8F8"/>
          </a:solidFill>
          <a:ln w="9525">
            <a:solidFill>
              <a:srgbClr val="D9E7E9"/>
            </a:solidFill>
            <a:prstDash val="solid"/>
          </a:ln>
        </p:spPr>
      </p:sp>
      <p:sp>
        <p:nvSpPr>
          <p:cNvPr id="17" name="Shape 15"/>
          <p:cNvSpPr/>
          <p:nvPr/>
        </p:nvSpPr>
        <p:spPr>
          <a:xfrm>
            <a:off x="10957255" y="4160520"/>
            <a:ext cx="420624" cy="420624"/>
          </a:xfrm>
          <a:prstGeom prst="ellipse">
            <a:avLst/>
          </a:prstGeom>
          <a:solidFill>
            <a:srgbClr val="02C39A"/>
          </a:solidFill>
          <a:ln/>
        </p:spPr>
      </p:sp>
      <p:sp>
        <p:nvSpPr>
          <p:cNvPr id="18" name="Text 16"/>
          <p:cNvSpPr/>
          <p:nvPr/>
        </p:nvSpPr>
        <p:spPr>
          <a:xfrm>
            <a:off x="10957255" y="41605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6467551" y="4133088"/>
            <a:ext cx="4261104" cy="457200"/>
          </a:xfrm>
          <a:prstGeom prst="rect">
            <a:avLst/>
          </a:prstGeom>
          <a:noFill/>
          <a:ln/>
        </p:spPr>
        <p:txBody>
          <a:bodyPr wrap="square" lIns="0" tIns="0" rIns="0" bIns="0" rtlCol="0" anchor="ctr"/>
          <a:lstStyle/>
          <a:p>
            <a:pPr marL="0" indent="0" algn="r" rtl="1">
              <a:buNone/>
            </a:pPr>
            <a:r>
              <a:rPr lang="ar-SA" altLang="en-US" b="1" dirty="0">
                <a:solidFill>
                  <a:srgbClr val="0E7C86"/>
                </a:solidFill>
                <a:latin typeface="Dubai" panose="020B0503030403030204" pitchFamily="34" charset="-78"/>
                <a:ea typeface="Arial" pitchFamily="34" charset="-122"/>
                <a:cs typeface="Dubai" panose="020B0503030403030204" pitchFamily="34" charset="-78"/>
              </a:rPr>
              <a:t>لا إنذار مبكر</a:t>
            </a:r>
            <a:endParaRPr lang="ar-SA" dirty="0">
              <a:latin typeface="Dubai" panose="020B0503030403030204" pitchFamily="34" charset="-78"/>
              <a:cs typeface="Dubai" panose="020B0503030403030204" pitchFamily="34" charset="-78"/>
            </a:endParaRPr>
          </a:p>
        </p:txBody>
      </p:sp>
      <p:sp>
        <p:nvSpPr>
          <p:cNvPr id="20" name="Text 18"/>
          <p:cNvSpPr/>
          <p:nvPr/>
        </p:nvSpPr>
        <p:spPr>
          <a:xfrm>
            <a:off x="6467551" y="4709160"/>
            <a:ext cx="4901184" cy="1005840"/>
          </a:xfrm>
          <a:prstGeom prst="rect">
            <a:avLst/>
          </a:prstGeom>
          <a:noFill/>
          <a:ln/>
        </p:spPr>
        <p:txBody>
          <a:bodyPr wrap="square" lIns="0" tIns="0" rIns="0" bIns="0" rtlCol="0" anchor="t"/>
          <a:lstStyle/>
          <a:p>
            <a:pPr marL="0" indent="0" algn="r" rtl="1">
              <a:lnSpc>
                <a:spcPct val="125000"/>
              </a:lnSpc>
              <a:buNone/>
            </a:pPr>
            <a:r>
              <a:rPr lang="ar-SA" altLang="en-US" sz="1600" dirty="0">
                <a:solidFill>
                  <a:srgbClr val="587078"/>
                </a:solidFill>
                <a:latin typeface="Dubai" panose="020B0503030403030204" pitchFamily="34" charset="-78"/>
                <a:ea typeface="Arial" pitchFamily="34" charset="-122"/>
                <a:cs typeface="Dubai" panose="020B0503030403030204" pitchFamily="34" charset="-78"/>
              </a:rPr>
              <a:t>قد تمرّ جرعةٌ زائدة أو خطرٌ صحي وشيك من دون أن ينبّه أحدٌ الطبيبَ في اللحظة المناسبة.</a:t>
            </a:r>
            <a:endParaRPr lang="ar-SA" sz="1600" dirty="0">
              <a:latin typeface="Dubai" panose="020B0503030403030204" pitchFamily="34" charset="-78"/>
              <a:cs typeface="Dubai" panose="020B0503030403030204" pitchFamily="34" charset="-78"/>
            </a:endParaRPr>
          </a:p>
        </p:txBody>
      </p:sp>
      <p:sp>
        <p:nvSpPr>
          <p:cNvPr id="21" name="Shape 19"/>
          <p:cNvSpPr/>
          <p:nvPr/>
        </p:nvSpPr>
        <p:spPr>
          <a:xfrm>
            <a:off x="551383" y="3931920"/>
            <a:ext cx="5449824" cy="1965960"/>
          </a:xfrm>
          <a:prstGeom prst="roundRect">
            <a:avLst>
              <a:gd name="adj" fmla="val 3721"/>
            </a:avLst>
          </a:prstGeom>
          <a:solidFill>
            <a:srgbClr val="F2F8F8"/>
          </a:solidFill>
          <a:ln w="9525">
            <a:solidFill>
              <a:srgbClr val="D9E7E9"/>
            </a:solidFill>
            <a:prstDash val="solid"/>
          </a:ln>
        </p:spPr>
      </p:sp>
      <p:sp>
        <p:nvSpPr>
          <p:cNvPr id="22" name="Shape 20"/>
          <p:cNvSpPr/>
          <p:nvPr/>
        </p:nvSpPr>
        <p:spPr>
          <a:xfrm>
            <a:off x="5315407" y="4160520"/>
            <a:ext cx="420624" cy="420624"/>
          </a:xfrm>
          <a:prstGeom prst="ellipse">
            <a:avLst/>
          </a:prstGeom>
          <a:solidFill>
            <a:srgbClr val="02C39A"/>
          </a:solidFill>
          <a:ln/>
        </p:spPr>
      </p:sp>
      <p:sp>
        <p:nvSpPr>
          <p:cNvPr id="23" name="Text 21"/>
          <p:cNvSpPr/>
          <p:nvPr/>
        </p:nvSpPr>
        <p:spPr>
          <a:xfrm>
            <a:off x="5315407" y="41605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p:nvPr/>
        </p:nvSpPr>
        <p:spPr>
          <a:xfrm>
            <a:off x="825703" y="4133088"/>
            <a:ext cx="4261104" cy="457200"/>
          </a:xfrm>
          <a:prstGeom prst="rect">
            <a:avLst/>
          </a:prstGeom>
          <a:noFill/>
          <a:ln/>
        </p:spPr>
        <p:txBody>
          <a:bodyPr wrap="square" lIns="0" tIns="0" rIns="0" bIns="0" rtlCol="0" anchor="ctr"/>
          <a:lstStyle/>
          <a:p>
            <a:pPr marL="0" indent="0" algn="r" rtl="1">
              <a:buNone/>
            </a:pPr>
            <a:r>
              <a:rPr lang="ar-SA" altLang="en-US" b="1" dirty="0">
                <a:solidFill>
                  <a:srgbClr val="0E7C86"/>
                </a:solidFill>
                <a:latin typeface="Dubai" panose="020B0503030403030204" pitchFamily="34" charset="-78"/>
                <a:ea typeface="Arial" pitchFamily="34" charset="-122"/>
                <a:cs typeface="Dubai" panose="020B0503030403030204" pitchFamily="34" charset="-78"/>
              </a:rPr>
              <a:t>المريض خارج الصورة</a:t>
            </a:r>
            <a:endParaRPr lang="ar-SA" dirty="0">
              <a:latin typeface="Dubai" panose="020B0503030403030204" pitchFamily="34" charset="-78"/>
              <a:cs typeface="Dubai" panose="020B0503030403030204" pitchFamily="34" charset="-78"/>
            </a:endParaRPr>
          </a:p>
        </p:txBody>
      </p:sp>
      <p:sp>
        <p:nvSpPr>
          <p:cNvPr id="25" name="Text 23"/>
          <p:cNvSpPr/>
          <p:nvPr/>
        </p:nvSpPr>
        <p:spPr>
          <a:xfrm>
            <a:off x="825703" y="4709160"/>
            <a:ext cx="4901184" cy="1005840"/>
          </a:xfrm>
          <a:prstGeom prst="rect">
            <a:avLst/>
          </a:prstGeom>
          <a:noFill/>
          <a:ln/>
        </p:spPr>
        <p:txBody>
          <a:bodyPr wrap="square" lIns="0" tIns="0" rIns="0" bIns="0" rtlCol="0" anchor="t"/>
          <a:lstStyle/>
          <a:p>
            <a:pPr marL="0" indent="0" algn="r" rtl="1">
              <a:lnSpc>
                <a:spcPct val="125000"/>
              </a:lnSpc>
              <a:buNone/>
            </a:pPr>
            <a:r>
              <a:rPr lang="ar-SA" altLang="en-US" sz="1600" dirty="0">
                <a:solidFill>
                  <a:srgbClr val="587078"/>
                </a:solidFill>
                <a:latin typeface="Dubai" panose="020B0503030403030204" pitchFamily="34" charset="-78"/>
                <a:ea typeface="Arial" pitchFamily="34" charset="-122"/>
                <a:cs typeface="Dubai" panose="020B0503030403030204" pitchFamily="34" charset="-78"/>
              </a:rPr>
              <a:t>لا يملك المريض وسيلةً سهلة ليطّلع على ملفه ومواعيده وأدويته بنفسه.</a:t>
            </a:r>
            <a:endParaRPr lang="ar-SA" sz="1600" dirty="0">
              <a:latin typeface="Dubai" panose="020B0503030403030204" pitchFamily="34" charset="-78"/>
              <a:cs typeface="Dubai" panose="020B0503030403030204" pitchFamily="34" charset="-7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587078"/>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900" dirty="0">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en-US" sz="900" dirty="0">
                <a:solidFill>
                  <a:srgbClr val="587078"/>
                </a:solidFill>
                <a:latin typeface="Arial" pitchFamily="34" charset="0"/>
                <a:ea typeface="Arial" pitchFamily="34" charset="-122"/>
                <a:cs typeface="Arial" pitchFamily="34" charset="-120"/>
              </a:rPr>
              <a:t>4</a:t>
            </a:r>
            <a:endParaRPr lang="en-US" sz="900" dirty="0"/>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indent="0" algn="r" rtl="1">
              <a:buNone/>
            </a:pPr>
            <a:r>
              <a:rPr lang="ar-SA" altLang="en-US" sz="2800" b="1" dirty="0">
                <a:solidFill>
                  <a:srgbClr val="0A3540"/>
                </a:solidFill>
                <a:latin typeface="Dubai" panose="020B0503030403030204" pitchFamily="34" charset="-78"/>
                <a:ea typeface="Arial" pitchFamily="34" charset="-122"/>
                <a:cs typeface="Dubai" panose="020B0503030403030204" pitchFamily="34" charset="-78"/>
              </a:rPr>
              <a:t>فكرة </a:t>
            </a:r>
            <a:r>
              <a:rPr lang="ar-SA" altLang="en-US" sz="2900" b="1" dirty="0">
                <a:solidFill>
                  <a:srgbClr val="0A3540"/>
                </a:solidFill>
                <a:latin typeface="Dubai" panose="020B0503030403030204" pitchFamily="34" charset="-78"/>
                <a:ea typeface="Arial" pitchFamily="34" charset="-122"/>
                <a:cs typeface="Dubai" panose="020B0503030403030204" pitchFamily="34" charset="-78"/>
              </a:rPr>
              <a:t>المشروع</a:t>
            </a:r>
            <a:endParaRPr lang="ar-SA" sz="2900" dirty="0">
              <a:latin typeface="Dubai" panose="020B0503030403030204" pitchFamily="34" charset="-78"/>
              <a:cs typeface="Dubai" panose="020B0503030403030204" pitchFamily="34" charset="-78"/>
            </a:endParaRPr>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indent="0" algn="r" rtl="1">
              <a:buNone/>
            </a:pPr>
            <a:r>
              <a:rPr lang="ar-SA" altLang="en-US" sz="1400" dirty="0">
                <a:solidFill>
                  <a:srgbClr val="0E7C86"/>
                </a:solidFill>
                <a:latin typeface="Dubai" panose="020B0503030403030204" pitchFamily="34" charset="-78"/>
                <a:ea typeface="Arial" pitchFamily="34" charset="-122"/>
                <a:cs typeface="Dubai" panose="020B0503030403030204" pitchFamily="34" charset="-78"/>
              </a:rPr>
              <a:t>منصّة واحدة تجمع ملف المريض كاملاً… وتفهمه… وتتصرّف</a:t>
            </a:r>
            <a:endParaRPr lang="ar-SA" sz="1400" dirty="0">
              <a:latin typeface="Dubai" panose="020B0503030403030204" pitchFamily="34" charset="-78"/>
              <a:cs typeface="Dubai" panose="020B0503030403030204" pitchFamily="34" charset="-78"/>
            </a:endParaRPr>
          </a:p>
        </p:txBody>
      </p:sp>
      <p:sp>
        <p:nvSpPr>
          <p:cNvPr id="6" name="Text 4"/>
          <p:cNvSpPr/>
          <p:nvPr/>
        </p:nvSpPr>
        <p:spPr>
          <a:xfrm>
            <a:off x="548640" y="1554480"/>
            <a:ext cx="11094415" cy="868680"/>
          </a:xfrm>
          <a:prstGeom prst="rect">
            <a:avLst/>
          </a:prstGeom>
          <a:noFill/>
          <a:ln/>
        </p:spPr>
        <p:txBody>
          <a:bodyPr wrap="square" rtlCol="0" anchor="t"/>
          <a:lstStyle/>
          <a:p>
            <a:pPr marL="0" indent="0" algn="r" rtl="1">
              <a:lnSpc>
                <a:spcPct val="135000"/>
              </a:lnSpc>
              <a:buNone/>
            </a:pPr>
            <a:r>
              <a:rPr lang="ar-SA" altLang="en-US" sz="1700" dirty="0">
                <a:solidFill>
                  <a:srgbClr val="12333C"/>
                </a:solidFill>
                <a:latin typeface="Dubai" panose="020B0503030403030204" pitchFamily="34" charset="-78"/>
                <a:ea typeface="Arial" pitchFamily="34" charset="-122"/>
                <a:cs typeface="Dubai" panose="020B0503030403030204" pitchFamily="34" charset="-78"/>
              </a:rPr>
              <a:t>بنينا منصّةً صحّية واحدة يجتمع فيها ملف المريض كاملاً: تشخيصاته وتحاليله وأدويته ومواعيده. لكنّها لا تكتفي بالتخزين — بل تفهم البيانات وتتصرّف بناءً عليها.</a:t>
            </a:r>
            <a:endParaRPr lang="ar-SA" sz="1700" dirty="0">
              <a:latin typeface="Dubai" panose="020B0503030403030204" pitchFamily="34" charset="-78"/>
              <a:cs typeface="Dubai" panose="020B0503030403030204" pitchFamily="34" charset="-78"/>
            </a:endParaRPr>
          </a:p>
        </p:txBody>
      </p:sp>
      <p:sp>
        <p:nvSpPr>
          <p:cNvPr id="7" name="Shape 5"/>
          <p:cNvSpPr/>
          <p:nvPr/>
        </p:nvSpPr>
        <p:spPr>
          <a:xfrm>
            <a:off x="8076895" y="2697480"/>
            <a:ext cx="3566160" cy="3154680"/>
          </a:xfrm>
          <a:prstGeom prst="roundRect">
            <a:avLst>
              <a:gd name="adj" fmla="val 2319"/>
            </a:avLst>
          </a:prstGeom>
          <a:solidFill>
            <a:srgbClr val="F2F8F8"/>
          </a:solidFill>
          <a:ln w="9525">
            <a:solidFill>
              <a:srgbClr val="D9E7E9"/>
            </a:solidFill>
            <a:prstDash val="solid"/>
          </a:ln>
        </p:spPr>
      </p:sp>
      <p:sp>
        <p:nvSpPr>
          <p:cNvPr id="8" name="Shape 6"/>
          <p:cNvSpPr/>
          <p:nvPr/>
        </p:nvSpPr>
        <p:spPr>
          <a:xfrm>
            <a:off x="9558223" y="3017520"/>
            <a:ext cx="603504" cy="603504"/>
          </a:xfrm>
          <a:prstGeom prst="ellipse">
            <a:avLst/>
          </a:prstGeom>
          <a:solidFill>
            <a:srgbClr val="0E7C86"/>
          </a:solidFill>
          <a:ln/>
        </p:spPr>
      </p:sp>
      <p:sp>
        <p:nvSpPr>
          <p:cNvPr id="9" name="Text 7"/>
          <p:cNvSpPr/>
          <p:nvPr/>
        </p:nvSpPr>
        <p:spPr>
          <a:xfrm>
            <a:off x="9558223" y="3017520"/>
            <a:ext cx="603504" cy="603504"/>
          </a:xfrm>
          <a:prstGeom prst="rect">
            <a:avLst/>
          </a:prstGeom>
          <a:noFill/>
          <a:ln/>
        </p:spPr>
        <p:txBody>
          <a:bodyPr wrap="square" lIns="0" tIns="0" rIns="0" bIns="0" rtlCol="0" anchor="ctr"/>
          <a:lstStyle/>
          <a:p>
            <a:pPr marL="0" indent="0" algn="ctr" rtl="1">
              <a:buNone/>
            </a:pPr>
            <a:r>
              <a:rPr lang="en-US" altLang="en-US" sz="2000" b="1" dirty="0">
                <a:solidFill>
                  <a:srgbClr val="FFFFFF"/>
                </a:solidFill>
                <a:latin typeface="Dubai" panose="020B0503030403030204" pitchFamily="34" charset="-78"/>
                <a:ea typeface="Arial" pitchFamily="34" charset="-122"/>
                <a:cs typeface="Dubai" panose="020B0503030403030204" pitchFamily="34" charset="-78"/>
              </a:rPr>
              <a:t>1</a:t>
            </a:r>
            <a:endParaRPr lang="ar-SA" sz="2000" dirty="0">
              <a:latin typeface="Dubai" panose="020B0503030403030204" pitchFamily="34" charset="-78"/>
              <a:cs typeface="Dubai" panose="020B0503030403030204" pitchFamily="34" charset="-78"/>
            </a:endParaRPr>
          </a:p>
        </p:txBody>
      </p:sp>
      <p:sp>
        <p:nvSpPr>
          <p:cNvPr id="10" name="Text 8"/>
          <p:cNvSpPr/>
          <p:nvPr/>
        </p:nvSpPr>
        <p:spPr>
          <a:xfrm>
            <a:off x="8259775" y="3794760"/>
            <a:ext cx="3200400" cy="457200"/>
          </a:xfrm>
          <a:prstGeom prst="rect">
            <a:avLst/>
          </a:prstGeom>
          <a:noFill/>
          <a:ln/>
        </p:spPr>
        <p:txBody>
          <a:bodyPr wrap="square" rtlCol="0" anchor="ctr"/>
          <a:lstStyle/>
          <a:p>
            <a:pPr marL="0" indent="0" algn="ctr" rtl="1">
              <a:buNone/>
            </a:pPr>
            <a:r>
              <a:rPr lang="ar-SA" altLang="en-US" sz="1700" b="1" dirty="0">
                <a:solidFill>
                  <a:srgbClr val="0A3540"/>
                </a:solidFill>
                <a:latin typeface="Dubai" panose="020B0503030403030204" pitchFamily="34" charset="-78"/>
                <a:ea typeface="Arial" pitchFamily="34" charset="-122"/>
                <a:cs typeface="Dubai" panose="020B0503030403030204" pitchFamily="34" charset="-78"/>
              </a:rPr>
              <a:t>ملفٌّ موحّد بلغةٍ عالمية</a:t>
            </a:r>
            <a:endParaRPr lang="ar-SA" sz="1700" dirty="0">
              <a:latin typeface="Dubai" panose="020B0503030403030204" pitchFamily="34" charset="-78"/>
              <a:cs typeface="Dubai" panose="020B0503030403030204" pitchFamily="34" charset="-78"/>
            </a:endParaRPr>
          </a:p>
        </p:txBody>
      </p:sp>
      <p:sp>
        <p:nvSpPr>
          <p:cNvPr id="11" name="Text 9"/>
          <p:cNvSpPr/>
          <p:nvPr/>
        </p:nvSpPr>
        <p:spPr>
          <a:xfrm>
            <a:off x="8351215" y="4297680"/>
            <a:ext cx="3017520" cy="1417320"/>
          </a:xfrm>
          <a:prstGeom prst="rect">
            <a:avLst/>
          </a:prstGeom>
          <a:noFill/>
          <a:ln/>
        </p:spPr>
        <p:txBody>
          <a:bodyPr wrap="square" rtlCol="0" anchor="t"/>
          <a:lstStyle/>
          <a:p>
            <a:pPr marL="0" indent="0" algn="ctr" rtl="1">
              <a:lnSpc>
                <a:spcPct val="130000"/>
              </a:lnSpc>
              <a:buNone/>
            </a:pPr>
            <a:r>
              <a:rPr lang="ar-SA" altLang="en-US" sz="1400" dirty="0">
                <a:solidFill>
                  <a:srgbClr val="587078"/>
                </a:solidFill>
                <a:latin typeface="Dubai" panose="020B0503030403030204" pitchFamily="34" charset="-78"/>
                <a:ea typeface="Arial" pitchFamily="34" charset="-122"/>
                <a:cs typeface="Dubai" panose="020B0503030403030204" pitchFamily="34" charset="-78"/>
              </a:rPr>
              <a:t>يُكتب الملف بمعيارٍ دولي موحّد اسمه ‏</a:t>
            </a:r>
            <a:r>
              <a:rPr lang="en-US" altLang="en-US" sz="1400" dirty="0">
                <a:solidFill>
                  <a:srgbClr val="587078"/>
                </a:solidFill>
                <a:latin typeface="Dubai" panose="020B0503030403030204" pitchFamily="34" charset="-78"/>
                <a:ea typeface="Arial" pitchFamily="34" charset="-122"/>
                <a:cs typeface="Dubai" panose="020B0503030403030204" pitchFamily="34" charset="-78"/>
              </a:rPr>
              <a:t>FHIR</a:t>
            </a:r>
            <a:r>
              <a:rPr lang="ar-SA" altLang="en-US" sz="1400" dirty="0">
                <a:solidFill>
                  <a:srgbClr val="587078"/>
                </a:solidFill>
                <a:latin typeface="Dubai" panose="020B0503030403030204" pitchFamily="34" charset="-78"/>
                <a:ea typeface="Arial" pitchFamily="34" charset="-122"/>
                <a:cs typeface="Dubai" panose="020B0503030403030204" pitchFamily="34" charset="-78"/>
              </a:rPr>
              <a:t>‏؛ فيُفهم في أيّ نظامٍ صحي آخر، ولا يضيع تاريخ المريض بعد اليوم.</a:t>
            </a:r>
            <a:endParaRPr lang="ar-SA" sz="1400" dirty="0">
              <a:latin typeface="Dubai" panose="020B0503030403030204" pitchFamily="34" charset="-78"/>
              <a:cs typeface="Dubai" panose="020B0503030403030204" pitchFamily="34" charset="-78"/>
            </a:endParaRPr>
          </a:p>
        </p:txBody>
      </p:sp>
      <p:sp>
        <p:nvSpPr>
          <p:cNvPr id="12" name="Shape 10"/>
          <p:cNvSpPr/>
          <p:nvPr/>
        </p:nvSpPr>
        <p:spPr>
          <a:xfrm>
            <a:off x="4309567" y="2697480"/>
            <a:ext cx="3566160" cy="3154680"/>
          </a:xfrm>
          <a:prstGeom prst="roundRect">
            <a:avLst>
              <a:gd name="adj" fmla="val 2319"/>
            </a:avLst>
          </a:prstGeom>
          <a:solidFill>
            <a:srgbClr val="F2F8F8"/>
          </a:solidFill>
          <a:ln w="9525">
            <a:solidFill>
              <a:srgbClr val="D9E7E9"/>
            </a:solidFill>
            <a:prstDash val="solid"/>
          </a:ln>
        </p:spPr>
      </p:sp>
      <p:sp>
        <p:nvSpPr>
          <p:cNvPr id="13" name="Shape 11"/>
          <p:cNvSpPr/>
          <p:nvPr/>
        </p:nvSpPr>
        <p:spPr>
          <a:xfrm>
            <a:off x="5790895" y="3017520"/>
            <a:ext cx="603504" cy="603504"/>
          </a:xfrm>
          <a:prstGeom prst="ellipse">
            <a:avLst/>
          </a:prstGeom>
          <a:solidFill>
            <a:srgbClr val="02C39A"/>
          </a:solidFill>
          <a:ln/>
        </p:spPr>
      </p:sp>
      <p:sp>
        <p:nvSpPr>
          <p:cNvPr id="14" name="Text 12"/>
          <p:cNvSpPr/>
          <p:nvPr/>
        </p:nvSpPr>
        <p:spPr>
          <a:xfrm>
            <a:off x="5790895" y="3017520"/>
            <a:ext cx="603504" cy="603504"/>
          </a:xfrm>
          <a:prstGeom prst="rect">
            <a:avLst/>
          </a:prstGeom>
          <a:noFill/>
          <a:ln/>
        </p:spPr>
        <p:txBody>
          <a:bodyPr wrap="square" lIns="0" tIns="0" rIns="0" bIns="0" rtlCol="0" anchor="ctr"/>
          <a:lstStyle/>
          <a:p>
            <a:pPr marL="0" indent="0" algn="ctr" rtl="1">
              <a:buNone/>
            </a:pPr>
            <a:r>
              <a:rPr lang="en-US" altLang="en-US" sz="2000" b="1" dirty="0">
                <a:solidFill>
                  <a:srgbClr val="FFFFFF"/>
                </a:solidFill>
                <a:latin typeface="Dubai" panose="020B0503030403030204" pitchFamily="34" charset="-78"/>
                <a:ea typeface="Arial" pitchFamily="34" charset="-122"/>
                <a:cs typeface="Dubai" panose="020B0503030403030204" pitchFamily="34" charset="-78"/>
              </a:rPr>
              <a:t>2</a:t>
            </a:r>
            <a:endParaRPr lang="ar-SA" sz="2000" dirty="0">
              <a:latin typeface="Dubai" panose="020B0503030403030204" pitchFamily="34" charset="-78"/>
              <a:cs typeface="Dubai" panose="020B0503030403030204" pitchFamily="34" charset="-78"/>
            </a:endParaRPr>
          </a:p>
        </p:txBody>
      </p:sp>
      <p:sp>
        <p:nvSpPr>
          <p:cNvPr id="15" name="Text 13"/>
          <p:cNvSpPr/>
          <p:nvPr/>
        </p:nvSpPr>
        <p:spPr>
          <a:xfrm>
            <a:off x="4492447" y="3794760"/>
            <a:ext cx="3200400" cy="457200"/>
          </a:xfrm>
          <a:prstGeom prst="rect">
            <a:avLst/>
          </a:prstGeom>
          <a:noFill/>
          <a:ln/>
        </p:spPr>
        <p:txBody>
          <a:bodyPr wrap="square" rtlCol="0" anchor="ctr"/>
          <a:lstStyle/>
          <a:p>
            <a:pPr marL="0" indent="0" algn="ctr" rtl="1">
              <a:buNone/>
            </a:pPr>
            <a:r>
              <a:rPr lang="ar-SA" altLang="en-US" sz="1700" b="1" dirty="0">
                <a:solidFill>
                  <a:srgbClr val="0A3540"/>
                </a:solidFill>
                <a:latin typeface="Dubai" panose="020B0503030403030204" pitchFamily="34" charset="-78"/>
                <a:ea typeface="Arial" pitchFamily="34" charset="-122"/>
                <a:cs typeface="Dubai" panose="020B0503030403030204" pitchFamily="34" charset="-78"/>
              </a:rPr>
              <a:t>مساعدٌ يقظ للطبيب</a:t>
            </a:r>
            <a:endParaRPr lang="ar-SA" sz="1700" dirty="0">
              <a:latin typeface="Dubai" panose="020B0503030403030204" pitchFamily="34" charset="-78"/>
              <a:cs typeface="Dubai" panose="020B0503030403030204" pitchFamily="34" charset="-78"/>
            </a:endParaRPr>
          </a:p>
        </p:txBody>
      </p:sp>
      <p:sp>
        <p:nvSpPr>
          <p:cNvPr id="16" name="Text 14"/>
          <p:cNvSpPr/>
          <p:nvPr/>
        </p:nvSpPr>
        <p:spPr>
          <a:xfrm>
            <a:off x="4583887" y="4297680"/>
            <a:ext cx="3017520" cy="1417320"/>
          </a:xfrm>
          <a:prstGeom prst="rect">
            <a:avLst/>
          </a:prstGeom>
          <a:noFill/>
          <a:ln/>
        </p:spPr>
        <p:txBody>
          <a:bodyPr wrap="square" rtlCol="0" anchor="t"/>
          <a:lstStyle/>
          <a:p>
            <a:pPr marL="0" indent="0" algn="ctr" rtl="1">
              <a:lnSpc>
                <a:spcPct val="130000"/>
              </a:lnSpc>
              <a:buNone/>
            </a:pPr>
            <a:r>
              <a:rPr lang="ar-SA" altLang="en-US" sz="1400" dirty="0">
                <a:solidFill>
                  <a:srgbClr val="587078"/>
                </a:solidFill>
                <a:latin typeface="Dubai" panose="020B0503030403030204" pitchFamily="34" charset="-78"/>
                <a:ea typeface="Arial" pitchFamily="34" charset="-122"/>
                <a:cs typeface="Dubai" panose="020B0503030403030204" pitchFamily="34" charset="-78"/>
              </a:rPr>
              <a:t>يراقب النظامُ الوصفات والبيانات، فينبّه الطبيب فوراً عند جرعةٍ زائدة أو خطرٍ يستحق الانتباه.</a:t>
            </a:r>
            <a:endParaRPr lang="ar-SA" sz="1400" dirty="0">
              <a:latin typeface="Dubai" panose="020B0503030403030204" pitchFamily="34" charset="-78"/>
              <a:cs typeface="Dubai" panose="020B0503030403030204" pitchFamily="34" charset="-78"/>
            </a:endParaRPr>
          </a:p>
        </p:txBody>
      </p:sp>
      <p:sp>
        <p:nvSpPr>
          <p:cNvPr id="17" name="Shape 15"/>
          <p:cNvSpPr/>
          <p:nvPr/>
        </p:nvSpPr>
        <p:spPr>
          <a:xfrm>
            <a:off x="542239" y="2697480"/>
            <a:ext cx="3566160" cy="3154680"/>
          </a:xfrm>
          <a:prstGeom prst="roundRect">
            <a:avLst>
              <a:gd name="adj" fmla="val 2319"/>
            </a:avLst>
          </a:prstGeom>
          <a:solidFill>
            <a:srgbClr val="F2F8F8"/>
          </a:solidFill>
          <a:ln w="9525">
            <a:solidFill>
              <a:srgbClr val="D9E7E9"/>
            </a:solidFill>
            <a:prstDash val="solid"/>
          </a:ln>
        </p:spPr>
      </p:sp>
      <p:sp>
        <p:nvSpPr>
          <p:cNvPr id="18" name="Shape 16"/>
          <p:cNvSpPr/>
          <p:nvPr/>
        </p:nvSpPr>
        <p:spPr>
          <a:xfrm>
            <a:off x="2023567" y="3017520"/>
            <a:ext cx="603504" cy="603504"/>
          </a:xfrm>
          <a:prstGeom prst="ellipse">
            <a:avLst/>
          </a:prstGeom>
          <a:solidFill>
            <a:srgbClr val="E9B44C"/>
          </a:solidFill>
          <a:ln/>
        </p:spPr>
      </p:sp>
      <p:sp>
        <p:nvSpPr>
          <p:cNvPr id="19" name="Text 17"/>
          <p:cNvSpPr/>
          <p:nvPr/>
        </p:nvSpPr>
        <p:spPr>
          <a:xfrm>
            <a:off x="2023567" y="3017520"/>
            <a:ext cx="603504" cy="603504"/>
          </a:xfrm>
          <a:prstGeom prst="rect">
            <a:avLst/>
          </a:prstGeom>
          <a:noFill/>
          <a:ln/>
        </p:spPr>
        <p:txBody>
          <a:bodyPr wrap="square" lIns="0" tIns="0" rIns="0" bIns="0" rtlCol="0" anchor="ctr"/>
          <a:lstStyle/>
          <a:p>
            <a:pPr marL="0" indent="0" algn="ctr" rtl="1">
              <a:buNone/>
            </a:pPr>
            <a:r>
              <a:rPr lang="en-US" altLang="en-US" sz="2000" b="1" dirty="0">
                <a:solidFill>
                  <a:srgbClr val="0A3540"/>
                </a:solidFill>
                <a:latin typeface="Dubai" panose="020B0503030403030204" pitchFamily="34" charset="-78"/>
                <a:ea typeface="Arial" pitchFamily="34" charset="-122"/>
                <a:cs typeface="Dubai" panose="020B0503030403030204" pitchFamily="34" charset="-78"/>
              </a:rPr>
              <a:t>3</a:t>
            </a:r>
            <a:endParaRPr lang="ar-SA" sz="2000" dirty="0">
              <a:latin typeface="Dubai" panose="020B0503030403030204" pitchFamily="34" charset="-78"/>
              <a:cs typeface="Dubai" panose="020B0503030403030204" pitchFamily="34" charset="-78"/>
            </a:endParaRPr>
          </a:p>
        </p:txBody>
      </p:sp>
      <p:sp>
        <p:nvSpPr>
          <p:cNvPr id="20" name="Text 18"/>
          <p:cNvSpPr/>
          <p:nvPr/>
        </p:nvSpPr>
        <p:spPr>
          <a:xfrm>
            <a:off x="725119" y="3794760"/>
            <a:ext cx="3200400" cy="457200"/>
          </a:xfrm>
          <a:prstGeom prst="rect">
            <a:avLst/>
          </a:prstGeom>
          <a:noFill/>
          <a:ln/>
        </p:spPr>
        <p:txBody>
          <a:bodyPr wrap="square" rtlCol="0" anchor="ctr"/>
          <a:lstStyle/>
          <a:p>
            <a:pPr marL="0" indent="0" algn="ctr" rtl="1">
              <a:buNone/>
            </a:pPr>
            <a:r>
              <a:rPr lang="ar-SA" altLang="en-US" sz="1700" b="1" dirty="0">
                <a:solidFill>
                  <a:srgbClr val="0A3540"/>
                </a:solidFill>
                <a:latin typeface="Dubai" panose="020B0503030403030204" pitchFamily="34" charset="-78"/>
                <a:ea typeface="Arial" pitchFamily="34" charset="-122"/>
                <a:cs typeface="Dubai" panose="020B0503030403030204" pitchFamily="34" charset="-78"/>
              </a:rPr>
              <a:t>ذكاءٌ يتنبّأ بالخطر</a:t>
            </a:r>
            <a:endParaRPr lang="ar-SA" sz="1700" dirty="0">
              <a:latin typeface="Dubai" panose="020B0503030403030204" pitchFamily="34" charset="-78"/>
              <a:cs typeface="Dubai" panose="020B0503030403030204" pitchFamily="34" charset="-78"/>
            </a:endParaRPr>
          </a:p>
        </p:txBody>
      </p:sp>
      <p:sp>
        <p:nvSpPr>
          <p:cNvPr id="21" name="Text 19"/>
          <p:cNvSpPr/>
          <p:nvPr/>
        </p:nvSpPr>
        <p:spPr>
          <a:xfrm>
            <a:off x="816559" y="4297680"/>
            <a:ext cx="3017520" cy="1417320"/>
          </a:xfrm>
          <a:prstGeom prst="rect">
            <a:avLst/>
          </a:prstGeom>
          <a:noFill/>
          <a:ln/>
        </p:spPr>
        <p:txBody>
          <a:bodyPr wrap="square" rtlCol="0" anchor="t"/>
          <a:lstStyle/>
          <a:p>
            <a:pPr marL="0" indent="0" algn="ctr" rtl="1">
              <a:lnSpc>
                <a:spcPct val="130000"/>
              </a:lnSpc>
              <a:buNone/>
            </a:pPr>
            <a:r>
              <a:rPr lang="ar-SA" altLang="en-US" sz="1400" dirty="0">
                <a:solidFill>
                  <a:srgbClr val="587078"/>
                </a:solidFill>
                <a:latin typeface="Dubai" panose="020B0503030403030204" pitchFamily="34" charset="-78"/>
                <a:ea typeface="Arial" pitchFamily="34" charset="-122"/>
                <a:cs typeface="Dubai" panose="020B0503030403030204" pitchFamily="34" charset="-78"/>
              </a:rPr>
              <a:t>نماذج ذكاءٍ اصطناعي تقرأ ملف المريض وتقدّر احتمالات الخطر قبل وقوعه — فتسبق الرعايةُ المرضَ.</a:t>
            </a:r>
            <a:endParaRPr lang="ar-SA" sz="1400" dirty="0">
              <a:latin typeface="Dubai" panose="020B0503030403030204" pitchFamily="34" charset="-78"/>
              <a:cs typeface="Dubai" panose="020B0503030403030204" pitchFamily="34" charset="-7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587078"/>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900" dirty="0">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en-US" sz="900" dirty="0">
                <a:solidFill>
                  <a:srgbClr val="587078"/>
                </a:solidFill>
                <a:latin typeface="Arial" pitchFamily="34" charset="0"/>
                <a:ea typeface="Arial" pitchFamily="34" charset="-122"/>
                <a:cs typeface="Arial" pitchFamily="34" charset="-120"/>
              </a:rPr>
              <a:t>5</a:t>
            </a:r>
            <a:endParaRPr lang="en-US" sz="900" dirty="0"/>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indent="0" algn="r" rtl="1">
              <a:buNone/>
            </a:pPr>
            <a:r>
              <a:rPr lang="ar-SA" altLang="en-US" sz="2900" b="1" dirty="0">
                <a:solidFill>
                  <a:srgbClr val="0A3540"/>
                </a:solidFill>
                <a:latin typeface="Dubai" panose="020B0503030403030204" pitchFamily="34" charset="-78"/>
                <a:ea typeface="Arial" pitchFamily="34" charset="-122"/>
                <a:cs typeface="Dubai" panose="020B0503030403030204" pitchFamily="34" charset="-78"/>
              </a:rPr>
              <a:t>ماذا يقدّم النظام لكلّ مستخدم؟</a:t>
            </a:r>
            <a:endParaRPr lang="ar-SA" sz="2900" dirty="0">
              <a:latin typeface="Dubai" panose="020B0503030403030204" pitchFamily="34" charset="-78"/>
              <a:cs typeface="Dubai" panose="020B0503030403030204" pitchFamily="34" charset="-78"/>
            </a:endParaRPr>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indent="0" algn="r" rtl="1">
              <a:buNone/>
            </a:pPr>
            <a:r>
              <a:rPr lang="ar-SA" altLang="en-US" sz="1400" dirty="0">
                <a:solidFill>
                  <a:srgbClr val="0E7C86"/>
                </a:solidFill>
                <a:latin typeface="Dubai" panose="020B0503030403030204" pitchFamily="34" charset="-78"/>
                <a:ea typeface="Arial" pitchFamily="34" charset="-122"/>
                <a:cs typeface="Dubai" panose="020B0503030403030204" pitchFamily="34" charset="-78"/>
              </a:rPr>
              <a:t>أربعة أدوار… ولكلٍّ منها ما يخصّه</a:t>
            </a:r>
            <a:endParaRPr lang="ar-SA" sz="1400" dirty="0">
              <a:latin typeface="Dubai" panose="020B0503030403030204" pitchFamily="34" charset="-78"/>
              <a:cs typeface="Dubai" panose="020B0503030403030204" pitchFamily="34" charset="-78"/>
            </a:endParaRPr>
          </a:p>
        </p:txBody>
      </p:sp>
      <p:sp>
        <p:nvSpPr>
          <p:cNvPr id="6" name="Shape 4"/>
          <p:cNvSpPr/>
          <p:nvPr/>
        </p:nvSpPr>
        <p:spPr>
          <a:xfrm>
            <a:off x="6193231" y="1691640"/>
            <a:ext cx="5449824" cy="1965960"/>
          </a:xfrm>
          <a:prstGeom prst="roundRect">
            <a:avLst>
              <a:gd name="adj" fmla="val 3721"/>
            </a:avLst>
          </a:prstGeom>
          <a:solidFill>
            <a:srgbClr val="F2F8F8"/>
          </a:solidFill>
          <a:ln w="9525">
            <a:solidFill>
              <a:srgbClr val="D9E7E9"/>
            </a:solidFill>
            <a:prstDash val="solid"/>
          </a:ln>
        </p:spPr>
      </p:sp>
      <p:sp>
        <p:nvSpPr>
          <p:cNvPr id="7" name="Shape 5"/>
          <p:cNvSpPr/>
          <p:nvPr/>
        </p:nvSpPr>
        <p:spPr>
          <a:xfrm>
            <a:off x="9357055" y="1920240"/>
            <a:ext cx="2011680" cy="502920"/>
          </a:xfrm>
          <a:prstGeom prst="roundRect">
            <a:avLst>
              <a:gd name="adj" fmla="val 18182"/>
            </a:avLst>
          </a:prstGeom>
          <a:solidFill>
            <a:srgbClr val="0E7C86"/>
          </a:solidFill>
          <a:ln/>
        </p:spPr>
      </p:sp>
      <p:sp>
        <p:nvSpPr>
          <p:cNvPr id="8" name="Text 6"/>
          <p:cNvSpPr/>
          <p:nvPr/>
        </p:nvSpPr>
        <p:spPr>
          <a:xfrm>
            <a:off x="9357055" y="1920240"/>
            <a:ext cx="2011680" cy="502920"/>
          </a:xfrm>
          <a:prstGeom prst="rect">
            <a:avLst/>
          </a:prstGeom>
          <a:noFill/>
          <a:ln/>
        </p:spPr>
        <p:txBody>
          <a:bodyPr wrap="square" lIns="0" tIns="0" rIns="0" bIns="0" rtlCol="0" anchor="ctr"/>
          <a:lstStyle/>
          <a:p>
            <a:pPr marL="0" indent="0" algn="ctr" rtl="1">
              <a:buNone/>
            </a:pPr>
            <a:r>
              <a:rPr lang="ar-SA" altLang="en-US" b="1" dirty="0">
                <a:solidFill>
                  <a:srgbClr val="FFFFFF"/>
                </a:solidFill>
                <a:latin typeface="Dubai" panose="020B0503030403030204" pitchFamily="34" charset="-78"/>
                <a:ea typeface="Arial" pitchFamily="34" charset="-122"/>
                <a:cs typeface="Dubai" panose="020B0503030403030204" pitchFamily="34" charset="-78"/>
              </a:rPr>
              <a:t>الطبيب</a:t>
            </a:r>
            <a:endParaRPr lang="ar-SA" dirty="0">
              <a:latin typeface="Dubai" panose="020B0503030403030204" pitchFamily="34" charset="-78"/>
              <a:cs typeface="Dubai" panose="020B0503030403030204" pitchFamily="34" charset="-78"/>
            </a:endParaRPr>
          </a:p>
        </p:txBody>
      </p:sp>
      <p:sp>
        <p:nvSpPr>
          <p:cNvPr id="9" name="Text 7"/>
          <p:cNvSpPr/>
          <p:nvPr/>
        </p:nvSpPr>
        <p:spPr>
          <a:xfrm>
            <a:off x="6467551" y="2606040"/>
            <a:ext cx="4901184" cy="868680"/>
          </a:xfrm>
          <a:prstGeom prst="rect">
            <a:avLst/>
          </a:prstGeom>
          <a:noFill/>
          <a:ln/>
        </p:spPr>
        <p:txBody>
          <a:bodyPr wrap="square" lIns="0" tIns="0" rIns="0" bIns="0" rtlCol="0" anchor="t"/>
          <a:lstStyle/>
          <a:p>
            <a:pPr marL="0" indent="0" algn="r" rtl="1">
              <a:lnSpc>
                <a:spcPct val="130000"/>
              </a:lnSpc>
              <a:buNone/>
            </a:pPr>
            <a:r>
              <a:rPr lang="ar-SA" altLang="en-US" sz="1600" dirty="0">
                <a:solidFill>
                  <a:srgbClr val="12333C"/>
                </a:solidFill>
                <a:latin typeface="Dubai" panose="020B0503030403030204" pitchFamily="34" charset="-78"/>
                <a:ea typeface="Arial" pitchFamily="34" charset="-122"/>
                <a:cs typeface="Dubai" panose="020B0503030403030204" pitchFamily="34" charset="-78"/>
              </a:rPr>
              <a:t>يجد ملف المريض كاملاً أمامه، وتصله تنبيهات فورية عند الخطر، وقائمةٌ بمن يحتاج انتباهه أولاً.</a:t>
            </a:r>
            <a:endParaRPr lang="ar-SA" sz="1600" dirty="0">
              <a:latin typeface="Dubai" panose="020B0503030403030204" pitchFamily="34" charset="-78"/>
              <a:cs typeface="Dubai" panose="020B0503030403030204" pitchFamily="34" charset="-78"/>
            </a:endParaRPr>
          </a:p>
        </p:txBody>
      </p:sp>
      <p:sp>
        <p:nvSpPr>
          <p:cNvPr id="10" name="Shape 8"/>
          <p:cNvSpPr/>
          <p:nvPr/>
        </p:nvSpPr>
        <p:spPr>
          <a:xfrm>
            <a:off x="551383" y="1691640"/>
            <a:ext cx="5449824" cy="1965960"/>
          </a:xfrm>
          <a:prstGeom prst="roundRect">
            <a:avLst>
              <a:gd name="adj" fmla="val 3721"/>
            </a:avLst>
          </a:prstGeom>
          <a:solidFill>
            <a:srgbClr val="F2F8F8"/>
          </a:solidFill>
          <a:ln w="9525">
            <a:solidFill>
              <a:srgbClr val="D9E7E9"/>
            </a:solidFill>
            <a:prstDash val="solid"/>
          </a:ln>
        </p:spPr>
      </p:sp>
      <p:sp>
        <p:nvSpPr>
          <p:cNvPr id="11" name="Shape 9"/>
          <p:cNvSpPr/>
          <p:nvPr/>
        </p:nvSpPr>
        <p:spPr>
          <a:xfrm>
            <a:off x="3715207" y="1920240"/>
            <a:ext cx="2011680" cy="502920"/>
          </a:xfrm>
          <a:prstGeom prst="roundRect">
            <a:avLst>
              <a:gd name="adj" fmla="val 18182"/>
            </a:avLst>
          </a:prstGeom>
          <a:solidFill>
            <a:srgbClr val="02C39A"/>
          </a:solidFill>
          <a:ln/>
        </p:spPr>
      </p:sp>
      <p:sp>
        <p:nvSpPr>
          <p:cNvPr id="12" name="Text 10"/>
          <p:cNvSpPr/>
          <p:nvPr/>
        </p:nvSpPr>
        <p:spPr>
          <a:xfrm>
            <a:off x="3715207" y="1920240"/>
            <a:ext cx="2011680" cy="502920"/>
          </a:xfrm>
          <a:prstGeom prst="rect">
            <a:avLst/>
          </a:prstGeom>
          <a:noFill/>
          <a:ln/>
        </p:spPr>
        <p:txBody>
          <a:bodyPr wrap="square" lIns="0" tIns="0" rIns="0" bIns="0" rtlCol="0" anchor="ctr"/>
          <a:lstStyle/>
          <a:p>
            <a:pPr marL="0" indent="0" algn="ctr" rtl="1">
              <a:buNone/>
            </a:pPr>
            <a:r>
              <a:rPr lang="ar-SA" altLang="en-US" b="1" dirty="0">
                <a:solidFill>
                  <a:srgbClr val="FFFFFF"/>
                </a:solidFill>
                <a:latin typeface="Dubai" panose="020B0503030403030204" pitchFamily="34" charset="-78"/>
                <a:ea typeface="Arial" pitchFamily="34" charset="-122"/>
                <a:cs typeface="Dubai" panose="020B0503030403030204" pitchFamily="34" charset="-78"/>
              </a:rPr>
              <a:t>المريض</a:t>
            </a:r>
            <a:endParaRPr lang="ar-SA" dirty="0">
              <a:latin typeface="Dubai" panose="020B0503030403030204" pitchFamily="34" charset="-78"/>
              <a:cs typeface="Dubai" panose="020B0503030403030204" pitchFamily="34" charset="-78"/>
            </a:endParaRPr>
          </a:p>
        </p:txBody>
      </p:sp>
      <p:sp>
        <p:nvSpPr>
          <p:cNvPr id="13" name="Text 11"/>
          <p:cNvSpPr/>
          <p:nvPr/>
        </p:nvSpPr>
        <p:spPr>
          <a:xfrm>
            <a:off x="825703" y="2606040"/>
            <a:ext cx="4901184" cy="868680"/>
          </a:xfrm>
          <a:prstGeom prst="rect">
            <a:avLst/>
          </a:prstGeom>
          <a:noFill/>
          <a:ln/>
        </p:spPr>
        <p:txBody>
          <a:bodyPr wrap="square" lIns="0" tIns="0" rIns="0" bIns="0" rtlCol="0" anchor="t"/>
          <a:lstStyle/>
          <a:p>
            <a:pPr marL="0" indent="0" algn="r" rtl="1">
              <a:lnSpc>
                <a:spcPct val="130000"/>
              </a:lnSpc>
              <a:buNone/>
            </a:pPr>
            <a:r>
              <a:rPr lang="ar-SA" altLang="en-US" sz="1600" dirty="0">
                <a:solidFill>
                  <a:srgbClr val="12333C"/>
                </a:solidFill>
                <a:latin typeface="Dubai" panose="020B0503030403030204" pitchFamily="34" charset="-78"/>
                <a:ea typeface="Arial" pitchFamily="34" charset="-122"/>
                <a:cs typeface="Dubai" panose="020B0503030403030204" pitchFamily="34" charset="-78"/>
              </a:rPr>
              <a:t>يطّلع بأمان على ملفه الصحّي ومواعيده وأدويته من حسابه الخاص، وبلغته العربية أو الإنجليزية.</a:t>
            </a:r>
            <a:endParaRPr lang="ar-SA" sz="1600" dirty="0">
              <a:latin typeface="Dubai" panose="020B0503030403030204" pitchFamily="34" charset="-78"/>
              <a:cs typeface="Dubai" panose="020B0503030403030204" pitchFamily="34" charset="-78"/>
            </a:endParaRPr>
          </a:p>
        </p:txBody>
      </p:sp>
      <p:sp>
        <p:nvSpPr>
          <p:cNvPr id="14" name="Shape 12"/>
          <p:cNvSpPr/>
          <p:nvPr/>
        </p:nvSpPr>
        <p:spPr>
          <a:xfrm>
            <a:off x="6193231" y="3931920"/>
            <a:ext cx="5449824" cy="1965960"/>
          </a:xfrm>
          <a:prstGeom prst="roundRect">
            <a:avLst>
              <a:gd name="adj" fmla="val 3721"/>
            </a:avLst>
          </a:prstGeom>
          <a:solidFill>
            <a:srgbClr val="F2F8F8"/>
          </a:solidFill>
          <a:ln w="9525">
            <a:solidFill>
              <a:srgbClr val="D9E7E9"/>
            </a:solidFill>
            <a:prstDash val="solid"/>
          </a:ln>
        </p:spPr>
      </p:sp>
      <p:sp>
        <p:nvSpPr>
          <p:cNvPr id="15" name="Shape 13"/>
          <p:cNvSpPr/>
          <p:nvPr/>
        </p:nvSpPr>
        <p:spPr>
          <a:xfrm>
            <a:off x="9357055" y="4160520"/>
            <a:ext cx="2011680" cy="502920"/>
          </a:xfrm>
          <a:prstGeom prst="roundRect">
            <a:avLst>
              <a:gd name="adj" fmla="val 18182"/>
            </a:avLst>
          </a:prstGeom>
          <a:solidFill>
            <a:srgbClr val="0A3540"/>
          </a:solidFill>
          <a:ln/>
        </p:spPr>
      </p:sp>
      <p:sp>
        <p:nvSpPr>
          <p:cNvPr id="16" name="Text 14"/>
          <p:cNvSpPr/>
          <p:nvPr/>
        </p:nvSpPr>
        <p:spPr>
          <a:xfrm>
            <a:off x="9357055" y="4160520"/>
            <a:ext cx="2011680" cy="502920"/>
          </a:xfrm>
          <a:prstGeom prst="rect">
            <a:avLst/>
          </a:prstGeom>
          <a:noFill/>
          <a:ln/>
        </p:spPr>
        <p:txBody>
          <a:bodyPr wrap="square" lIns="0" tIns="0" rIns="0" bIns="0" rtlCol="0" anchor="ctr"/>
          <a:lstStyle/>
          <a:p>
            <a:pPr marL="0" indent="0" algn="ctr" rtl="1">
              <a:buNone/>
            </a:pPr>
            <a:r>
              <a:rPr lang="ar-SA" altLang="en-US" b="1" dirty="0">
                <a:solidFill>
                  <a:srgbClr val="FFFFFF"/>
                </a:solidFill>
                <a:latin typeface="Dubai" panose="020B0503030403030204" pitchFamily="34" charset="-78"/>
                <a:ea typeface="Arial" pitchFamily="34" charset="-122"/>
                <a:cs typeface="Dubai" panose="020B0503030403030204" pitchFamily="34" charset="-78"/>
              </a:rPr>
              <a:t>مدير المؤسسة</a:t>
            </a:r>
            <a:endParaRPr lang="ar-SA" dirty="0">
              <a:latin typeface="Dubai" panose="020B0503030403030204" pitchFamily="34" charset="-78"/>
              <a:cs typeface="Dubai" panose="020B0503030403030204" pitchFamily="34" charset="-78"/>
            </a:endParaRPr>
          </a:p>
        </p:txBody>
      </p:sp>
      <p:sp>
        <p:nvSpPr>
          <p:cNvPr id="17" name="Text 15"/>
          <p:cNvSpPr/>
          <p:nvPr/>
        </p:nvSpPr>
        <p:spPr>
          <a:xfrm>
            <a:off x="6467551" y="4846320"/>
            <a:ext cx="4901184" cy="868680"/>
          </a:xfrm>
          <a:prstGeom prst="rect">
            <a:avLst/>
          </a:prstGeom>
          <a:noFill/>
          <a:ln/>
        </p:spPr>
        <p:txBody>
          <a:bodyPr wrap="square" lIns="0" tIns="0" rIns="0" bIns="0" rtlCol="0" anchor="t"/>
          <a:lstStyle/>
          <a:p>
            <a:pPr marL="0" indent="0" algn="r" rtl="1">
              <a:lnSpc>
                <a:spcPct val="130000"/>
              </a:lnSpc>
              <a:buNone/>
            </a:pPr>
            <a:r>
              <a:rPr lang="ar-SA" altLang="en-US" sz="1600" dirty="0">
                <a:solidFill>
                  <a:srgbClr val="12333C"/>
                </a:solidFill>
                <a:latin typeface="Dubai" panose="020B0503030403030204" pitchFamily="34" charset="-78"/>
                <a:ea typeface="Arial" pitchFamily="34" charset="-122"/>
                <a:cs typeface="Dubai" panose="020B0503030403030204" pitchFamily="34" charset="-78"/>
              </a:rPr>
              <a:t>يدير الأطباء والكادر، ويكتب قواعد التنبيه بنفسه من شاشة إعدادٍ بسيطة — من دون أيّ برمجة.</a:t>
            </a:r>
            <a:endParaRPr lang="ar-SA" sz="1600" dirty="0">
              <a:latin typeface="Dubai" panose="020B0503030403030204" pitchFamily="34" charset="-78"/>
              <a:cs typeface="Dubai" panose="020B0503030403030204" pitchFamily="34" charset="-78"/>
            </a:endParaRPr>
          </a:p>
        </p:txBody>
      </p:sp>
      <p:sp>
        <p:nvSpPr>
          <p:cNvPr id="18" name="Shape 16"/>
          <p:cNvSpPr/>
          <p:nvPr/>
        </p:nvSpPr>
        <p:spPr>
          <a:xfrm>
            <a:off x="551383" y="3931920"/>
            <a:ext cx="5449824" cy="1965960"/>
          </a:xfrm>
          <a:prstGeom prst="roundRect">
            <a:avLst>
              <a:gd name="adj" fmla="val 3721"/>
            </a:avLst>
          </a:prstGeom>
          <a:solidFill>
            <a:srgbClr val="F2F8F8"/>
          </a:solidFill>
          <a:ln w="9525">
            <a:solidFill>
              <a:srgbClr val="D9E7E9"/>
            </a:solidFill>
            <a:prstDash val="solid"/>
          </a:ln>
        </p:spPr>
      </p:sp>
      <p:sp>
        <p:nvSpPr>
          <p:cNvPr id="19" name="Shape 17"/>
          <p:cNvSpPr/>
          <p:nvPr/>
        </p:nvSpPr>
        <p:spPr>
          <a:xfrm>
            <a:off x="3715207" y="4160520"/>
            <a:ext cx="2011680" cy="502920"/>
          </a:xfrm>
          <a:prstGeom prst="roundRect">
            <a:avLst>
              <a:gd name="adj" fmla="val 18182"/>
            </a:avLst>
          </a:prstGeom>
          <a:solidFill>
            <a:srgbClr val="E9B44C"/>
          </a:solidFill>
          <a:ln/>
        </p:spPr>
      </p:sp>
      <p:sp>
        <p:nvSpPr>
          <p:cNvPr id="20" name="Text 18"/>
          <p:cNvSpPr/>
          <p:nvPr/>
        </p:nvSpPr>
        <p:spPr>
          <a:xfrm>
            <a:off x="3715207" y="4160520"/>
            <a:ext cx="2011680" cy="502920"/>
          </a:xfrm>
          <a:prstGeom prst="rect">
            <a:avLst/>
          </a:prstGeom>
          <a:noFill/>
          <a:ln/>
        </p:spPr>
        <p:txBody>
          <a:bodyPr wrap="square" lIns="0" tIns="0" rIns="0" bIns="0" rtlCol="0" anchor="ctr"/>
          <a:lstStyle/>
          <a:p>
            <a:pPr marL="0" indent="0" algn="ctr" rtl="1">
              <a:buNone/>
            </a:pPr>
            <a:r>
              <a:rPr lang="ar-SA" altLang="en-US" b="1" dirty="0">
                <a:solidFill>
                  <a:srgbClr val="0A3540"/>
                </a:solidFill>
                <a:latin typeface="Dubai" panose="020B0503030403030204" pitchFamily="34" charset="-78"/>
                <a:ea typeface="Arial" pitchFamily="34" charset="-122"/>
                <a:cs typeface="Dubai" panose="020B0503030403030204" pitchFamily="34" charset="-78"/>
              </a:rPr>
              <a:t>مدير النظام</a:t>
            </a:r>
            <a:endParaRPr lang="ar-SA" dirty="0">
              <a:latin typeface="Dubai" panose="020B0503030403030204" pitchFamily="34" charset="-78"/>
              <a:cs typeface="Dubai" panose="020B0503030403030204" pitchFamily="34" charset="-78"/>
            </a:endParaRPr>
          </a:p>
        </p:txBody>
      </p:sp>
      <p:sp>
        <p:nvSpPr>
          <p:cNvPr id="21" name="Text 19"/>
          <p:cNvSpPr/>
          <p:nvPr/>
        </p:nvSpPr>
        <p:spPr>
          <a:xfrm>
            <a:off x="825703" y="4846320"/>
            <a:ext cx="4901184" cy="868680"/>
          </a:xfrm>
          <a:prstGeom prst="rect">
            <a:avLst/>
          </a:prstGeom>
          <a:noFill/>
          <a:ln/>
        </p:spPr>
        <p:txBody>
          <a:bodyPr wrap="square" lIns="0" tIns="0" rIns="0" bIns="0" rtlCol="0" anchor="t"/>
          <a:lstStyle/>
          <a:p>
            <a:pPr marL="0" indent="0" algn="r" rtl="1">
              <a:lnSpc>
                <a:spcPct val="130000"/>
              </a:lnSpc>
              <a:buNone/>
            </a:pPr>
            <a:r>
              <a:rPr lang="ar-SA" altLang="en-US" sz="1600" dirty="0">
                <a:solidFill>
                  <a:srgbClr val="12333C"/>
                </a:solidFill>
                <a:latin typeface="Dubai" panose="020B0503030403030204" pitchFamily="34" charset="-78"/>
                <a:ea typeface="Arial" pitchFamily="34" charset="-122"/>
                <a:cs typeface="Dubai" panose="020B0503030403030204" pitchFamily="34" charset="-78"/>
              </a:rPr>
              <a:t>يدير المؤسسات المشتركة في المنصّة، ويربط خدمات ذكاءٍ اصطناعي خارجية عند الحاجة.</a:t>
            </a:r>
            <a:endParaRPr lang="ar-SA" sz="1600" dirty="0">
              <a:latin typeface="Dubai" panose="020B0503030403030204" pitchFamily="34" charset="-78"/>
              <a:cs typeface="Dubai" panose="020B0503030403030204" pitchFamily="34" charset="-7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587078"/>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900" dirty="0">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en-US" sz="900" dirty="0">
                <a:solidFill>
                  <a:srgbClr val="587078"/>
                </a:solidFill>
                <a:latin typeface="Arial" pitchFamily="34" charset="0"/>
                <a:ea typeface="Arial" pitchFamily="34" charset="-122"/>
                <a:cs typeface="Arial" pitchFamily="34" charset="-120"/>
              </a:rPr>
              <a:t>6</a:t>
            </a:r>
            <a:endParaRPr lang="en-US" sz="900" dirty="0"/>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indent="0" algn="r" rtl="1">
              <a:buNone/>
            </a:pPr>
            <a:r>
              <a:rPr lang="ar-SA" altLang="en-US" sz="2900" b="1" dirty="0">
                <a:solidFill>
                  <a:srgbClr val="0A3540"/>
                </a:solidFill>
                <a:latin typeface="Dubai" panose="020B0503030403030204" pitchFamily="34" charset="-78"/>
                <a:ea typeface="Arial" pitchFamily="34" charset="-122"/>
                <a:cs typeface="Dubai" panose="020B0503030403030204" pitchFamily="34" charset="-78"/>
              </a:rPr>
              <a:t>كيف يعمل النظام؟</a:t>
            </a:r>
            <a:endParaRPr lang="ar-SA" sz="2900" dirty="0">
              <a:latin typeface="Dubai" panose="020B0503030403030204" pitchFamily="34" charset="-78"/>
              <a:cs typeface="Dubai" panose="020B0503030403030204" pitchFamily="34" charset="-78"/>
            </a:endParaRPr>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indent="0" algn="r" rtl="1">
              <a:buNone/>
            </a:pPr>
            <a:r>
              <a:rPr lang="ar-SA" altLang="en-US" sz="1400" dirty="0">
                <a:solidFill>
                  <a:srgbClr val="0E7C86"/>
                </a:solidFill>
                <a:latin typeface="Dubai" panose="020B0503030403030204" pitchFamily="34" charset="-78"/>
                <a:ea typeface="Arial" pitchFamily="34" charset="-122"/>
                <a:cs typeface="Dubai" panose="020B0503030403030204" pitchFamily="34" charset="-78"/>
              </a:rPr>
              <a:t>صورة مبسّطة من الداخل</a:t>
            </a:r>
            <a:endParaRPr lang="ar-SA" sz="1400" dirty="0">
              <a:latin typeface="Dubai" panose="020B0503030403030204" pitchFamily="34" charset="-78"/>
              <a:cs typeface="Dubai" panose="020B0503030403030204" pitchFamily="34" charset="-78"/>
            </a:endParaRPr>
          </a:p>
        </p:txBody>
      </p:sp>
      <p:sp>
        <p:nvSpPr>
          <p:cNvPr id="6" name="Shape 4"/>
          <p:cNvSpPr/>
          <p:nvPr/>
        </p:nvSpPr>
        <p:spPr>
          <a:xfrm>
            <a:off x="9128455" y="1965960"/>
            <a:ext cx="2514600" cy="1143000"/>
          </a:xfrm>
          <a:prstGeom prst="roundRect">
            <a:avLst>
              <a:gd name="adj" fmla="val 8000"/>
            </a:avLst>
          </a:prstGeom>
          <a:solidFill>
            <a:srgbClr val="0A3540"/>
          </a:solidFill>
          <a:ln/>
        </p:spPr>
      </p:sp>
      <p:sp>
        <p:nvSpPr>
          <p:cNvPr id="7" name="Text 5"/>
          <p:cNvSpPr/>
          <p:nvPr/>
        </p:nvSpPr>
        <p:spPr>
          <a:xfrm>
            <a:off x="9219895" y="1965960"/>
            <a:ext cx="2331720" cy="1143000"/>
          </a:xfrm>
          <a:prstGeom prst="rect">
            <a:avLst/>
          </a:prstGeom>
          <a:noFill/>
          <a:ln/>
        </p:spPr>
        <p:txBody>
          <a:bodyPr wrap="square" lIns="0" tIns="0" rIns="0" bIns="0" rtlCol="0" anchor="ctr"/>
          <a:lstStyle/>
          <a:p>
            <a:pPr marL="0" indent="0" algn="ctr" rtl="1">
              <a:lnSpc>
                <a:spcPct val="125000"/>
              </a:lnSpc>
              <a:buNone/>
            </a:pPr>
            <a:r>
              <a:rPr lang="ar-SA" altLang="en-US" b="1" dirty="0">
                <a:solidFill>
                  <a:srgbClr val="FFFFFF"/>
                </a:solidFill>
                <a:latin typeface="Dubai" panose="020B0503030403030204" pitchFamily="34" charset="-78"/>
                <a:ea typeface="Arial" pitchFamily="34" charset="-122"/>
                <a:cs typeface="Dubai" panose="020B0503030403030204" pitchFamily="34" charset="-78"/>
              </a:rPr>
              <a:t>المستخدمون</a:t>
            </a:r>
            <a:endParaRPr lang="ar-SA" dirty="0">
              <a:latin typeface="Dubai" panose="020B0503030403030204" pitchFamily="34" charset="-78"/>
              <a:cs typeface="Dubai" panose="020B0503030403030204" pitchFamily="34" charset="-78"/>
            </a:endParaRPr>
          </a:p>
          <a:p>
            <a:pPr marL="0" indent="0" algn="ctr" rtl="1">
              <a:lnSpc>
                <a:spcPct val="125000"/>
              </a:lnSpc>
              <a:buNone/>
            </a:pPr>
            <a:r>
              <a:rPr lang="ar-SA" altLang="en-US" sz="1200" dirty="0">
                <a:solidFill>
                  <a:srgbClr val="CFE8EA"/>
                </a:solidFill>
                <a:latin typeface="Dubai" panose="020B0503030403030204" pitchFamily="34" charset="-78"/>
                <a:ea typeface="Arial" pitchFamily="34" charset="-122"/>
                <a:cs typeface="Dubai" panose="020B0503030403030204" pitchFamily="34" charset="-78"/>
              </a:rPr>
              <a:t>طبيب · مريض · مدير</a:t>
            </a:r>
            <a:endParaRPr lang="ar-SA" dirty="0">
              <a:latin typeface="Dubai" panose="020B0503030403030204" pitchFamily="34" charset="-78"/>
              <a:cs typeface="Dubai" panose="020B0503030403030204" pitchFamily="34" charset="-78"/>
            </a:endParaRPr>
          </a:p>
        </p:txBody>
      </p:sp>
      <p:sp>
        <p:nvSpPr>
          <p:cNvPr id="8" name="Text 6"/>
          <p:cNvSpPr/>
          <p:nvPr/>
        </p:nvSpPr>
        <p:spPr>
          <a:xfrm>
            <a:off x="8744407" y="1965960"/>
            <a:ext cx="384048" cy="1143000"/>
          </a:xfrm>
          <a:prstGeom prst="rect">
            <a:avLst/>
          </a:prstGeom>
          <a:noFill/>
          <a:ln/>
        </p:spPr>
        <p:txBody>
          <a:bodyPr wrap="square" lIns="0" tIns="0" rIns="0" bIns="0" rtlCol="0" anchor="ctr"/>
          <a:lstStyle/>
          <a:p>
            <a:pPr marL="0" indent="0" algn="ctr">
              <a:buNone/>
            </a:pPr>
            <a:r>
              <a:rPr lang="en-US" sz="1600" dirty="0">
                <a:solidFill>
                  <a:srgbClr val="02C39A"/>
                </a:solidFill>
                <a:latin typeface="Dubai" panose="020B0503030403030204" pitchFamily="34" charset="-78"/>
                <a:ea typeface="Arial" pitchFamily="34" charset="-122"/>
                <a:cs typeface="Dubai" panose="020B0503030403030204" pitchFamily="34" charset="-78"/>
              </a:rPr>
              <a:t>◀</a:t>
            </a:r>
            <a:endParaRPr lang="en-US" sz="1600" dirty="0">
              <a:latin typeface="Dubai" panose="020B0503030403030204" pitchFamily="34" charset="-78"/>
              <a:cs typeface="Dubai" panose="020B0503030403030204" pitchFamily="34" charset="-78"/>
            </a:endParaRPr>
          </a:p>
        </p:txBody>
      </p:sp>
      <p:sp>
        <p:nvSpPr>
          <p:cNvPr id="9" name="Shape 7"/>
          <p:cNvSpPr/>
          <p:nvPr/>
        </p:nvSpPr>
        <p:spPr>
          <a:xfrm>
            <a:off x="6229807" y="1965960"/>
            <a:ext cx="2514600" cy="1143000"/>
          </a:xfrm>
          <a:prstGeom prst="roundRect">
            <a:avLst>
              <a:gd name="adj" fmla="val 8000"/>
            </a:avLst>
          </a:prstGeom>
          <a:solidFill>
            <a:srgbClr val="0E7C86"/>
          </a:solidFill>
          <a:ln/>
        </p:spPr>
      </p:sp>
      <p:sp>
        <p:nvSpPr>
          <p:cNvPr id="10" name="Text 8"/>
          <p:cNvSpPr/>
          <p:nvPr/>
        </p:nvSpPr>
        <p:spPr>
          <a:xfrm>
            <a:off x="6321247" y="1965960"/>
            <a:ext cx="2331720" cy="1143000"/>
          </a:xfrm>
          <a:prstGeom prst="rect">
            <a:avLst/>
          </a:prstGeom>
          <a:noFill/>
          <a:ln/>
        </p:spPr>
        <p:txBody>
          <a:bodyPr wrap="square" lIns="0" tIns="0" rIns="0" bIns="0" rtlCol="0" anchor="ctr"/>
          <a:lstStyle/>
          <a:p>
            <a:pPr marL="0" indent="0" algn="ctr" rtl="1">
              <a:lnSpc>
                <a:spcPct val="125000"/>
              </a:lnSpc>
              <a:buNone/>
            </a:pPr>
            <a:r>
              <a:rPr lang="ar-SA" altLang="en-US" b="1" dirty="0">
                <a:solidFill>
                  <a:srgbClr val="FFFFFF"/>
                </a:solidFill>
                <a:latin typeface="Dubai" panose="020B0503030403030204" pitchFamily="34" charset="-78"/>
                <a:ea typeface="Arial" pitchFamily="34" charset="-122"/>
                <a:cs typeface="Dubai" panose="020B0503030403030204" pitchFamily="34" charset="-78"/>
              </a:rPr>
              <a:t>واجهة الاستخدام</a:t>
            </a:r>
            <a:endParaRPr lang="ar-SA" dirty="0">
              <a:latin typeface="Dubai" panose="020B0503030403030204" pitchFamily="34" charset="-78"/>
              <a:cs typeface="Dubai" panose="020B0503030403030204" pitchFamily="34" charset="-78"/>
            </a:endParaRPr>
          </a:p>
          <a:p>
            <a:pPr marL="0" indent="0" algn="ctr" rtl="1">
              <a:lnSpc>
                <a:spcPct val="125000"/>
              </a:lnSpc>
              <a:buNone/>
            </a:pPr>
            <a:r>
              <a:rPr lang="ar-SA" altLang="en-US" sz="1200" dirty="0">
                <a:solidFill>
                  <a:srgbClr val="CFE8EA"/>
                </a:solidFill>
                <a:latin typeface="Dubai" panose="020B0503030403030204" pitchFamily="34" charset="-78"/>
                <a:ea typeface="Arial" pitchFamily="34" charset="-122"/>
                <a:cs typeface="Dubai" panose="020B0503030403030204" pitchFamily="34" charset="-78"/>
              </a:rPr>
              <a:t>في المتصفح، بلغتين</a:t>
            </a:r>
            <a:endParaRPr lang="ar-SA" dirty="0">
              <a:latin typeface="Dubai" panose="020B0503030403030204" pitchFamily="34" charset="-78"/>
              <a:cs typeface="Dubai" panose="020B0503030403030204" pitchFamily="34" charset="-78"/>
            </a:endParaRPr>
          </a:p>
        </p:txBody>
      </p:sp>
      <p:sp>
        <p:nvSpPr>
          <p:cNvPr id="11" name="Text 9"/>
          <p:cNvSpPr/>
          <p:nvPr/>
        </p:nvSpPr>
        <p:spPr>
          <a:xfrm>
            <a:off x="5845759" y="1965960"/>
            <a:ext cx="384048" cy="1143000"/>
          </a:xfrm>
          <a:prstGeom prst="rect">
            <a:avLst/>
          </a:prstGeom>
          <a:noFill/>
          <a:ln/>
        </p:spPr>
        <p:txBody>
          <a:bodyPr wrap="square" lIns="0" tIns="0" rIns="0" bIns="0" rtlCol="0" anchor="ctr"/>
          <a:lstStyle/>
          <a:p>
            <a:pPr marL="0" indent="0" algn="ctr">
              <a:buNone/>
            </a:pPr>
            <a:r>
              <a:rPr lang="en-US" sz="1600" dirty="0">
                <a:solidFill>
                  <a:srgbClr val="02C39A"/>
                </a:solidFill>
                <a:latin typeface="Dubai" panose="020B0503030403030204" pitchFamily="34" charset="-78"/>
                <a:ea typeface="Arial" pitchFamily="34" charset="-122"/>
                <a:cs typeface="Dubai" panose="020B0503030403030204" pitchFamily="34" charset="-78"/>
              </a:rPr>
              <a:t>◀</a:t>
            </a:r>
            <a:endParaRPr lang="en-US" sz="1600" dirty="0">
              <a:latin typeface="Dubai" panose="020B0503030403030204" pitchFamily="34" charset="-78"/>
              <a:cs typeface="Dubai" panose="020B0503030403030204" pitchFamily="34" charset="-78"/>
            </a:endParaRPr>
          </a:p>
        </p:txBody>
      </p:sp>
      <p:sp>
        <p:nvSpPr>
          <p:cNvPr id="12" name="Shape 10"/>
          <p:cNvSpPr/>
          <p:nvPr/>
        </p:nvSpPr>
        <p:spPr>
          <a:xfrm>
            <a:off x="3331159" y="1965960"/>
            <a:ext cx="2514600" cy="1143000"/>
          </a:xfrm>
          <a:prstGeom prst="roundRect">
            <a:avLst>
              <a:gd name="adj" fmla="val 8000"/>
            </a:avLst>
          </a:prstGeom>
          <a:solidFill>
            <a:srgbClr val="0E7C86"/>
          </a:solidFill>
          <a:ln/>
        </p:spPr>
      </p:sp>
      <p:sp>
        <p:nvSpPr>
          <p:cNvPr id="13" name="Text 11"/>
          <p:cNvSpPr/>
          <p:nvPr/>
        </p:nvSpPr>
        <p:spPr>
          <a:xfrm>
            <a:off x="3422599" y="1965960"/>
            <a:ext cx="2331720" cy="1143000"/>
          </a:xfrm>
          <a:prstGeom prst="rect">
            <a:avLst/>
          </a:prstGeom>
          <a:noFill/>
          <a:ln/>
        </p:spPr>
        <p:txBody>
          <a:bodyPr wrap="square" lIns="0" tIns="0" rIns="0" bIns="0" rtlCol="0" anchor="ctr"/>
          <a:lstStyle/>
          <a:p>
            <a:pPr marL="0" indent="0" algn="ctr" rtl="1">
              <a:lnSpc>
                <a:spcPct val="125000"/>
              </a:lnSpc>
              <a:buNone/>
            </a:pPr>
            <a:r>
              <a:rPr lang="ar-SA" altLang="en-US" b="1" dirty="0">
                <a:solidFill>
                  <a:srgbClr val="FFFFFF"/>
                </a:solidFill>
                <a:latin typeface="Dubai" panose="020B0503030403030204" pitchFamily="34" charset="-78"/>
                <a:ea typeface="Arial" pitchFamily="34" charset="-122"/>
                <a:cs typeface="Dubai" panose="020B0503030403030204" pitchFamily="34" charset="-78"/>
              </a:rPr>
              <a:t>الخادم المركزي</a:t>
            </a:r>
            <a:endParaRPr lang="ar-SA" sz="1500" dirty="0">
              <a:latin typeface="Dubai" panose="020B0503030403030204" pitchFamily="34" charset="-78"/>
              <a:cs typeface="Dubai" panose="020B0503030403030204" pitchFamily="34" charset="-78"/>
            </a:endParaRPr>
          </a:p>
          <a:p>
            <a:pPr marL="0" indent="0" algn="ctr" rtl="1">
              <a:lnSpc>
                <a:spcPct val="125000"/>
              </a:lnSpc>
              <a:buNone/>
            </a:pPr>
            <a:r>
              <a:rPr lang="ar-SA" altLang="en-US" sz="1200" dirty="0">
                <a:solidFill>
                  <a:srgbClr val="CFE8EA"/>
                </a:solidFill>
                <a:latin typeface="Dubai" panose="020B0503030403030204" pitchFamily="34" charset="-78"/>
                <a:ea typeface="Arial" pitchFamily="34" charset="-122"/>
                <a:cs typeface="Dubai" panose="020B0503030403030204" pitchFamily="34" charset="-78"/>
              </a:rPr>
              <a:t>عقل النظام وقواعده</a:t>
            </a:r>
            <a:endParaRPr lang="ar-SA" dirty="0">
              <a:latin typeface="Dubai" panose="020B0503030403030204" pitchFamily="34" charset="-78"/>
              <a:cs typeface="Dubai" panose="020B0503030403030204" pitchFamily="34" charset="-78"/>
            </a:endParaRPr>
          </a:p>
        </p:txBody>
      </p:sp>
      <p:sp>
        <p:nvSpPr>
          <p:cNvPr id="14" name="Text 12"/>
          <p:cNvSpPr/>
          <p:nvPr/>
        </p:nvSpPr>
        <p:spPr>
          <a:xfrm>
            <a:off x="2947111" y="1965960"/>
            <a:ext cx="384048" cy="1143000"/>
          </a:xfrm>
          <a:prstGeom prst="rect">
            <a:avLst/>
          </a:prstGeom>
          <a:noFill/>
          <a:ln/>
        </p:spPr>
        <p:txBody>
          <a:bodyPr wrap="square" lIns="0" tIns="0" rIns="0" bIns="0" rtlCol="0" anchor="ctr"/>
          <a:lstStyle/>
          <a:p>
            <a:pPr marL="0" indent="0" algn="ctr">
              <a:buNone/>
            </a:pPr>
            <a:r>
              <a:rPr lang="en-US" sz="1600" dirty="0">
                <a:solidFill>
                  <a:srgbClr val="02C39A"/>
                </a:solidFill>
                <a:latin typeface="Dubai" panose="020B0503030403030204" pitchFamily="34" charset="-78"/>
                <a:ea typeface="Arial" pitchFamily="34" charset="-122"/>
                <a:cs typeface="Dubai" panose="020B0503030403030204" pitchFamily="34" charset="-78"/>
              </a:rPr>
              <a:t>◀</a:t>
            </a:r>
            <a:endParaRPr lang="en-US" sz="1600" dirty="0">
              <a:latin typeface="Dubai" panose="020B0503030403030204" pitchFamily="34" charset="-78"/>
              <a:cs typeface="Dubai" panose="020B0503030403030204" pitchFamily="34" charset="-78"/>
            </a:endParaRPr>
          </a:p>
        </p:txBody>
      </p:sp>
      <p:sp>
        <p:nvSpPr>
          <p:cNvPr id="15" name="Shape 13"/>
          <p:cNvSpPr/>
          <p:nvPr/>
        </p:nvSpPr>
        <p:spPr>
          <a:xfrm>
            <a:off x="432511" y="1965960"/>
            <a:ext cx="2514600" cy="1143000"/>
          </a:xfrm>
          <a:prstGeom prst="roundRect">
            <a:avLst>
              <a:gd name="adj" fmla="val 8000"/>
            </a:avLst>
          </a:prstGeom>
          <a:solidFill>
            <a:srgbClr val="0A3540"/>
          </a:solidFill>
          <a:ln/>
        </p:spPr>
      </p:sp>
      <p:sp>
        <p:nvSpPr>
          <p:cNvPr id="16" name="Text 14"/>
          <p:cNvSpPr/>
          <p:nvPr/>
        </p:nvSpPr>
        <p:spPr>
          <a:xfrm>
            <a:off x="523951" y="1965960"/>
            <a:ext cx="2331720" cy="1143000"/>
          </a:xfrm>
          <a:prstGeom prst="rect">
            <a:avLst/>
          </a:prstGeom>
          <a:noFill/>
          <a:ln/>
        </p:spPr>
        <p:txBody>
          <a:bodyPr wrap="square" lIns="0" tIns="0" rIns="0" bIns="0" rtlCol="0" anchor="ctr"/>
          <a:lstStyle/>
          <a:p>
            <a:pPr marL="0" indent="0" algn="ctr" rtl="1">
              <a:lnSpc>
                <a:spcPct val="125000"/>
              </a:lnSpc>
              <a:buNone/>
            </a:pPr>
            <a:r>
              <a:rPr lang="ar-SA" altLang="en-US" b="1" dirty="0">
                <a:solidFill>
                  <a:srgbClr val="FFFFFF"/>
                </a:solidFill>
                <a:latin typeface="Dubai" panose="020B0503030403030204" pitchFamily="34" charset="-78"/>
                <a:ea typeface="Arial" pitchFamily="34" charset="-122"/>
                <a:cs typeface="Dubai" panose="020B0503030403030204" pitchFamily="34" charset="-78"/>
              </a:rPr>
              <a:t>قاعدة البيانات</a:t>
            </a:r>
          </a:p>
          <a:p>
            <a:pPr marL="0" indent="0" algn="ctr" rtl="1">
              <a:lnSpc>
                <a:spcPct val="125000"/>
              </a:lnSpc>
              <a:buNone/>
            </a:pPr>
            <a:r>
              <a:rPr lang="ar-SA" altLang="en-US" sz="1200" dirty="0">
                <a:solidFill>
                  <a:srgbClr val="CFE8EA"/>
                </a:solidFill>
                <a:latin typeface="Dubai" panose="020B0503030403030204" pitchFamily="34" charset="-78"/>
                <a:ea typeface="Arial" pitchFamily="34" charset="-122"/>
                <a:cs typeface="Dubai" panose="020B0503030403030204" pitchFamily="34" charset="-78"/>
              </a:rPr>
              <a:t>الملفات محفوظة بنسخها</a:t>
            </a:r>
            <a:endParaRPr lang="ar-SA" dirty="0">
              <a:latin typeface="Dubai" panose="020B0503030403030204" pitchFamily="34" charset="-78"/>
              <a:cs typeface="Dubai" panose="020B0503030403030204" pitchFamily="34" charset="-78"/>
            </a:endParaRPr>
          </a:p>
        </p:txBody>
      </p:sp>
      <p:sp>
        <p:nvSpPr>
          <p:cNvPr id="17" name="Shape 15"/>
          <p:cNvSpPr/>
          <p:nvPr/>
        </p:nvSpPr>
        <p:spPr>
          <a:xfrm>
            <a:off x="8061808" y="4160520"/>
            <a:ext cx="3017520" cy="1051560"/>
          </a:xfrm>
          <a:prstGeom prst="roundRect">
            <a:avLst>
              <a:gd name="adj" fmla="val 6957"/>
            </a:avLst>
          </a:prstGeom>
          <a:solidFill>
            <a:srgbClr val="F2F8F8"/>
          </a:solidFill>
          <a:ln w="9525">
            <a:solidFill>
              <a:srgbClr val="D9E7E9"/>
            </a:solidFill>
            <a:prstDash val="solid"/>
          </a:ln>
        </p:spPr>
      </p:sp>
      <p:sp>
        <p:nvSpPr>
          <p:cNvPr id="18" name="Text 16"/>
          <p:cNvSpPr/>
          <p:nvPr/>
        </p:nvSpPr>
        <p:spPr>
          <a:xfrm>
            <a:off x="8198968" y="4160520"/>
            <a:ext cx="2743200" cy="1051560"/>
          </a:xfrm>
          <a:prstGeom prst="rect">
            <a:avLst/>
          </a:prstGeom>
          <a:noFill/>
          <a:ln/>
        </p:spPr>
        <p:txBody>
          <a:bodyPr wrap="square" lIns="0" tIns="0" rIns="0" bIns="0" rtlCol="0" anchor="ctr"/>
          <a:lstStyle/>
          <a:p>
            <a:pPr marL="0" indent="0" algn="ctr" rtl="1">
              <a:lnSpc>
                <a:spcPct val="125000"/>
              </a:lnSpc>
              <a:buNone/>
            </a:pPr>
            <a:r>
              <a:rPr lang="ar-SA" altLang="en-US" sz="1600" b="1" dirty="0">
                <a:solidFill>
                  <a:srgbClr val="0E7C86"/>
                </a:solidFill>
                <a:latin typeface="Dubai" panose="020B0503030403030204" pitchFamily="34" charset="-78"/>
                <a:ea typeface="Arial" pitchFamily="34" charset="-122"/>
                <a:cs typeface="Dubai" panose="020B0503030403030204" pitchFamily="34" charset="-78"/>
              </a:rPr>
              <a:t>بوابة الدخول الآمن</a:t>
            </a:r>
            <a:endParaRPr lang="ar-SA" sz="1350" dirty="0">
              <a:latin typeface="Dubai" panose="020B0503030403030204" pitchFamily="34" charset="-78"/>
              <a:cs typeface="Dubai" panose="020B0503030403030204" pitchFamily="34" charset="-78"/>
            </a:endParaRPr>
          </a:p>
          <a:p>
            <a:pPr marL="0" indent="0" algn="ctr" rtl="1">
              <a:lnSpc>
                <a:spcPct val="125000"/>
              </a:lnSpc>
              <a:buNone/>
            </a:pPr>
            <a:r>
              <a:rPr lang="ar-SA" altLang="en-US" sz="1100" dirty="0">
                <a:solidFill>
                  <a:srgbClr val="587078"/>
                </a:solidFill>
                <a:latin typeface="Dubai" panose="020B0503030403030204" pitchFamily="34" charset="-78"/>
                <a:ea typeface="Arial" pitchFamily="34" charset="-122"/>
                <a:cs typeface="Dubai" panose="020B0503030403030204" pitchFamily="34" charset="-78"/>
              </a:rPr>
              <a:t>حسابٌ واحد وتحقّق موحّد</a:t>
            </a:r>
            <a:endParaRPr lang="ar-SA" sz="1400" dirty="0">
              <a:latin typeface="Dubai" panose="020B0503030403030204" pitchFamily="34" charset="-78"/>
              <a:cs typeface="Dubai" panose="020B0503030403030204" pitchFamily="34" charset="-78"/>
            </a:endParaRPr>
          </a:p>
        </p:txBody>
      </p:sp>
      <p:sp>
        <p:nvSpPr>
          <p:cNvPr id="19" name="Shape 17"/>
          <p:cNvSpPr/>
          <p:nvPr/>
        </p:nvSpPr>
        <p:spPr>
          <a:xfrm>
            <a:off x="9570568" y="3108960"/>
            <a:ext cx="0" cy="1051560"/>
          </a:xfrm>
          <a:prstGeom prst="line">
            <a:avLst/>
          </a:prstGeom>
          <a:noFill/>
          <a:ln w="19050">
            <a:solidFill>
              <a:srgbClr val="D9E7E9"/>
            </a:solidFill>
            <a:prstDash val="dash"/>
          </a:ln>
        </p:spPr>
      </p:sp>
      <p:sp>
        <p:nvSpPr>
          <p:cNvPr id="20" name="Shape 18"/>
          <p:cNvSpPr/>
          <p:nvPr/>
        </p:nvSpPr>
        <p:spPr>
          <a:xfrm>
            <a:off x="4587088" y="4160520"/>
            <a:ext cx="3017520" cy="1051560"/>
          </a:xfrm>
          <a:prstGeom prst="roundRect">
            <a:avLst>
              <a:gd name="adj" fmla="val 6957"/>
            </a:avLst>
          </a:prstGeom>
          <a:solidFill>
            <a:srgbClr val="F2F8F8"/>
          </a:solidFill>
          <a:ln w="9525">
            <a:solidFill>
              <a:srgbClr val="D9E7E9"/>
            </a:solidFill>
            <a:prstDash val="solid"/>
          </a:ln>
        </p:spPr>
      </p:sp>
      <p:sp>
        <p:nvSpPr>
          <p:cNvPr id="21" name="Text 19"/>
          <p:cNvSpPr/>
          <p:nvPr/>
        </p:nvSpPr>
        <p:spPr>
          <a:xfrm>
            <a:off x="4724248" y="4160520"/>
            <a:ext cx="2743200" cy="1051560"/>
          </a:xfrm>
          <a:prstGeom prst="rect">
            <a:avLst/>
          </a:prstGeom>
          <a:noFill/>
          <a:ln/>
        </p:spPr>
        <p:txBody>
          <a:bodyPr wrap="square" lIns="0" tIns="0" rIns="0" bIns="0" rtlCol="0" anchor="ctr"/>
          <a:lstStyle/>
          <a:p>
            <a:pPr marL="0" indent="0" algn="ctr" rtl="1">
              <a:lnSpc>
                <a:spcPct val="125000"/>
              </a:lnSpc>
              <a:buNone/>
            </a:pPr>
            <a:r>
              <a:rPr lang="ar-SA" altLang="en-US" sz="1600" b="1" dirty="0">
                <a:solidFill>
                  <a:srgbClr val="0E7C86"/>
                </a:solidFill>
                <a:latin typeface="Dubai" panose="020B0503030403030204" pitchFamily="34" charset="-78"/>
                <a:ea typeface="Arial" pitchFamily="34" charset="-122"/>
                <a:cs typeface="Dubai" panose="020B0503030403030204" pitchFamily="34" charset="-78"/>
              </a:rPr>
              <a:t>نماذج الذكاء الاصطناعي</a:t>
            </a:r>
            <a:endParaRPr lang="ar-SA" sz="1600" dirty="0">
              <a:latin typeface="Dubai" panose="020B0503030403030204" pitchFamily="34" charset="-78"/>
              <a:cs typeface="Dubai" panose="020B0503030403030204" pitchFamily="34" charset="-78"/>
            </a:endParaRPr>
          </a:p>
          <a:p>
            <a:pPr marL="0" indent="0" algn="ctr" rtl="1">
              <a:lnSpc>
                <a:spcPct val="125000"/>
              </a:lnSpc>
              <a:buNone/>
            </a:pPr>
            <a:r>
              <a:rPr lang="ar-SA" altLang="en-US" sz="1100" dirty="0">
                <a:solidFill>
                  <a:srgbClr val="587078"/>
                </a:solidFill>
                <a:latin typeface="Dubai" panose="020B0503030403030204" pitchFamily="34" charset="-78"/>
                <a:ea typeface="Arial" pitchFamily="34" charset="-122"/>
                <a:cs typeface="Dubai" panose="020B0503030403030204" pitchFamily="34" charset="-78"/>
              </a:rPr>
              <a:t>تعمل داخل الخادم نفسه</a:t>
            </a:r>
            <a:endParaRPr lang="ar-SA" sz="1400" dirty="0">
              <a:latin typeface="Dubai" panose="020B0503030403030204" pitchFamily="34" charset="-78"/>
              <a:cs typeface="Dubai" panose="020B0503030403030204" pitchFamily="34" charset="-78"/>
            </a:endParaRPr>
          </a:p>
        </p:txBody>
      </p:sp>
      <p:sp>
        <p:nvSpPr>
          <p:cNvPr id="22" name="Shape 20"/>
          <p:cNvSpPr/>
          <p:nvPr/>
        </p:nvSpPr>
        <p:spPr>
          <a:xfrm>
            <a:off x="6095848" y="3108960"/>
            <a:ext cx="0" cy="1051560"/>
          </a:xfrm>
          <a:prstGeom prst="line">
            <a:avLst/>
          </a:prstGeom>
          <a:noFill/>
          <a:ln w="19050">
            <a:solidFill>
              <a:srgbClr val="D9E7E9"/>
            </a:solidFill>
            <a:prstDash val="dash"/>
          </a:ln>
        </p:spPr>
      </p:sp>
      <p:sp>
        <p:nvSpPr>
          <p:cNvPr id="23" name="Shape 21"/>
          <p:cNvSpPr/>
          <p:nvPr/>
        </p:nvSpPr>
        <p:spPr>
          <a:xfrm>
            <a:off x="1112368" y="4160520"/>
            <a:ext cx="3017520" cy="1051560"/>
          </a:xfrm>
          <a:prstGeom prst="roundRect">
            <a:avLst>
              <a:gd name="adj" fmla="val 6957"/>
            </a:avLst>
          </a:prstGeom>
          <a:solidFill>
            <a:srgbClr val="F2F8F8"/>
          </a:solidFill>
          <a:ln w="9525">
            <a:solidFill>
              <a:srgbClr val="D9E7E9"/>
            </a:solidFill>
            <a:prstDash val="solid"/>
          </a:ln>
        </p:spPr>
      </p:sp>
      <p:sp>
        <p:nvSpPr>
          <p:cNvPr id="24" name="Text 22"/>
          <p:cNvSpPr/>
          <p:nvPr/>
        </p:nvSpPr>
        <p:spPr>
          <a:xfrm>
            <a:off x="1249528" y="4160520"/>
            <a:ext cx="2743200" cy="1051560"/>
          </a:xfrm>
          <a:prstGeom prst="rect">
            <a:avLst/>
          </a:prstGeom>
          <a:noFill/>
          <a:ln/>
        </p:spPr>
        <p:txBody>
          <a:bodyPr wrap="square" lIns="0" tIns="0" rIns="0" bIns="0" rtlCol="0" anchor="ctr"/>
          <a:lstStyle/>
          <a:p>
            <a:pPr marL="0" indent="0" algn="ctr" rtl="1">
              <a:lnSpc>
                <a:spcPct val="125000"/>
              </a:lnSpc>
              <a:buNone/>
            </a:pPr>
            <a:r>
              <a:rPr lang="ar-SA" altLang="en-US" sz="1600" b="1" dirty="0">
                <a:solidFill>
                  <a:srgbClr val="0E7C86"/>
                </a:solidFill>
                <a:latin typeface="Dubai" panose="020B0503030403030204" pitchFamily="34" charset="-78"/>
                <a:ea typeface="Arial" pitchFamily="34" charset="-122"/>
                <a:cs typeface="Dubai" panose="020B0503030403030204" pitchFamily="34" charset="-78"/>
              </a:rPr>
              <a:t>معلومات الأدوية</a:t>
            </a:r>
            <a:endParaRPr lang="ar-SA" sz="1600" dirty="0">
              <a:latin typeface="Dubai" panose="020B0503030403030204" pitchFamily="34" charset="-78"/>
              <a:cs typeface="Dubai" panose="020B0503030403030204" pitchFamily="34" charset="-78"/>
            </a:endParaRPr>
          </a:p>
          <a:p>
            <a:pPr marL="0" indent="0" algn="ctr" rtl="1">
              <a:lnSpc>
                <a:spcPct val="125000"/>
              </a:lnSpc>
              <a:buNone/>
            </a:pPr>
            <a:r>
              <a:rPr lang="ar-SA" altLang="en-US" sz="1100" dirty="0">
                <a:solidFill>
                  <a:srgbClr val="587078"/>
                </a:solidFill>
                <a:latin typeface="Dubai" panose="020B0503030403030204" pitchFamily="34" charset="-78"/>
                <a:ea typeface="Arial" pitchFamily="34" charset="-122"/>
                <a:cs typeface="Dubai" panose="020B0503030403030204" pitchFamily="34" charset="-78"/>
              </a:rPr>
              <a:t>الجرعات والتداخلات</a:t>
            </a:r>
            <a:endParaRPr lang="ar-SA" sz="1400" dirty="0">
              <a:latin typeface="Dubai" panose="020B0503030403030204" pitchFamily="34" charset="-78"/>
              <a:cs typeface="Dubai" panose="020B0503030403030204" pitchFamily="34" charset="-78"/>
            </a:endParaRPr>
          </a:p>
        </p:txBody>
      </p:sp>
      <p:sp>
        <p:nvSpPr>
          <p:cNvPr id="25" name="Shape 23"/>
          <p:cNvSpPr/>
          <p:nvPr/>
        </p:nvSpPr>
        <p:spPr>
          <a:xfrm>
            <a:off x="2621128" y="3108960"/>
            <a:ext cx="0" cy="1051560"/>
          </a:xfrm>
          <a:prstGeom prst="line">
            <a:avLst/>
          </a:prstGeom>
          <a:noFill/>
          <a:ln w="19050">
            <a:solidFill>
              <a:srgbClr val="D9E7E9"/>
            </a:solidFill>
            <a:prstDash val="dash"/>
          </a:ln>
        </p:spPr>
      </p:sp>
      <p:sp>
        <p:nvSpPr>
          <p:cNvPr id="26" name="Text 24"/>
          <p:cNvSpPr/>
          <p:nvPr/>
        </p:nvSpPr>
        <p:spPr>
          <a:xfrm>
            <a:off x="1188720" y="5577840"/>
            <a:ext cx="9814255" cy="640080"/>
          </a:xfrm>
          <a:prstGeom prst="rect">
            <a:avLst/>
          </a:prstGeom>
          <a:noFill/>
          <a:ln/>
        </p:spPr>
        <p:txBody>
          <a:bodyPr wrap="square" rtlCol="0" anchor="t"/>
          <a:lstStyle/>
          <a:p>
            <a:pPr marL="0" indent="0" algn="ctr" rtl="1">
              <a:lnSpc>
                <a:spcPct val="125000"/>
              </a:lnSpc>
              <a:buNone/>
            </a:pPr>
            <a:r>
              <a:rPr lang="ar-SA" altLang="en-US" sz="1400" dirty="0">
                <a:solidFill>
                  <a:srgbClr val="587078"/>
                </a:solidFill>
                <a:latin typeface="Dubai" panose="020B0503030403030204" pitchFamily="34" charset="-78"/>
                <a:ea typeface="Arial" pitchFamily="34" charset="-122"/>
                <a:cs typeface="Dubai" panose="020B0503030403030204" pitchFamily="34" charset="-78"/>
              </a:rPr>
              <a:t>بُني النظام بتقنياتٍ حديثة مفتوحة المصدر — منصّة ‏</a:t>
            </a:r>
            <a:r>
              <a:rPr lang="en-US" altLang="en-US" sz="1400" dirty="0">
                <a:solidFill>
                  <a:srgbClr val="587078"/>
                </a:solidFill>
                <a:latin typeface="Dubai" panose="020B0503030403030204" pitchFamily="34" charset="-78"/>
                <a:ea typeface="Arial" pitchFamily="34" charset="-122"/>
                <a:cs typeface="Dubai" panose="020B0503030403030204" pitchFamily="34" charset="-78"/>
              </a:rPr>
              <a:t>Microsoft .NET</a:t>
            </a:r>
            <a:r>
              <a:rPr lang="ar-SA" altLang="en-US" sz="1400" dirty="0">
                <a:solidFill>
                  <a:srgbClr val="587078"/>
                </a:solidFill>
                <a:latin typeface="Dubai" panose="020B0503030403030204" pitchFamily="34" charset="-78"/>
                <a:ea typeface="Arial" pitchFamily="34" charset="-122"/>
                <a:cs typeface="Dubai" panose="020B0503030403030204" pitchFamily="34" charset="-78"/>
              </a:rPr>
              <a:t>‏ وإطار ‏</a:t>
            </a:r>
            <a:r>
              <a:rPr lang="en-US" altLang="en-US" sz="1400" dirty="0">
                <a:solidFill>
                  <a:srgbClr val="587078"/>
                </a:solidFill>
                <a:latin typeface="Dubai" panose="020B0503030403030204" pitchFamily="34" charset="-78"/>
                <a:ea typeface="Arial" pitchFamily="34" charset="-122"/>
                <a:cs typeface="Dubai" panose="020B0503030403030204" pitchFamily="34" charset="-78"/>
              </a:rPr>
              <a:t>Blazor</a:t>
            </a:r>
            <a:r>
              <a:rPr lang="ar-SA" altLang="en-US" sz="1400" dirty="0">
                <a:solidFill>
                  <a:srgbClr val="587078"/>
                </a:solidFill>
                <a:latin typeface="Dubai" panose="020B0503030403030204" pitchFamily="34" charset="-78"/>
                <a:ea typeface="Arial" pitchFamily="34" charset="-122"/>
                <a:cs typeface="Dubai" panose="020B0503030403030204" pitchFamily="34" charset="-78"/>
              </a:rPr>
              <a:t>‏ وقاعدة ‏</a:t>
            </a:r>
            <a:r>
              <a:rPr lang="en-US" altLang="en-US" sz="1400" dirty="0">
                <a:solidFill>
                  <a:srgbClr val="587078"/>
                </a:solidFill>
                <a:latin typeface="Dubai" panose="020B0503030403030204" pitchFamily="34" charset="-78"/>
                <a:ea typeface="Arial" pitchFamily="34" charset="-122"/>
                <a:cs typeface="Dubai" panose="020B0503030403030204" pitchFamily="34" charset="-78"/>
              </a:rPr>
              <a:t>PostgreSQL</a:t>
            </a:r>
            <a:r>
              <a:rPr lang="ar-SA" altLang="en-US" sz="1400" dirty="0">
                <a:solidFill>
                  <a:srgbClr val="587078"/>
                </a:solidFill>
                <a:latin typeface="Dubai" panose="020B0503030403030204" pitchFamily="34" charset="-78"/>
                <a:ea typeface="Arial" pitchFamily="34" charset="-122"/>
                <a:cs typeface="Dubai" panose="020B0503030403030204" pitchFamily="34" charset="-78"/>
              </a:rPr>
              <a:t>‏ وخادم الهوية ‏</a:t>
            </a:r>
            <a:r>
              <a:rPr lang="en-US" altLang="en-US" sz="1400" dirty="0">
                <a:solidFill>
                  <a:srgbClr val="587078"/>
                </a:solidFill>
                <a:latin typeface="Dubai" panose="020B0503030403030204" pitchFamily="34" charset="-78"/>
                <a:ea typeface="Arial" pitchFamily="34" charset="-122"/>
                <a:cs typeface="Dubai" panose="020B0503030403030204" pitchFamily="34" charset="-78"/>
              </a:rPr>
              <a:t>Keycloak</a:t>
            </a:r>
            <a:r>
              <a:rPr lang="ar-SA" altLang="en-US" sz="1400" dirty="0">
                <a:solidFill>
                  <a:srgbClr val="587078"/>
                </a:solidFill>
                <a:latin typeface="Dubai" panose="020B0503030403030204" pitchFamily="34" charset="-78"/>
                <a:ea typeface="Arial" pitchFamily="34" charset="-122"/>
                <a:cs typeface="Dubai" panose="020B0503030403030204" pitchFamily="34" charset="-78"/>
              </a:rPr>
              <a:t>‏ — وكلّ الاتصالات بينها مشفّرة.</a:t>
            </a:r>
            <a:endParaRPr lang="ar-SA" sz="1400" dirty="0">
              <a:latin typeface="Dubai" panose="020B0503030403030204" pitchFamily="34" charset="-78"/>
              <a:cs typeface="Dubai" panose="020B0503030403030204" pitchFamily="34" charset="-7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587078"/>
                </a:solidFill>
                <a:latin typeface="Arial" pitchFamily="34" charset="0"/>
                <a:ea typeface="Arial" pitchFamily="34" charset="-122"/>
                <a:cs typeface="Arial" pitchFamily="34" charset="-120"/>
              </a:rPr>
              <a:t>نبض — نظام السجلات الطبية الرقمية</a:t>
            </a:r>
            <a:endParaRPr lang="ar-SA" sz="900" dirty="0"/>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en-US" sz="900" dirty="0">
                <a:solidFill>
                  <a:srgbClr val="587078"/>
                </a:solidFill>
                <a:latin typeface="Arial" pitchFamily="34" charset="0"/>
                <a:ea typeface="Arial" pitchFamily="34" charset="-122"/>
                <a:cs typeface="Arial" pitchFamily="34" charset="-120"/>
              </a:rPr>
              <a:t>7</a:t>
            </a:r>
            <a:endParaRPr lang="en-US" sz="900" dirty="0"/>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indent="0" algn="r" rtl="1">
              <a:buNone/>
            </a:pPr>
            <a:r>
              <a:rPr lang="ar-SA" altLang="en-US" sz="2900" b="1" dirty="0">
                <a:solidFill>
                  <a:srgbClr val="0A3540"/>
                </a:solidFill>
                <a:latin typeface="Arial" pitchFamily="34" charset="0"/>
                <a:ea typeface="Arial" pitchFamily="34" charset="-122"/>
                <a:cs typeface="Arial" pitchFamily="34" charset="-120"/>
              </a:rPr>
              <a:t>الطبقة الأولى: لغةٌ موحّدة للبيانات الصحية</a:t>
            </a:r>
            <a:endParaRPr lang="ar-SA" sz="2900" dirty="0"/>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indent="0" algn="r" rtl="1">
              <a:buNone/>
            </a:pPr>
            <a:r>
              <a:rPr lang="ar-SA" altLang="en-US" sz="1400" dirty="0">
                <a:solidFill>
                  <a:srgbClr val="0E7C86"/>
                </a:solidFill>
                <a:latin typeface="Arial" pitchFamily="34" charset="0"/>
                <a:ea typeface="Arial" pitchFamily="34" charset="-122"/>
                <a:cs typeface="Arial" pitchFamily="34" charset="-120"/>
              </a:rPr>
              <a:t>معيار ‏</a:t>
            </a:r>
            <a:r>
              <a:rPr lang="en-US" altLang="en-US" sz="1400" dirty="0">
                <a:solidFill>
                  <a:srgbClr val="0E7C86"/>
                </a:solidFill>
                <a:latin typeface="Arial" pitchFamily="34" charset="0"/>
                <a:ea typeface="Arial" pitchFamily="34" charset="-122"/>
                <a:cs typeface="Arial" pitchFamily="34" charset="-120"/>
              </a:rPr>
              <a:t>HL7 FHIR</a:t>
            </a:r>
            <a:r>
              <a:rPr lang="ar-SA" altLang="en-US" sz="1400" dirty="0">
                <a:solidFill>
                  <a:srgbClr val="0E7C86"/>
                </a:solidFill>
                <a:latin typeface="Arial" pitchFamily="34" charset="0"/>
                <a:ea typeface="Arial" pitchFamily="34" charset="-122"/>
                <a:cs typeface="Arial" pitchFamily="34" charset="-120"/>
              </a:rPr>
              <a:t>‏ العالمي — الإصدار الخامس</a:t>
            </a:r>
            <a:endParaRPr lang="ar-SA" sz="1400" dirty="0"/>
          </a:p>
        </p:txBody>
      </p:sp>
      <p:sp>
        <p:nvSpPr>
          <p:cNvPr id="6" name="Shape 4"/>
          <p:cNvSpPr/>
          <p:nvPr/>
        </p:nvSpPr>
        <p:spPr>
          <a:xfrm>
            <a:off x="548640" y="1600200"/>
            <a:ext cx="11094415" cy="1005840"/>
          </a:xfrm>
          <a:prstGeom prst="roundRect">
            <a:avLst>
              <a:gd name="adj" fmla="val 7273"/>
            </a:avLst>
          </a:prstGeom>
          <a:solidFill>
            <a:srgbClr val="F2F8F8"/>
          </a:solidFill>
          <a:ln w="9525">
            <a:solidFill>
              <a:srgbClr val="D9E7E9"/>
            </a:solidFill>
            <a:prstDash val="solid"/>
          </a:ln>
        </p:spPr>
      </p:sp>
      <p:sp>
        <p:nvSpPr>
          <p:cNvPr id="7" name="Text 5"/>
          <p:cNvSpPr/>
          <p:nvPr/>
        </p:nvSpPr>
        <p:spPr>
          <a:xfrm>
            <a:off x="914400" y="1600200"/>
            <a:ext cx="10362895" cy="1005840"/>
          </a:xfrm>
          <a:prstGeom prst="rect">
            <a:avLst/>
          </a:prstGeom>
          <a:noFill/>
          <a:ln/>
        </p:spPr>
        <p:txBody>
          <a:bodyPr wrap="square" rtlCol="0" anchor="ctr"/>
          <a:lstStyle/>
          <a:p>
            <a:pPr marL="0" indent="0" algn="ctr" rtl="1">
              <a:lnSpc>
                <a:spcPct val="130000"/>
              </a:lnSpc>
              <a:buNone/>
            </a:pPr>
            <a:r>
              <a:rPr lang="ar-SA" altLang="en-US" sz="1550" i="1" dirty="0">
                <a:solidFill>
                  <a:srgbClr val="0A3540"/>
                </a:solidFill>
                <a:latin typeface="Arial" pitchFamily="34" charset="0"/>
                <a:ea typeface="Arial" pitchFamily="34" charset="-122"/>
                <a:cs typeface="Arial" pitchFamily="34" charset="-120"/>
              </a:rPr>
              <a:t>تماماً كما وحّد منفذ ‏</a:t>
            </a:r>
            <a:r>
              <a:rPr lang="en-US" altLang="en-US" sz="1550" i="1" dirty="0">
                <a:solidFill>
                  <a:srgbClr val="0A3540"/>
                </a:solidFill>
                <a:latin typeface="Arial" pitchFamily="34" charset="0"/>
                <a:ea typeface="Arial" pitchFamily="34" charset="-122"/>
                <a:cs typeface="Arial" pitchFamily="34" charset="-120"/>
              </a:rPr>
              <a:t>USB</a:t>
            </a:r>
            <a:r>
              <a:rPr lang="ar-SA" altLang="en-US" sz="1550" i="1" dirty="0">
                <a:solidFill>
                  <a:srgbClr val="0A3540"/>
                </a:solidFill>
                <a:latin typeface="Arial" pitchFamily="34" charset="0"/>
                <a:ea typeface="Arial" pitchFamily="34" charset="-122"/>
                <a:cs typeface="Arial" pitchFamily="34" charset="-120"/>
              </a:rPr>
              <a:t>‏ طريقة توصيل الأجهزة على اختلافها، يوحّد معيار ‏</a:t>
            </a:r>
            <a:r>
              <a:rPr lang="en-US" altLang="en-US" sz="1550" i="1" dirty="0">
                <a:solidFill>
                  <a:srgbClr val="0A3540"/>
                </a:solidFill>
                <a:latin typeface="Arial" pitchFamily="34" charset="0"/>
                <a:ea typeface="Arial" pitchFamily="34" charset="-122"/>
                <a:cs typeface="Arial" pitchFamily="34" charset="-120"/>
              </a:rPr>
              <a:t>FHIR</a:t>
            </a:r>
            <a:r>
              <a:rPr lang="ar-SA" altLang="en-US" sz="1550" i="1" dirty="0">
                <a:solidFill>
                  <a:srgbClr val="0A3540"/>
                </a:solidFill>
                <a:latin typeface="Arial" pitchFamily="34" charset="0"/>
                <a:ea typeface="Arial" pitchFamily="34" charset="-122"/>
                <a:cs typeface="Arial" pitchFamily="34" charset="-120"/>
              </a:rPr>
              <a:t>‏ طريقة كتابة البيانات الصحية وتبادلها بين الأنظمة على اختلافها.</a:t>
            </a:r>
            <a:endParaRPr lang="ar-SA" sz="1550" dirty="0"/>
          </a:p>
        </p:txBody>
      </p:sp>
      <p:sp>
        <p:nvSpPr>
          <p:cNvPr id="8" name="Shape 6"/>
          <p:cNvSpPr/>
          <p:nvPr/>
        </p:nvSpPr>
        <p:spPr>
          <a:xfrm>
            <a:off x="8076895" y="2926080"/>
            <a:ext cx="3566160" cy="2880360"/>
          </a:xfrm>
          <a:prstGeom prst="roundRect">
            <a:avLst>
              <a:gd name="adj" fmla="val 2540"/>
            </a:avLst>
          </a:prstGeom>
          <a:solidFill>
            <a:srgbClr val="F2F8F8"/>
          </a:solidFill>
          <a:ln w="9525">
            <a:solidFill>
              <a:srgbClr val="D9E7E9"/>
            </a:solidFill>
            <a:prstDash val="solid"/>
          </a:ln>
        </p:spPr>
      </p:sp>
      <p:sp>
        <p:nvSpPr>
          <p:cNvPr id="9" name="Shape 7"/>
          <p:cNvSpPr/>
          <p:nvPr/>
        </p:nvSpPr>
        <p:spPr>
          <a:xfrm>
            <a:off x="9585655" y="3200400"/>
            <a:ext cx="548640" cy="548640"/>
          </a:xfrm>
          <a:prstGeom prst="ellipse">
            <a:avLst/>
          </a:prstGeom>
          <a:solidFill>
            <a:srgbClr val="0E7C86"/>
          </a:solidFill>
          <a:ln/>
        </p:spPr>
      </p:sp>
      <p:sp>
        <p:nvSpPr>
          <p:cNvPr id="10" name="Text 8"/>
          <p:cNvSpPr/>
          <p:nvPr/>
        </p:nvSpPr>
        <p:spPr>
          <a:xfrm>
            <a:off x="9585655" y="3200400"/>
            <a:ext cx="548640" cy="548640"/>
          </a:xfrm>
          <a:prstGeom prst="rect">
            <a:avLst/>
          </a:prstGeom>
          <a:noFill/>
          <a:ln/>
        </p:spPr>
        <p:txBody>
          <a:bodyPr wrap="square" lIns="0" tIns="0" rIns="0" bIns="0" rtlCol="0" anchor="ctr"/>
          <a:lstStyle/>
          <a:p>
            <a:pPr marL="0" indent="0" algn="ctr" rtl="1">
              <a:buNone/>
            </a:pPr>
            <a:r>
              <a:rPr lang="ar-SA" altLang="en-US" sz="1800" b="1" dirty="0">
                <a:solidFill>
                  <a:srgbClr val="FFFFFF"/>
                </a:solidFill>
                <a:latin typeface="Arial" pitchFamily="34" charset="0"/>
                <a:ea typeface="Arial" pitchFamily="34" charset="-122"/>
                <a:cs typeface="Arial" pitchFamily="34" charset="-120"/>
              </a:rPr>
              <a:t>١</a:t>
            </a:r>
            <a:endParaRPr lang="ar-SA" sz="1800" dirty="0"/>
          </a:p>
        </p:txBody>
      </p:sp>
      <p:sp>
        <p:nvSpPr>
          <p:cNvPr id="11" name="Text 9"/>
          <p:cNvSpPr/>
          <p:nvPr/>
        </p:nvSpPr>
        <p:spPr>
          <a:xfrm>
            <a:off x="8259775" y="3886200"/>
            <a:ext cx="3200400" cy="411480"/>
          </a:xfrm>
          <a:prstGeom prst="rect">
            <a:avLst/>
          </a:prstGeom>
          <a:noFill/>
          <a:ln/>
        </p:spPr>
        <p:txBody>
          <a:bodyPr wrap="square" rtlCol="0" anchor="ctr"/>
          <a:lstStyle/>
          <a:p>
            <a:pPr marL="0" indent="0" algn="ctr" rtl="1">
              <a:buNone/>
            </a:pPr>
            <a:r>
              <a:rPr lang="ar-SA" altLang="en-US" sz="1650" b="1" dirty="0">
                <a:solidFill>
                  <a:srgbClr val="0A3540"/>
                </a:solidFill>
                <a:latin typeface="Arial" pitchFamily="34" charset="0"/>
                <a:ea typeface="Arial" pitchFamily="34" charset="-122"/>
                <a:cs typeface="Arial" pitchFamily="34" charset="-120"/>
              </a:rPr>
              <a:t>لغة واحدة</a:t>
            </a:r>
            <a:endParaRPr lang="ar-SA" sz="1650" dirty="0"/>
          </a:p>
        </p:txBody>
      </p:sp>
      <p:sp>
        <p:nvSpPr>
          <p:cNvPr id="12" name="Text 10"/>
          <p:cNvSpPr/>
          <p:nvPr/>
        </p:nvSpPr>
        <p:spPr>
          <a:xfrm>
            <a:off x="8351215" y="4343400"/>
            <a:ext cx="3017520" cy="1371600"/>
          </a:xfrm>
          <a:prstGeom prst="rect">
            <a:avLst/>
          </a:prstGeom>
          <a:noFill/>
          <a:ln/>
        </p:spPr>
        <p:txBody>
          <a:bodyPr wrap="square" rtlCol="0" anchor="t"/>
          <a:lstStyle/>
          <a:p>
            <a:pPr marL="0" indent="0" algn="ctr" rtl="1">
              <a:lnSpc>
                <a:spcPct val="130000"/>
              </a:lnSpc>
              <a:buNone/>
            </a:pPr>
            <a:r>
              <a:rPr lang="ar-SA" altLang="en-US" sz="1250" dirty="0">
                <a:solidFill>
                  <a:srgbClr val="587078"/>
                </a:solidFill>
                <a:latin typeface="Arial" pitchFamily="34" charset="0"/>
                <a:ea typeface="Arial" pitchFamily="34" charset="-122"/>
                <a:cs typeface="Arial" pitchFamily="34" charset="-120"/>
              </a:rPr>
              <a:t>كلّ تشخيصٍ وتحليلٍ ودواءٍ يُكتب بصيغة قياسية واحدة يفهمها أيّ نظامٍ صحي حديث في العالم.</a:t>
            </a:r>
            <a:endParaRPr lang="ar-SA" sz="1250" dirty="0"/>
          </a:p>
        </p:txBody>
      </p:sp>
      <p:sp>
        <p:nvSpPr>
          <p:cNvPr id="13" name="Shape 11"/>
          <p:cNvSpPr/>
          <p:nvPr/>
        </p:nvSpPr>
        <p:spPr>
          <a:xfrm>
            <a:off x="4309567" y="2926080"/>
            <a:ext cx="3566160" cy="2880360"/>
          </a:xfrm>
          <a:prstGeom prst="roundRect">
            <a:avLst>
              <a:gd name="adj" fmla="val 2540"/>
            </a:avLst>
          </a:prstGeom>
          <a:solidFill>
            <a:srgbClr val="F2F8F8"/>
          </a:solidFill>
          <a:ln w="9525">
            <a:solidFill>
              <a:srgbClr val="D9E7E9"/>
            </a:solidFill>
            <a:prstDash val="solid"/>
          </a:ln>
        </p:spPr>
      </p:sp>
      <p:sp>
        <p:nvSpPr>
          <p:cNvPr id="14" name="Shape 12"/>
          <p:cNvSpPr/>
          <p:nvPr/>
        </p:nvSpPr>
        <p:spPr>
          <a:xfrm>
            <a:off x="5818327" y="3200400"/>
            <a:ext cx="548640" cy="548640"/>
          </a:xfrm>
          <a:prstGeom prst="ellipse">
            <a:avLst/>
          </a:prstGeom>
          <a:solidFill>
            <a:srgbClr val="02C39A"/>
          </a:solidFill>
          <a:ln/>
        </p:spPr>
      </p:sp>
      <p:sp>
        <p:nvSpPr>
          <p:cNvPr id="15" name="Text 13"/>
          <p:cNvSpPr/>
          <p:nvPr/>
        </p:nvSpPr>
        <p:spPr>
          <a:xfrm>
            <a:off x="5818327" y="3200400"/>
            <a:ext cx="548640" cy="548640"/>
          </a:xfrm>
          <a:prstGeom prst="rect">
            <a:avLst/>
          </a:prstGeom>
          <a:noFill/>
          <a:ln/>
        </p:spPr>
        <p:txBody>
          <a:bodyPr wrap="square" lIns="0" tIns="0" rIns="0" bIns="0" rtlCol="0" anchor="ctr"/>
          <a:lstStyle/>
          <a:p>
            <a:pPr marL="0" indent="0" algn="ctr" rtl="1">
              <a:buNone/>
            </a:pPr>
            <a:r>
              <a:rPr lang="ar-SA" altLang="en-US" sz="1800" b="1" dirty="0">
                <a:solidFill>
                  <a:srgbClr val="FFFFFF"/>
                </a:solidFill>
                <a:latin typeface="Arial" pitchFamily="34" charset="0"/>
                <a:ea typeface="Arial" pitchFamily="34" charset="-122"/>
                <a:cs typeface="Arial" pitchFamily="34" charset="-120"/>
              </a:rPr>
              <a:t>٢</a:t>
            </a:r>
            <a:endParaRPr lang="ar-SA" sz="1800" dirty="0"/>
          </a:p>
        </p:txBody>
      </p:sp>
      <p:sp>
        <p:nvSpPr>
          <p:cNvPr id="16" name="Text 14"/>
          <p:cNvSpPr/>
          <p:nvPr/>
        </p:nvSpPr>
        <p:spPr>
          <a:xfrm>
            <a:off x="4492447" y="3886200"/>
            <a:ext cx="3200400" cy="411480"/>
          </a:xfrm>
          <a:prstGeom prst="rect">
            <a:avLst/>
          </a:prstGeom>
          <a:noFill/>
          <a:ln/>
        </p:spPr>
        <p:txBody>
          <a:bodyPr wrap="square" rtlCol="0" anchor="ctr"/>
          <a:lstStyle/>
          <a:p>
            <a:pPr marL="0" indent="0" algn="ctr" rtl="1">
              <a:buNone/>
            </a:pPr>
            <a:r>
              <a:rPr lang="ar-SA" altLang="en-US" sz="1650" b="1" dirty="0">
                <a:solidFill>
                  <a:srgbClr val="0A3540"/>
                </a:solidFill>
                <a:latin typeface="Arial" pitchFamily="34" charset="0"/>
                <a:ea typeface="Arial" pitchFamily="34" charset="-122"/>
                <a:cs typeface="Arial" pitchFamily="34" charset="-120"/>
              </a:rPr>
              <a:t>ذاكرة كاملة</a:t>
            </a:r>
            <a:endParaRPr lang="ar-SA" sz="1650" dirty="0"/>
          </a:p>
        </p:txBody>
      </p:sp>
      <p:sp>
        <p:nvSpPr>
          <p:cNvPr id="17" name="Text 15"/>
          <p:cNvSpPr/>
          <p:nvPr/>
        </p:nvSpPr>
        <p:spPr>
          <a:xfrm>
            <a:off x="4583887" y="4343400"/>
            <a:ext cx="3017520" cy="1371600"/>
          </a:xfrm>
          <a:prstGeom prst="rect">
            <a:avLst/>
          </a:prstGeom>
          <a:noFill/>
          <a:ln/>
        </p:spPr>
        <p:txBody>
          <a:bodyPr wrap="square" rtlCol="0" anchor="t"/>
          <a:lstStyle/>
          <a:p>
            <a:pPr marL="0" indent="0" algn="ctr" rtl="1">
              <a:lnSpc>
                <a:spcPct val="130000"/>
              </a:lnSpc>
              <a:buNone/>
            </a:pPr>
            <a:r>
              <a:rPr lang="ar-SA" altLang="en-US" sz="1250" dirty="0">
                <a:solidFill>
                  <a:srgbClr val="587078"/>
                </a:solidFill>
                <a:latin typeface="Arial" pitchFamily="34" charset="0"/>
                <a:ea typeface="Arial" pitchFamily="34" charset="-122"/>
                <a:cs typeface="Arial" pitchFamily="34" charset="-120"/>
              </a:rPr>
              <a:t>كلّ تعديلٍ على الملف محفوظ بنسخته وتاريخه وصاحبه — فلا يضيع شيء، ويمكن دائماً معرفة من غيّر وماذا.</a:t>
            </a:r>
            <a:endParaRPr lang="ar-SA" sz="1250" dirty="0"/>
          </a:p>
        </p:txBody>
      </p:sp>
      <p:sp>
        <p:nvSpPr>
          <p:cNvPr id="18" name="Shape 16"/>
          <p:cNvSpPr/>
          <p:nvPr/>
        </p:nvSpPr>
        <p:spPr>
          <a:xfrm>
            <a:off x="542239" y="2926080"/>
            <a:ext cx="3566160" cy="2880360"/>
          </a:xfrm>
          <a:prstGeom prst="roundRect">
            <a:avLst>
              <a:gd name="adj" fmla="val 2540"/>
            </a:avLst>
          </a:prstGeom>
          <a:solidFill>
            <a:srgbClr val="F2F8F8"/>
          </a:solidFill>
          <a:ln w="9525">
            <a:solidFill>
              <a:srgbClr val="D9E7E9"/>
            </a:solidFill>
            <a:prstDash val="solid"/>
          </a:ln>
        </p:spPr>
      </p:sp>
      <p:sp>
        <p:nvSpPr>
          <p:cNvPr id="19" name="Shape 17"/>
          <p:cNvSpPr/>
          <p:nvPr/>
        </p:nvSpPr>
        <p:spPr>
          <a:xfrm>
            <a:off x="2050999" y="3200400"/>
            <a:ext cx="548640" cy="548640"/>
          </a:xfrm>
          <a:prstGeom prst="ellipse">
            <a:avLst/>
          </a:prstGeom>
          <a:solidFill>
            <a:srgbClr val="E9B44C"/>
          </a:solidFill>
          <a:ln/>
        </p:spPr>
      </p:sp>
      <p:sp>
        <p:nvSpPr>
          <p:cNvPr id="20" name="Text 18"/>
          <p:cNvSpPr/>
          <p:nvPr/>
        </p:nvSpPr>
        <p:spPr>
          <a:xfrm>
            <a:off x="2050999" y="3200400"/>
            <a:ext cx="548640" cy="548640"/>
          </a:xfrm>
          <a:prstGeom prst="rect">
            <a:avLst/>
          </a:prstGeom>
          <a:noFill/>
          <a:ln/>
        </p:spPr>
        <p:txBody>
          <a:bodyPr wrap="square" lIns="0" tIns="0" rIns="0" bIns="0" rtlCol="0" anchor="ctr"/>
          <a:lstStyle/>
          <a:p>
            <a:pPr marL="0" indent="0" algn="ctr" rtl="1">
              <a:buNone/>
            </a:pPr>
            <a:r>
              <a:rPr lang="ar-SA" altLang="en-US" sz="1800" b="1" dirty="0">
                <a:solidFill>
                  <a:srgbClr val="0A3540"/>
                </a:solidFill>
                <a:latin typeface="Arial" pitchFamily="34" charset="0"/>
                <a:ea typeface="Arial" pitchFamily="34" charset="-122"/>
                <a:cs typeface="Arial" pitchFamily="34" charset="-120"/>
              </a:rPr>
              <a:t>٣</a:t>
            </a:r>
            <a:endParaRPr lang="ar-SA" sz="1800" dirty="0"/>
          </a:p>
        </p:txBody>
      </p:sp>
      <p:sp>
        <p:nvSpPr>
          <p:cNvPr id="21" name="Text 19"/>
          <p:cNvSpPr/>
          <p:nvPr/>
        </p:nvSpPr>
        <p:spPr>
          <a:xfrm>
            <a:off x="725119" y="3886200"/>
            <a:ext cx="3200400" cy="411480"/>
          </a:xfrm>
          <a:prstGeom prst="rect">
            <a:avLst/>
          </a:prstGeom>
          <a:noFill/>
          <a:ln/>
        </p:spPr>
        <p:txBody>
          <a:bodyPr wrap="square" rtlCol="0" anchor="ctr"/>
          <a:lstStyle/>
          <a:p>
            <a:pPr marL="0" indent="0" algn="ctr" rtl="1">
              <a:buNone/>
            </a:pPr>
            <a:r>
              <a:rPr lang="ar-SA" altLang="en-US" sz="1650" b="1" dirty="0">
                <a:solidFill>
                  <a:srgbClr val="0A3540"/>
                </a:solidFill>
                <a:latin typeface="Arial" pitchFamily="34" charset="0"/>
                <a:ea typeface="Arial" pitchFamily="34" charset="-122"/>
                <a:cs typeface="Arial" pitchFamily="34" charset="-120"/>
              </a:rPr>
              <a:t>جاهز للربط</a:t>
            </a:r>
            <a:endParaRPr lang="ar-SA" sz="1650" dirty="0"/>
          </a:p>
        </p:txBody>
      </p:sp>
      <p:sp>
        <p:nvSpPr>
          <p:cNvPr id="22" name="Text 20"/>
          <p:cNvSpPr/>
          <p:nvPr/>
        </p:nvSpPr>
        <p:spPr>
          <a:xfrm>
            <a:off x="816559" y="4343400"/>
            <a:ext cx="3017520" cy="1371600"/>
          </a:xfrm>
          <a:prstGeom prst="rect">
            <a:avLst/>
          </a:prstGeom>
          <a:noFill/>
          <a:ln/>
        </p:spPr>
        <p:txBody>
          <a:bodyPr wrap="square" rtlCol="0" anchor="t"/>
          <a:lstStyle/>
          <a:p>
            <a:pPr marL="0" indent="0" algn="ctr" rtl="1">
              <a:lnSpc>
                <a:spcPct val="130000"/>
              </a:lnSpc>
              <a:buNone/>
            </a:pPr>
            <a:r>
              <a:rPr lang="ar-SA" altLang="en-US" sz="1250" dirty="0">
                <a:solidFill>
                  <a:srgbClr val="587078"/>
                </a:solidFill>
                <a:latin typeface="Arial" pitchFamily="34" charset="0"/>
                <a:ea typeface="Arial" pitchFamily="34" charset="-122"/>
                <a:cs typeface="Arial" pitchFamily="34" charset="-120"/>
              </a:rPr>
              <a:t>لأنّ نظامنا يتكلّم اللغة نفسها، يستطيع غداً تبادل الملفات مع أيّ مشفى أو نظامٍ يعتمد المعيار ذاته.</a:t>
            </a:r>
            <a:endParaRPr lang="ar-SA"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587078"/>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900" dirty="0">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en-US" sz="900" dirty="0">
                <a:solidFill>
                  <a:srgbClr val="587078"/>
                </a:solidFill>
                <a:latin typeface="Arial" pitchFamily="34" charset="0"/>
                <a:ea typeface="Arial" pitchFamily="34" charset="-122"/>
                <a:cs typeface="Arial" pitchFamily="34" charset="-120"/>
              </a:rPr>
              <a:t>8</a:t>
            </a:r>
            <a:endParaRPr lang="en-US" sz="900" dirty="0"/>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indent="0" algn="r" rtl="1">
              <a:buNone/>
            </a:pPr>
            <a:r>
              <a:rPr lang="ar-SA" altLang="en-US" sz="2900" b="1" dirty="0">
                <a:solidFill>
                  <a:srgbClr val="0A3540"/>
                </a:solidFill>
                <a:latin typeface="Dubai" panose="020B0503030403030204" pitchFamily="34" charset="-78"/>
                <a:ea typeface="Arial" pitchFamily="34" charset="-122"/>
                <a:cs typeface="Dubai" panose="020B0503030403030204" pitchFamily="34" charset="-78"/>
              </a:rPr>
              <a:t>الطبقة الثانية: مساعدٌ يقظ إلى جانب الطبيب</a:t>
            </a:r>
            <a:endParaRPr lang="ar-SA" sz="2900" dirty="0">
              <a:latin typeface="Dubai" panose="020B0503030403030204" pitchFamily="34" charset="-78"/>
              <a:cs typeface="Dubai" panose="020B0503030403030204" pitchFamily="34" charset="-78"/>
            </a:endParaRPr>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indent="0" algn="r" rtl="1">
              <a:buNone/>
            </a:pPr>
            <a:r>
              <a:rPr lang="ar-SA" altLang="en-US" sz="1400" dirty="0">
                <a:solidFill>
                  <a:srgbClr val="0E7C86"/>
                </a:solidFill>
                <a:latin typeface="Dubai" panose="020B0503030403030204" pitchFamily="34" charset="-78"/>
                <a:ea typeface="Arial" pitchFamily="34" charset="-122"/>
                <a:cs typeface="Dubai" panose="020B0503030403030204" pitchFamily="34" charset="-78"/>
              </a:rPr>
              <a:t>دعم القرار السريري — تنبيهٌ في اللحظة المناسبة</a:t>
            </a:r>
            <a:endParaRPr lang="ar-SA" sz="1400" dirty="0">
              <a:latin typeface="Dubai" panose="020B0503030403030204" pitchFamily="34" charset="-78"/>
              <a:cs typeface="Dubai" panose="020B0503030403030204" pitchFamily="34" charset="-78"/>
            </a:endParaRPr>
          </a:p>
        </p:txBody>
      </p:sp>
      <p:sp>
        <p:nvSpPr>
          <p:cNvPr id="6" name="Shape 4"/>
          <p:cNvSpPr/>
          <p:nvPr/>
        </p:nvSpPr>
        <p:spPr>
          <a:xfrm>
            <a:off x="8351215" y="1737360"/>
            <a:ext cx="3291840" cy="777240"/>
          </a:xfrm>
          <a:prstGeom prst="roundRect">
            <a:avLst>
              <a:gd name="adj" fmla="val 11765"/>
            </a:avLst>
          </a:prstGeom>
          <a:solidFill>
            <a:srgbClr val="0A3540"/>
          </a:solidFill>
          <a:ln/>
        </p:spPr>
      </p:sp>
      <p:sp>
        <p:nvSpPr>
          <p:cNvPr id="7" name="Text 5"/>
          <p:cNvSpPr/>
          <p:nvPr/>
        </p:nvSpPr>
        <p:spPr>
          <a:xfrm>
            <a:off x="8351215" y="1737360"/>
            <a:ext cx="3291840" cy="777240"/>
          </a:xfrm>
          <a:prstGeom prst="rect">
            <a:avLst/>
          </a:prstGeom>
          <a:noFill/>
          <a:ln/>
        </p:spPr>
        <p:txBody>
          <a:bodyPr wrap="square" lIns="0" tIns="0" rIns="0" bIns="0" rtlCol="0" anchor="ctr"/>
          <a:lstStyle/>
          <a:p>
            <a:pPr marL="0" indent="0" algn="ctr" rtl="1">
              <a:buNone/>
            </a:pPr>
            <a:r>
              <a:rPr lang="ar-SA" altLang="en-US" sz="1600" b="1" dirty="0">
                <a:solidFill>
                  <a:srgbClr val="FFFFFF"/>
                </a:solidFill>
                <a:latin typeface="Dubai" panose="020B0503030403030204" pitchFamily="34" charset="-78"/>
                <a:ea typeface="Arial" pitchFamily="34" charset="-122"/>
                <a:cs typeface="Dubai" panose="020B0503030403030204" pitchFamily="34" charset="-78"/>
              </a:rPr>
              <a:t>يصف الطبيب دواءً</a:t>
            </a:r>
            <a:endParaRPr lang="ar-SA" sz="1600" dirty="0">
              <a:latin typeface="Dubai" panose="020B0503030403030204" pitchFamily="34" charset="-78"/>
              <a:cs typeface="Dubai" panose="020B0503030403030204" pitchFamily="34" charset="-78"/>
            </a:endParaRPr>
          </a:p>
        </p:txBody>
      </p:sp>
      <p:sp>
        <p:nvSpPr>
          <p:cNvPr id="8" name="Text 6"/>
          <p:cNvSpPr/>
          <p:nvPr/>
        </p:nvSpPr>
        <p:spPr>
          <a:xfrm>
            <a:off x="7711135" y="1737360"/>
            <a:ext cx="640080" cy="777240"/>
          </a:xfrm>
          <a:prstGeom prst="rect">
            <a:avLst/>
          </a:prstGeom>
          <a:noFill/>
          <a:ln/>
        </p:spPr>
        <p:txBody>
          <a:bodyPr wrap="square" lIns="0" tIns="0" rIns="0" bIns="0" rtlCol="0" anchor="ctr"/>
          <a:lstStyle/>
          <a:p>
            <a:pPr marL="0" indent="0" algn="ctr">
              <a:buNone/>
            </a:pPr>
            <a:r>
              <a:rPr lang="en-US" sz="1600" dirty="0">
                <a:solidFill>
                  <a:srgbClr val="0E7C86"/>
                </a:solidFill>
                <a:latin typeface="Dubai" panose="020B0503030403030204" pitchFamily="34" charset="-78"/>
                <a:ea typeface="Arial" pitchFamily="34" charset="-122"/>
                <a:cs typeface="Dubai" panose="020B0503030403030204" pitchFamily="34" charset="-78"/>
              </a:rPr>
              <a:t>◀</a:t>
            </a:r>
            <a:endParaRPr lang="en-US" sz="1600" dirty="0">
              <a:latin typeface="Dubai" panose="020B0503030403030204" pitchFamily="34" charset="-78"/>
              <a:cs typeface="Dubai" panose="020B0503030403030204" pitchFamily="34" charset="-78"/>
            </a:endParaRPr>
          </a:p>
        </p:txBody>
      </p:sp>
      <p:sp>
        <p:nvSpPr>
          <p:cNvPr id="9" name="Shape 7"/>
          <p:cNvSpPr/>
          <p:nvPr/>
        </p:nvSpPr>
        <p:spPr>
          <a:xfrm>
            <a:off x="4419295" y="1737360"/>
            <a:ext cx="3291840" cy="777240"/>
          </a:xfrm>
          <a:prstGeom prst="roundRect">
            <a:avLst>
              <a:gd name="adj" fmla="val 11765"/>
            </a:avLst>
          </a:prstGeom>
          <a:solidFill>
            <a:srgbClr val="0A3540"/>
          </a:solidFill>
          <a:ln/>
        </p:spPr>
      </p:sp>
      <p:sp>
        <p:nvSpPr>
          <p:cNvPr id="10" name="Text 8"/>
          <p:cNvSpPr/>
          <p:nvPr/>
        </p:nvSpPr>
        <p:spPr>
          <a:xfrm>
            <a:off x="4419295" y="1737360"/>
            <a:ext cx="3291840" cy="777240"/>
          </a:xfrm>
          <a:prstGeom prst="rect">
            <a:avLst/>
          </a:prstGeom>
          <a:noFill/>
          <a:ln/>
        </p:spPr>
        <p:txBody>
          <a:bodyPr wrap="square" lIns="0" tIns="0" rIns="0" bIns="0" rtlCol="0" anchor="ctr"/>
          <a:lstStyle/>
          <a:p>
            <a:pPr marL="0" indent="0" algn="ctr" rtl="1">
              <a:buNone/>
            </a:pPr>
            <a:r>
              <a:rPr lang="ar-SA" altLang="en-US" sz="1600" b="1" dirty="0">
                <a:solidFill>
                  <a:srgbClr val="FFFFFF"/>
                </a:solidFill>
                <a:latin typeface="Dubai" panose="020B0503030403030204" pitchFamily="34" charset="-78"/>
                <a:ea typeface="Arial" pitchFamily="34" charset="-122"/>
                <a:cs typeface="Dubai" panose="020B0503030403030204" pitchFamily="34" charset="-78"/>
              </a:rPr>
              <a:t>يفحص النظام الوصفة تلقائياً</a:t>
            </a:r>
            <a:endParaRPr lang="ar-SA" sz="1600" dirty="0">
              <a:latin typeface="Dubai" panose="020B0503030403030204" pitchFamily="34" charset="-78"/>
              <a:cs typeface="Dubai" panose="020B0503030403030204" pitchFamily="34" charset="-78"/>
            </a:endParaRPr>
          </a:p>
        </p:txBody>
      </p:sp>
      <p:sp>
        <p:nvSpPr>
          <p:cNvPr id="11" name="Text 9"/>
          <p:cNvSpPr/>
          <p:nvPr/>
        </p:nvSpPr>
        <p:spPr>
          <a:xfrm>
            <a:off x="3779215" y="1737360"/>
            <a:ext cx="640080" cy="777240"/>
          </a:xfrm>
          <a:prstGeom prst="rect">
            <a:avLst/>
          </a:prstGeom>
          <a:noFill/>
          <a:ln/>
        </p:spPr>
        <p:txBody>
          <a:bodyPr wrap="square" lIns="0" tIns="0" rIns="0" bIns="0" rtlCol="0" anchor="ctr"/>
          <a:lstStyle/>
          <a:p>
            <a:pPr marL="0" indent="0" algn="ctr">
              <a:buNone/>
            </a:pPr>
            <a:r>
              <a:rPr lang="en-US" sz="1600" dirty="0">
                <a:solidFill>
                  <a:srgbClr val="0E7C86"/>
                </a:solidFill>
                <a:latin typeface="Dubai" panose="020B0503030403030204" pitchFamily="34" charset="-78"/>
                <a:ea typeface="Arial" pitchFamily="34" charset="-122"/>
                <a:cs typeface="Dubai" panose="020B0503030403030204" pitchFamily="34" charset="-78"/>
              </a:rPr>
              <a:t>◀</a:t>
            </a:r>
            <a:endParaRPr lang="en-US" sz="1600" dirty="0">
              <a:latin typeface="Dubai" panose="020B0503030403030204" pitchFamily="34" charset="-78"/>
              <a:cs typeface="Dubai" panose="020B0503030403030204" pitchFamily="34" charset="-78"/>
            </a:endParaRPr>
          </a:p>
        </p:txBody>
      </p:sp>
      <p:sp>
        <p:nvSpPr>
          <p:cNvPr id="12" name="Shape 10"/>
          <p:cNvSpPr/>
          <p:nvPr/>
        </p:nvSpPr>
        <p:spPr>
          <a:xfrm>
            <a:off x="487375" y="1737360"/>
            <a:ext cx="3291840" cy="777240"/>
          </a:xfrm>
          <a:prstGeom prst="roundRect">
            <a:avLst>
              <a:gd name="adj" fmla="val 11765"/>
            </a:avLst>
          </a:prstGeom>
          <a:solidFill>
            <a:srgbClr val="02C39A"/>
          </a:solidFill>
          <a:ln/>
        </p:spPr>
      </p:sp>
      <p:sp>
        <p:nvSpPr>
          <p:cNvPr id="13" name="Text 11"/>
          <p:cNvSpPr/>
          <p:nvPr/>
        </p:nvSpPr>
        <p:spPr>
          <a:xfrm>
            <a:off x="487375" y="1737360"/>
            <a:ext cx="3291840" cy="777240"/>
          </a:xfrm>
          <a:prstGeom prst="rect">
            <a:avLst/>
          </a:prstGeom>
          <a:noFill/>
          <a:ln/>
        </p:spPr>
        <p:txBody>
          <a:bodyPr wrap="square" lIns="0" tIns="0" rIns="0" bIns="0" rtlCol="0" anchor="ctr"/>
          <a:lstStyle/>
          <a:p>
            <a:pPr marL="0" indent="0" algn="ctr" rtl="1">
              <a:buNone/>
            </a:pPr>
            <a:r>
              <a:rPr lang="ar-SA" altLang="en-US" sz="1600" b="1" dirty="0">
                <a:solidFill>
                  <a:srgbClr val="FFFFFF"/>
                </a:solidFill>
                <a:latin typeface="Dubai" panose="020B0503030403030204" pitchFamily="34" charset="-78"/>
                <a:ea typeface="Arial" pitchFamily="34" charset="-122"/>
                <a:cs typeface="Dubai" panose="020B0503030403030204" pitchFamily="34" charset="-78"/>
              </a:rPr>
              <a:t>يظهر تنبيهٌ فوري عند الخطر</a:t>
            </a:r>
            <a:endParaRPr lang="ar-SA" sz="1600" dirty="0">
              <a:latin typeface="Dubai" panose="020B0503030403030204" pitchFamily="34" charset="-78"/>
              <a:cs typeface="Dubai" panose="020B0503030403030204" pitchFamily="34" charset="-78"/>
            </a:endParaRPr>
          </a:p>
        </p:txBody>
      </p:sp>
      <p:sp>
        <p:nvSpPr>
          <p:cNvPr id="14" name="Shape 12"/>
          <p:cNvSpPr/>
          <p:nvPr/>
        </p:nvSpPr>
        <p:spPr>
          <a:xfrm>
            <a:off x="6193231" y="2971800"/>
            <a:ext cx="5449824" cy="2148840"/>
          </a:xfrm>
          <a:prstGeom prst="roundRect">
            <a:avLst>
              <a:gd name="adj" fmla="val 3404"/>
            </a:avLst>
          </a:prstGeom>
          <a:solidFill>
            <a:srgbClr val="F2F8F8"/>
          </a:solidFill>
          <a:ln w="9525">
            <a:solidFill>
              <a:srgbClr val="D9E7E9"/>
            </a:solidFill>
            <a:prstDash val="solid"/>
          </a:ln>
        </p:spPr>
      </p:sp>
      <p:sp>
        <p:nvSpPr>
          <p:cNvPr id="15" name="Text 13"/>
          <p:cNvSpPr/>
          <p:nvPr/>
        </p:nvSpPr>
        <p:spPr>
          <a:xfrm>
            <a:off x="6467551" y="3200400"/>
            <a:ext cx="4901184" cy="457200"/>
          </a:xfrm>
          <a:prstGeom prst="rect">
            <a:avLst/>
          </a:prstGeom>
          <a:noFill/>
          <a:ln/>
        </p:spPr>
        <p:txBody>
          <a:bodyPr wrap="square" lIns="0" tIns="0" rIns="0" bIns="0" rtlCol="0" anchor="ctr"/>
          <a:lstStyle/>
          <a:p>
            <a:pPr marL="0" indent="0" algn="r" rtl="1">
              <a:buNone/>
            </a:pPr>
            <a:r>
              <a:rPr lang="ar-SA" altLang="en-US" b="1" dirty="0">
                <a:solidFill>
                  <a:srgbClr val="0E7C86"/>
                </a:solidFill>
                <a:latin typeface="Dubai" panose="020B0503030403030204" pitchFamily="34" charset="-78"/>
                <a:ea typeface="Arial" pitchFamily="34" charset="-122"/>
                <a:cs typeface="Dubai" panose="020B0503030403030204" pitchFamily="34" charset="-78"/>
              </a:rPr>
              <a:t>من أين تأتي قواعد التنبيه؟</a:t>
            </a:r>
            <a:endParaRPr lang="ar-SA" dirty="0">
              <a:latin typeface="Dubai" panose="020B0503030403030204" pitchFamily="34" charset="-78"/>
              <a:cs typeface="Dubai" panose="020B0503030403030204" pitchFamily="34" charset="-78"/>
            </a:endParaRPr>
          </a:p>
        </p:txBody>
      </p:sp>
      <p:sp>
        <p:nvSpPr>
          <p:cNvPr id="16" name="Text 14"/>
          <p:cNvSpPr/>
          <p:nvPr/>
        </p:nvSpPr>
        <p:spPr>
          <a:xfrm>
            <a:off x="6467551" y="3703320"/>
            <a:ext cx="4901184" cy="1280160"/>
          </a:xfrm>
          <a:prstGeom prst="rect">
            <a:avLst/>
          </a:prstGeom>
          <a:noFill/>
          <a:ln/>
        </p:spPr>
        <p:txBody>
          <a:bodyPr wrap="square" lIns="0" tIns="0" rIns="0" bIns="0" rtlCol="0" anchor="t"/>
          <a:lstStyle/>
          <a:p>
            <a:pPr marL="0" indent="0" algn="r" rtl="1">
              <a:lnSpc>
                <a:spcPct val="130000"/>
              </a:lnSpc>
              <a:buNone/>
            </a:pPr>
            <a:r>
              <a:rPr lang="ar-SA" altLang="en-US" sz="1600" dirty="0">
                <a:solidFill>
                  <a:srgbClr val="587078"/>
                </a:solidFill>
                <a:latin typeface="Dubai" panose="020B0503030403030204" pitchFamily="34" charset="-78"/>
                <a:ea typeface="Arial" pitchFamily="34" charset="-122"/>
                <a:cs typeface="Dubai" panose="020B0503030403030204" pitchFamily="34" charset="-78"/>
              </a:rPr>
              <a:t>يكتبها مدير المؤسسة بنفسه من شاشة إعدادٍ بسيطة — يختار قالباً جاهزاً، يعدّل الشروط، يجرّب القاعدة، ثم يفعّلها. من دون سطر برمجةٍ واحد.</a:t>
            </a:r>
            <a:endParaRPr lang="ar-SA" sz="1600" dirty="0">
              <a:latin typeface="Dubai" panose="020B0503030403030204" pitchFamily="34" charset="-78"/>
              <a:cs typeface="Dubai" panose="020B0503030403030204" pitchFamily="34" charset="-78"/>
            </a:endParaRPr>
          </a:p>
        </p:txBody>
      </p:sp>
      <p:sp>
        <p:nvSpPr>
          <p:cNvPr id="17" name="Shape 15"/>
          <p:cNvSpPr/>
          <p:nvPr/>
        </p:nvSpPr>
        <p:spPr>
          <a:xfrm>
            <a:off x="551383" y="2971800"/>
            <a:ext cx="5449824" cy="2148840"/>
          </a:xfrm>
          <a:prstGeom prst="roundRect">
            <a:avLst>
              <a:gd name="adj" fmla="val 3404"/>
            </a:avLst>
          </a:prstGeom>
          <a:solidFill>
            <a:srgbClr val="F2F8F8"/>
          </a:solidFill>
          <a:ln w="9525">
            <a:solidFill>
              <a:srgbClr val="D9E7E9"/>
            </a:solidFill>
            <a:prstDash val="solid"/>
          </a:ln>
        </p:spPr>
      </p:sp>
      <p:sp>
        <p:nvSpPr>
          <p:cNvPr id="18" name="Text 16"/>
          <p:cNvSpPr/>
          <p:nvPr/>
        </p:nvSpPr>
        <p:spPr>
          <a:xfrm>
            <a:off x="825703" y="3200400"/>
            <a:ext cx="4901184" cy="457200"/>
          </a:xfrm>
          <a:prstGeom prst="rect">
            <a:avLst/>
          </a:prstGeom>
          <a:noFill/>
          <a:ln/>
        </p:spPr>
        <p:txBody>
          <a:bodyPr wrap="square" lIns="0" tIns="0" rIns="0" bIns="0" rtlCol="0" anchor="ctr"/>
          <a:lstStyle/>
          <a:p>
            <a:pPr marL="0" indent="0" algn="r" rtl="1">
              <a:buNone/>
            </a:pPr>
            <a:r>
              <a:rPr lang="ar-SA" altLang="en-US" b="1" dirty="0">
                <a:solidFill>
                  <a:srgbClr val="0E7C86"/>
                </a:solidFill>
                <a:latin typeface="Dubai" panose="020B0503030403030204" pitchFamily="34" charset="-78"/>
                <a:ea typeface="Arial" pitchFamily="34" charset="-122"/>
                <a:cs typeface="Dubai" panose="020B0503030403030204" pitchFamily="34" charset="-78"/>
              </a:rPr>
              <a:t>على ماذا تستند التنبيهات؟</a:t>
            </a:r>
            <a:endParaRPr lang="ar-SA" dirty="0">
              <a:latin typeface="Dubai" panose="020B0503030403030204" pitchFamily="34" charset="-78"/>
              <a:cs typeface="Dubai" panose="020B0503030403030204" pitchFamily="34" charset="-78"/>
            </a:endParaRPr>
          </a:p>
        </p:txBody>
      </p:sp>
      <p:sp>
        <p:nvSpPr>
          <p:cNvPr id="19" name="Text 17"/>
          <p:cNvSpPr/>
          <p:nvPr/>
        </p:nvSpPr>
        <p:spPr>
          <a:xfrm>
            <a:off x="825703" y="3703320"/>
            <a:ext cx="4901184" cy="1280160"/>
          </a:xfrm>
          <a:prstGeom prst="rect">
            <a:avLst/>
          </a:prstGeom>
          <a:noFill/>
          <a:ln/>
        </p:spPr>
        <p:txBody>
          <a:bodyPr wrap="square" lIns="0" tIns="0" rIns="0" bIns="0" rtlCol="0" anchor="t"/>
          <a:lstStyle/>
          <a:p>
            <a:pPr marL="0" indent="0" algn="r" rtl="1">
              <a:lnSpc>
                <a:spcPct val="130000"/>
              </a:lnSpc>
              <a:buNone/>
            </a:pPr>
            <a:r>
              <a:rPr lang="ar-SA" altLang="en-US" sz="1600" dirty="0">
                <a:solidFill>
                  <a:srgbClr val="587078"/>
                </a:solidFill>
                <a:latin typeface="Dubai" panose="020B0503030403030204" pitchFamily="34" charset="-78"/>
                <a:ea typeface="Arial" pitchFamily="34" charset="-122"/>
                <a:cs typeface="Dubai" panose="020B0503030403030204" pitchFamily="34" charset="-78"/>
              </a:rPr>
              <a:t>على ثلاثة مصادر معاً: بيانات المريض نفسه، ومرجع الأدوية بجرعاتها القصوى وتداخلاتها، وتقديرات الذكاء الاصطناعي للمخاطر.</a:t>
            </a:r>
            <a:endParaRPr lang="ar-SA" sz="1600" dirty="0">
              <a:latin typeface="Dubai" panose="020B0503030403030204" pitchFamily="34" charset="-78"/>
              <a:cs typeface="Dubai" panose="020B0503030403030204" pitchFamily="34" charset="-78"/>
            </a:endParaRPr>
          </a:p>
        </p:txBody>
      </p:sp>
      <p:sp>
        <p:nvSpPr>
          <p:cNvPr id="20" name="Shape 18"/>
          <p:cNvSpPr/>
          <p:nvPr/>
        </p:nvSpPr>
        <p:spPr>
          <a:xfrm>
            <a:off x="548640" y="5394960"/>
            <a:ext cx="11094415" cy="731520"/>
          </a:xfrm>
          <a:prstGeom prst="roundRect">
            <a:avLst>
              <a:gd name="adj" fmla="val 10000"/>
            </a:avLst>
          </a:prstGeom>
          <a:solidFill>
            <a:srgbClr val="F2F8F8"/>
          </a:solidFill>
          <a:ln w="9525">
            <a:solidFill>
              <a:srgbClr val="D9E7E9"/>
            </a:solidFill>
            <a:prstDash val="solid"/>
          </a:ln>
        </p:spPr>
      </p:sp>
      <p:sp>
        <p:nvSpPr>
          <p:cNvPr id="21" name="Text 19"/>
          <p:cNvSpPr/>
          <p:nvPr/>
        </p:nvSpPr>
        <p:spPr>
          <a:xfrm>
            <a:off x="822960" y="5394960"/>
            <a:ext cx="10545775" cy="731520"/>
          </a:xfrm>
          <a:prstGeom prst="rect">
            <a:avLst/>
          </a:prstGeom>
          <a:noFill/>
          <a:ln/>
        </p:spPr>
        <p:txBody>
          <a:bodyPr wrap="square" rtlCol="0" anchor="ctr"/>
          <a:lstStyle/>
          <a:p>
            <a:pPr marL="0" indent="0" algn="ctr" rtl="1">
              <a:buNone/>
            </a:pPr>
            <a:r>
              <a:rPr lang="ar-SA" altLang="en-US" b="1" dirty="0">
                <a:solidFill>
                  <a:srgbClr val="0A3540"/>
                </a:solidFill>
                <a:latin typeface="Dubai" panose="020B0503030403030204" pitchFamily="34" charset="-78"/>
                <a:ea typeface="Arial" pitchFamily="34" charset="-122"/>
                <a:cs typeface="Dubai" panose="020B0503030403030204" pitchFamily="34" charset="-78"/>
              </a:rPr>
              <a:t>القرار الأخير دائماً للطبيب — النظام ينبّه ويقترح، ولا يقرّر بدلاً عنه.</a:t>
            </a:r>
            <a:endParaRPr lang="ar-SA" dirty="0">
              <a:latin typeface="Dubai" panose="020B0503030403030204" pitchFamily="34" charset="-78"/>
              <a:cs typeface="Dubai" panose="020B0503030403030204" pitchFamily="34" charset="-7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587078"/>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900" dirty="0">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en-US" sz="900" dirty="0">
                <a:solidFill>
                  <a:srgbClr val="587078"/>
                </a:solidFill>
                <a:latin typeface="Arial" pitchFamily="34" charset="0"/>
                <a:ea typeface="Arial" pitchFamily="34" charset="-122"/>
                <a:cs typeface="Arial" pitchFamily="34" charset="-120"/>
              </a:rPr>
              <a:t>9</a:t>
            </a:r>
            <a:endParaRPr lang="en-US" sz="900" dirty="0"/>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indent="0" algn="r" rtl="1">
              <a:buNone/>
            </a:pPr>
            <a:r>
              <a:rPr lang="ar-SA" altLang="en-US" sz="2900" b="1" dirty="0">
                <a:solidFill>
                  <a:srgbClr val="0A3540"/>
                </a:solidFill>
                <a:latin typeface="Dubai" panose="020B0503030403030204" pitchFamily="34" charset="-78"/>
                <a:ea typeface="Arial" pitchFamily="34" charset="-122"/>
                <a:cs typeface="Dubai" panose="020B0503030403030204" pitchFamily="34" charset="-78"/>
              </a:rPr>
              <a:t>الطبقة الثالثة: ذكاءٌ يتوقّع الخطر قبل وقوعه</a:t>
            </a:r>
            <a:endParaRPr lang="ar-SA" sz="2900" dirty="0">
              <a:latin typeface="Dubai" panose="020B0503030403030204" pitchFamily="34" charset="-78"/>
              <a:cs typeface="Dubai" panose="020B0503030403030204" pitchFamily="34" charset="-78"/>
            </a:endParaRPr>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indent="0" algn="r" rtl="1">
              <a:buNone/>
            </a:pPr>
            <a:r>
              <a:rPr lang="ar-SA" altLang="en-US" sz="1400" dirty="0">
                <a:solidFill>
                  <a:srgbClr val="0E7C86"/>
                </a:solidFill>
                <a:latin typeface="Dubai" panose="020B0503030403030204" pitchFamily="34" charset="-78"/>
                <a:ea typeface="Arial" pitchFamily="34" charset="-122"/>
                <a:cs typeface="Dubai" panose="020B0503030403030204" pitchFamily="34" charset="-78"/>
              </a:rPr>
              <a:t>ثلاثة نماذج تقرأ ملف المريض وتقدّر احتمالات الخطر</a:t>
            </a:r>
            <a:endParaRPr lang="ar-SA" sz="1400" dirty="0">
              <a:latin typeface="Dubai" panose="020B0503030403030204" pitchFamily="34" charset="-78"/>
              <a:cs typeface="Dubai" panose="020B0503030403030204" pitchFamily="34" charset="-78"/>
            </a:endParaRPr>
          </a:p>
        </p:txBody>
      </p:sp>
      <p:sp>
        <p:nvSpPr>
          <p:cNvPr id="6" name="Shape 4"/>
          <p:cNvSpPr/>
          <p:nvPr/>
        </p:nvSpPr>
        <p:spPr>
          <a:xfrm>
            <a:off x="8076895" y="1645920"/>
            <a:ext cx="3566160" cy="2651760"/>
          </a:xfrm>
          <a:prstGeom prst="roundRect">
            <a:avLst>
              <a:gd name="adj" fmla="val 2759"/>
            </a:avLst>
          </a:prstGeom>
          <a:solidFill>
            <a:srgbClr val="F2F8F8"/>
          </a:solidFill>
          <a:ln w="9525">
            <a:solidFill>
              <a:srgbClr val="D9E7E9"/>
            </a:solidFill>
            <a:prstDash val="solid"/>
          </a:ln>
        </p:spPr>
      </p:sp>
      <p:sp>
        <p:nvSpPr>
          <p:cNvPr id="7" name="Shape 5"/>
          <p:cNvSpPr/>
          <p:nvPr/>
        </p:nvSpPr>
        <p:spPr>
          <a:xfrm>
            <a:off x="9585655" y="1874520"/>
            <a:ext cx="548640" cy="548640"/>
          </a:xfrm>
          <a:prstGeom prst="ellipse">
            <a:avLst/>
          </a:prstGeom>
          <a:solidFill>
            <a:srgbClr val="0E7C86"/>
          </a:solidFill>
          <a:ln/>
        </p:spPr>
      </p:sp>
      <p:sp>
        <p:nvSpPr>
          <p:cNvPr id="8" name="Text 6"/>
          <p:cNvSpPr/>
          <p:nvPr/>
        </p:nvSpPr>
        <p:spPr>
          <a:xfrm>
            <a:off x="9585655" y="1874520"/>
            <a:ext cx="548640" cy="548640"/>
          </a:xfrm>
          <a:prstGeom prst="rect">
            <a:avLst/>
          </a:prstGeom>
          <a:noFill/>
          <a:ln/>
        </p:spPr>
        <p:txBody>
          <a:bodyPr wrap="square" lIns="0" tIns="0" rIns="0" bIns="0" rtlCol="0" anchor="ctr"/>
          <a:lstStyle/>
          <a:p>
            <a:pPr marL="0" indent="0" algn="ctr" rtl="1">
              <a:buNone/>
            </a:pPr>
            <a:r>
              <a:rPr lang="en-US" altLang="en-US" sz="1800" b="1" dirty="0">
                <a:solidFill>
                  <a:srgbClr val="FFFFFF"/>
                </a:solidFill>
                <a:latin typeface="Dubai" panose="020B0503030403030204" pitchFamily="34" charset="-78"/>
                <a:ea typeface="Arial" pitchFamily="34" charset="-122"/>
                <a:cs typeface="Dubai" panose="020B0503030403030204" pitchFamily="34" charset="-78"/>
              </a:rPr>
              <a:t>1</a:t>
            </a:r>
            <a:endParaRPr lang="ar-SA" sz="1800" dirty="0">
              <a:latin typeface="Dubai" panose="020B0503030403030204" pitchFamily="34" charset="-78"/>
              <a:cs typeface="Dubai" panose="020B0503030403030204" pitchFamily="34" charset="-78"/>
            </a:endParaRPr>
          </a:p>
        </p:txBody>
      </p:sp>
      <p:sp>
        <p:nvSpPr>
          <p:cNvPr id="9" name="Text 7"/>
          <p:cNvSpPr/>
          <p:nvPr/>
        </p:nvSpPr>
        <p:spPr>
          <a:xfrm>
            <a:off x="8259775" y="2560320"/>
            <a:ext cx="3200400" cy="457200"/>
          </a:xfrm>
          <a:prstGeom prst="rect">
            <a:avLst/>
          </a:prstGeom>
          <a:noFill/>
          <a:ln/>
        </p:spPr>
        <p:txBody>
          <a:bodyPr wrap="square" rtlCol="0" anchor="ctr"/>
          <a:lstStyle/>
          <a:p>
            <a:pPr marL="0" indent="0" algn="ctr" rtl="1">
              <a:buNone/>
            </a:pPr>
            <a:r>
              <a:rPr lang="ar-SA" altLang="en-US" sz="2000" b="1" dirty="0">
                <a:solidFill>
                  <a:srgbClr val="0A3540"/>
                </a:solidFill>
                <a:latin typeface="Dubai" panose="020B0503030403030204" pitchFamily="34" charset="-78"/>
                <a:ea typeface="Arial" pitchFamily="34" charset="-122"/>
                <a:cs typeface="Dubai" panose="020B0503030403030204" pitchFamily="34" charset="-78"/>
              </a:rPr>
              <a:t>خطر السكري</a:t>
            </a:r>
            <a:endParaRPr lang="ar-SA" sz="2000" dirty="0">
              <a:latin typeface="Dubai" panose="020B0503030403030204" pitchFamily="34" charset="-78"/>
              <a:cs typeface="Dubai" panose="020B0503030403030204" pitchFamily="34" charset="-78"/>
            </a:endParaRPr>
          </a:p>
        </p:txBody>
      </p:sp>
      <p:sp>
        <p:nvSpPr>
          <p:cNvPr id="10" name="Text 8"/>
          <p:cNvSpPr/>
          <p:nvPr/>
        </p:nvSpPr>
        <p:spPr>
          <a:xfrm>
            <a:off x="8351215" y="3017520"/>
            <a:ext cx="3017520" cy="1143000"/>
          </a:xfrm>
          <a:prstGeom prst="rect">
            <a:avLst/>
          </a:prstGeom>
          <a:noFill/>
          <a:ln/>
        </p:spPr>
        <p:txBody>
          <a:bodyPr wrap="square" rtlCol="0" anchor="t"/>
          <a:lstStyle/>
          <a:p>
            <a:pPr marL="0" indent="0" algn="ctr" rtl="1">
              <a:lnSpc>
                <a:spcPct val="130000"/>
              </a:lnSpc>
              <a:buNone/>
            </a:pPr>
            <a:r>
              <a:rPr lang="ar-SA" altLang="en-US" sz="1600" dirty="0">
                <a:solidFill>
                  <a:srgbClr val="587078"/>
                </a:solidFill>
                <a:latin typeface="Dubai" panose="020B0503030403030204" pitchFamily="34" charset="-78"/>
                <a:ea typeface="Arial" pitchFamily="34" charset="-122"/>
                <a:cs typeface="Dubai" panose="020B0503030403030204" pitchFamily="34" charset="-78"/>
              </a:rPr>
              <a:t>يقرأ تحاليل السكر وضغط الدم ووزن المريض وعمره، فيقدّر احتمال إصابته بالسكري.</a:t>
            </a:r>
            <a:endParaRPr lang="ar-SA" sz="1600" dirty="0">
              <a:latin typeface="Dubai" panose="020B0503030403030204" pitchFamily="34" charset="-78"/>
              <a:cs typeface="Dubai" panose="020B0503030403030204" pitchFamily="34" charset="-78"/>
            </a:endParaRPr>
          </a:p>
        </p:txBody>
      </p:sp>
      <p:sp>
        <p:nvSpPr>
          <p:cNvPr id="11" name="Shape 9"/>
          <p:cNvSpPr/>
          <p:nvPr/>
        </p:nvSpPr>
        <p:spPr>
          <a:xfrm>
            <a:off x="4309567" y="1645920"/>
            <a:ext cx="3566160" cy="2651760"/>
          </a:xfrm>
          <a:prstGeom prst="roundRect">
            <a:avLst>
              <a:gd name="adj" fmla="val 2759"/>
            </a:avLst>
          </a:prstGeom>
          <a:solidFill>
            <a:srgbClr val="F2F8F8"/>
          </a:solidFill>
          <a:ln w="9525">
            <a:solidFill>
              <a:srgbClr val="D9E7E9"/>
            </a:solidFill>
            <a:prstDash val="solid"/>
          </a:ln>
        </p:spPr>
      </p:sp>
      <p:sp>
        <p:nvSpPr>
          <p:cNvPr id="12" name="Shape 10"/>
          <p:cNvSpPr/>
          <p:nvPr/>
        </p:nvSpPr>
        <p:spPr>
          <a:xfrm>
            <a:off x="5818327" y="1874520"/>
            <a:ext cx="548640" cy="548640"/>
          </a:xfrm>
          <a:prstGeom prst="ellipse">
            <a:avLst/>
          </a:prstGeom>
          <a:solidFill>
            <a:srgbClr val="02C39A"/>
          </a:solidFill>
          <a:ln/>
        </p:spPr>
      </p:sp>
      <p:sp>
        <p:nvSpPr>
          <p:cNvPr id="13" name="Text 11"/>
          <p:cNvSpPr/>
          <p:nvPr/>
        </p:nvSpPr>
        <p:spPr>
          <a:xfrm>
            <a:off x="5818327" y="1874520"/>
            <a:ext cx="548640" cy="548640"/>
          </a:xfrm>
          <a:prstGeom prst="rect">
            <a:avLst/>
          </a:prstGeom>
          <a:noFill/>
          <a:ln/>
        </p:spPr>
        <p:txBody>
          <a:bodyPr wrap="square" lIns="0" tIns="0" rIns="0" bIns="0" rtlCol="0" anchor="ctr"/>
          <a:lstStyle/>
          <a:p>
            <a:pPr marL="0" indent="0" algn="ctr" rtl="1">
              <a:buNone/>
            </a:pPr>
            <a:r>
              <a:rPr lang="en-US" altLang="en-US" sz="1800" b="1" dirty="0">
                <a:solidFill>
                  <a:srgbClr val="FFFFFF"/>
                </a:solidFill>
                <a:latin typeface="Dubai" panose="020B0503030403030204" pitchFamily="34" charset="-78"/>
                <a:ea typeface="Arial" pitchFamily="34" charset="-122"/>
                <a:cs typeface="Dubai" panose="020B0503030403030204" pitchFamily="34" charset="-78"/>
              </a:rPr>
              <a:t>2</a:t>
            </a:r>
            <a:endParaRPr lang="ar-SA" sz="1800" dirty="0">
              <a:latin typeface="Dubai" panose="020B0503030403030204" pitchFamily="34" charset="-78"/>
              <a:cs typeface="Dubai" panose="020B0503030403030204" pitchFamily="34" charset="-78"/>
            </a:endParaRPr>
          </a:p>
        </p:txBody>
      </p:sp>
      <p:sp>
        <p:nvSpPr>
          <p:cNvPr id="14" name="Text 12"/>
          <p:cNvSpPr/>
          <p:nvPr/>
        </p:nvSpPr>
        <p:spPr>
          <a:xfrm>
            <a:off x="4492447" y="2560320"/>
            <a:ext cx="3200400" cy="457200"/>
          </a:xfrm>
          <a:prstGeom prst="rect">
            <a:avLst/>
          </a:prstGeom>
          <a:noFill/>
          <a:ln/>
        </p:spPr>
        <p:txBody>
          <a:bodyPr wrap="square" rtlCol="0" anchor="ctr"/>
          <a:lstStyle/>
          <a:p>
            <a:pPr marL="0" indent="0" algn="ctr" rtl="1">
              <a:buNone/>
            </a:pPr>
            <a:r>
              <a:rPr lang="ar-SA" altLang="en-US" sz="2000" b="1" dirty="0">
                <a:solidFill>
                  <a:srgbClr val="0A3540"/>
                </a:solidFill>
                <a:latin typeface="Dubai" panose="020B0503030403030204" pitchFamily="34" charset="-78"/>
                <a:ea typeface="Arial" pitchFamily="34" charset="-122"/>
                <a:cs typeface="Dubai" panose="020B0503030403030204" pitchFamily="34" charset="-78"/>
              </a:rPr>
              <a:t>خطر أمراض القلب</a:t>
            </a:r>
            <a:endParaRPr lang="ar-SA" sz="2000" dirty="0">
              <a:latin typeface="Dubai" panose="020B0503030403030204" pitchFamily="34" charset="-78"/>
              <a:cs typeface="Dubai" panose="020B0503030403030204" pitchFamily="34" charset="-78"/>
            </a:endParaRPr>
          </a:p>
        </p:txBody>
      </p:sp>
      <p:sp>
        <p:nvSpPr>
          <p:cNvPr id="15" name="Text 13"/>
          <p:cNvSpPr/>
          <p:nvPr/>
        </p:nvSpPr>
        <p:spPr>
          <a:xfrm>
            <a:off x="4583887" y="3017520"/>
            <a:ext cx="3017520" cy="1143000"/>
          </a:xfrm>
          <a:prstGeom prst="rect">
            <a:avLst/>
          </a:prstGeom>
          <a:noFill/>
          <a:ln/>
        </p:spPr>
        <p:txBody>
          <a:bodyPr wrap="square" rtlCol="0" anchor="t"/>
          <a:lstStyle/>
          <a:p>
            <a:pPr marL="0" indent="0" algn="ctr" rtl="1">
              <a:lnSpc>
                <a:spcPct val="130000"/>
              </a:lnSpc>
              <a:buNone/>
            </a:pPr>
            <a:r>
              <a:rPr lang="ar-SA" altLang="en-US" sz="1600" dirty="0">
                <a:solidFill>
                  <a:srgbClr val="587078"/>
                </a:solidFill>
                <a:latin typeface="Dubai" panose="020B0503030403030204" pitchFamily="34" charset="-78"/>
                <a:ea typeface="Arial" pitchFamily="34" charset="-122"/>
                <a:cs typeface="Dubai" panose="020B0503030403030204" pitchFamily="34" charset="-78"/>
              </a:rPr>
              <a:t>يقرأ الضغط والكوليسترول والنبض، فيقدّر احتمال إصابته بمرضٍ قلبي.</a:t>
            </a:r>
            <a:endParaRPr lang="ar-SA" sz="1600" dirty="0">
              <a:latin typeface="Dubai" panose="020B0503030403030204" pitchFamily="34" charset="-78"/>
              <a:cs typeface="Dubai" panose="020B0503030403030204" pitchFamily="34" charset="-78"/>
            </a:endParaRPr>
          </a:p>
        </p:txBody>
      </p:sp>
      <p:sp>
        <p:nvSpPr>
          <p:cNvPr id="16" name="Shape 14"/>
          <p:cNvSpPr/>
          <p:nvPr/>
        </p:nvSpPr>
        <p:spPr>
          <a:xfrm>
            <a:off x="542239" y="1645920"/>
            <a:ext cx="3566160" cy="2651760"/>
          </a:xfrm>
          <a:prstGeom prst="roundRect">
            <a:avLst>
              <a:gd name="adj" fmla="val 2759"/>
            </a:avLst>
          </a:prstGeom>
          <a:solidFill>
            <a:srgbClr val="F2F8F8"/>
          </a:solidFill>
          <a:ln w="9525">
            <a:solidFill>
              <a:srgbClr val="D9E7E9"/>
            </a:solidFill>
            <a:prstDash val="solid"/>
          </a:ln>
        </p:spPr>
      </p:sp>
      <p:sp>
        <p:nvSpPr>
          <p:cNvPr id="17" name="Shape 15"/>
          <p:cNvSpPr/>
          <p:nvPr/>
        </p:nvSpPr>
        <p:spPr>
          <a:xfrm>
            <a:off x="2050999" y="1874520"/>
            <a:ext cx="548640" cy="548640"/>
          </a:xfrm>
          <a:prstGeom prst="ellipse">
            <a:avLst/>
          </a:prstGeom>
          <a:solidFill>
            <a:srgbClr val="E9B44C"/>
          </a:solidFill>
          <a:ln/>
        </p:spPr>
      </p:sp>
      <p:sp>
        <p:nvSpPr>
          <p:cNvPr id="18" name="Text 16"/>
          <p:cNvSpPr/>
          <p:nvPr/>
        </p:nvSpPr>
        <p:spPr>
          <a:xfrm>
            <a:off x="2050999" y="1874520"/>
            <a:ext cx="548640" cy="548640"/>
          </a:xfrm>
          <a:prstGeom prst="rect">
            <a:avLst/>
          </a:prstGeom>
          <a:noFill/>
          <a:ln/>
        </p:spPr>
        <p:txBody>
          <a:bodyPr wrap="square" lIns="0" tIns="0" rIns="0" bIns="0" rtlCol="0" anchor="ctr"/>
          <a:lstStyle/>
          <a:p>
            <a:pPr marL="0" indent="0" algn="ctr" rtl="1">
              <a:buNone/>
            </a:pPr>
            <a:r>
              <a:rPr lang="en-US" altLang="en-US" sz="1800" b="1" dirty="0">
                <a:solidFill>
                  <a:srgbClr val="0A3540"/>
                </a:solidFill>
                <a:latin typeface="Dubai" panose="020B0503030403030204" pitchFamily="34" charset="-78"/>
                <a:ea typeface="Arial" pitchFamily="34" charset="-122"/>
                <a:cs typeface="Dubai" panose="020B0503030403030204" pitchFamily="34" charset="-78"/>
              </a:rPr>
              <a:t>3</a:t>
            </a:r>
            <a:endParaRPr lang="ar-SA" sz="1800" dirty="0">
              <a:latin typeface="Dubai" panose="020B0503030403030204" pitchFamily="34" charset="-78"/>
              <a:cs typeface="Dubai" panose="020B0503030403030204" pitchFamily="34" charset="-78"/>
            </a:endParaRPr>
          </a:p>
        </p:txBody>
      </p:sp>
      <p:sp>
        <p:nvSpPr>
          <p:cNvPr id="19" name="Text 17"/>
          <p:cNvSpPr/>
          <p:nvPr/>
        </p:nvSpPr>
        <p:spPr>
          <a:xfrm>
            <a:off x="725119" y="2560320"/>
            <a:ext cx="3200400" cy="457200"/>
          </a:xfrm>
          <a:prstGeom prst="rect">
            <a:avLst/>
          </a:prstGeom>
          <a:noFill/>
          <a:ln/>
        </p:spPr>
        <p:txBody>
          <a:bodyPr wrap="square" rtlCol="0" anchor="ctr"/>
          <a:lstStyle/>
          <a:p>
            <a:pPr marL="0" indent="0" algn="ctr" rtl="1">
              <a:buNone/>
            </a:pPr>
            <a:r>
              <a:rPr lang="ar-SA" altLang="en-US" sz="2000" b="1" dirty="0">
                <a:solidFill>
                  <a:srgbClr val="0A3540"/>
                </a:solidFill>
                <a:latin typeface="Dubai" panose="020B0503030403030204" pitchFamily="34" charset="-78"/>
                <a:ea typeface="Arial" pitchFamily="34" charset="-122"/>
                <a:cs typeface="Dubai" panose="020B0503030403030204" pitchFamily="34" charset="-78"/>
              </a:rPr>
              <a:t>خطر العودة إلى المشفى</a:t>
            </a:r>
            <a:endParaRPr lang="ar-SA" sz="2000" dirty="0">
              <a:latin typeface="Dubai" panose="020B0503030403030204" pitchFamily="34" charset="-78"/>
              <a:cs typeface="Dubai" panose="020B0503030403030204" pitchFamily="34" charset="-78"/>
            </a:endParaRPr>
          </a:p>
        </p:txBody>
      </p:sp>
      <p:sp>
        <p:nvSpPr>
          <p:cNvPr id="20" name="Text 18"/>
          <p:cNvSpPr/>
          <p:nvPr/>
        </p:nvSpPr>
        <p:spPr>
          <a:xfrm>
            <a:off x="816559" y="3017520"/>
            <a:ext cx="3017520" cy="1143000"/>
          </a:xfrm>
          <a:prstGeom prst="rect">
            <a:avLst/>
          </a:prstGeom>
          <a:noFill/>
          <a:ln/>
        </p:spPr>
        <p:txBody>
          <a:bodyPr wrap="square" rtlCol="0" anchor="t"/>
          <a:lstStyle/>
          <a:p>
            <a:pPr marL="0" indent="0" algn="ctr" rtl="1">
              <a:lnSpc>
                <a:spcPct val="130000"/>
              </a:lnSpc>
              <a:buNone/>
            </a:pPr>
            <a:r>
              <a:rPr lang="ar-SA" altLang="en-US" sz="1600" dirty="0">
                <a:solidFill>
                  <a:srgbClr val="587078"/>
                </a:solidFill>
                <a:latin typeface="Dubai" panose="020B0503030403030204" pitchFamily="34" charset="-78"/>
                <a:ea typeface="Arial" pitchFamily="34" charset="-122"/>
                <a:cs typeface="Dubai" panose="020B0503030403030204" pitchFamily="34" charset="-78"/>
              </a:rPr>
              <a:t>يقرأ عدد أمراضه وأدويته وزياراته، فيقدّر احتمال عودته إلى المشفى خلال شهر.</a:t>
            </a:r>
            <a:endParaRPr lang="ar-SA" sz="1600" dirty="0">
              <a:latin typeface="Dubai" panose="020B0503030403030204" pitchFamily="34" charset="-78"/>
              <a:cs typeface="Dubai" panose="020B0503030403030204" pitchFamily="34" charset="-78"/>
            </a:endParaRPr>
          </a:p>
        </p:txBody>
      </p:sp>
      <p:sp>
        <p:nvSpPr>
          <p:cNvPr id="21" name="Shape 19"/>
          <p:cNvSpPr/>
          <p:nvPr/>
        </p:nvSpPr>
        <p:spPr>
          <a:xfrm>
            <a:off x="548640" y="4572000"/>
            <a:ext cx="11094415" cy="1554480"/>
          </a:xfrm>
          <a:prstGeom prst="roundRect">
            <a:avLst>
              <a:gd name="adj" fmla="val 4706"/>
            </a:avLst>
          </a:prstGeom>
          <a:solidFill>
            <a:srgbClr val="F2F8F8"/>
          </a:solidFill>
          <a:ln w="9525">
            <a:solidFill>
              <a:srgbClr val="D9E7E9"/>
            </a:solidFill>
            <a:prstDash val="solid"/>
          </a:ln>
        </p:spPr>
      </p:sp>
      <p:sp>
        <p:nvSpPr>
          <p:cNvPr id="22" name="Text 20"/>
          <p:cNvSpPr/>
          <p:nvPr/>
        </p:nvSpPr>
        <p:spPr>
          <a:xfrm>
            <a:off x="868680" y="4754880"/>
            <a:ext cx="10454335" cy="1234440"/>
          </a:xfrm>
          <a:prstGeom prst="rect">
            <a:avLst/>
          </a:prstGeom>
          <a:noFill/>
          <a:ln/>
        </p:spPr>
        <p:txBody>
          <a:bodyPr wrap="square" rtlCol="0" anchor="t"/>
          <a:lstStyle/>
          <a:p>
            <a:pPr marL="152400" indent="-152400" algn="r" rtl="1">
              <a:lnSpc>
                <a:spcPct val="120000"/>
              </a:lnSpc>
              <a:spcAft>
                <a:spcPts val="800"/>
              </a:spcAft>
              <a:buSzPct val="100000"/>
              <a:buChar char="•"/>
            </a:pPr>
            <a:r>
              <a:rPr lang="ar-SA" altLang="en-US" sz="1600" dirty="0">
                <a:solidFill>
                  <a:srgbClr val="12333C"/>
                </a:solidFill>
                <a:latin typeface="Dubai" panose="020B0503030403030204" pitchFamily="34" charset="-78"/>
                <a:ea typeface="Arial" pitchFamily="34" charset="-122"/>
                <a:cs typeface="Dubai" panose="020B0503030403030204" pitchFamily="34" charset="-78"/>
              </a:rPr>
              <a:t>دُرّبت النماذج على بياناتٍ طبية منشورة عالمياً، وتعمل داخل النظام على بيانات المريض الفعلية.</a:t>
            </a:r>
            <a:endParaRPr lang="ar-SA" sz="1600" dirty="0">
              <a:latin typeface="Dubai" panose="020B0503030403030204" pitchFamily="34" charset="-78"/>
              <a:cs typeface="Dubai" panose="020B0503030403030204" pitchFamily="34" charset="-78"/>
            </a:endParaRPr>
          </a:p>
          <a:p>
            <a:pPr marL="152400" indent="-152400" algn="r" rtl="1">
              <a:lnSpc>
                <a:spcPct val="120000"/>
              </a:lnSpc>
              <a:spcAft>
                <a:spcPts val="800"/>
              </a:spcAft>
              <a:buSzPct val="100000"/>
              <a:buChar char="•"/>
            </a:pPr>
            <a:r>
              <a:rPr lang="ar-SA" altLang="en-US" sz="1600" dirty="0">
                <a:solidFill>
                  <a:srgbClr val="12333C"/>
                </a:solidFill>
                <a:latin typeface="Dubai" panose="020B0503030403030204" pitchFamily="34" charset="-78"/>
                <a:ea typeface="Arial" pitchFamily="34" charset="-122"/>
                <a:cs typeface="Dubai" panose="020B0503030403030204" pitchFamily="34" charset="-78"/>
              </a:rPr>
              <a:t>النظام صريح: إن نقصت معلومةٌ من الملف أخبر الطبيبَ أنّ التقدير تقريبي.</a:t>
            </a:r>
            <a:endParaRPr lang="ar-SA" sz="1600" dirty="0">
              <a:latin typeface="Dubai" panose="020B0503030403030204" pitchFamily="34" charset="-78"/>
              <a:cs typeface="Dubai" panose="020B0503030403030204" pitchFamily="34" charset="-78"/>
            </a:endParaRPr>
          </a:p>
          <a:p>
            <a:pPr marL="152400" indent="-152400" algn="r" rtl="1">
              <a:lnSpc>
                <a:spcPct val="120000"/>
              </a:lnSpc>
              <a:spcAft>
                <a:spcPts val="800"/>
              </a:spcAft>
              <a:buSzPct val="100000"/>
              <a:buChar char="•"/>
            </a:pPr>
            <a:r>
              <a:rPr lang="ar-SA" altLang="en-US" sz="1600" dirty="0">
                <a:solidFill>
                  <a:srgbClr val="12333C"/>
                </a:solidFill>
                <a:latin typeface="Dubai" panose="020B0503030403030204" pitchFamily="34" charset="-78"/>
                <a:ea typeface="Arial" pitchFamily="34" charset="-122"/>
                <a:cs typeface="Dubai" panose="020B0503030403030204" pitchFamily="34" charset="-78"/>
              </a:rPr>
              <a:t>التقدير يساعد الطبيب على ترتيب أولوياته — ولا يحلّ محلّ حكمه السريري أبداً.</a:t>
            </a:r>
            <a:endParaRPr lang="ar-SA" sz="1600" dirty="0">
              <a:latin typeface="Dubai" panose="020B0503030403030204" pitchFamily="34" charset="-78"/>
              <a:cs typeface="Dubai" panose="020B0503030403030204" pitchFamily="34" charset="-7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587078"/>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900" dirty="0">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en-US" sz="900" dirty="0">
                <a:solidFill>
                  <a:srgbClr val="587078"/>
                </a:solidFill>
                <a:latin typeface="Arial" pitchFamily="34" charset="0"/>
                <a:ea typeface="Arial" pitchFamily="34" charset="-122"/>
                <a:cs typeface="Arial" pitchFamily="34" charset="-120"/>
              </a:rPr>
              <a:t>10</a:t>
            </a:r>
            <a:endParaRPr lang="en-US" sz="900" dirty="0"/>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indent="0" algn="r" rtl="1">
              <a:buNone/>
            </a:pPr>
            <a:r>
              <a:rPr lang="ar-SA" altLang="en-US" sz="2900" b="1" dirty="0">
                <a:solidFill>
                  <a:srgbClr val="0A3540"/>
                </a:solidFill>
                <a:latin typeface="Dubai" panose="020B0503030403030204" pitchFamily="34" charset="-78"/>
                <a:ea typeface="Arial" pitchFamily="34" charset="-122"/>
                <a:cs typeface="Dubai" panose="020B0503030403030204" pitchFamily="34" charset="-78"/>
              </a:rPr>
              <a:t>الأمان والخصوصية</a:t>
            </a:r>
            <a:endParaRPr lang="ar-SA" sz="2900" dirty="0">
              <a:latin typeface="Dubai" panose="020B0503030403030204" pitchFamily="34" charset="-78"/>
              <a:cs typeface="Dubai" panose="020B0503030403030204" pitchFamily="34" charset="-78"/>
            </a:endParaRPr>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indent="0" algn="r" rtl="1">
              <a:buNone/>
            </a:pPr>
            <a:r>
              <a:rPr lang="ar-SA" altLang="en-US" sz="1400" dirty="0">
                <a:solidFill>
                  <a:srgbClr val="0E7C86"/>
                </a:solidFill>
                <a:latin typeface="Dubai" panose="020B0503030403030204" pitchFamily="34" charset="-78"/>
                <a:ea typeface="Arial" pitchFamily="34" charset="-122"/>
                <a:cs typeface="Dubai" panose="020B0503030403030204" pitchFamily="34" charset="-78"/>
              </a:rPr>
              <a:t>البيانات الصحية أمانة — هكذا نحميها</a:t>
            </a:r>
            <a:endParaRPr lang="ar-SA" sz="1400" dirty="0">
              <a:latin typeface="Dubai" panose="020B0503030403030204" pitchFamily="34" charset="-78"/>
              <a:cs typeface="Dubai" panose="020B0503030403030204" pitchFamily="34" charset="-78"/>
            </a:endParaRPr>
          </a:p>
        </p:txBody>
      </p:sp>
      <p:sp>
        <p:nvSpPr>
          <p:cNvPr id="6" name="Shape 4"/>
          <p:cNvSpPr/>
          <p:nvPr/>
        </p:nvSpPr>
        <p:spPr>
          <a:xfrm>
            <a:off x="548640" y="1645920"/>
            <a:ext cx="11094415" cy="960120"/>
          </a:xfrm>
          <a:prstGeom prst="roundRect">
            <a:avLst>
              <a:gd name="adj" fmla="val 7619"/>
            </a:avLst>
          </a:prstGeom>
          <a:solidFill>
            <a:srgbClr val="F2F8F8"/>
          </a:solidFill>
          <a:ln w="9525">
            <a:solidFill>
              <a:srgbClr val="D9E7E9"/>
            </a:solidFill>
            <a:prstDash val="solid"/>
          </a:ln>
        </p:spPr>
      </p:sp>
      <p:sp>
        <p:nvSpPr>
          <p:cNvPr id="7" name="Shape 5"/>
          <p:cNvSpPr/>
          <p:nvPr/>
        </p:nvSpPr>
        <p:spPr>
          <a:xfrm>
            <a:off x="10728655" y="1865376"/>
            <a:ext cx="512064" cy="512064"/>
          </a:xfrm>
          <a:prstGeom prst="ellipse">
            <a:avLst/>
          </a:prstGeom>
          <a:solidFill>
            <a:srgbClr val="0E7C86"/>
          </a:solidFill>
          <a:ln/>
        </p:spPr>
      </p:sp>
      <p:sp>
        <p:nvSpPr>
          <p:cNvPr id="8" name="Text 6"/>
          <p:cNvSpPr/>
          <p:nvPr/>
        </p:nvSpPr>
        <p:spPr>
          <a:xfrm>
            <a:off x="10728655" y="18653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Dubai" panose="020B0503030403030204" pitchFamily="34" charset="-78"/>
                <a:ea typeface="Arial" pitchFamily="34" charset="-122"/>
                <a:cs typeface="Dubai" panose="020B0503030403030204" pitchFamily="34" charset="-78"/>
              </a:rPr>
              <a:t>1</a:t>
            </a:r>
            <a:endParaRPr lang="en-US" sz="1800" dirty="0">
              <a:latin typeface="Dubai" panose="020B0503030403030204" pitchFamily="34" charset="-78"/>
              <a:cs typeface="Dubai" panose="020B0503030403030204" pitchFamily="34" charset="-78"/>
            </a:endParaRPr>
          </a:p>
        </p:txBody>
      </p:sp>
      <p:sp>
        <p:nvSpPr>
          <p:cNvPr id="9" name="Text 7"/>
          <p:cNvSpPr/>
          <p:nvPr/>
        </p:nvSpPr>
        <p:spPr>
          <a:xfrm>
            <a:off x="822960" y="1645920"/>
            <a:ext cx="9631375" cy="960120"/>
          </a:xfrm>
          <a:prstGeom prst="rect">
            <a:avLst/>
          </a:prstGeom>
          <a:noFill/>
          <a:ln/>
        </p:spPr>
        <p:txBody>
          <a:bodyPr wrap="square" lIns="0" tIns="0" rIns="0" bIns="0" rtlCol="0" anchor="ctr"/>
          <a:lstStyle/>
          <a:p>
            <a:pPr marL="0" indent="0" algn="r" rtl="1">
              <a:lnSpc>
                <a:spcPct val="120000"/>
              </a:lnSpc>
              <a:buNone/>
            </a:pPr>
            <a:r>
              <a:rPr lang="ar-SA" altLang="en-US" sz="1600" b="1" dirty="0">
                <a:solidFill>
                  <a:srgbClr val="0A3540"/>
                </a:solidFill>
                <a:latin typeface="Dubai" panose="020B0503030403030204" pitchFamily="34" charset="-78"/>
                <a:ea typeface="Arial" pitchFamily="34" charset="-122"/>
                <a:cs typeface="Dubai" panose="020B0503030403030204" pitchFamily="34" charset="-78"/>
              </a:rPr>
              <a:t>حسابٌ واحد وبوابة دخولٍ آمنة   </a:t>
            </a:r>
            <a:r>
              <a:rPr lang="ar-SA" altLang="en-US" sz="1400" dirty="0">
                <a:solidFill>
                  <a:srgbClr val="587078"/>
                </a:solidFill>
                <a:latin typeface="Dubai" panose="020B0503030403030204" pitchFamily="34" charset="-78"/>
                <a:ea typeface="Arial" pitchFamily="34" charset="-122"/>
                <a:cs typeface="Dubai" panose="020B0503030403030204" pitchFamily="34" charset="-78"/>
              </a:rPr>
              <a:t>تسجيل الدخول موحّد عبر بوابة هويةٍ مستقلة، فلا يخزّن النظام كلمات المرور إطلاقاً.</a:t>
            </a:r>
            <a:endParaRPr lang="ar-SA" sz="1600" dirty="0">
              <a:latin typeface="Dubai" panose="020B0503030403030204" pitchFamily="34" charset="-78"/>
              <a:cs typeface="Dubai" panose="020B0503030403030204" pitchFamily="34" charset="-78"/>
            </a:endParaRPr>
          </a:p>
        </p:txBody>
      </p:sp>
      <p:sp>
        <p:nvSpPr>
          <p:cNvPr id="10" name="Shape 8"/>
          <p:cNvSpPr/>
          <p:nvPr/>
        </p:nvSpPr>
        <p:spPr>
          <a:xfrm>
            <a:off x="548640" y="2788920"/>
            <a:ext cx="11094415" cy="960120"/>
          </a:xfrm>
          <a:prstGeom prst="roundRect">
            <a:avLst>
              <a:gd name="adj" fmla="val 7619"/>
            </a:avLst>
          </a:prstGeom>
          <a:solidFill>
            <a:srgbClr val="FFFFFF"/>
          </a:solidFill>
          <a:ln w="9525">
            <a:solidFill>
              <a:srgbClr val="D9E7E9"/>
            </a:solidFill>
            <a:prstDash val="solid"/>
          </a:ln>
        </p:spPr>
      </p:sp>
      <p:sp>
        <p:nvSpPr>
          <p:cNvPr id="11" name="Shape 9"/>
          <p:cNvSpPr/>
          <p:nvPr/>
        </p:nvSpPr>
        <p:spPr>
          <a:xfrm>
            <a:off x="10728655" y="3008376"/>
            <a:ext cx="512064" cy="512064"/>
          </a:xfrm>
          <a:prstGeom prst="ellipse">
            <a:avLst/>
          </a:prstGeom>
          <a:solidFill>
            <a:srgbClr val="0E7C86"/>
          </a:solidFill>
          <a:ln/>
        </p:spPr>
      </p:sp>
      <p:sp>
        <p:nvSpPr>
          <p:cNvPr id="12" name="Text 10"/>
          <p:cNvSpPr/>
          <p:nvPr/>
        </p:nvSpPr>
        <p:spPr>
          <a:xfrm>
            <a:off x="10728655" y="30083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Dubai" panose="020B0503030403030204" pitchFamily="34" charset="-78"/>
                <a:ea typeface="Arial" pitchFamily="34" charset="-122"/>
                <a:cs typeface="Dubai" panose="020B0503030403030204" pitchFamily="34" charset="-78"/>
              </a:rPr>
              <a:t>2</a:t>
            </a:r>
            <a:endParaRPr lang="en-US" sz="1800" dirty="0">
              <a:latin typeface="Dubai" panose="020B0503030403030204" pitchFamily="34" charset="-78"/>
              <a:cs typeface="Dubai" panose="020B0503030403030204" pitchFamily="34" charset="-78"/>
            </a:endParaRPr>
          </a:p>
        </p:txBody>
      </p:sp>
      <p:sp>
        <p:nvSpPr>
          <p:cNvPr id="13" name="Text 11"/>
          <p:cNvSpPr/>
          <p:nvPr/>
        </p:nvSpPr>
        <p:spPr>
          <a:xfrm>
            <a:off x="822960" y="2788920"/>
            <a:ext cx="9631375" cy="960120"/>
          </a:xfrm>
          <a:prstGeom prst="rect">
            <a:avLst/>
          </a:prstGeom>
          <a:noFill/>
          <a:ln/>
        </p:spPr>
        <p:txBody>
          <a:bodyPr wrap="square" lIns="0" tIns="0" rIns="0" bIns="0" rtlCol="0" anchor="ctr"/>
          <a:lstStyle/>
          <a:p>
            <a:pPr marL="0" indent="0" algn="r" rtl="1">
              <a:lnSpc>
                <a:spcPct val="120000"/>
              </a:lnSpc>
              <a:buNone/>
            </a:pPr>
            <a:r>
              <a:rPr lang="ar-SA" altLang="en-US" sz="1600" b="1" dirty="0">
                <a:solidFill>
                  <a:srgbClr val="0A3540"/>
                </a:solidFill>
                <a:latin typeface="Dubai" panose="020B0503030403030204" pitchFamily="34" charset="-78"/>
                <a:ea typeface="Arial" pitchFamily="34" charset="-122"/>
                <a:cs typeface="Dubai" panose="020B0503030403030204" pitchFamily="34" charset="-78"/>
              </a:rPr>
              <a:t>كلٌّ يرى ما يخصّه فقط   </a:t>
            </a:r>
            <a:r>
              <a:rPr lang="ar-SA" altLang="en-US" sz="1400" dirty="0">
                <a:solidFill>
                  <a:srgbClr val="587078"/>
                </a:solidFill>
                <a:latin typeface="Dubai" panose="020B0503030403030204" pitchFamily="34" charset="-78"/>
                <a:ea typeface="Arial" pitchFamily="34" charset="-122"/>
                <a:cs typeface="Dubai" panose="020B0503030403030204" pitchFamily="34" charset="-78"/>
              </a:rPr>
              <a:t>صلاحياتٌ دقيقة بحسب الدور: المريض لا يرى إلا ملفه، والطبيب لا يتجاوز مرضاه، والمدير حدوده واضحة.</a:t>
            </a:r>
            <a:endParaRPr lang="ar-SA" sz="1600" dirty="0">
              <a:latin typeface="Dubai" panose="020B0503030403030204" pitchFamily="34" charset="-78"/>
              <a:cs typeface="Dubai" panose="020B0503030403030204" pitchFamily="34" charset="-78"/>
            </a:endParaRPr>
          </a:p>
        </p:txBody>
      </p:sp>
      <p:sp>
        <p:nvSpPr>
          <p:cNvPr id="14" name="Shape 12"/>
          <p:cNvSpPr/>
          <p:nvPr/>
        </p:nvSpPr>
        <p:spPr>
          <a:xfrm>
            <a:off x="548640" y="3931920"/>
            <a:ext cx="11094415" cy="960120"/>
          </a:xfrm>
          <a:prstGeom prst="roundRect">
            <a:avLst>
              <a:gd name="adj" fmla="val 7619"/>
            </a:avLst>
          </a:prstGeom>
          <a:solidFill>
            <a:srgbClr val="F2F8F8"/>
          </a:solidFill>
          <a:ln w="9525">
            <a:solidFill>
              <a:srgbClr val="D9E7E9"/>
            </a:solidFill>
            <a:prstDash val="solid"/>
          </a:ln>
        </p:spPr>
      </p:sp>
      <p:sp>
        <p:nvSpPr>
          <p:cNvPr id="15" name="Shape 13"/>
          <p:cNvSpPr/>
          <p:nvPr/>
        </p:nvSpPr>
        <p:spPr>
          <a:xfrm>
            <a:off x="10728655" y="4151376"/>
            <a:ext cx="512064" cy="512064"/>
          </a:xfrm>
          <a:prstGeom prst="ellipse">
            <a:avLst/>
          </a:prstGeom>
          <a:solidFill>
            <a:srgbClr val="0E7C86"/>
          </a:solidFill>
          <a:ln/>
        </p:spPr>
      </p:sp>
      <p:sp>
        <p:nvSpPr>
          <p:cNvPr id="16" name="Text 14"/>
          <p:cNvSpPr/>
          <p:nvPr/>
        </p:nvSpPr>
        <p:spPr>
          <a:xfrm>
            <a:off x="10728655" y="41513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Dubai" panose="020B0503030403030204" pitchFamily="34" charset="-78"/>
                <a:ea typeface="Arial" pitchFamily="34" charset="-122"/>
                <a:cs typeface="Dubai" panose="020B0503030403030204" pitchFamily="34" charset="-78"/>
              </a:rPr>
              <a:t>3</a:t>
            </a:r>
            <a:endParaRPr lang="en-US" sz="1800" dirty="0">
              <a:latin typeface="Dubai" panose="020B0503030403030204" pitchFamily="34" charset="-78"/>
              <a:cs typeface="Dubai" panose="020B0503030403030204" pitchFamily="34" charset="-78"/>
            </a:endParaRPr>
          </a:p>
        </p:txBody>
      </p:sp>
      <p:sp>
        <p:nvSpPr>
          <p:cNvPr id="17" name="Text 15"/>
          <p:cNvSpPr/>
          <p:nvPr/>
        </p:nvSpPr>
        <p:spPr>
          <a:xfrm>
            <a:off x="822960" y="3931920"/>
            <a:ext cx="9631375" cy="960120"/>
          </a:xfrm>
          <a:prstGeom prst="rect">
            <a:avLst/>
          </a:prstGeom>
          <a:noFill/>
          <a:ln/>
        </p:spPr>
        <p:txBody>
          <a:bodyPr wrap="square" lIns="0" tIns="0" rIns="0" bIns="0" rtlCol="0" anchor="ctr"/>
          <a:lstStyle/>
          <a:p>
            <a:pPr marL="0" indent="0" algn="r" rtl="1">
              <a:lnSpc>
                <a:spcPct val="120000"/>
              </a:lnSpc>
              <a:buNone/>
            </a:pPr>
            <a:r>
              <a:rPr lang="ar-SA" altLang="en-US" sz="1600" b="1" dirty="0">
                <a:solidFill>
                  <a:srgbClr val="0A3540"/>
                </a:solidFill>
                <a:latin typeface="Dubai" panose="020B0503030403030204" pitchFamily="34" charset="-78"/>
                <a:ea typeface="Arial" pitchFamily="34" charset="-122"/>
                <a:cs typeface="Dubai" panose="020B0503030403030204" pitchFamily="34" charset="-78"/>
              </a:rPr>
              <a:t>اتصالاتٌ مشفّرة بالكامل   </a:t>
            </a:r>
            <a:r>
              <a:rPr lang="ar-SA" altLang="en-US" sz="1400" dirty="0">
                <a:solidFill>
                  <a:srgbClr val="587078"/>
                </a:solidFill>
                <a:latin typeface="Dubai" panose="020B0503030403030204" pitchFamily="34" charset="-78"/>
                <a:ea typeface="Arial" pitchFamily="34" charset="-122"/>
                <a:cs typeface="Dubai" panose="020B0503030403030204" pitchFamily="34" charset="-78"/>
              </a:rPr>
              <a:t>كلّ ما ينتقل بين المتصفح والخوادم مشفّر، ولا تُحفَظ أسرار الربط الخارجي إلا مشفّرةً كذلك.</a:t>
            </a:r>
            <a:endParaRPr lang="ar-SA" sz="1600" dirty="0">
              <a:latin typeface="Dubai" panose="020B0503030403030204" pitchFamily="34" charset="-78"/>
              <a:cs typeface="Dubai" panose="020B0503030403030204" pitchFamily="34" charset="-78"/>
            </a:endParaRPr>
          </a:p>
        </p:txBody>
      </p:sp>
      <p:sp>
        <p:nvSpPr>
          <p:cNvPr id="18" name="Shape 16"/>
          <p:cNvSpPr/>
          <p:nvPr/>
        </p:nvSpPr>
        <p:spPr>
          <a:xfrm>
            <a:off x="548640" y="5074920"/>
            <a:ext cx="11094415" cy="960120"/>
          </a:xfrm>
          <a:prstGeom prst="roundRect">
            <a:avLst>
              <a:gd name="adj" fmla="val 7619"/>
            </a:avLst>
          </a:prstGeom>
          <a:solidFill>
            <a:srgbClr val="FFFFFF"/>
          </a:solidFill>
          <a:ln w="9525">
            <a:solidFill>
              <a:srgbClr val="D9E7E9"/>
            </a:solidFill>
            <a:prstDash val="solid"/>
          </a:ln>
        </p:spPr>
      </p:sp>
      <p:sp>
        <p:nvSpPr>
          <p:cNvPr id="19" name="Shape 17"/>
          <p:cNvSpPr/>
          <p:nvPr/>
        </p:nvSpPr>
        <p:spPr>
          <a:xfrm>
            <a:off x="10728655" y="5294376"/>
            <a:ext cx="512064" cy="512064"/>
          </a:xfrm>
          <a:prstGeom prst="ellipse">
            <a:avLst/>
          </a:prstGeom>
          <a:solidFill>
            <a:srgbClr val="0E7C86"/>
          </a:solidFill>
          <a:ln/>
        </p:spPr>
      </p:sp>
      <p:sp>
        <p:nvSpPr>
          <p:cNvPr id="20" name="Text 18"/>
          <p:cNvSpPr/>
          <p:nvPr/>
        </p:nvSpPr>
        <p:spPr>
          <a:xfrm>
            <a:off x="10728655" y="52943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Dubai" panose="020B0503030403030204" pitchFamily="34" charset="-78"/>
                <a:ea typeface="Arial" pitchFamily="34" charset="-122"/>
                <a:cs typeface="Dubai" panose="020B0503030403030204" pitchFamily="34" charset="-78"/>
              </a:rPr>
              <a:t>4</a:t>
            </a:r>
            <a:endParaRPr lang="en-US" sz="1800" dirty="0">
              <a:latin typeface="Dubai" panose="020B0503030403030204" pitchFamily="34" charset="-78"/>
              <a:cs typeface="Dubai" panose="020B0503030403030204" pitchFamily="34" charset="-78"/>
            </a:endParaRPr>
          </a:p>
        </p:txBody>
      </p:sp>
      <p:sp>
        <p:nvSpPr>
          <p:cNvPr id="21" name="Text 19"/>
          <p:cNvSpPr/>
          <p:nvPr/>
        </p:nvSpPr>
        <p:spPr>
          <a:xfrm>
            <a:off x="822960" y="5074920"/>
            <a:ext cx="9631375" cy="960120"/>
          </a:xfrm>
          <a:prstGeom prst="rect">
            <a:avLst/>
          </a:prstGeom>
          <a:noFill/>
          <a:ln/>
        </p:spPr>
        <p:txBody>
          <a:bodyPr wrap="square" lIns="0" tIns="0" rIns="0" bIns="0" rtlCol="0" anchor="ctr"/>
          <a:lstStyle/>
          <a:p>
            <a:pPr marL="0" indent="0" algn="r" rtl="1">
              <a:lnSpc>
                <a:spcPct val="120000"/>
              </a:lnSpc>
              <a:buNone/>
            </a:pPr>
            <a:r>
              <a:rPr lang="ar-SA" altLang="en-US" sz="1600" b="1" dirty="0">
                <a:solidFill>
                  <a:srgbClr val="0A3540"/>
                </a:solidFill>
                <a:latin typeface="Dubai" panose="020B0503030403030204" pitchFamily="34" charset="-78"/>
                <a:ea typeface="Arial" pitchFamily="34" charset="-122"/>
                <a:cs typeface="Dubai" panose="020B0503030403030204" pitchFamily="34" charset="-78"/>
              </a:rPr>
              <a:t>كلّ تعديلٍ موثَّق   </a:t>
            </a:r>
            <a:r>
              <a:rPr lang="ar-SA" altLang="en-US" sz="1400" dirty="0">
                <a:solidFill>
                  <a:srgbClr val="587078"/>
                </a:solidFill>
                <a:latin typeface="Dubai" panose="020B0503030403030204" pitchFamily="34" charset="-78"/>
                <a:ea typeface="Arial" pitchFamily="34" charset="-122"/>
                <a:cs typeface="Dubai" panose="020B0503030403030204" pitchFamily="34" charset="-78"/>
              </a:rPr>
              <a:t>أيّ تغييرٍ على أيّ سجل يُحفَظ بنسخته وتاريخه وصاحبه — أساسٌ للمساءلة والتدقيق الطبي.</a:t>
            </a:r>
            <a:endParaRPr lang="ar-SA" sz="1600" dirty="0">
              <a:latin typeface="Dubai" panose="020B0503030403030204" pitchFamily="34" charset="-78"/>
              <a:cs typeface="Dubai" panose="020B0503030403030204" pitchFamily="34" charset="-7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587078"/>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900" dirty="0">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en-US" sz="900" dirty="0">
                <a:solidFill>
                  <a:srgbClr val="587078"/>
                </a:solidFill>
                <a:latin typeface="Arial" pitchFamily="34" charset="0"/>
                <a:ea typeface="Arial" pitchFamily="34" charset="-122"/>
                <a:cs typeface="Arial" pitchFamily="34" charset="-120"/>
              </a:rPr>
              <a:t>11</a:t>
            </a:r>
            <a:endParaRPr lang="en-US" sz="900" dirty="0"/>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indent="0" algn="r" rtl="1">
              <a:buNone/>
            </a:pPr>
            <a:r>
              <a:rPr lang="ar-SA" altLang="en-US" sz="2900" b="1" dirty="0">
                <a:solidFill>
                  <a:srgbClr val="0A3540"/>
                </a:solidFill>
                <a:latin typeface="Dubai" panose="020B0503030403030204" pitchFamily="34" charset="-78"/>
                <a:ea typeface="Arial" pitchFamily="34" charset="-122"/>
                <a:cs typeface="Dubai" panose="020B0503030403030204" pitchFamily="34" charset="-78"/>
              </a:rPr>
              <a:t>من يستخدم النظام؟</a:t>
            </a:r>
            <a:endParaRPr lang="ar-SA" sz="2900" dirty="0">
              <a:latin typeface="Dubai" panose="020B0503030403030204" pitchFamily="34" charset="-78"/>
              <a:cs typeface="Dubai" panose="020B0503030403030204" pitchFamily="34" charset="-78"/>
            </a:endParaRPr>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indent="0" algn="r" rtl="1">
              <a:buNone/>
            </a:pPr>
            <a:r>
              <a:rPr lang="ar-SA" altLang="en-US" sz="1400" dirty="0">
                <a:solidFill>
                  <a:srgbClr val="0E7C86"/>
                </a:solidFill>
                <a:latin typeface="Dubai" panose="020B0503030403030204" pitchFamily="34" charset="-78"/>
                <a:ea typeface="Arial" pitchFamily="34" charset="-122"/>
                <a:cs typeface="Dubai" panose="020B0503030403030204" pitchFamily="34" charset="-78"/>
              </a:rPr>
              <a:t>خمسة أدوار تتدرّج صلاحياتها — من الدراسة التحليلية للمشروع</a:t>
            </a:r>
            <a:endParaRPr lang="ar-SA" sz="1400" dirty="0">
              <a:latin typeface="Dubai" panose="020B0503030403030204" pitchFamily="34" charset="-78"/>
              <a:cs typeface="Dubai" panose="020B0503030403030204" pitchFamily="34" charset="-78"/>
            </a:endParaRPr>
          </a:p>
        </p:txBody>
      </p:sp>
      <p:sp>
        <p:nvSpPr>
          <p:cNvPr id="6" name="Shape 4"/>
          <p:cNvSpPr/>
          <p:nvPr/>
        </p:nvSpPr>
        <p:spPr>
          <a:xfrm>
            <a:off x="877824" y="1609344"/>
            <a:ext cx="2743951" cy="4782312"/>
          </a:xfrm>
          <a:prstGeom prst="rect">
            <a:avLst/>
          </a:prstGeom>
          <a:solidFill>
            <a:srgbClr val="FFFFFF"/>
          </a:solidFill>
          <a:ln w="12700">
            <a:solidFill>
              <a:srgbClr val="D9E7E9"/>
            </a:solidFill>
            <a:prstDash val="solid"/>
          </a:ln>
          <a:effectLst>
            <a:outerShdw blurRad="76200" dist="25400" dir="5400000" algn="bl" rotWithShape="0">
              <a:srgbClr val="808F93">
                <a:alpha val="35000"/>
              </a:srgbClr>
            </a:outerShdw>
          </a:effectLst>
        </p:spPr>
      </p:sp>
      <p:pic>
        <p:nvPicPr>
          <p:cNvPr id="7" name="Image 0" descr="D:/Code/ASP/DMRS/docs/diagrams/usecase-overview.png"/>
          <p:cNvPicPr>
            <a:picLocks noChangeAspect="1"/>
          </p:cNvPicPr>
          <p:nvPr/>
        </p:nvPicPr>
        <p:blipFill>
          <a:blip r:embed="rId3"/>
          <a:stretch>
            <a:fillRect/>
          </a:stretch>
        </p:blipFill>
        <p:spPr>
          <a:xfrm>
            <a:off x="914400" y="1645920"/>
            <a:ext cx="2670799" cy="4709160"/>
          </a:xfrm>
          <a:prstGeom prst="rect">
            <a:avLst/>
          </a:prstGeom>
        </p:spPr>
      </p:pic>
      <p:sp>
        <p:nvSpPr>
          <p:cNvPr id="8" name="Shape 5"/>
          <p:cNvSpPr/>
          <p:nvPr/>
        </p:nvSpPr>
        <p:spPr>
          <a:xfrm>
            <a:off x="4042399" y="1645920"/>
            <a:ext cx="7600656" cy="822960"/>
          </a:xfrm>
          <a:prstGeom prst="roundRect">
            <a:avLst>
              <a:gd name="adj" fmla="val 8889"/>
            </a:avLst>
          </a:prstGeom>
          <a:solidFill>
            <a:srgbClr val="F2F8F8"/>
          </a:solidFill>
          <a:ln w="9525">
            <a:solidFill>
              <a:srgbClr val="D9E7E9"/>
            </a:solidFill>
            <a:prstDash val="solid"/>
          </a:ln>
        </p:spPr>
      </p:sp>
      <p:sp>
        <p:nvSpPr>
          <p:cNvPr id="9" name="Text 6"/>
          <p:cNvSpPr/>
          <p:nvPr/>
        </p:nvSpPr>
        <p:spPr>
          <a:xfrm>
            <a:off x="4298431" y="1645920"/>
            <a:ext cx="7088592" cy="822960"/>
          </a:xfrm>
          <a:prstGeom prst="rect">
            <a:avLst/>
          </a:prstGeom>
          <a:noFill/>
          <a:ln/>
        </p:spPr>
        <p:txBody>
          <a:bodyPr wrap="square" lIns="0" tIns="0" rIns="0" bIns="0" rtlCol="0" anchor="ctr"/>
          <a:lstStyle/>
          <a:p>
            <a:pPr marL="0" indent="0" algn="r" rtl="1">
              <a:lnSpc>
                <a:spcPct val="115000"/>
              </a:lnSpc>
              <a:buNone/>
            </a:pPr>
            <a:r>
              <a:rPr lang="ar-SA" altLang="en-US" sz="1600" b="1" dirty="0">
                <a:solidFill>
                  <a:srgbClr val="0E7C86"/>
                </a:solidFill>
                <a:latin typeface="Dubai" panose="020B0503030403030204" pitchFamily="34" charset="-78"/>
                <a:ea typeface="Arial" pitchFamily="34" charset="-122"/>
                <a:cs typeface="Dubai" panose="020B0503030403030204" pitchFamily="34" charset="-78"/>
              </a:rPr>
              <a:t>الزائر  —  </a:t>
            </a:r>
            <a:r>
              <a:rPr lang="ar-SA" altLang="en-US" sz="1600" dirty="0">
                <a:solidFill>
                  <a:srgbClr val="587078"/>
                </a:solidFill>
                <a:latin typeface="Dubai" panose="020B0503030403030204" pitchFamily="34" charset="-78"/>
                <a:ea typeface="Arial" pitchFamily="34" charset="-122"/>
                <a:cs typeface="Dubai" panose="020B0503030403030204" pitchFamily="34" charset="-78"/>
              </a:rPr>
              <a:t>يتعرّف على المنصّة ويبدّل لغتها ويسجّل دخوله.</a:t>
            </a:r>
            <a:endParaRPr lang="ar-SA" sz="1600" dirty="0">
              <a:latin typeface="Dubai" panose="020B0503030403030204" pitchFamily="34" charset="-78"/>
              <a:cs typeface="Dubai" panose="020B0503030403030204" pitchFamily="34" charset="-78"/>
            </a:endParaRPr>
          </a:p>
        </p:txBody>
      </p:sp>
      <p:sp>
        <p:nvSpPr>
          <p:cNvPr id="10" name="Shape 7"/>
          <p:cNvSpPr/>
          <p:nvPr/>
        </p:nvSpPr>
        <p:spPr>
          <a:xfrm>
            <a:off x="4042399" y="2587752"/>
            <a:ext cx="7600656" cy="822960"/>
          </a:xfrm>
          <a:prstGeom prst="roundRect">
            <a:avLst>
              <a:gd name="adj" fmla="val 8889"/>
            </a:avLst>
          </a:prstGeom>
          <a:solidFill>
            <a:srgbClr val="F2F8F8"/>
          </a:solidFill>
          <a:ln w="9525">
            <a:solidFill>
              <a:srgbClr val="D9E7E9"/>
            </a:solidFill>
            <a:prstDash val="solid"/>
          </a:ln>
        </p:spPr>
      </p:sp>
      <p:sp>
        <p:nvSpPr>
          <p:cNvPr id="11" name="Text 8"/>
          <p:cNvSpPr/>
          <p:nvPr/>
        </p:nvSpPr>
        <p:spPr>
          <a:xfrm>
            <a:off x="4298431" y="2587752"/>
            <a:ext cx="7088592" cy="822960"/>
          </a:xfrm>
          <a:prstGeom prst="rect">
            <a:avLst/>
          </a:prstGeom>
          <a:noFill/>
          <a:ln/>
        </p:spPr>
        <p:txBody>
          <a:bodyPr wrap="square" lIns="0" tIns="0" rIns="0" bIns="0" rtlCol="0" anchor="ctr"/>
          <a:lstStyle/>
          <a:p>
            <a:pPr marL="0" indent="0" algn="r" rtl="1">
              <a:lnSpc>
                <a:spcPct val="115000"/>
              </a:lnSpc>
              <a:buNone/>
            </a:pPr>
            <a:r>
              <a:rPr lang="ar-SA" altLang="en-US" sz="1600" b="1" dirty="0">
                <a:solidFill>
                  <a:srgbClr val="0E7C86"/>
                </a:solidFill>
                <a:latin typeface="Dubai" panose="020B0503030403030204" pitchFamily="34" charset="-78"/>
                <a:ea typeface="Arial" pitchFamily="34" charset="-122"/>
                <a:cs typeface="Dubai" panose="020B0503030403030204" pitchFamily="34" charset="-78"/>
              </a:rPr>
              <a:t>المريض  —  </a:t>
            </a:r>
            <a:r>
              <a:rPr lang="ar-SA" altLang="en-US" sz="1600" dirty="0">
                <a:solidFill>
                  <a:srgbClr val="587078"/>
                </a:solidFill>
                <a:latin typeface="Dubai" panose="020B0503030403030204" pitchFamily="34" charset="-78"/>
                <a:ea typeface="Arial" pitchFamily="34" charset="-122"/>
                <a:cs typeface="Dubai" panose="020B0503030403030204" pitchFamily="34" charset="-78"/>
              </a:rPr>
              <a:t>يطّلع على ملفه ومواعيده وأدويته ضمن حدوده فقط.</a:t>
            </a:r>
            <a:endParaRPr lang="ar-SA" sz="1600" dirty="0">
              <a:latin typeface="Dubai" panose="020B0503030403030204" pitchFamily="34" charset="-78"/>
              <a:cs typeface="Dubai" panose="020B0503030403030204" pitchFamily="34" charset="-78"/>
            </a:endParaRPr>
          </a:p>
        </p:txBody>
      </p:sp>
      <p:sp>
        <p:nvSpPr>
          <p:cNvPr id="12" name="Shape 9"/>
          <p:cNvSpPr/>
          <p:nvPr/>
        </p:nvSpPr>
        <p:spPr>
          <a:xfrm>
            <a:off x="4042399" y="3529584"/>
            <a:ext cx="7600656" cy="822960"/>
          </a:xfrm>
          <a:prstGeom prst="roundRect">
            <a:avLst>
              <a:gd name="adj" fmla="val 8889"/>
            </a:avLst>
          </a:prstGeom>
          <a:solidFill>
            <a:srgbClr val="F2F8F8"/>
          </a:solidFill>
          <a:ln w="9525">
            <a:solidFill>
              <a:srgbClr val="D9E7E9"/>
            </a:solidFill>
            <a:prstDash val="solid"/>
          </a:ln>
        </p:spPr>
      </p:sp>
      <p:sp>
        <p:nvSpPr>
          <p:cNvPr id="13" name="Text 10"/>
          <p:cNvSpPr/>
          <p:nvPr/>
        </p:nvSpPr>
        <p:spPr>
          <a:xfrm>
            <a:off x="4298431" y="3529584"/>
            <a:ext cx="7088592" cy="822960"/>
          </a:xfrm>
          <a:prstGeom prst="rect">
            <a:avLst/>
          </a:prstGeom>
          <a:noFill/>
          <a:ln/>
        </p:spPr>
        <p:txBody>
          <a:bodyPr wrap="square" lIns="0" tIns="0" rIns="0" bIns="0" rtlCol="0" anchor="ctr"/>
          <a:lstStyle/>
          <a:p>
            <a:pPr marL="0" indent="0" algn="r" rtl="1">
              <a:lnSpc>
                <a:spcPct val="115000"/>
              </a:lnSpc>
              <a:buNone/>
            </a:pPr>
            <a:r>
              <a:rPr lang="ar-SA" altLang="en-US" sz="1600" b="1" dirty="0">
                <a:solidFill>
                  <a:srgbClr val="0E7C86"/>
                </a:solidFill>
                <a:latin typeface="Dubai" panose="020B0503030403030204" pitchFamily="34" charset="-78"/>
                <a:ea typeface="Arial" pitchFamily="34" charset="-122"/>
                <a:cs typeface="Dubai" panose="020B0503030403030204" pitchFamily="34" charset="-78"/>
              </a:rPr>
              <a:t>الطبيب / الممارس  —  </a:t>
            </a:r>
            <a:r>
              <a:rPr lang="ar-SA" altLang="en-US" sz="1600" dirty="0">
                <a:solidFill>
                  <a:srgbClr val="587078"/>
                </a:solidFill>
                <a:latin typeface="Dubai" panose="020B0503030403030204" pitchFamily="34" charset="-78"/>
                <a:ea typeface="Arial" pitchFamily="34" charset="-122"/>
                <a:cs typeface="Dubai" panose="020B0503030403030204" pitchFamily="34" charset="-78"/>
              </a:rPr>
              <a:t>يدير مرضاه وملفاتهم ويتلقّى التنبيهات وتقديرات الخطر.</a:t>
            </a:r>
            <a:endParaRPr lang="ar-SA" sz="1600" dirty="0">
              <a:latin typeface="Dubai" panose="020B0503030403030204" pitchFamily="34" charset="-78"/>
              <a:cs typeface="Dubai" panose="020B0503030403030204" pitchFamily="34" charset="-78"/>
            </a:endParaRPr>
          </a:p>
        </p:txBody>
      </p:sp>
      <p:sp>
        <p:nvSpPr>
          <p:cNvPr id="14" name="Shape 11"/>
          <p:cNvSpPr/>
          <p:nvPr/>
        </p:nvSpPr>
        <p:spPr>
          <a:xfrm>
            <a:off x="4042399" y="4471416"/>
            <a:ext cx="7600656" cy="822960"/>
          </a:xfrm>
          <a:prstGeom prst="roundRect">
            <a:avLst>
              <a:gd name="adj" fmla="val 8889"/>
            </a:avLst>
          </a:prstGeom>
          <a:solidFill>
            <a:srgbClr val="F2F8F8"/>
          </a:solidFill>
          <a:ln w="9525">
            <a:solidFill>
              <a:srgbClr val="D9E7E9"/>
            </a:solidFill>
            <a:prstDash val="solid"/>
          </a:ln>
        </p:spPr>
      </p:sp>
      <p:sp>
        <p:nvSpPr>
          <p:cNvPr id="15" name="Text 12"/>
          <p:cNvSpPr/>
          <p:nvPr/>
        </p:nvSpPr>
        <p:spPr>
          <a:xfrm>
            <a:off x="4298431" y="4471416"/>
            <a:ext cx="7088592" cy="822960"/>
          </a:xfrm>
          <a:prstGeom prst="rect">
            <a:avLst/>
          </a:prstGeom>
          <a:noFill/>
          <a:ln/>
        </p:spPr>
        <p:txBody>
          <a:bodyPr wrap="square" lIns="0" tIns="0" rIns="0" bIns="0" rtlCol="0" anchor="ctr"/>
          <a:lstStyle/>
          <a:p>
            <a:pPr marL="0" indent="0" algn="r" rtl="1">
              <a:lnSpc>
                <a:spcPct val="115000"/>
              </a:lnSpc>
              <a:buNone/>
            </a:pPr>
            <a:r>
              <a:rPr lang="ar-SA" altLang="en-US" sz="1600" b="1" dirty="0">
                <a:solidFill>
                  <a:srgbClr val="0E7C86"/>
                </a:solidFill>
                <a:latin typeface="Dubai" panose="020B0503030403030204" pitchFamily="34" charset="-78"/>
                <a:ea typeface="Arial" pitchFamily="34" charset="-122"/>
                <a:cs typeface="Dubai" panose="020B0503030403030204" pitchFamily="34" charset="-78"/>
              </a:rPr>
              <a:t>مدير المؤسسة  —  </a:t>
            </a:r>
            <a:r>
              <a:rPr lang="ar-SA" altLang="en-US" sz="1600" dirty="0">
                <a:solidFill>
                  <a:srgbClr val="587078"/>
                </a:solidFill>
                <a:latin typeface="Dubai" panose="020B0503030403030204" pitchFamily="34" charset="-78"/>
                <a:ea typeface="Arial" pitchFamily="34" charset="-122"/>
                <a:cs typeface="Dubai" panose="020B0503030403030204" pitchFamily="34" charset="-78"/>
              </a:rPr>
              <a:t>يضيف قدرات إدارة الكادر وكتابة قواعد التنبيه — فوق قدرات الطبيب.</a:t>
            </a:r>
            <a:endParaRPr lang="ar-SA" sz="1600" dirty="0">
              <a:latin typeface="Dubai" panose="020B0503030403030204" pitchFamily="34" charset="-78"/>
              <a:cs typeface="Dubai" panose="020B0503030403030204" pitchFamily="34" charset="-78"/>
            </a:endParaRPr>
          </a:p>
        </p:txBody>
      </p:sp>
      <p:sp>
        <p:nvSpPr>
          <p:cNvPr id="16" name="Shape 13"/>
          <p:cNvSpPr/>
          <p:nvPr/>
        </p:nvSpPr>
        <p:spPr>
          <a:xfrm>
            <a:off x="4042399" y="5413248"/>
            <a:ext cx="7600656" cy="822960"/>
          </a:xfrm>
          <a:prstGeom prst="roundRect">
            <a:avLst>
              <a:gd name="adj" fmla="val 8889"/>
            </a:avLst>
          </a:prstGeom>
          <a:solidFill>
            <a:srgbClr val="F2F8F8"/>
          </a:solidFill>
          <a:ln w="9525">
            <a:solidFill>
              <a:srgbClr val="D9E7E9"/>
            </a:solidFill>
            <a:prstDash val="solid"/>
          </a:ln>
        </p:spPr>
      </p:sp>
      <p:sp>
        <p:nvSpPr>
          <p:cNvPr id="17" name="Text 14"/>
          <p:cNvSpPr/>
          <p:nvPr/>
        </p:nvSpPr>
        <p:spPr>
          <a:xfrm>
            <a:off x="4298431" y="5413248"/>
            <a:ext cx="7088592" cy="822960"/>
          </a:xfrm>
          <a:prstGeom prst="rect">
            <a:avLst/>
          </a:prstGeom>
          <a:noFill/>
          <a:ln/>
        </p:spPr>
        <p:txBody>
          <a:bodyPr wrap="square" lIns="0" tIns="0" rIns="0" bIns="0" rtlCol="0" anchor="ctr"/>
          <a:lstStyle/>
          <a:p>
            <a:pPr marL="0" indent="0" algn="r" rtl="1">
              <a:lnSpc>
                <a:spcPct val="115000"/>
              </a:lnSpc>
              <a:buNone/>
            </a:pPr>
            <a:r>
              <a:rPr lang="ar-SA" altLang="en-US" sz="1600" b="1" dirty="0">
                <a:solidFill>
                  <a:srgbClr val="0E7C86"/>
                </a:solidFill>
                <a:latin typeface="Dubai" panose="020B0503030403030204" pitchFamily="34" charset="-78"/>
                <a:ea typeface="Arial" pitchFamily="34" charset="-122"/>
                <a:cs typeface="Dubai" panose="020B0503030403030204" pitchFamily="34" charset="-78"/>
              </a:rPr>
              <a:t>مدير النظام  —  </a:t>
            </a:r>
            <a:r>
              <a:rPr lang="ar-SA" altLang="en-US" sz="1600" dirty="0">
                <a:solidFill>
                  <a:srgbClr val="587078"/>
                </a:solidFill>
                <a:latin typeface="Dubai" panose="020B0503030403030204" pitchFamily="34" charset="-78"/>
                <a:ea typeface="Arial" pitchFamily="34" charset="-122"/>
                <a:cs typeface="Dubai" panose="020B0503030403030204" pitchFamily="34" charset="-78"/>
              </a:rPr>
              <a:t>أعلى صلاحية: يدير المؤسسات على مستوى المنصّة كاملة.</a:t>
            </a:r>
            <a:endParaRPr lang="ar-SA" sz="1600" dirty="0">
              <a:latin typeface="Dubai" panose="020B0503030403030204" pitchFamily="34" charset="-78"/>
              <a:cs typeface="Dubai" panose="020B0503030403030204" pitchFamily="34" charset="-7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900" b="0" i="0" u="none" strike="noStrike" kern="1200" cap="none" spc="0" normalizeH="0" baseline="0" noProof="0" dirty="0">
                <a:ln>
                  <a:noFill/>
                </a:ln>
                <a:solidFill>
                  <a:srgbClr val="587078"/>
                </a:solidFill>
                <a:effectLst/>
                <a:uLnTx/>
                <a:uFillTx/>
                <a:latin typeface="Dubai" panose="020B0503030403030204" pitchFamily="34" charset="-78"/>
                <a:ea typeface="Arial" pitchFamily="34" charset="-122"/>
                <a:cs typeface="Dubai" panose="020B0503030403030204" pitchFamily="34" charset="-78"/>
              </a:rPr>
              <a:t>نبض — نظام السجلات الطبية الرقمية</a:t>
            </a:r>
            <a:endParaRPr kumimoji="0" lang="ar-SA" sz="9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ar-SY" sz="900" b="0" i="0" u="none" strike="noStrike" kern="1200" cap="none" spc="0" normalizeH="0" baseline="0" noProof="0" dirty="0">
                <a:ln>
                  <a:noFill/>
                </a:ln>
                <a:solidFill>
                  <a:srgbClr val="587078"/>
                </a:solidFill>
                <a:effectLst/>
                <a:uLnTx/>
                <a:uFillTx/>
                <a:latin typeface="Dubai" panose="020B0503030403030204" pitchFamily="34" charset="-78"/>
                <a:ea typeface="Arial" pitchFamily="34" charset="-122"/>
                <a:cs typeface="Dubai" panose="020B0503030403030204" pitchFamily="34" charset="-78"/>
              </a:rPr>
              <a:t>12</a:t>
            </a:r>
            <a:endParaRPr kumimoji="0" lang="en-US" sz="9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2900" b="1" i="0" u="none" strike="noStrike" kern="1200" cap="none" spc="0" normalizeH="0" baseline="0" noProof="0" dirty="0">
                <a:ln>
                  <a:noFill/>
                </a:ln>
                <a:solidFill>
                  <a:srgbClr val="0A3540"/>
                </a:solidFill>
                <a:effectLst/>
                <a:uLnTx/>
                <a:uFillTx/>
                <a:latin typeface="Dubai" panose="020B0503030403030204" pitchFamily="34" charset="-78"/>
                <a:ea typeface="Arial" pitchFamily="34" charset="-122"/>
                <a:cs typeface="Dubai" panose="020B0503030403030204" pitchFamily="34" charset="-78"/>
              </a:rPr>
              <a:t>مخطّط قاعدة البيانات ‏</a:t>
            </a:r>
            <a:r>
              <a:rPr kumimoji="0" lang="en-US" altLang="en-US" sz="2900" b="1" i="0" u="none" strike="noStrike" kern="1200" cap="none" spc="0" normalizeH="0" baseline="0" noProof="0" dirty="0">
                <a:ln>
                  <a:noFill/>
                </a:ln>
                <a:solidFill>
                  <a:srgbClr val="0A3540"/>
                </a:solidFill>
                <a:effectLst/>
                <a:uLnTx/>
                <a:uFillTx/>
                <a:latin typeface="Dubai" panose="020B0503030403030204" pitchFamily="34" charset="-78"/>
                <a:ea typeface="Arial" pitchFamily="34" charset="-122"/>
                <a:cs typeface="Dubai" panose="020B0503030403030204" pitchFamily="34" charset="-78"/>
              </a:rPr>
              <a:t>ERD</a:t>
            </a:r>
            <a:endParaRPr kumimoji="0" lang="ar-SA" sz="29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1400" b="0" i="0" u="none" strike="noStrike" kern="1200" cap="none" spc="0" normalizeH="0" baseline="0" noProof="0" dirty="0">
                <a:ln>
                  <a:noFill/>
                </a:ln>
                <a:solidFill>
                  <a:srgbClr val="0E7C86"/>
                </a:solidFill>
                <a:effectLst/>
                <a:uLnTx/>
                <a:uFillTx/>
                <a:latin typeface="Dubai" panose="020B0503030403030204" pitchFamily="34" charset="-78"/>
                <a:ea typeface="Arial" pitchFamily="34" charset="-122"/>
                <a:cs typeface="Dubai" panose="020B0503030403030204" pitchFamily="34" charset="-78"/>
              </a:rPr>
              <a:t>تصميمٌ عام: مستند ‏</a:t>
            </a:r>
            <a:r>
              <a:rPr kumimoji="0" lang="en-US" altLang="en-US" sz="1400" b="0" i="0" u="none" strike="noStrike" kern="1200" cap="none" spc="0" normalizeH="0" baseline="0" noProof="0" dirty="0">
                <a:ln>
                  <a:noFill/>
                </a:ln>
                <a:solidFill>
                  <a:srgbClr val="0E7C86"/>
                </a:solidFill>
                <a:effectLst/>
                <a:uLnTx/>
                <a:uFillTx/>
                <a:latin typeface="Dubai" panose="020B0503030403030204" pitchFamily="34" charset="-78"/>
                <a:ea typeface="Arial" pitchFamily="34" charset="-122"/>
                <a:cs typeface="Dubai" panose="020B0503030403030204" pitchFamily="34" charset="-78"/>
              </a:rPr>
              <a:t>FHIR</a:t>
            </a:r>
            <a:r>
              <a:rPr kumimoji="0" lang="ar-SA" altLang="en-US" sz="1400" b="0" i="0" u="none" strike="noStrike" kern="1200" cap="none" spc="0" normalizeH="0" baseline="0" noProof="0" dirty="0">
                <a:ln>
                  <a:noFill/>
                </a:ln>
                <a:solidFill>
                  <a:srgbClr val="0E7C86"/>
                </a:solidFill>
                <a:effectLst/>
                <a:uLnTx/>
                <a:uFillTx/>
                <a:latin typeface="Dubai" panose="020B0503030403030204" pitchFamily="34" charset="-78"/>
                <a:ea typeface="Arial" pitchFamily="34" charset="-122"/>
                <a:cs typeface="Dubai" panose="020B0503030403030204" pitchFamily="34" charset="-78"/>
              </a:rPr>
              <a:t>‏ في المركز، وحوله جداول الفهرسة والنسخ والدعم</a:t>
            </a:r>
            <a:endParaRPr kumimoji="0" lang="ar-SA" sz="14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6" name="Shape 4"/>
          <p:cNvSpPr/>
          <p:nvPr/>
        </p:nvSpPr>
        <p:spPr>
          <a:xfrm>
            <a:off x="786384" y="660456"/>
            <a:ext cx="3816822" cy="5731200"/>
          </a:xfrm>
          <a:prstGeom prst="rect">
            <a:avLst/>
          </a:prstGeom>
          <a:solidFill>
            <a:srgbClr val="FFFFFF"/>
          </a:solidFill>
          <a:ln w="12700">
            <a:solidFill>
              <a:srgbClr val="D9E7E9"/>
            </a:solidFill>
            <a:prstDash val="solid"/>
          </a:ln>
          <a:effectLst>
            <a:outerShdw blurRad="76200" dist="25400" dir="5400000" algn="bl" rotWithShape="0">
              <a:srgbClr val="808F93">
                <a:alpha val="35000"/>
              </a:srgbClr>
            </a:outerShdw>
          </a:effectLst>
        </p:spPr>
      </p:sp>
      <p:pic>
        <p:nvPicPr>
          <p:cNvPr id="7" name="Image 0" descr="D:/Code/ASP/DMRS/docs/diagrams/erd.png"/>
          <p:cNvPicPr>
            <a:picLocks noChangeAspect="1"/>
          </p:cNvPicPr>
          <p:nvPr/>
        </p:nvPicPr>
        <p:blipFill>
          <a:blip r:embed="rId3"/>
          <a:stretch>
            <a:fillRect/>
          </a:stretch>
        </p:blipFill>
        <p:spPr>
          <a:xfrm>
            <a:off x="822959" y="660456"/>
            <a:ext cx="3742819" cy="5694624"/>
          </a:xfrm>
          <a:prstGeom prst="rect">
            <a:avLst/>
          </a:prstGeom>
        </p:spPr>
      </p:pic>
      <p:sp>
        <p:nvSpPr>
          <p:cNvPr id="8" name="Text 5"/>
          <p:cNvSpPr/>
          <p:nvPr/>
        </p:nvSpPr>
        <p:spPr>
          <a:xfrm>
            <a:off x="4420998" y="1737360"/>
            <a:ext cx="7222057" cy="4572000"/>
          </a:xfrm>
          <a:prstGeom prst="rect">
            <a:avLst/>
          </a:prstGeom>
          <a:noFill/>
          <a:ln/>
        </p:spPr>
        <p:txBody>
          <a:bodyPr wrap="square" rtlCol="0" anchor="t"/>
          <a:lstStyle/>
          <a:p>
            <a:pPr marL="152400" marR="0" lvl="0" indent="-152400" algn="r" defTabSz="914400" rtl="1" eaLnBrk="1" fontAlgn="auto" latinLnBrk="0" hangingPunct="1">
              <a:lnSpc>
                <a:spcPct val="120000"/>
              </a:lnSpc>
              <a:spcBef>
                <a:spcPts val="0"/>
              </a:spcBef>
              <a:spcAft>
                <a:spcPts val="1300"/>
              </a:spcAft>
              <a:buClrTx/>
              <a:buSzPct val="100000"/>
              <a:buFontTx/>
              <a:buChar char="•"/>
              <a:tabLst/>
              <a:defRPr/>
            </a:pP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جدول ‏</a:t>
            </a:r>
            <a:r>
              <a:rPr kumimoji="0" lang="en-US"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FhirResource</a:t>
            </a: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 يحفظ النسخة الحالية لكلّ مورد: النوع والمعرّف ومستند ‏</a:t>
            </a:r>
            <a:r>
              <a:rPr kumimoji="0" lang="en-US"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JSON</a:t>
            </a: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a:t>
            </a:r>
            <a:endParaRPr kumimoji="0" lang="ar-SA" sz="14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a:p>
            <a:pPr marL="152400" marR="0" lvl="0" indent="-152400" algn="r" defTabSz="914400" rtl="1" eaLnBrk="1" fontAlgn="auto" latinLnBrk="0" hangingPunct="1">
              <a:lnSpc>
                <a:spcPct val="120000"/>
              </a:lnSpc>
              <a:spcBef>
                <a:spcPts val="0"/>
              </a:spcBef>
              <a:spcAft>
                <a:spcPts val="1300"/>
              </a:spcAft>
              <a:buClrTx/>
              <a:buSzPct val="100000"/>
              <a:buFontTx/>
              <a:buChar char="•"/>
              <a:tabLst/>
              <a:defRPr/>
            </a:pP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جدول ‏</a:t>
            </a:r>
            <a:r>
              <a:rPr kumimoji="0" lang="en-US"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FhirResourceVersion</a:t>
            </a: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 يحفظ تاريخ النسخ كاملاً لكلّ مورد (أثرٌ تدقيقي).</a:t>
            </a:r>
            <a:endParaRPr kumimoji="0" lang="ar-SA" sz="14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a:p>
            <a:pPr marL="152400" marR="0" lvl="0" indent="-152400" algn="r" defTabSz="914400" rtl="1" eaLnBrk="1" fontAlgn="auto" latinLnBrk="0" hangingPunct="1">
              <a:lnSpc>
                <a:spcPct val="120000"/>
              </a:lnSpc>
              <a:spcBef>
                <a:spcPts val="0"/>
              </a:spcBef>
              <a:spcAft>
                <a:spcPts val="1300"/>
              </a:spcAft>
              <a:buClrTx/>
              <a:buSzPct val="100000"/>
              <a:buFontTx/>
              <a:buChar char="•"/>
              <a:tabLst/>
              <a:defRPr/>
            </a:pP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فهرس ‏</a:t>
            </a:r>
            <a:r>
              <a:rPr kumimoji="0" lang="en-US"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ResourceIndex</a:t>
            </a: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 فهرس بحثٍ مُسطَّح يُبنى تلقائياً من الموارد.</a:t>
            </a:r>
            <a:endParaRPr kumimoji="0" lang="ar-SA" sz="14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a:p>
            <a:pPr marL="152400" marR="0" lvl="0" indent="-152400" algn="r" defTabSz="914400" rtl="1" eaLnBrk="1" fontAlgn="auto" latinLnBrk="0" hangingPunct="1">
              <a:lnSpc>
                <a:spcPct val="120000"/>
              </a:lnSpc>
              <a:spcBef>
                <a:spcPts val="0"/>
              </a:spcBef>
              <a:spcAft>
                <a:spcPts val="1300"/>
              </a:spcAft>
              <a:buClrTx/>
              <a:buSzPct val="100000"/>
              <a:buFontTx/>
              <a:buChar char="•"/>
              <a:tabLst/>
              <a:defRPr/>
            </a:pP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علاقة ‏</a:t>
            </a:r>
            <a:r>
              <a:rPr kumimoji="0" lang="en-US"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CdsRuleDefinition</a:t>
            </a: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 مع ‏</a:t>
            </a:r>
            <a:r>
              <a:rPr kumimoji="0" lang="en-US"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CdsRuleVersion</a:t>
            </a: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 تحقّق نشراً مُصدَّر النسخ لقواعد دعم القرار.</a:t>
            </a:r>
            <a:endParaRPr kumimoji="0" lang="ar-SA" sz="14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a:p>
            <a:pPr marL="152400" marR="0" lvl="0" indent="-152400" algn="r" defTabSz="914400" rtl="1" eaLnBrk="1" fontAlgn="auto" latinLnBrk="0" hangingPunct="1">
              <a:lnSpc>
                <a:spcPct val="120000"/>
              </a:lnSpc>
              <a:spcBef>
                <a:spcPts val="0"/>
              </a:spcBef>
              <a:spcAft>
                <a:spcPts val="1300"/>
              </a:spcAft>
              <a:buClrTx/>
              <a:buSzPct val="100000"/>
              <a:buFontTx/>
              <a:buChar char="•"/>
              <a:tabLst/>
              <a:defRPr/>
            </a:pP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جدول ‏</a:t>
            </a:r>
            <a:r>
              <a:rPr kumimoji="0" lang="en-US"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MedicineKnowledgeRecord</a:t>
            </a: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 ذاكرةٌ مؤقّتة لمعرفة الأدوية.</a:t>
            </a:r>
            <a:endParaRPr kumimoji="0" lang="ar-SA" sz="14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a:p>
            <a:pPr marL="152400" marR="0" lvl="0" indent="-152400" algn="r" defTabSz="914400" rtl="1" eaLnBrk="1" fontAlgn="auto" latinLnBrk="0" hangingPunct="1">
              <a:lnSpc>
                <a:spcPct val="120000"/>
              </a:lnSpc>
              <a:spcBef>
                <a:spcPts val="0"/>
              </a:spcBef>
              <a:spcAft>
                <a:spcPts val="1300"/>
              </a:spcAft>
              <a:buClrTx/>
              <a:buSzPct val="100000"/>
              <a:buFontTx/>
              <a:buChar char="•"/>
              <a:tabLst/>
              <a:defRPr/>
            </a:pP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جدول ‏</a:t>
            </a:r>
            <a:r>
              <a:rPr kumimoji="0" lang="en-US"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ExternalAiModel</a:t>
            </a: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 سجلّ النماذج الخارجية بأسرارٍ مشفّرة.</a:t>
            </a:r>
            <a:endParaRPr kumimoji="0" lang="ar-SA" sz="14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a:p>
            <a:pPr marL="152400" marR="0" lvl="0" indent="-152400" algn="r" defTabSz="914400" rtl="1" eaLnBrk="1" fontAlgn="auto" latinLnBrk="0" hangingPunct="1">
              <a:lnSpc>
                <a:spcPct val="120000"/>
              </a:lnSpc>
              <a:spcBef>
                <a:spcPts val="0"/>
              </a:spcBef>
              <a:spcAft>
                <a:spcPts val="1300"/>
              </a:spcAft>
              <a:buClrTx/>
              <a:buSzPct val="100000"/>
              <a:buFontTx/>
              <a:buChar char="•"/>
              <a:tabLst/>
              <a:defRPr/>
            </a:pP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قاعدة مستقلة ‏</a:t>
            </a:r>
            <a:r>
              <a:rPr kumimoji="0" lang="en-US"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DMRSMedicine</a:t>
            </a:r>
            <a:r>
              <a:rPr kumimoji="0" lang="ar-SA" altLang="en-US" sz="1400" b="0" i="0" u="none" strike="noStrike" kern="1200" cap="none" spc="0" normalizeH="0" baseline="0" noProof="0" dirty="0">
                <a:ln>
                  <a:noFill/>
                </a:ln>
                <a:solidFill>
                  <a:srgbClr val="12333C"/>
                </a:solidFill>
                <a:effectLst/>
                <a:uLnTx/>
                <a:uFillTx/>
                <a:latin typeface="Dubai" panose="020B0503030403030204" pitchFamily="34" charset="-78"/>
                <a:ea typeface="Arial" pitchFamily="34" charset="-122"/>
                <a:cs typeface="Dubai" panose="020B0503030403030204" pitchFamily="34" charset="-78"/>
              </a:rPr>
              <a:t>‏ للأدوية والمكوّنات بعلاقة متعدّد-متعدّد.</a:t>
            </a:r>
            <a:endParaRPr kumimoji="0" lang="ar-SA" sz="14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900" b="0" i="0" u="none" strike="noStrike" kern="1200" cap="none" spc="0" normalizeH="0" baseline="0" noProof="0" dirty="0">
                <a:ln>
                  <a:noFill/>
                </a:ln>
                <a:solidFill>
                  <a:srgbClr val="587078"/>
                </a:solidFill>
                <a:effectLst/>
                <a:uLnTx/>
                <a:uFillTx/>
                <a:latin typeface="Dubai" panose="020B0503030403030204" pitchFamily="34" charset="-78"/>
                <a:ea typeface="Arial" pitchFamily="34" charset="-122"/>
                <a:cs typeface="Dubai" panose="020B0503030403030204" pitchFamily="34" charset="-78"/>
              </a:rPr>
              <a:t>نبض — نظام السجلات الطبية الرقمية</a:t>
            </a:r>
            <a:endParaRPr kumimoji="0" lang="ar-SA" sz="9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87078"/>
                </a:solidFill>
                <a:effectLst/>
                <a:uLnTx/>
                <a:uFillTx/>
                <a:latin typeface="Arial" pitchFamily="34" charset="0"/>
                <a:ea typeface="Arial" pitchFamily="34" charset="-122"/>
                <a:cs typeface="Arial" pitchFamily="34" charset="-120"/>
              </a:rPr>
              <a:t>13</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2900" b="1" i="0" u="none" strike="noStrike" kern="1200" cap="none" spc="0" normalizeH="0" baseline="0" noProof="0" dirty="0">
                <a:ln>
                  <a:noFill/>
                </a:ln>
                <a:solidFill>
                  <a:srgbClr val="0A3540"/>
                </a:solidFill>
                <a:effectLst/>
                <a:uLnTx/>
                <a:uFillTx/>
                <a:latin typeface="Dubai" panose="020B0503030403030204" pitchFamily="34" charset="-78"/>
                <a:ea typeface="Arial" pitchFamily="34" charset="-122"/>
                <a:cs typeface="Dubai" panose="020B0503030403030204" pitchFamily="34" charset="-78"/>
              </a:rPr>
              <a:t>هل نثق بأنّ النظام يعمل؟</a:t>
            </a:r>
            <a:endParaRPr kumimoji="0" lang="ar-SA" sz="29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1400" b="0" i="0" u="none" strike="noStrike" kern="1200" cap="none" spc="0" normalizeH="0" baseline="0" noProof="0" dirty="0">
                <a:ln>
                  <a:noFill/>
                </a:ln>
                <a:solidFill>
                  <a:srgbClr val="0E7C86"/>
                </a:solidFill>
                <a:effectLst/>
                <a:uLnTx/>
                <a:uFillTx/>
                <a:latin typeface="Dubai" panose="020B0503030403030204" pitchFamily="34" charset="-78"/>
                <a:ea typeface="Arial" pitchFamily="34" charset="-122"/>
                <a:cs typeface="Dubai" panose="020B0503030403030204" pitchFamily="34" charset="-78"/>
              </a:rPr>
              <a:t>منظومة اختباراتٍ آلية تُشغَّل بأمرٍ واحد وتفحص النظام كلّه</a:t>
            </a:r>
            <a:endParaRPr kumimoji="0" lang="ar-SA" sz="14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6" name="Shape 4"/>
          <p:cNvSpPr/>
          <p:nvPr/>
        </p:nvSpPr>
        <p:spPr>
          <a:xfrm>
            <a:off x="548640" y="1572768"/>
            <a:ext cx="11094415" cy="786384"/>
          </a:xfrm>
          <a:prstGeom prst="roundRect">
            <a:avLst>
              <a:gd name="adj" fmla="val 9302"/>
            </a:avLst>
          </a:prstGeom>
          <a:solidFill>
            <a:srgbClr val="0A3540"/>
          </a:solidFill>
          <a:ln/>
        </p:spPr>
      </p:sp>
      <p:sp>
        <p:nvSpPr>
          <p:cNvPr id="7" name="Text 5"/>
          <p:cNvSpPr/>
          <p:nvPr/>
        </p:nvSpPr>
        <p:spPr>
          <a:xfrm>
            <a:off x="868680" y="1572768"/>
            <a:ext cx="10454335" cy="786384"/>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2000" b="1" i="0" u="none" strike="noStrike" kern="1200" cap="none" spc="0" normalizeH="0" baseline="0" noProof="0" dirty="0">
                <a:ln>
                  <a:noFill/>
                </a:ln>
                <a:solidFill>
                  <a:srgbClr val="FFFFFF"/>
                </a:solidFill>
                <a:effectLst/>
                <a:uLnTx/>
                <a:uFillTx/>
                <a:latin typeface="Dubai" panose="020B0503030403030204" pitchFamily="34" charset="-78"/>
                <a:ea typeface="Arial" pitchFamily="34" charset="-122"/>
                <a:cs typeface="Dubai" panose="020B0503030403030204" pitchFamily="34" charset="-78"/>
              </a:rPr>
              <a:t>٢١٥ اختباراً آلياً — جميعها ناجحة</a:t>
            </a:r>
            <a:endParaRPr kumimoji="0" lang="ar-SA" sz="20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8" name="Shape 6"/>
          <p:cNvSpPr/>
          <p:nvPr/>
        </p:nvSpPr>
        <p:spPr>
          <a:xfrm>
            <a:off x="6193231" y="2542032"/>
            <a:ext cx="5449824" cy="1591056"/>
          </a:xfrm>
          <a:prstGeom prst="roundRect">
            <a:avLst>
              <a:gd name="adj" fmla="val 4598"/>
            </a:avLst>
          </a:prstGeom>
          <a:solidFill>
            <a:srgbClr val="F2F8F8"/>
          </a:solidFill>
          <a:ln w="9525">
            <a:solidFill>
              <a:srgbClr val="D9E7E9"/>
            </a:solidFill>
            <a:prstDash val="solid"/>
          </a:ln>
        </p:spPr>
      </p:sp>
      <p:sp>
        <p:nvSpPr>
          <p:cNvPr id="9" name="Shape 7"/>
          <p:cNvSpPr/>
          <p:nvPr/>
        </p:nvSpPr>
        <p:spPr>
          <a:xfrm>
            <a:off x="10984687" y="2743200"/>
            <a:ext cx="402336" cy="402336"/>
          </a:xfrm>
          <a:prstGeom prst="ellipse">
            <a:avLst/>
          </a:prstGeom>
          <a:solidFill>
            <a:srgbClr val="0E7C86"/>
          </a:solidFill>
          <a:ln/>
        </p:spPr>
      </p:sp>
      <p:sp>
        <p:nvSpPr>
          <p:cNvPr id="10" name="Text 8"/>
          <p:cNvSpPr/>
          <p:nvPr/>
        </p:nvSpPr>
        <p:spPr>
          <a:xfrm>
            <a:off x="6467551" y="2761488"/>
            <a:ext cx="4352544" cy="457200"/>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b="1" i="0" u="none" strike="noStrike" kern="1200" cap="none" spc="0" normalizeH="0" baseline="0" noProof="0" dirty="0">
                <a:ln>
                  <a:noFill/>
                </a:ln>
                <a:solidFill>
                  <a:srgbClr val="0A3540"/>
                </a:solidFill>
                <a:effectLst/>
                <a:uLnTx/>
                <a:uFillTx/>
                <a:latin typeface="Dubai" panose="020B0503030403030204" pitchFamily="34" charset="-78"/>
                <a:ea typeface="Arial" pitchFamily="34" charset="-122"/>
                <a:cs typeface="Dubai" panose="020B0503030403030204" pitchFamily="34" charset="-78"/>
              </a:rPr>
              <a:t>الوظائف والواجهة البرمجية</a:t>
            </a:r>
            <a:endParaRPr kumimoji="0" lang="ar-SA"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11" name="Text 9"/>
          <p:cNvSpPr/>
          <p:nvPr/>
        </p:nvSpPr>
        <p:spPr>
          <a:xfrm>
            <a:off x="6467551" y="3291840"/>
            <a:ext cx="4901184" cy="676656"/>
          </a:xfrm>
          <a:prstGeom prst="rect">
            <a:avLst/>
          </a:prstGeom>
          <a:noFill/>
          <a:ln/>
        </p:spPr>
        <p:txBody>
          <a:bodyPr wrap="square" lIns="0" tIns="0" rIns="0" bIns="0" rtlCol="0" anchor="t"/>
          <a:lstStyle/>
          <a:p>
            <a:pPr marL="0" marR="0" lvl="0" indent="0" algn="r" defTabSz="914400" rtl="1" eaLnBrk="1" fontAlgn="auto" latinLnBrk="0" hangingPunct="1">
              <a:lnSpc>
                <a:spcPct val="130000"/>
              </a:lnSpc>
              <a:spcBef>
                <a:spcPts val="0"/>
              </a:spcBef>
              <a:spcAft>
                <a:spcPts val="0"/>
              </a:spcAft>
              <a:buClrTx/>
              <a:buSzTx/>
              <a:buFontTx/>
              <a:buNone/>
              <a:tabLst/>
              <a:defRPr/>
            </a:pPr>
            <a:r>
              <a:rPr kumimoji="0" lang="ar-SA" altLang="en-US" sz="1600" b="0" i="0" u="none" strike="noStrike" kern="1200" cap="none" spc="0" normalizeH="0" baseline="0" noProof="0" dirty="0">
                <a:ln>
                  <a:noFill/>
                </a:ln>
                <a:solidFill>
                  <a:srgbClr val="587078"/>
                </a:solidFill>
                <a:effectLst/>
                <a:uLnTx/>
                <a:uFillTx/>
                <a:latin typeface="Dubai" panose="020B0503030403030204" pitchFamily="34" charset="-78"/>
                <a:ea typeface="Arial" pitchFamily="34" charset="-122"/>
                <a:cs typeface="Dubai" panose="020B0503030403030204" pitchFamily="34" charset="-78"/>
              </a:rPr>
              <a:t>دورة حياة السجل كاملةً: إنشاء وتعديل وحفظ النسخ وحذف وبحث — ومطابقة الواجهة لمعيار ‏</a:t>
            </a:r>
            <a:r>
              <a:rPr kumimoji="0" lang="en-US" altLang="en-US" sz="1600" b="0" i="0" u="none" strike="noStrike" kern="1200" cap="none" spc="0" normalizeH="0" baseline="0" noProof="0" dirty="0">
                <a:ln>
                  <a:noFill/>
                </a:ln>
                <a:solidFill>
                  <a:srgbClr val="587078"/>
                </a:solidFill>
                <a:effectLst/>
                <a:uLnTx/>
                <a:uFillTx/>
                <a:latin typeface="Dubai" panose="020B0503030403030204" pitchFamily="34" charset="-78"/>
                <a:ea typeface="Arial" pitchFamily="34" charset="-122"/>
                <a:cs typeface="Dubai" panose="020B0503030403030204" pitchFamily="34" charset="-78"/>
              </a:rPr>
              <a:t>FHIR</a:t>
            </a:r>
            <a:r>
              <a:rPr kumimoji="0" lang="ar-SA" altLang="en-US" sz="1600" b="0" i="0" u="none" strike="noStrike" kern="1200" cap="none" spc="0" normalizeH="0" baseline="0" noProof="0" dirty="0">
                <a:ln>
                  <a:noFill/>
                </a:ln>
                <a:solidFill>
                  <a:srgbClr val="587078"/>
                </a:solidFill>
                <a:effectLst/>
                <a:uLnTx/>
                <a:uFillTx/>
                <a:latin typeface="Dubai" panose="020B0503030403030204" pitchFamily="34" charset="-78"/>
                <a:ea typeface="Arial" pitchFamily="34" charset="-122"/>
                <a:cs typeface="Dubai" panose="020B0503030403030204" pitchFamily="34" charset="-78"/>
              </a:rPr>
              <a:t>‏.</a:t>
            </a:r>
            <a:endParaRPr kumimoji="0" lang="ar-SA" sz="16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12" name="Shape 10"/>
          <p:cNvSpPr/>
          <p:nvPr/>
        </p:nvSpPr>
        <p:spPr>
          <a:xfrm>
            <a:off x="551383" y="2542032"/>
            <a:ext cx="5449824" cy="1591056"/>
          </a:xfrm>
          <a:prstGeom prst="roundRect">
            <a:avLst>
              <a:gd name="adj" fmla="val 4598"/>
            </a:avLst>
          </a:prstGeom>
          <a:solidFill>
            <a:srgbClr val="F2F8F8"/>
          </a:solidFill>
          <a:ln w="9525">
            <a:solidFill>
              <a:srgbClr val="D9E7E9"/>
            </a:solidFill>
            <a:prstDash val="solid"/>
          </a:ln>
        </p:spPr>
      </p:sp>
      <p:sp>
        <p:nvSpPr>
          <p:cNvPr id="13" name="Shape 11"/>
          <p:cNvSpPr/>
          <p:nvPr/>
        </p:nvSpPr>
        <p:spPr>
          <a:xfrm>
            <a:off x="5342839" y="2743200"/>
            <a:ext cx="402336" cy="402336"/>
          </a:xfrm>
          <a:prstGeom prst="ellipse">
            <a:avLst/>
          </a:prstGeom>
          <a:solidFill>
            <a:srgbClr val="0E7C86"/>
          </a:solidFill>
          <a:ln/>
        </p:spPr>
      </p:sp>
      <p:sp>
        <p:nvSpPr>
          <p:cNvPr id="14" name="Text 12"/>
          <p:cNvSpPr/>
          <p:nvPr/>
        </p:nvSpPr>
        <p:spPr>
          <a:xfrm>
            <a:off x="825703" y="2761488"/>
            <a:ext cx="4352544" cy="457200"/>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b="1" i="0" u="none" strike="noStrike" kern="1200" cap="none" spc="0" normalizeH="0" baseline="0" noProof="0" dirty="0">
                <a:ln>
                  <a:noFill/>
                </a:ln>
                <a:solidFill>
                  <a:srgbClr val="0A3540"/>
                </a:solidFill>
                <a:effectLst/>
                <a:uLnTx/>
                <a:uFillTx/>
                <a:latin typeface="Dubai" panose="020B0503030403030204" pitchFamily="34" charset="-78"/>
                <a:ea typeface="Arial" pitchFamily="34" charset="-122"/>
                <a:cs typeface="Dubai" panose="020B0503030403030204" pitchFamily="34" charset="-78"/>
              </a:rPr>
              <a:t>الصلاحيات وحماية الخصوصية</a:t>
            </a:r>
            <a:endParaRPr kumimoji="0" lang="ar-SA"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15" name="Text 13"/>
          <p:cNvSpPr/>
          <p:nvPr/>
        </p:nvSpPr>
        <p:spPr>
          <a:xfrm>
            <a:off x="825703" y="3291840"/>
            <a:ext cx="4901184" cy="676656"/>
          </a:xfrm>
          <a:prstGeom prst="rect">
            <a:avLst/>
          </a:prstGeom>
          <a:noFill/>
          <a:ln/>
        </p:spPr>
        <p:txBody>
          <a:bodyPr wrap="square" lIns="0" tIns="0" rIns="0" bIns="0" rtlCol="0" anchor="t"/>
          <a:lstStyle/>
          <a:p>
            <a:pPr marL="0" marR="0" lvl="0" indent="0" algn="r" defTabSz="914400" rtl="1" eaLnBrk="1" fontAlgn="auto" latinLnBrk="0" hangingPunct="1">
              <a:lnSpc>
                <a:spcPct val="130000"/>
              </a:lnSpc>
              <a:spcBef>
                <a:spcPts val="0"/>
              </a:spcBef>
              <a:spcAft>
                <a:spcPts val="0"/>
              </a:spcAft>
              <a:buClrTx/>
              <a:buSzTx/>
              <a:buFontTx/>
              <a:buNone/>
              <a:tabLst/>
              <a:defRPr/>
            </a:pPr>
            <a:r>
              <a:rPr kumimoji="0" lang="ar-SA" altLang="en-US" sz="1600" b="0" i="0" u="none" strike="noStrike" kern="1200" cap="none" spc="0" normalizeH="0" baseline="0" noProof="0" dirty="0">
                <a:ln>
                  <a:noFill/>
                </a:ln>
                <a:solidFill>
                  <a:srgbClr val="587078"/>
                </a:solidFill>
                <a:effectLst/>
                <a:uLnTx/>
                <a:uFillTx/>
                <a:latin typeface="Dubai" panose="020B0503030403030204" pitchFamily="34" charset="-78"/>
                <a:ea typeface="Arial" pitchFamily="34" charset="-122"/>
                <a:cs typeface="Dubai" panose="020B0503030403030204" pitchFamily="34" charset="-78"/>
              </a:rPr>
              <a:t>التأكّد آلياً أنّ المريض لا يصل إلى سجلّ غيره، وأنّ المؤسسة لا تتجاوز حدودها.</a:t>
            </a:r>
            <a:endParaRPr kumimoji="0" lang="ar-SA" sz="16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16" name="Shape 14"/>
          <p:cNvSpPr/>
          <p:nvPr/>
        </p:nvSpPr>
        <p:spPr>
          <a:xfrm>
            <a:off x="6193231" y="4352544"/>
            <a:ext cx="5449824" cy="1591056"/>
          </a:xfrm>
          <a:prstGeom prst="roundRect">
            <a:avLst>
              <a:gd name="adj" fmla="val 4598"/>
            </a:avLst>
          </a:prstGeom>
          <a:solidFill>
            <a:srgbClr val="F2F8F8"/>
          </a:solidFill>
          <a:ln w="9525">
            <a:solidFill>
              <a:srgbClr val="D9E7E9"/>
            </a:solidFill>
            <a:prstDash val="solid"/>
          </a:ln>
        </p:spPr>
      </p:sp>
      <p:sp>
        <p:nvSpPr>
          <p:cNvPr id="17" name="Shape 15"/>
          <p:cNvSpPr/>
          <p:nvPr/>
        </p:nvSpPr>
        <p:spPr>
          <a:xfrm>
            <a:off x="10984687" y="4553712"/>
            <a:ext cx="402336" cy="402336"/>
          </a:xfrm>
          <a:prstGeom prst="ellipse">
            <a:avLst/>
          </a:prstGeom>
          <a:solidFill>
            <a:srgbClr val="02C39A"/>
          </a:solidFill>
          <a:ln/>
        </p:spPr>
      </p:sp>
      <p:sp>
        <p:nvSpPr>
          <p:cNvPr id="18" name="Text 16"/>
          <p:cNvSpPr/>
          <p:nvPr/>
        </p:nvSpPr>
        <p:spPr>
          <a:xfrm>
            <a:off x="6467551" y="4572000"/>
            <a:ext cx="4352544" cy="457200"/>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b="1" i="0" u="none" strike="noStrike" kern="1200" cap="none" spc="0" normalizeH="0" baseline="0" noProof="0" dirty="0">
                <a:ln>
                  <a:noFill/>
                </a:ln>
                <a:solidFill>
                  <a:srgbClr val="0A3540"/>
                </a:solidFill>
                <a:effectLst/>
                <a:uLnTx/>
                <a:uFillTx/>
                <a:latin typeface="Dubai" panose="020B0503030403030204" pitchFamily="34" charset="-78"/>
                <a:ea typeface="Arial" pitchFamily="34" charset="-122"/>
                <a:cs typeface="Dubai" panose="020B0503030403030204" pitchFamily="34" charset="-78"/>
              </a:rPr>
              <a:t>نماذج الذكاء الاصطناعي</a:t>
            </a:r>
            <a:endParaRPr kumimoji="0" lang="ar-SA"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19" name="Text 17"/>
          <p:cNvSpPr/>
          <p:nvPr/>
        </p:nvSpPr>
        <p:spPr>
          <a:xfrm>
            <a:off x="6467551" y="5102352"/>
            <a:ext cx="4901184" cy="676656"/>
          </a:xfrm>
          <a:prstGeom prst="rect">
            <a:avLst/>
          </a:prstGeom>
          <a:noFill/>
          <a:ln/>
        </p:spPr>
        <p:txBody>
          <a:bodyPr wrap="square" lIns="0" tIns="0" rIns="0" bIns="0" rtlCol="0" anchor="t"/>
          <a:lstStyle/>
          <a:p>
            <a:pPr marL="0" marR="0" lvl="0" indent="0" algn="r" defTabSz="914400" rtl="1" eaLnBrk="1" fontAlgn="auto" latinLnBrk="0" hangingPunct="1">
              <a:lnSpc>
                <a:spcPct val="130000"/>
              </a:lnSpc>
              <a:spcBef>
                <a:spcPts val="0"/>
              </a:spcBef>
              <a:spcAft>
                <a:spcPts val="0"/>
              </a:spcAft>
              <a:buClrTx/>
              <a:buSzTx/>
              <a:buFontTx/>
              <a:buNone/>
              <a:tabLst/>
              <a:defRPr/>
            </a:pPr>
            <a:r>
              <a:rPr kumimoji="0" lang="ar-SA" altLang="en-US" sz="1600" b="0" i="0" u="none" strike="noStrike" kern="1200" cap="none" spc="0" normalizeH="0" baseline="0" noProof="0" dirty="0">
                <a:ln>
                  <a:noFill/>
                </a:ln>
                <a:solidFill>
                  <a:srgbClr val="587078"/>
                </a:solidFill>
                <a:effectLst/>
                <a:uLnTx/>
                <a:uFillTx/>
                <a:latin typeface="Dubai" panose="020B0503030403030204" pitchFamily="34" charset="-78"/>
                <a:ea typeface="Arial" pitchFamily="34" charset="-122"/>
                <a:cs typeface="Dubai" panose="020B0503030403030204" pitchFamily="34" charset="-78"/>
              </a:rPr>
              <a:t>تُشغَّل النماذج فعلياً — لا نسخاً وهمية — ويُتحقَّق من سماتها ونتائجها وحدودها.</a:t>
            </a:r>
            <a:endParaRPr kumimoji="0" lang="ar-SA" sz="16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20" name="Shape 18"/>
          <p:cNvSpPr/>
          <p:nvPr/>
        </p:nvSpPr>
        <p:spPr>
          <a:xfrm>
            <a:off x="551383" y="4352544"/>
            <a:ext cx="5449824" cy="1591056"/>
          </a:xfrm>
          <a:prstGeom prst="roundRect">
            <a:avLst>
              <a:gd name="adj" fmla="val 4598"/>
            </a:avLst>
          </a:prstGeom>
          <a:solidFill>
            <a:srgbClr val="F2F8F8"/>
          </a:solidFill>
          <a:ln w="9525">
            <a:solidFill>
              <a:srgbClr val="D9E7E9"/>
            </a:solidFill>
            <a:prstDash val="solid"/>
          </a:ln>
        </p:spPr>
      </p:sp>
      <p:sp>
        <p:nvSpPr>
          <p:cNvPr id="21" name="Shape 19"/>
          <p:cNvSpPr/>
          <p:nvPr/>
        </p:nvSpPr>
        <p:spPr>
          <a:xfrm>
            <a:off x="5342839" y="4553712"/>
            <a:ext cx="402336" cy="402336"/>
          </a:xfrm>
          <a:prstGeom prst="ellipse">
            <a:avLst/>
          </a:prstGeom>
          <a:solidFill>
            <a:srgbClr val="02C39A"/>
          </a:solidFill>
          <a:ln/>
        </p:spPr>
      </p:sp>
      <p:sp>
        <p:nvSpPr>
          <p:cNvPr id="22" name="Text 20"/>
          <p:cNvSpPr/>
          <p:nvPr/>
        </p:nvSpPr>
        <p:spPr>
          <a:xfrm>
            <a:off x="825703" y="4572000"/>
            <a:ext cx="4352544" cy="457200"/>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b="1" i="0" u="none" strike="noStrike" kern="1200" cap="none" spc="0" normalizeH="0" baseline="0" noProof="0" dirty="0">
                <a:ln>
                  <a:noFill/>
                </a:ln>
                <a:solidFill>
                  <a:srgbClr val="0A3540"/>
                </a:solidFill>
                <a:effectLst/>
                <a:uLnTx/>
                <a:uFillTx/>
                <a:latin typeface="Dubai" panose="020B0503030403030204" pitchFamily="34" charset="-78"/>
                <a:ea typeface="Arial" pitchFamily="34" charset="-122"/>
                <a:cs typeface="Dubai" panose="020B0503030403030204" pitchFamily="34" charset="-78"/>
              </a:rPr>
              <a:t>تعدّد المستخدمين والأداء</a:t>
            </a:r>
            <a:endParaRPr kumimoji="0" lang="ar-SA"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23" name="Text 21"/>
          <p:cNvSpPr/>
          <p:nvPr/>
        </p:nvSpPr>
        <p:spPr>
          <a:xfrm>
            <a:off x="825703" y="5102352"/>
            <a:ext cx="4901184" cy="676656"/>
          </a:xfrm>
          <a:prstGeom prst="rect">
            <a:avLst/>
          </a:prstGeom>
          <a:noFill/>
          <a:ln/>
        </p:spPr>
        <p:txBody>
          <a:bodyPr wrap="square" lIns="0" tIns="0" rIns="0" bIns="0" rtlCol="0" anchor="t"/>
          <a:lstStyle/>
          <a:p>
            <a:pPr marL="0" marR="0" lvl="0" indent="0" algn="r" defTabSz="914400" rtl="1" eaLnBrk="1" fontAlgn="auto" latinLnBrk="0" hangingPunct="1">
              <a:lnSpc>
                <a:spcPct val="130000"/>
              </a:lnSpc>
              <a:spcBef>
                <a:spcPts val="0"/>
              </a:spcBef>
              <a:spcAft>
                <a:spcPts val="0"/>
              </a:spcAft>
              <a:buClrTx/>
              <a:buSzTx/>
              <a:buFontTx/>
              <a:buNone/>
              <a:tabLst/>
              <a:defRPr/>
            </a:pPr>
            <a:r>
              <a:rPr kumimoji="0" lang="ar-SA" altLang="en-US" sz="1600" b="0" i="0" u="none" strike="noStrike" kern="1200" cap="none" spc="0" normalizeH="0" baseline="0" noProof="0" dirty="0">
                <a:ln>
                  <a:noFill/>
                </a:ln>
                <a:solidFill>
                  <a:srgbClr val="587078"/>
                </a:solidFill>
                <a:effectLst/>
                <a:uLnTx/>
                <a:uFillTx/>
                <a:latin typeface="Dubai" panose="020B0503030403030204" pitchFamily="34" charset="-78"/>
                <a:ea typeface="Arial" pitchFamily="34" charset="-122"/>
                <a:cs typeface="Dubai" panose="020B0503030403030204" pitchFamily="34" charset="-78"/>
              </a:rPr>
              <a:t>عزل بيانات كلّ مستخدم تحت الاستخدام المتزامن، وقياس تحسّن الأداء نحو ١٩ ضعفاً.</a:t>
            </a:r>
            <a:endParaRPr kumimoji="0" lang="ar-SA" sz="16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
        <p:nvSpPr>
          <p:cNvPr id="24" name="Text 22"/>
          <p:cNvSpPr/>
          <p:nvPr/>
        </p:nvSpPr>
        <p:spPr>
          <a:xfrm>
            <a:off x="548640" y="6016752"/>
            <a:ext cx="11094415" cy="365760"/>
          </a:xfrm>
          <a:prstGeom prst="rect">
            <a:avLst/>
          </a:prstGeom>
          <a:noFill/>
          <a:ln/>
        </p:spPr>
        <p:txBody>
          <a:bodyPr wrap="square" lIns="0" tIns="0" rIns="0" bIns="0"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1200" b="0" i="1" u="none" strike="noStrike" kern="1200" cap="none" spc="0" normalizeH="0" baseline="0" noProof="0" dirty="0">
                <a:ln>
                  <a:noFill/>
                </a:ln>
                <a:solidFill>
                  <a:srgbClr val="587078"/>
                </a:solidFill>
                <a:effectLst/>
                <a:uLnTx/>
                <a:uFillTx/>
                <a:latin typeface="Dubai" panose="020B0503030403030204" pitchFamily="34" charset="-78"/>
                <a:ea typeface="Arial" pitchFamily="34" charset="-122"/>
                <a:cs typeface="Dubai" panose="020B0503030403030204" pitchFamily="34" charset="-78"/>
              </a:rPr>
              <a:t>وأثبتت الاختبارات قدرتها على كشف الخطأ فعلياً: عند تعطيل فحصٍ أمني عمداً على سبيل التجربة، أخفق اختبارا عزل المريض وحدهما دون سواهما.</a:t>
            </a:r>
            <a:endParaRPr kumimoji="0" lang="ar-SA" sz="1200" b="0" i="0" u="none" strike="noStrike" kern="1200" cap="none" spc="0" normalizeH="0" baseline="0" noProof="0" dirty="0">
              <a:ln>
                <a:noFill/>
              </a:ln>
              <a:solidFill>
                <a:prstClr val="black"/>
              </a:solidFill>
              <a:effectLst/>
              <a:uLnTx/>
              <a:uFillTx/>
              <a:latin typeface="Dubai" panose="020B0503030403030204" pitchFamily="34" charset="-78"/>
              <a:cs typeface="Dubai" panose="020B0503030403030204" pitchFamily="34" charset="-78"/>
            </a:endParaRPr>
          </a:p>
        </p:txBody>
      </p:sp>
    </p:spTree>
    <p:extLst>
      <p:ext uri="{BB962C8B-B14F-4D97-AF65-F5344CB8AC3E}">
        <p14:creationId xmlns:p14="http://schemas.microsoft.com/office/powerpoint/2010/main" val="2016552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587078"/>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900" dirty="0">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ar-SY" sz="900" dirty="0">
                <a:solidFill>
                  <a:srgbClr val="587078"/>
                </a:solidFill>
                <a:latin typeface="Arial" pitchFamily="34" charset="0"/>
                <a:ea typeface="Arial" pitchFamily="34" charset="-122"/>
                <a:cs typeface="Arial" pitchFamily="34" charset="-120"/>
              </a:rPr>
              <a:t>1</a:t>
            </a:r>
            <a:r>
              <a:rPr lang="en-US" sz="900" dirty="0">
                <a:solidFill>
                  <a:srgbClr val="587078"/>
                </a:solidFill>
                <a:latin typeface="Arial" pitchFamily="34" charset="0"/>
                <a:ea typeface="Arial" pitchFamily="34" charset="-122"/>
                <a:cs typeface="Arial" pitchFamily="34" charset="-120"/>
              </a:rPr>
              <a:t>4</a:t>
            </a:r>
            <a:endParaRPr lang="ar-SY" sz="900" dirty="0">
              <a:solidFill>
                <a:srgbClr val="587078"/>
              </a:solidFill>
              <a:latin typeface="Arial" pitchFamily="34" charset="0"/>
              <a:ea typeface="Arial" pitchFamily="34" charset="-122"/>
              <a:cs typeface="Arial" pitchFamily="34" charset="-120"/>
            </a:endParaRPr>
          </a:p>
        </p:txBody>
      </p:sp>
      <p:sp>
        <p:nvSpPr>
          <p:cNvPr id="4" name="Text 2"/>
          <p:cNvSpPr/>
          <p:nvPr/>
        </p:nvSpPr>
        <p:spPr>
          <a:xfrm>
            <a:off x="548640" y="292608"/>
            <a:ext cx="11094415" cy="566928"/>
          </a:xfrm>
          <a:prstGeom prst="rect">
            <a:avLst/>
          </a:prstGeom>
          <a:noFill/>
          <a:ln/>
        </p:spPr>
        <p:txBody>
          <a:bodyPr wrap="square" lIns="0" tIns="0" rIns="0" bIns="0" rtlCol="0" anchor="ctr"/>
          <a:lstStyle/>
          <a:p>
            <a:pPr marL="0" indent="0" algn="r" rtl="1">
              <a:buNone/>
            </a:pPr>
            <a:r>
              <a:rPr lang="ar-SA" altLang="en-US" sz="2900" b="1" dirty="0">
                <a:solidFill>
                  <a:srgbClr val="0A3540"/>
                </a:solidFill>
                <a:latin typeface="Dubai" panose="020B0503030403030204" pitchFamily="34" charset="-78"/>
                <a:ea typeface="Arial" pitchFamily="34" charset="-122"/>
                <a:cs typeface="Dubai" panose="020B0503030403030204" pitchFamily="34" charset="-78"/>
              </a:rPr>
              <a:t>الآفاق المستقبلية</a:t>
            </a:r>
            <a:endParaRPr lang="ar-SA" sz="2900" dirty="0">
              <a:latin typeface="Dubai" panose="020B0503030403030204" pitchFamily="34" charset="-78"/>
              <a:cs typeface="Dubai" panose="020B0503030403030204" pitchFamily="34" charset="-78"/>
            </a:endParaRPr>
          </a:p>
        </p:txBody>
      </p:sp>
      <p:sp>
        <p:nvSpPr>
          <p:cNvPr id="5" name="Text 3"/>
          <p:cNvSpPr/>
          <p:nvPr/>
        </p:nvSpPr>
        <p:spPr>
          <a:xfrm>
            <a:off x="548640" y="859536"/>
            <a:ext cx="11094415" cy="347472"/>
          </a:xfrm>
          <a:prstGeom prst="rect">
            <a:avLst/>
          </a:prstGeom>
          <a:noFill/>
          <a:ln/>
        </p:spPr>
        <p:txBody>
          <a:bodyPr wrap="square" lIns="0" tIns="0" rIns="0" bIns="0" rtlCol="0" anchor="ctr"/>
          <a:lstStyle/>
          <a:p>
            <a:pPr marL="0" indent="0" algn="r" rtl="1">
              <a:buNone/>
            </a:pPr>
            <a:r>
              <a:rPr lang="ar-SA" altLang="en-US" sz="1400" dirty="0">
                <a:solidFill>
                  <a:srgbClr val="0E7C86"/>
                </a:solidFill>
                <a:latin typeface="Dubai" panose="020B0503030403030204" pitchFamily="34" charset="-78"/>
                <a:ea typeface="Arial" pitchFamily="34" charset="-122"/>
                <a:cs typeface="Dubai" panose="020B0503030403030204" pitchFamily="34" charset="-78"/>
              </a:rPr>
              <a:t>أساسٌ متين… والبناء عليه ممكن في اتجاهاتٍ عدّة</a:t>
            </a:r>
            <a:endParaRPr lang="ar-SA" sz="1400" dirty="0">
              <a:latin typeface="Dubai" panose="020B0503030403030204" pitchFamily="34" charset="-78"/>
              <a:cs typeface="Dubai" panose="020B0503030403030204" pitchFamily="34" charset="-78"/>
            </a:endParaRPr>
          </a:p>
        </p:txBody>
      </p:sp>
      <p:sp>
        <p:nvSpPr>
          <p:cNvPr id="6" name="Shape 4"/>
          <p:cNvSpPr/>
          <p:nvPr/>
        </p:nvSpPr>
        <p:spPr>
          <a:xfrm>
            <a:off x="6193231" y="1691640"/>
            <a:ext cx="5449824" cy="1965960"/>
          </a:xfrm>
          <a:prstGeom prst="roundRect">
            <a:avLst>
              <a:gd name="adj" fmla="val 3721"/>
            </a:avLst>
          </a:prstGeom>
          <a:solidFill>
            <a:srgbClr val="F2F8F8"/>
          </a:solidFill>
          <a:ln w="9525">
            <a:solidFill>
              <a:srgbClr val="D9E7E9"/>
            </a:solidFill>
            <a:prstDash val="solid"/>
          </a:ln>
        </p:spPr>
      </p:sp>
      <p:sp>
        <p:nvSpPr>
          <p:cNvPr id="7" name="Shape 5"/>
          <p:cNvSpPr/>
          <p:nvPr/>
        </p:nvSpPr>
        <p:spPr>
          <a:xfrm>
            <a:off x="10984687" y="1911096"/>
            <a:ext cx="402336" cy="402336"/>
          </a:xfrm>
          <a:prstGeom prst="ellipse">
            <a:avLst/>
          </a:prstGeom>
          <a:solidFill>
            <a:srgbClr val="0E7C86"/>
          </a:solidFill>
          <a:ln/>
        </p:spPr>
      </p:sp>
      <p:sp>
        <p:nvSpPr>
          <p:cNvPr id="8" name="Text 6"/>
          <p:cNvSpPr/>
          <p:nvPr/>
        </p:nvSpPr>
        <p:spPr>
          <a:xfrm>
            <a:off x="6467551" y="1947672"/>
            <a:ext cx="4352544" cy="457200"/>
          </a:xfrm>
          <a:prstGeom prst="rect">
            <a:avLst/>
          </a:prstGeom>
          <a:noFill/>
          <a:ln/>
        </p:spPr>
        <p:txBody>
          <a:bodyPr wrap="square" lIns="0" tIns="0" rIns="0" bIns="0" rtlCol="0" anchor="ctr"/>
          <a:lstStyle/>
          <a:p>
            <a:pPr marL="0" indent="0" algn="r" rtl="1">
              <a:buNone/>
            </a:pPr>
            <a:r>
              <a:rPr lang="ar-SA" altLang="en-US" b="1" dirty="0">
                <a:solidFill>
                  <a:srgbClr val="0A3540"/>
                </a:solidFill>
                <a:latin typeface="Dubai" panose="020B0503030403030204" pitchFamily="34" charset="-78"/>
                <a:ea typeface="Arial" pitchFamily="34" charset="-122"/>
                <a:cs typeface="Dubai" panose="020B0503030403030204" pitchFamily="34" charset="-78"/>
              </a:rPr>
              <a:t>بيانات محلية حقيقية</a:t>
            </a:r>
            <a:endParaRPr lang="ar-SA" dirty="0">
              <a:latin typeface="Dubai" panose="020B0503030403030204" pitchFamily="34" charset="-78"/>
              <a:cs typeface="Dubai" panose="020B0503030403030204" pitchFamily="34" charset="-78"/>
            </a:endParaRPr>
          </a:p>
        </p:txBody>
      </p:sp>
      <p:sp>
        <p:nvSpPr>
          <p:cNvPr id="9" name="Text 7"/>
          <p:cNvSpPr/>
          <p:nvPr/>
        </p:nvSpPr>
        <p:spPr>
          <a:xfrm>
            <a:off x="6467551" y="2514600"/>
            <a:ext cx="4901184" cy="960120"/>
          </a:xfrm>
          <a:prstGeom prst="rect">
            <a:avLst/>
          </a:prstGeom>
          <a:noFill/>
          <a:ln/>
        </p:spPr>
        <p:txBody>
          <a:bodyPr wrap="square" lIns="0" tIns="0" rIns="0" bIns="0" rtlCol="0" anchor="t"/>
          <a:lstStyle/>
          <a:p>
            <a:pPr marL="0" indent="0" algn="r" rtl="1">
              <a:lnSpc>
                <a:spcPct val="130000"/>
              </a:lnSpc>
              <a:buNone/>
            </a:pPr>
            <a:r>
              <a:rPr lang="ar-SA" altLang="en-US" dirty="0">
                <a:solidFill>
                  <a:srgbClr val="587078"/>
                </a:solidFill>
                <a:latin typeface="Dubai" panose="020B0503030403030204" pitchFamily="34" charset="-78"/>
                <a:ea typeface="Arial" pitchFamily="34" charset="-122"/>
                <a:cs typeface="Dubai" panose="020B0503030403030204" pitchFamily="34" charset="-78"/>
              </a:rPr>
              <a:t>إعادة تدريب نماذج الذكاء على بيانات مرضى محليين لرفع دقّتها وملاءمتها لمجتمعنا.</a:t>
            </a:r>
            <a:endParaRPr lang="ar-SA" dirty="0">
              <a:latin typeface="Dubai" panose="020B0503030403030204" pitchFamily="34" charset="-78"/>
              <a:cs typeface="Dubai" panose="020B0503030403030204" pitchFamily="34" charset="-78"/>
            </a:endParaRPr>
          </a:p>
        </p:txBody>
      </p:sp>
      <p:sp>
        <p:nvSpPr>
          <p:cNvPr id="10" name="Shape 8"/>
          <p:cNvSpPr/>
          <p:nvPr/>
        </p:nvSpPr>
        <p:spPr>
          <a:xfrm>
            <a:off x="551383" y="1691640"/>
            <a:ext cx="5449824" cy="1965960"/>
          </a:xfrm>
          <a:prstGeom prst="roundRect">
            <a:avLst>
              <a:gd name="adj" fmla="val 3721"/>
            </a:avLst>
          </a:prstGeom>
          <a:solidFill>
            <a:srgbClr val="F2F8F8"/>
          </a:solidFill>
          <a:ln w="9525">
            <a:solidFill>
              <a:srgbClr val="D9E7E9"/>
            </a:solidFill>
            <a:prstDash val="solid"/>
          </a:ln>
        </p:spPr>
      </p:sp>
      <p:sp>
        <p:nvSpPr>
          <p:cNvPr id="11" name="Shape 9"/>
          <p:cNvSpPr/>
          <p:nvPr/>
        </p:nvSpPr>
        <p:spPr>
          <a:xfrm>
            <a:off x="5342839" y="1911096"/>
            <a:ext cx="402336" cy="402336"/>
          </a:xfrm>
          <a:prstGeom prst="ellipse">
            <a:avLst/>
          </a:prstGeom>
          <a:solidFill>
            <a:srgbClr val="0E7C86"/>
          </a:solidFill>
          <a:ln/>
        </p:spPr>
      </p:sp>
      <p:sp>
        <p:nvSpPr>
          <p:cNvPr id="12" name="Text 10"/>
          <p:cNvSpPr/>
          <p:nvPr/>
        </p:nvSpPr>
        <p:spPr>
          <a:xfrm>
            <a:off x="825703" y="1947672"/>
            <a:ext cx="4352544" cy="457200"/>
          </a:xfrm>
          <a:prstGeom prst="rect">
            <a:avLst/>
          </a:prstGeom>
          <a:noFill/>
          <a:ln/>
        </p:spPr>
        <p:txBody>
          <a:bodyPr wrap="square" lIns="0" tIns="0" rIns="0" bIns="0" rtlCol="0" anchor="ctr"/>
          <a:lstStyle/>
          <a:p>
            <a:pPr marL="0" indent="0" algn="r" rtl="1">
              <a:buNone/>
            </a:pPr>
            <a:r>
              <a:rPr lang="ar-SA" altLang="en-US" b="1" dirty="0">
                <a:solidFill>
                  <a:srgbClr val="0A3540"/>
                </a:solidFill>
                <a:latin typeface="Dubai" panose="020B0503030403030204" pitchFamily="34" charset="-78"/>
                <a:ea typeface="Arial" pitchFamily="34" charset="-122"/>
                <a:cs typeface="Dubai" panose="020B0503030403030204" pitchFamily="34" charset="-78"/>
              </a:rPr>
              <a:t>تطبيق موبايل</a:t>
            </a:r>
            <a:endParaRPr lang="ar-SA" dirty="0">
              <a:latin typeface="Dubai" panose="020B0503030403030204" pitchFamily="34" charset="-78"/>
              <a:cs typeface="Dubai" panose="020B0503030403030204" pitchFamily="34" charset="-78"/>
            </a:endParaRPr>
          </a:p>
        </p:txBody>
      </p:sp>
      <p:sp>
        <p:nvSpPr>
          <p:cNvPr id="13" name="Text 11"/>
          <p:cNvSpPr/>
          <p:nvPr/>
        </p:nvSpPr>
        <p:spPr>
          <a:xfrm>
            <a:off x="825703" y="2514600"/>
            <a:ext cx="4901184" cy="960120"/>
          </a:xfrm>
          <a:prstGeom prst="rect">
            <a:avLst/>
          </a:prstGeom>
          <a:noFill/>
          <a:ln/>
        </p:spPr>
        <p:txBody>
          <a:bodyPr wrap="square" lIns="0" tIns="0" rIns="0" bIns="0" rtlCol="0" anchor="t"/>
          <a:lstStyle/>
          <a:p>
            <a:pPr marL="0" indent="0" algn="r" rtl="1">
              <a:lnSpc>
                <a:spcPct val="130000"/>
              </a:lnSpc>
              <a:buNone/>
            </a:pPr>
            <a:r>
              <a:rPr lang="ar-SA" altLang="en-US" dirty="0">
                <a:solidFill>
                  <a:srgbClr val="587078"/>
                </a:solidFill>
                <a:latin typeface="Dubai" panose="020B0503030403030204" pitchFamily="34" charset="-78"/>
                <a:ea typeface="Arial" pitchFamily="34" charset="-122"/>
                <a:cs typeface="Dubai" panose="020B0503030403030204" pitchFamily="34" charset="-78"/>
              </a:rPr>
              <a:t>تطبيقٌ للهاتف يقرّب النظام من المرضى والكادر الطبي أينما كانوا.</a:t>
            </a:r>
            <a:endParaRPr lang="ar-SA" dirty="0">
              <a:latin typeface="Dubai" panose="020B0503030403030204" pitchFamily="34" charset="-78"/>
              <a:cs typeface="Dubai" panose="020B0503030403030204" pitchFamily="34" charset="-78"/>
            </a:endParaRPr>
          </a:p>
        </p:txBody>
      </p:sp>
      <p:sp>
        <p:nvSpPr>
          <p:cNvPr id="14" name="Shape 12"/>
          <p:cNvSpPr/>
          <p:nvPr/>
        </p:nvSpPr>
        <p:spPr>
          <a:xfrm>
            <a:off x="6193231" y="3931920"/>
            <a:ext cx="5449824" cy="1965960"/>
          </a:xfrm>
          <a:prstGeom prst="roundRect">
            <a:avLst>
              <a:gd name="adj" fmla="val 3721"/>
            </a:avLst>
          </a:prstGeom>
          <a:solidFill>
            <a:srgbClr val="F2F8F8"/>
          </a:solidFill>
          <a:ln w="9525">
            <a:solidFill>
              <a:srgbClr val="D9E7E9"/>
            </a:solidFill>
            <a:prstDash val="solid"/>
          </a:ln>
        </p:spPr>
      </p:sp>
      <p:sp>
        <p:nvSpPr>
          <p:cNvPr id="15" name="Shape 13"/>
          <p:cNvSpPr/>
          <p:nvPr/>
        </p:nvSpPr>
        <p:spPr>
          <a:xfrm>
            <a:off x="10984687" y="4151376"/>
            <a:ext cx="402336" cy="402336"/>
          </a:xfrm>
          <a:prstGeom prst="ellipse">
            <a:avLst/>
          </a:prstGeom>
          <a:solidFill>
            <a:srgbClr val="02C39A"/>
          </a:solidFill>
          <a:ln/>
        </p:spPr>
      </p:sp>
      <p:sp>
        <p:nvSpPr>
          <p:cNvPr id="16" name="Text 14"/>
          <p:cNvSpPr/>
          <p:nvPr/>
        </p:nvSpPr>
        <p:spPr>
          <a:xfrm>
            <a:off x="6467551" y="4187952"/>
            <a:ext cx="4352544" cy="457200"/>
          </a:xfrm>
          <a:prstGeom prst="rect">
            <a:avLst/>
          </a:prstGeom>
          <a:noFill/>
          <a:ln/>
        </p:spPr>
        <p:txBody>
          <a:bodyPr wrap="square" lIns="0" tIns="0" rIns="0" bIns="0" rtlCol="0" anchor="ctr"/>
          <a:lstStyle/>
          <a:p>
            <a:pPr marL="0" indent="0" algn="r" rtl="1">
              <a:buNone/>
            </a:pPr>
            <a:r>
              <a:rPr lang="ar-SA" altLang="en-US" b="1" dirty="0">
                <a:solidFill>
                  <a:srgbClr val="0A3540"/>
                </a:solidFill>
                <a:latin typeface="Dubai" panose="020B0503030403030204" pitchFamily="34" charset="-78"/>
                <a:ea typeface="Arial" pitchFamily="34" charset="-122"/>
                <a:cs typeface="Dubai" panose="020B0503030403030204" pitchFamily="34" charset="-78"/>
              </a:rPr>
              <a:t>نشرٌ على نطاق أوسع</a:t>
            </a:r>
            <a:endParaRPr lang="ar-SA" dirty="0">
              <a:latin typeface="Dubai" panose="020B0503030403030204" pitchFamily="34" charset="-78"/>
              <a:cs typeface="Dubai" panose="020B0503030403030204" pitchFamily="34" charset="-78"/>
            </a:endParaRPr>
          </a:p>
        </p:txBody>
      </p:sp>
      <p:sp>
        <p:nvSpPr>
          <p:cNvPr id="17" name="Text 15"/>
          <p:cNvSpPr/>
          <p:nvPr/>
        </p:nvSpPr>
        <p:spPr>
          <a:xfrm>
            <a:off x="6467551" y="4754880"/>
            <a:ext cx="4901184" cy="960120"/>
          </a:xfrm>
          <a:prstGeom prst="rect">
            <a:avLst/>
          </a:prstGeom>
          <a:noFill/>
          <a:ln/>
        </p:spPr>
        <p:txBody>
          <a:bodyPr wrap="square" lIns="0" tIns="0" rIns="0" bIns="0" rtlCol="0" anchor="t"/>
          <a:lstStyle/>
          <a:p>
            <a:pPr marL="0" indent="0" algn="r" rtl="1">
              <a:lnSpc>
                <a:spcPct val="130000"/>
              </a:lnSpc>
              <a:buNone/>
            </a:pPr>
            <a:r>
              <a:rPr lang="ar-SA" altLang="en-US" dirty="0">
                <a:solidFill>
                  <a:srgbClr val="587078"/>
                </a:solidFill>
                <a:latin typeface="Dubai" panose="020B0503030403030204" pitchFamily="34" charset="-78"/>
                <a:ea typeface="Arial" pitchFamily="34" charset="-122"/>
                <a:cs typeface="Dubai" panose="020B0503030403030204" pitchFamily="34" charset="-78"/>
              </a:rPr>
              <a:t>تهيئة النظام للعمل السحابي وخدمة أكثر من مؤسسة بموثوقية عالية.</a:t>
            </a:r>
            <a:endParaRPr lang="ar-SA" dirty="0">
              <a:latin typeface="Dubai" panose="020B0503030403030204" pitchFamily="34" charset="-78"/>
              <a:cs typeface="Dubai" panose="020B0503030403030204" pitchFamily="34" charset="-78"/>
            </a:endParaRPr>
          </a:p>
        </p:txBody>
      </p:sp>
      <p:sp>
        <p:nvSpPr>
          <p:cNvPr id="18" name="Shape 16"/>
          <p:cNvSpPr/>
          <p:nvPr/>
        </p:nvSpPr>
        <p:spPr>
          <a:xfrm>
            <a:off x="551383" y="3931920"/>
            <a:ext cx="5449824" cy="1965960"/>
          </a:xfrm>
          <a:prstGeom prst="roundRect">
            <a:avLst>
              <a:gd name="adj" fmla="val 3721"/>
            </a:avLst>
          </a:prstGeom>
          <a:solidFill>
            <a:srgbClr val="F2F8F8"/>
          </a:solidFill>
          <a:ln w="9525">
            <a:solidFill>
              <a:srgbClr val="D9E7E9"/>
            </a:solidFill>
            <a:prstDash val="solid"/>
          </a:ln>
        </p:spPr>
      </p:sp>
      <p:sp>
        <p:nvSpPr>
          <p:cNvPr id="19" name="Shape 17"/>
          <p:cNvSpPr/>
          <p:nvPr/>
        </p:nvSpPr>
        <p:spPr>
          <a:xfrm>
            <a:off x="5342839" y="4151376"/>
            <a:ext cx="402336" cy="402336"/>
          </a:xfrm>
          <a:prstGeom prst="ellipse">
            <a:avLst/>
          </a:prstGeom>
          <a:solidFill>
            <a:srgbClr val="02C39A"/>
          </a:solidFill>
          <a:ln/>
        </p:spPr>
      </p:sp>
      <p:sp>
        <p:nvSpPr>
          <p:cNvPr id="20" name="Text 18"/>
          <p:cNvSpPr/>
          <p:nvPr/>
        </p:nvSpPr>
        <p:spPr>
          <a:xfrm>
            <a:off x="825703" y="4187952"/>
            <a:ext cx="4352544" cy="457200"/>
          </a:xfrm>
          <a:prstGeom prst="rect">
            <a:avLst/>
          </a:prstGeom>
          <a:noFill/>
          <a:ln/>
        </p:spPr>
        <p:txBody>
          <a:bodyPr wrap="square" lIns="0" tIns="0" rIns="0" bIns="0" rtlCol="0" anchor="ctr"/>
          <a:lstStyle/>
          <a:p>
            <a:pPr marL="0" indent="0" algn="r" rtl="1">
              <a:buNone/>
            </a:pPr>
            <a:r>
              <a:rPr lang="ar-SA" altLang="en-US" b="1" dirty="0">
                <a:solidFill>
                  <a:srgbClr val="0A3540"/>
                </a:solidFill>
                <a:latin typeface="Dubai" panose="020B0503030403030204" pitchFamily="34" charset="-78"/>
                <a:ea typeface="Arial" pitchFamily="34" charset="-122"/>
                <a:cs typeface="Dubai" panose="020B0503030403030204" pitchFamily="34" charset="-78"/>
              </a:rPr>
              <a:t>ربطٌ أعمق بالمنظومة الصحية</a:t>
            </a:r>
            <a:endParaRPr lang="ar-SA" dirty="0">
              <a:latin typeface="Dubai" panose="020B0503030403030204" pitchFamily="34" charset="-78"/>
              <a:cs typeface="Dubai" panose="020B0503030403030204" pitchFamily="34" charset="-78"/>
            </a:endParaRPr>
          </a:p>
        </p:txBody>
      </p:sp>
      <p:sp>
        <p:nvSpPr>
          <p:cNvPr id="21" name="Text 19"/>
          <p:cNvSpPr/>
          <p:nvPr/>
        </p:nvSpPr>
        <p:spPr>
          <a:xfrm>
            <a:off x="825703" y="4754880"/>
            <a:ext cx="4901184" cy="960120"/>
          </a:xfrm>
          <a:prstGeom prst="rect">
            <a:avLst/>
          </a:prstGeom>
          <a:noFill/>
          <a:ln/>
        </p:spPr>
        <p:txBody>
          <a:bodyPr wrap="square" lIns="0" tIns="0" rIns="0" bIns="0" rtlCol="0" anchor="t"/>
          <a:lstStyle/>
          <a:p>
            <a:pPr marL="0" indent="0" algn="r" rtl="1">
              <a:lnSpc>
                <a:spcPct val="130000"/>
              </a:lnSpc>
              <a:buNone/>
            </a:pPr>
            <a:r>
              <a:rPr lang="ar-SA" altLang="en-US" dirty="0">
                <a:solidFill>
                  <a:srgbClr val="587078"/>
                </a:solidFill>
                <a:latin typeface="Dubai" panose="020B0503030403030204" pitchFamily="34" charset="-78"/>
                <a:ea typeface="Arial" pitchFamily="34" charset="-122"/>
                <a:cs typeface="Dubai" panose="020B0503030403030204" pitchFamily="34" charset="-78"/>
              </a:rPr>
              <a:t>تبادل الملفات مع الأنظمة الأخرى المعتمدة على المعيار نفسه، ليصبح النظام عقدةً في شبكةٍ صحية وطنية.</a:t>
            </a:r>
            <a:endParaRPr lang="ar-SA" dirty="0">
              <a:latin typeface="Dubai" panose="020B0503030403030204" pitchFamily="34" charset="-78"/>
              <a:cs typeface="Dubai" panose="020B0503030403030204" pitchFamily="34" charset="-7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A3540"/>
        </a:solidFill>
        <a:effectLst/>
      </p:bgPr>
    </p:bg>
    <p:spTree>
      <p:nvGrpSpPr>
        <p:cNvPr id="1" name=""/>
        <p:cNvGrpSpPr/>
        <p:nvPr/>
      </p:nvGrpSpPr>
      <p:grpSpPr>
        <a:xfrm>
          <a:off x="0" y="0"/>
          <a:ext cx="0" cy="0"/>
          <a:chOff x="0" y="0"/>
          <a:chExt cx="0" cy="0"/>
        </a:xfrm>
      </p:grpSpPr>
      <p:sp>
        <p:nvSpPr>
          <p:cNvPr id="4" name="Shape 2"/>
          <p:cNvSpPr/>
          <p:nvPr/>
        </p:nvSpPr>
        <p:spPr>
          <a:xfrm>
            <a:off x="-1463040" y="4480560"/>
            <a:ext cx="4754880" cy="4754880"/>
          </a:xfrm>
          <a:prstGeom prst="ellipse">
            <a:avLst/>
          </a:prstGeom>
          <a:solidFill>
            <a:srgbClr val="FFFFFF">
              <a:alpha val="5000"/>
            </a:srgbClr>
          </a:solidFill>
          <a:ln/>
        </p:spPr>
        <p:txBody>
          <a:bodyPr/>
          <a:lstStyle/>
          <a:p>
            <a:endParaRPr lang="en-US" dirty="0"/>
          </a:p>
        </p:txBody>
      </p:sp>
      <p:sp>
        <p:nvSpPr>
          <p:cNvPr id="2" name="Text 0"/>
          <p:cNvSpPr/>
          <p:nvPr/>
        </p:nvSpPr>
        <p:spPr>
          <a:xfrm>
            <a:off x="7436815" y="6473952"/>
            <a:ext cx="4206240" cy="274320"/>
          </a:xfrm>
          <a:prstGeom prst="rect">
            <a:avLst/>
          </a:prstGeom>
          <a:noFill/>
          <a:ln/>
        </p:spPr>
        <p:txBody>
          <a:bodyPr wrap="square" lIns="0" tIns="0" rIns="0" bIns="0" rtlCol="0" anchor="ctr"/>
          <a:lstStyle/>
          <a:p>
            <a:pPr marL="0" indent="0" algn="r" rtl="1">
              <a:buNone/>
            </a:pPr>
            <a:r>
              <a:rPr lang="ar-SA" altLang="en-US" sz="900" dirty="0">
                <a:solidFill>
                  <a:srgbClr val="CFE8EA"/>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900" dirty="0">
              <a:latin typeface="Dubai" panose="020B0503030403030204" pitchFamily="34" charset="-78"/>
              <a:cs typeface="Dubai" panose="020B0503030403030204" pitchFamily="34" charset="-78"/>
            </a:endParaRPr>
          </a:p>
        </p:txBody>
      </p:sp>
      <p:sp>
        <p:nvSpPr>
          <p:cNvPr id="3" name="Text 1"/>
          <p:cNvSpPr/>
          <p:nvPr/>
        </p:nvSpPr>
        <p:spPr>
          <a:xfrm>
            <a:off x="548640" y="6473952"/>
            <a:ext cx="548640" cy="274320"/>
          </a:xfrm>
          <a:prstGeom prst="rect">
            <a:avLst/>
          </a:prstGeom>
          <a:noFill/>
          <a:ln/>
        </p:spPr>
        <p:txBody>
          <a:bodyPr wrap="square" lIns="0" tIns="0" rIns="0" bIns="0" rtlCol="0" anchor="ctr"/>
          <a:lstStyle/>
          <a:p>
            <a:pPr marL="0" indent="0" algn="l">
              <a:buNone/>
            </a:pPr>
            <a:r>
              <a:rPr lang="en-US" sz="900" dirty="0">
                <a:solidFill>
                  <a:srgbClr val="CFE8EA"/>
                </a:solidFill>
                <a:latin typeface="Arial" pitchFamily="34" charset="0"/>
                <a:ea typeface="Arial" pitchFamily="34" charset="-122"/>
                <a:cs typeface="Arial" pitchFamily="34" charset="-120"/>
              </a:rPr>
              <a:t>15</a:t>
            </a:r>
            <a:endParaRPr lang="ar-SY" sz="900" dirty="0">
              <a:solidFill>
                <a:srgbClr val="CFE8EA"/>
              </a:solidFill>
              <a:latin typeface="Arial" pitchFamily="34" charset="0"/>
              <a:ea typeface="Arial" pitchFamily="34" charset="-122"/>
              <a:cs typeface="Arial" pitchFamily="34" charset="-120"/>
            </a:endParaRPr>
          </a:p>
        </p:txBody>
      </p:sp>
      <p:sp>
        <p:nvSpPr>
          <p:cNvPr id="5" name="Shape 3"/>
          <p:cNvSpPr/>
          <p:nvPr/>
        </p:nvSpPr>
        <p:spPr>
          <a:xfrm>
            <a:off x="9692640" y="-2194560"/>
            <a:ext cx="4206240" cy="4206240"/>
          </a:xfrm>
          <a:prstGeom prst="ellipse">
            <a:avLst/>
          </a:prstGeom>
          <a:solidFill>
            <a:srgbClr val="02C39A">
              <a:alpha val="12000"/>
            </a:srgbClr>
          </a:solidFill>
          <a:ln/>
        </p:spPr>
      </p:sp>
      <p:sp>
        <p:nvSpPr>
          <p:cNvPr id="6" name="Shape 4"/>
          <p:cNvSpPr/>
          <p:nvPr/>
        </p:nvSpPr>
        <p:spPr>
          <a:xfrm>
            <a:off x="10881360" y="5394960"/>
            <a:ext cx="2194560" cy="2194560"/>
          </a:xfrm>
          <a:prstGeom prst="ellipse">
            <a:avLst/>
          </a:prstGeom>
          <a:solidFill>
            <a:srgbClr val="E9B44C">
              <a:alpha val="12000"/>
            </a:srgbClr>
          </a:solidFill>
          <a:ln/>
        </p:spPr>
      </p:sp>
      <p:sp>
        <p:nvSpPr>
          <p:cNvPr id="7" name="Text 5"/>
          <p:cNvSpPr/>
          <p:nvPr/>
        </p:nvSpPr>
        <p:spPr>
          <a:xfrm>
            <a:off x="548640" y="640080"/>
            <a:ext cx="11094415" cy="640080"/>
          </a:xfrm>
          <a:prstGeom prst="rect">
            <a:avLst/>
          </a:prstGeom>
          <a:noFill/>
          <a:ln/>
        </p:spPr>
        <p:txBody>
          <a:bodyPr wrap="square" rtlCol="0" anchor="ctr"/>
          <a:lstStyle/>
          <a:p>
            <a:pPr marL="0" indent="0" algn="ctr" rtl="1">
              <a:buNone/>
            </a:pPr>
            <a:r>
              <a:rPr lang="ar-SA" altLang="en-US" sz="3400" b="1" dirty="0">
                <a:solidFill>
                  <a:srgbClr val="FFFFFF"/>
                </a:solidFill>
                <a:latin typeface="Dubai" panose="020B0503030403030204" pitchFamily="34" charset="-78"/>
                <a:ea typeface="Arial" pitchFamily="34" charset="-122"/>
                <a:cs typeface="Dubai" panose="020B0503030403030204" pitchFamily="34" charset="-78"/>
              </a:rPr>
              <a:t>الخاتمة</a:t>
            </a:r>
            <a:endParaRPr lang="ar-SA" sz="3400" dirty="0">
              <a:latin typeface="Dubai" panose="020B0503030403030204" pitchFamily="34" charset="-78"/>
              <a:cs typeface="Dubai" panose="020B0503030403030204" pitchFamily="34" charset="-78"/>
            </a:endParaRPr>
          </a:p>
        </p:txBody>
      </p:sp>
      <p:sp>
        <p:nvSpPr>
          <p:cNvPr id="8" name="Text 6"/>
          <p:cNvSpPr/>
          <p:nvPr/>
        </p:nvSpPr>
        <p:spPr>
          <a:xfrm>
            <a:off x="1371600" y="1737360"/>
            <a:ext cx="9448495" cy="2377440"/>
          </a:xfrm>
          <a:prstGeom prst="rect">
            <a:avLst/>
          </a:prstGeom>
          <a:noFill/>
          <a:ln/>
        </p:spPr>
        <p:txBody>
          <a:bodyPr wrap="square" rtlCol="0" anchor="t"/>
          <a:lstStyle/>
          <a:p>
            <a:pPr marL="0" indent="0" algn="ctr" rtl="1">
              <a:lnSpc>
                <a:spcPct val="155000"/>
              </a:lnSpc>
              <a:buNone/>
            </a:pPr>
            <a:r>
              <a:rPr lang="ar-SA" altLang="en-US" sz="2000" dirty="0">
                <a:solidFill>
                  <a:srgbClr val="CFE8EA"/>
                </a:solidFill>
                <a:latin typeface="Dubai" panose="020B0503030403030204" pitchFamily="34" charset="-78"/>
                <a:ea typeface="Arial" pitchFamily="34" charset="-122"/>
                <a:cs typeface="Dubai" panose="020B0503030403030204" pitchFamily="34" charset="-78"/>
              </a:rPr>
              <a:t>بدأنا من مشكلةٍ يعيشها كلّ مريض: ملفٌّ مبعثر، وفحوصٌ مكرّرة، وغيابُ إنذارٍ مبكر. وانتهينا إلى منصّةٍ واحدة تجمع الملف الطبي بلغةٍ عالمية موحّدة، وتضع إلى جانب الطبيب مساعداً يقظاً ينبّهه في اللحظة المناسبة، وذكاءً اصطناعياً يتوقّع الخطر قبل وقوعه، وتفتح للمريض باباً آمناً إلى ملفه. نظامٌ مكتمل الأركان، بُني بمعايير عالمية، وجاهزٌ للبناء عليه.</a:t>
            </a:r>
            <a:endParaRPr lang="ar-SA" sz="2000" dirty="0">
              <a:latin typeface="Dubai" panose="020B0503030403030204" pitchFamily="34" charset="-78"/>
              <a:cs typeface="Dubai" panose="020B0503030403030204" pitchFamily="34" charset="-78"/>
            </a:endParaRPr>
          </a:p>
        </p:txBody>
      </p:sp>
      <p:sp>
        <p:nvSpPr>
          <p:cNvPr id="9" name="Shape 7"/>
          <p:cNvSpPr/>
          <p:nvPr/>
        </p:nvSpPr>
        <p:spPr>
          <a:xfrm>
            <a:off x="10142068" y="4617720"/>
            <a:ext cx="1600200" cy="475488"/>
          </a:xfrm>
          <a:prstGeom prst="roundRect">
            <a:avLst>
              <a:gd name="adj" fmla="val 50000"/>
            </a:avLst>
          </a:prstGeom>
          <a:solidFill>
            <a:srgbClr val="10485A"/>
          </a:solidFill>
          <a:ln w="12700">
            <a:solidFill>
              <a:srgbClr val="02C39A"/>
            </a:solidFill>
            <a:prstDash val="solid"/>
          </a:ln>
        </p:spPr>
      </p:sp>
      <p:sp>
        <p:nvSpPr>
          <p:cNvPr id="10" name="Text 8"/>
          <p:cNvSpPr/>
          <p:nvPr/>
        </p:nvSpPr>
        <p:spPr>
          <a:xfrm>
            <a:off x="10142068" y="4617720"/>
            <a:ext cx="1600200" cy="475488"/>
          </a:xfrm>
          <a:prstGeom prst="rect">
            <a:avLst/>
          </a:prstGeom>
          <a:noFill/>
          <a:ln/>
        </p:spPr>
        <p:txBody>
          <a:bodyPr wrap="square" lIns="0" tIns="0" rIns="0" bIns="0" rtlCol="0" anchor="ctr"/>
          <a:lstStyle/>
          <a:p>
            <a:pPr marL="0" indent="0" algn="ctr" rtl="1">
              <a:buNone/>
            </a:pPr>
            <a:r>
              <a:rPr lang="ar-SA" altLang="en-US" sz="1400" b="1" dirty="0">
                <a:solidFill>
                  <a:srgbClr val="FFFFFF"/>
                </a:solidFill>
                <a:latin typeface="Dubai" panose="020B0503030403030204" pitchFamily="34" charset="-78"/>
                <a:ea typeface="Arial" pitchFamily="34" charset="-122"/>
                <a:cs typeface="Dubai" panose="020B0503030403030204" pitchFamily="34" charset="-78"/>
              </a:rPr>
              <a:t>ملفٌّ موحّد</a:t>
            </a:r>
            <a:endParaRPr lang="ar-SA" sz="1400" dirty="0">
              <a:latin typeface="Dubai" panose="020B0503030403030204" pitchFamily="34" charset="-78"/>
              <a:cs typeface="Dubai" panose="020B0503030403030204" pitchFamily="34" charset="-78"/>
            </a:endParaRPr>
          </a:p>
        </p:txBody>
      </p:sp>
      <p:sp>
        <p:nvSpPr>
          <p:cNvPr id="11" name="Shape 9"/>
          <p:cNvSpPr/>
          <p:nvPr/>
        </p:nvSpPr>
        <p:spPr>
          <a:xfrm>
            <a:off x="8130388" y="4617720"/>
            <a:ext cx="1783080" cy="475488"/>
          </a:xfrm>
          <a:prstGeom prst="roundRect">
            <a:avLst>
              <a:gd name="adj" fmla="val 50000"/>
            </a:avLst>
          </a:prstGeom>
          <a:solidFill>
            <a:srgbClr val="10485A"/>
          </a:solidFill>
          <a:ln w="12700">
            <a:solidFill>
              <a:srgbClr val="02C39A"/>
            </a:solidFill>
            <a:prstDash val="solid"/>
          </a:ln>
        </p:spPr>
      </p:sp>
      <p:sp>
        <p:nvSpPr>
          <p:cNvPr id="12" name="Text 10"/>
          <p:cNvSpPr/>
          <p:nvPr/>
        </p:nvSpPr>
        <p:spPr>
          <a:xfrm>
            <a:off x="8130388" y="4617720"/>
            <a:ext cx="1783080" cy="475488"/>
          </a:xfrm>
          <a:prstGeom prst="rect">
            <a:avLst/>
          </a:prstGeom>
          <a:noFill/>
          <a:ln/>
        </p:spPr>
        <p:txBody>
          <a:bodyPr wrap="square" lIns="0" tIns="0" rIns="0" bIns="0" rtlCol="0" anchor="ctr"/>
          <a:lstStyle/>
          <a:p>
            <a:pPr marL="0" indent="0" algn="ctr" rtl="1">
              <a:buNone/>
            </a:pPr>
            <a:r>
              <a:rPr lang="ar-SA" altLang="en-US" sz="1400" b="1" dirty="0">
                <a:solidFill>
                  <a:srgbClr val="FFFFFF"/>
                </a:solidFill>
                <a:latin typeface="Dubai" panose="020B0503030403030204" pitchFamily="34" charset="-78"/>
                <a:ea typeface="Arial" pitchFamily="34" charset="-122"/>
                <a:cs typeface="Dubai" panose="020B0503030403030204" pitchFamily="34" charset="-78"/>
              </a:rPr>
              <a:t>مساعدٌ للطبيب</a:t>
            </a:r>
            <a:endParaRPr lang="ar-SA" sz="1400" dirty="0">
              <a:latin typeface="Dubai" panose="020B0503030403030204" pitchFamily="34" charset="-78"/>
              <a:cs typeface="Dubai" panose="020B0503030403030204" pitchFamily="34" charset="-78"/>
            </a:endParaRPr>
          </a:p>
        </p:txBody>
      </p:sp>
      <p:sp>
        <p:nvSpPr>
          <p:cNvPr id="13" name="Shape 11"/>
          <p:cNvSpPr/>
          <p:nvPr/>
        </p:nvSpPr>
        <p:spPr>
          <a:xfrm>
            <a:off x="6301588" y="4617720"/>
            <a:ext cx="1600200" cy="475488"/>
          </a:xfrm>
          <a:prstGeom prst="roundRect">
            <a:avLst>
              <a:gd name="adj" fmla="val 50000"/>
            </a:avLst>
          </a:prstGeom>
          <a:solidFill>
            <a:srgbClr val="10485A"/>
          </a:solidFill>
          <a:ln w="12700">
            <a:solidFill>
              <a:srgbClr val="02C39A"/>
            </a:solidFill>
            <a:prstDash val="solid"/>
          </a:ln>
        </p:spPr>
      </p:sp>
      <p:sp>
        <p:nvSpPr>
          <p:cNvPr id="14" name="Text 12"/>
          <p:cNvSpPr/>
          <p:nvPr/>
        </p:nvSpPr>
        <p:spPr>
          <a:xfrm>
            <a:off x="6301588" y="4617720"/>
            <a:ext cx="1600200" cy="475488"/>
          </a:xfrm>
          <a:prstGeom prst="rect">
            <a:avLst/>
          </a:prstGeom>
          <a:noFill/>
          <a:ln/>
        </p:spPr>
        <p:txBody>
          <a:bodyPr wrap="square" lIns="0" tIns="0" rIns="0" bIns="0" rtlCol="0" anchor="ctr"/>
          <a:lstStyle/>
          <a:p>
            <a:pPr marL="0" indent="0" algn="ctr" rtl="1">
              <a:buNone/>
            </a:pPr>
            <a:r>
              <a:rPr lang="ar-SA" altLang="en-US" sz="1400" b="1" dirty="0">
                <a:solidFill>
                  <a:srgbClr val="FFFFFF"/>
                </a:solidFill>
                <a:latin typeface="Dubai" panose="020B0503030403030204" pitchFamily="34" charset="-78"/>
                <a:ea typeface="Arial" pitchFamily="34" charset="-122"/>
                <a:cs typeface="Dubai" panose="020B0503030403030204" pitchFamily="34" charset="-78"/>
              </a:rPr>
              <a:t>ذكاءٌ يتنبّأ</a:t>
            </a:r>
            <a:endParaRPr lang="ar-SA" sz="1400" dirty="0">
              <a:latin typeface="Dubai" panose="020B0503030403030204" pitchFamily="34" charset="-78"/>
              <a:cs typeface="Dubai" panose="020B0503030403030204" pitchFamily="34" charset="-78"/>
            </a:endParaRPr>
          </a:p>
        </p:txBody>
      </p:sp>
      <p:sp>
        <p:nvSpPr>
          <p:cNvPr id="15" name="Shape 13"/>
          <p:cNvSpPr/>
          <p:nvPr/>
        </p:nvSpPr>
        <p:spPr>
          <a:xfrm>
            <a:off x="4381348" y="4617720"/>
            <a:ext cx="1691640" cy="475488"/>
          </a:xfrm>
          <a:prstGeom prst="roundRect">
            <a:avLst>
              <a:gd name="adj" fmla="val 50000"/>
            </a:avLst>
          </a:prstGeom>
          <a:solidFill>
            <a:srgbClr val="10485A"/>
          </a:solidFill>
          <a:ln w="12700">
            <a:solidFill>
              <a:srgbClr val="02C39A"/>
            </a:solidFill>
            <a:prstDash val="solid"/>
          </a:ln>
        </p:spPr>
      </p:sp>
      <p:sp>
        <p:nvSpPr>
          <p:cNvPr id="16" name="Text 14"/>
          <p:cNvSpPr/>
          <p:nvPr/>
        </p:nvSpPr>
        <p:spPr>
          <a:xfrm>
            <a:off x="4381348" y="4617720"/>
            <a:ext cx="1691640" cy="475488"/>
          </a:xfrm>
          <a:prstGeom prst="rect">
            <a:avLst/>
          </a:prstGeom>
          <a:noFill/>
          <a:ln/>
        </p:spPr>
        <p:txBody>
          <a:bodyPr wrap="square" lIns="0" tIns="0" rIns="0" bIns="0" rtlCol="0" anchor="ctr"/>
          <a:lstStyle/>
          <a:p>
            <a:pPr marL="0" indent="0" algn="ctr" rtl="1">
              <a:buNone/>
            </a:pPr>
            <a:r>
              <a:rPr lang="ar-SA" altLang="en-US" sz="1400" b="1" dirty="0">
                <a:solidFill>
                  <a:srgbClr val="FFFFFF"/>
                </a:solidFill>
                <a:latin typeface="Dubai" panose="020B0503030403030204" pitchFamily="34" charset="-78"/>
                <a:ea typeface="Arial" pitchFamily="34" charset="-122"/>
                <a:cs typeface="Dubai" panose="020B0503030403030204" pitchFamily="34" charset="-78"/>
              </a:rPr>
              <a:t>بوابةٌ للمريض</a:t>
            </a:r>
            <a:endParaRPr lang="ar-SA" sz="1400" dirty="0">
              <a:latin typeface="Dubai" panose="020B0503030403030204" pitchFamily="34" charset="-78"/>
              <a:cs typeface="Dubai" panose="020B0503030403030204" pitchFamily="34" charset="-78"/>
            </a:endParaRPr>
          </a:p>
        </p:txBody>
      </p:sp>
      <p:sp>
        <p:nvSpPr>
          <p:cNvPr id="17" name="Shape 15"/>
          <p:cNvSpPr/>
          <p:nvPr/>
        </p:nvSpPr>
        <p:spPr>
          <a:xfrm>
            <a:off x="2278228" y="4617720"/>
            <a:ext cx="1874520" cy="475488"/>
          </a:xfrm>
          <a:prstGeom prst="roundRect">
            <a:avLst>
              <a:gd name="adj" fmla="val 50000"/>
            </a:avLst>
          </a:prstGeom>
          <a:solidFill>
            <a:srgbClr val="10485A"/>
          </a:solidFill>
          <a:ln w="12700">
            <a:solidFill>
              <a:srgbClr val="02C39A"/>
            </a:solidFill>
            <a:prstDash val="solid"/>
          </a:ln>
        </p:spPr>
      </p:sp>
      <p:sp>
        <p:nvSpPr>
          <p:cNvPr id="18" name="Text 16"/>
          <p:cNvSpPr/>
          <p:nvPr/>
        </p:nvSpPr>
        <p:spPr>
          <a:xfrm>
            <a:off x="2278228" y="4617720"/>
            <a:ext cx="1874520" cy="475488"/>
          </a:xfrm>
          <a:prstGeom prst="rect">
            <a:avLst/>
          </a:prstGeom>
          <a:noFill/>
          <a:ln/>
        </p:spPr>
        <p:txBody>
          <a:bodyPr wrap="square" lIns="0" tIns="0" rIns="0" bIns="0" rtlCol="0" anchor="ctr"/>
          <a:lstStyle/>
          <a:p>
            <a:pPr marL="0" indent="0" algn="ctr" rtl="1">
              <a:buNone/>
            </a:pPr>
            <a:r>
              <a:rPr lang="ar-SA" altLang="en-US" sz="1400" b="1" dirty="0">
                <a:solidFill>
                  <a:srgbClr val="FFFFFF"/>
                </a:solidFill>
                <a:latin typeface="Dubai" panose="020B0503030403030204" pitchFamily="34" charset="-78"/>
                <a:ea typeface="Arial" pitchFamily="34" charset="-122"/>
                <a:cs typeface="Dubai" panose="020B0503030403030204" pitchFamily="34" charset="-78"/>
              </a:rPr>
              <a:t>أمانٌ وخصوصية</a:t>
            </a:r>
            <a:endParaRPr lang="ar-SA" sz="1400" dirty="0">
              <a:latin typeface="Dubai" panose="020B0503030403030204" pitchFamily="34" charset="-78"/>
              <a:cs typeface="Dubai" panose="020B0503030403030204" pitchFamily="34" charset="-78"/>
            </a:endParaRPr>
          </a:p>
        </p:txBody>
      </p:sp>
      <p:sp>
        <p:nvSpPr>
          <p:cNvPr id="19" name="Shape 17"/>
          <p:cNvSpPr/>
          <p:nvPr/>
        </p:nvSpPr>
        <p:spPr>
          <a:xfrm>
            <a:off x="449428" y="4617720"/>
            <a:ext cx="1600200" cy="475488"/>
          </a:xfrm>
          <a:prstGeom prst="roundRect">
            <a:avLst>
              <a:gd name="adj" fmla="val 50000"/>
            </a:avLst>
          </a:prstGeom>
          <a:solidFill>
            <a:srgbClr val="10485A"/>
          </a:solidFill>
          <a:ln w="12700">
            <a:solidFill>
              <a:srgbClr val="02C39A"/>
            </a:solidFill>
            <a:prstDash val="solid"/>
          </a:ln>
        </p:spPr>
      </p:sp>
      <p:sp>
        <p:nvSpPr>
          <p:cNvPr id="20" name="Text 18"/>
          <p:cNvSpPr/>
          <p:nvPr/>
        </p:nvSpPr>
        <p:spPr>
          <a:xfrm>
            <a:off x="449428" y="4617720"/>
            <a:ext cx="1600200" cy="475488"/>
          </a:xfrm>
          <a:prstGeom prst="rect">
            <a:avLst/>
          </a:prstGeom>
          <a:noFill/>
          <a:ln/>
        </p:spPr>
        <p:txBody>
          <a:bodyPr wrap="square" lIns="0" tIns="0" rIns="0" bIns="0" rtlCol="0" anchor="ctr"/>
          <a:lstStyle/>
          <a:p>
            <a:pPr marL="0" indent="0" algn="ctr" rtl="1">
              <a:buNone/>
            </a:pPr>
            <a:r>
              <a:rPr lang="ar-SA" altLang="en-US" sz="1200" b="1" dirty="0">
                <a:solidFill>
                  <a:srgbClr val="FFFFFF"/>
                </a:solidFill>
                <a:latin typeface="Dubai" panose="020B0503030403030204" pitchFamily="34" charset="-78"/>
                <a:ea typeface="Arial" pitchFamily="34" charset="-122"/>
                <a:cs typeface="Dubai" panose="020B0503030403030204" pitchFamily="34" charset="-78"/>
              </a:rPr>
              <a:t>عربي / إنجليزي</a:t>
            </a:r>
            <a:endParaRPr lang="ar-SA" sz="1200" dirty="0">
              <a:latin typeface="Dubai" panose="020B0503030403030204" pitchFamily="34" charset="-78"/>
              <a:cs typeface="Dubai" panose="020B0503030403030204" pitchFamily="34" charset="-78"/>
            </a:endParaRPr>
          </a:p>
        </p:txBody>
      </p:sp>
      <p:sp>
        <p:nvSpPr>
          <p:cNvPr id="21" name="Text 19"/>
          <p:cNvSpPr/>
          <p:nvPr/>
        </p:nvSpPr>
        <p:spPr>
          <a:xfrm>
            <a:off x="548640" y="5577840"/>
            <a:ext cx="11094415" cy="457200"/>
          </a:xfrm>
          <a:prstGeom prst="rect">
            <a:avLst/>
          </a:prstGeom>
          <a:noFill/>
          <a:ln/>
        </p:spPr>
        <p:txBody>
          <a:bodyPr wrap="square" rtlCol="0" anchor="ctr"/>
          <a:lstStyle/>
          <a:p>
            <a:pPr marL="0" indent="0" algn="ctr" rtl="1">
              <a:buNone/>
            </a:pPr>
            <a:r>
              <a:rPr lang="ar-SA" altLang="en-US" sz="1600" i="1" dirty="0">
                <a:solidFill>
                  <a:srgbClr val="E9B44C"/>
                </a:solidFill>
                <a:latin typeface="Dubai" panose="020B0503030403030204" pitchFamily="34" charset="-78"/>
                <a:ea typeface="Arial" pitchFamily="34" charset="-122"/>
                <a:cs typeface="Dubai" panose="020B0503030403030204" pitchFamily="34" charset="-78"/>
              </a:rPr>
              <a:t>«من ملفٍّ مبعثر… إلى رعايةٍ تسبق المرض»</a:t>
            </a:r>
            <a:endParaRPr lang="ar-SA" sz="1600" dirty="0">
              <a:latin typeface="Dubai" panose="020B0503030403030204" pitchFamily="34" charset="-78"/>
              <a:cs typeface="Dubai" panose="020B0503030403030204" pitchFamily="34" charset="-7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A3540"/>
        </a:solidFill>
        <a:effectLst/>
      </p:bgPr>
    </p:bg>
    <p:spTree>
      <p:nvGrpSpPr>
        <p:cNvPr id="1" name=""/>
        <p:cNvGrpSpPr/>
        <p:nvPr/>
      </p:nvGrpSpPr>
      <p:grpSpPr>
        <a:xfrm>
          <a:off x="0" y="0"/>
          <a:ext cx="0" cy="0"/>
          <a:chOff x="0" y="0"/>
          <a:chExt cx="0" cy="0"/>
        </a:xfrm>
      </p:grpSpPr>
      <p:sp>
        <p:nvSpPr>
          <p:cNvPr id="2" name="Shape 0"/>
          <p:cNvSpPr/>
          <p:nvPr/>
        </p:nvSpPr>
        <p:spPr>
          <a:xfrm>
            <a:off x="-1463040" y="4480560"/>
            <a:ext cx="4754880" cy="4754880"/>
          </a:xfrm>
          <a:prstGeom prst="ellipse">
            <a:avLst/>
          </a:prstGeom>
          <a:solidFill>
            <a:srgbClr val="FFFFFF">
              <a:alpha val="5000"/>
            </a:srgbClr>
          </a:solidFill>
          <a:ln/>
        </p:spPr>
      </p:sp>
      <p:sp>
        <p:nvSpPr>
          <p:cNvPr id="3" name="Shape 1"/>
          <p:cNvSpPr/>
          <p:nvPr/>
        </p:nvSpPr>
        <p:spPr>
          <a:xfrm>
            <a:off x="9692640" y="-2194560"/>
            <a:ext cx="4206240" cy="4206240"/>
          </a:xfrm>
          <a:prstGeom prst="ellipse">
            <a:avLst/>
          </a:prstGeom>
          <a:solidFill>
            <a:srgbClr val="02C39A">
              <a:alpha val="12000"/>
            </a:srgbClr>
          </a:solidFill>
          <a:ln/>
        </p:spPr>
      </p:sp>
      <p:sp>
        <p:nvSpPr>
          <p:cNvPr id="4" name="Shape 2"/>
          <p:cNvSpPr/>
          <p:nvPr/>
        </p:nvSpPr>
        <p:spPr>
          <a:xfrm>
            <a:off x="10881360" y="5394960"/>
            <a:ext cx="2194560" cy="2194560"/>
          </a:xfrm>
          <a:prstGeom prst="ellipse">
            <a:avLst/>
          </a:prstGeom>
          <a:solidFill>
            <a:srgbClr val="E9B44C">
              <a:alpha val="12000"/>
            </a:srgbClr>
          </a:solidFill>
          <a:ln/>
        </p:spPr>
      </p:sp>
      <p:sp>
        <p:nvSpPr>
          <p:cNvPr id="5" name="Text 3"/>
          <p:cNvSpPr/>
          <p:nvPr/>
        </p:nvSpPr>
        <p:spPr>
          <a:xfrm>
            <a:off x="548640" y="2468880"/>
            <a:ext cx="11094415" cy="1005840"/>
          </a:xfrm>
          <a:prstGeom prst="rect">
            <a:avLst/>
          </a:prstGeom>
          <a:noFill/>
          <a:ln/>
        </p:spPr>
        <p:txBody>
          <a:bodyPr wrap="square" rtlCol="0" anchor="ctr"/>
          <a:lstStyle/>
          <a:p>
            <a:pPr marL="0" indent="0" algn="ctr" rtl="1">
              <a:buNone/>
            </a:pPr>
            <a:r>
              <a:rPr lang="ar-SA" altLang="en-US" sz="8000" b="1" dirty="0">
                <a:solidFill>
                  <a:srgbClr val="FFFFFF"/>
                </a:solidFill>
                <a:latin typeface="Dubai" panose="020B0503030403030204" pitchFamily="34" charset="-78"/>
                <a:ea typeface="Arial" pitchFamily="34" charset="-122"/>
                <a:cs typeface="Dubai" panose="020B0503030403030204" pitchFamily="34" charset="-78"/>
              </a:rPr>
              <a:t>شكراً لحسن إصغائكم</a:t>
            </a:r>
            <a:endParaRPr lang="ar-SA" sz="8000" dirty="0">
              <a:latin typeface="Dubai" panose="020B0503030403030204" pitchFamily="34" charset="-78"/>
              <a:cs typeface="Dubai" panose="020B0503030403030204" pitchFamily="34" charset="-78"/>
            </a:endParaRPr>
          </a:p>
        </p:txBody>
      </p:sp>
      <p:sp>
        <p:nvSpPr>
          <p:cNvPr id="6" name="Text 4"/>
          <p:cNvSpPr/>
          <p:nvPr/>
        </p:nvSpPr>
        <p:spPr>
          <a:xfrm>
            <a:off x="548640" y="3657600"/>
            <a:ext cx="11094415" cy="548640"/>
          </a:xfrm>
          <a:prstGeom prst="rect">
            <a:avLst/>
          </a:prstGeom>
          <a:noFill/>
          <a:ln/>
        </p:spPr>
        <p:txBody>
          <a:bodyPr wrap="square" rtlCol="0" anchor="ctr"/>
          <a:lstStyle/>
          <a:p>
            <a:pPr marL="0" indent="0" algn="ctr" rtl="1">
              <a:buNone/>
            </a:pPr>
            <a:r>
              <a:rPr lang="ar-SA" altLang="en-US" sz="4000" dirty="0">
                <a:solidFill>
                  <a:srgbClr val="02C39A"/>
                </a:solidFill>
                <a:latin typeface="Dubai" panose="020B0503030403030204" pitchFamily="34" charset="-78"/>
                <a:ea typeface="Arial" pitchFamily="34" charset="-122"/>
                <a:cs typeface="Dubai" panose="020B0503030403030204" pitchFamily="34" charset="-78"/>
              </a:rPr>
              <a:t>نسعد بأسئلتكم وملاحظاتكم</a:t>
            </a:r>
            <a:endParaRPr lang="ar-SA" sz="4000" dirty="0">
              <a:latin typeface="Dubai" panose="020B0503030403030204" pitchFamily="34" charset="-78"/>
              <a:cs typeface="Dubai" panose="020B0503030403030204" pitchFamily="34" charset="-78"/>
            </a:endParaRPr>
          </a:p>
        </p:txBody>
      </p:sp>
      <p:sp>
        <p:nvSpPr>
          <p:cNvPr id="7" name="Text 5"/>
          <p:cNvSpPr/>
          <p:nvPr/>
        </p:nvSpPr>
        <p:spPr>
          <a:xfrm>
            <a:off x="548640" y="6035040"/>
            <a:ext cx="11094415" cy="365760"/>
          </a:xfrm>
          <a:prstGeom prst="rect">
            <a:avLst/>
          </a:prstGeom>
          <a:noFill/>
          <a:ln/>
        </p:spPr>
        <p:txBody>
          <a:bodyPr wrap="square" rtlCol="0" anchor="ctr"/>
          <a:lstStyle/>
          <a:p>
            <a:pPr marL="0" indent="0" algn="ctr" rtl="1">
              <a:buNone/>
            </a:pPr>
            <a:r>
              <a:rPr lang="ar-SA" altLang="en-US" sz="2400" dirty="0">
                <a:solidFill>
                  <a:srgbClr val="CFE8EA"/>
                </a:solidFill>
                <a:latin typeface="Dubai" panose="020B0503030403030204" pitchFamily="34" charset="-78"/>
                <a:ea typeface="Arial" pitchFamily="34" charset="-122"/>
                <a:cs typeface="Dubai" panose="020B0503030403030204" pitchFamily="34" charset="-78"/>
              </a:rPr>
              <a:t>نبض — نظام السجلات الطبية الرقمية</a:t>
            </a:r>
            <a:endParaRPr lang="ar-SA" sz="2400" dirty="0">
              <a:latin typeface="Dubai" panose="020B0503030403030204" pitchFamily="34" charset="-78"/>
              <a:cs typeface="Dubai" panose="020B0503030403030204" pitchFamily="34" charset="-7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2286</Words>
  <Application>Microsoft Office PowerPoint</Application>
  <PresentationFormat>Widescreen</PresentationFormat>
  <Paragraphs>239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Dubai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Khair Horani</cp:lastModifiedBy>
  <cp:revision>13</cp:revision>
  <dcterms:created xsi:type="dcterms:W3CDTF">2026-07-20T19:08:56Z</dcterms:created>
  <dcterms:modified xsi:type="dcterms:W3CDTF">2026-07-22T16:37:03Z</dcterms:modified>
</cp:coreProperties>
</file>