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السلام عليكم. نرحّب بلجنة التحكيم الموقّرة، ونعرض مشروع تخرّجنا: «نبض» — نظام السجلات الطبية الرقمية، منصّة صحّية قائمة على معيار HL7 FHIR مع دعم القرار السريري والذكاء الاصطناعي التنبؤي.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سنمرّ في هذا العرض على سبعة محاور: المقدمة والتحديات، فالأهداف والميزات، ثم التقنيات والبنية العامة، ثم الطبقات الذكية للنظام، فالدراسة التحليلية، ثم لمحة عن الواجهات — التي سيتناولها العرض العملي المسجّل بالتفصيل — وأخيراً الآفاق المستقبلية والخاتمة.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السجلات الطبية هي ذاكرة المريض، لكنّها في الواقع مبعثرة بين أنظمة مغلقة لا تتخاطب. من هنا جاءت فكرة المشروع: منصّة تجمع ثلاث ركائز — سجلّ موحّد وفق معيار عالمي، ودعم ذكي للقرار السريري، وذكاء اصطناعي تنبّؤي.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ينطلق المشروع من خمسة تحدّيات: تشتّت البيانات بين أنظمة لا تتبادلها؛ وغياب التنبيه الاستباقي للمخاطر؛ وصعوبة تتبّع من غيّر ماذا ومتى؛ وحرمان المريض من سجلّه؛ وحساسية البيانات الصحية أمنياً.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الهدف العام: نظامٌ حديث ومتكامل لإدارة السجلات الطبية. ويتفرّع إلى خمسة أهداف: سجلّ FHIR كامل الوظائف، ومصادقة وتفويض بنطاقات صلاحيات، ودعم قرارٍ سريري بمحرّك قواعد، ونماذج ذكاء اصطناعي تنبّؤية، وبوابة مريض ثنائية اللغة.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تتوزّع الميزات على ثماني مجموعات: سجلّ FHIR بثلاثة عشر نوع مورد، وتأريخ كامل للنسخ، وبحث وتحقّق قياسيان، ومصادقة وتفويض عبر Keycloak، ودعم قرار سريري قابل للتأليف، وثلاثة نماذج مخاطر، وبوابة مريض، وواجهة عربية/إنجليزية كاملة الاتجاهين.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بُنيت الواجهة الخلفية بإطار ASP.NET Core مع EF Core وقاعدة PostgreSQL ومكتبة Firely لمعيار FHIR R5. أمّا الأمامية فبإطار Blazor WebAssembly. الهوية عبر Keycloak وفق OAuth2 وOpenID Connect. ونماذج الذكاء دُرّبت بلغة Python وصُدّرت إلى ONNX لتعمل داخل الخادم مباشرة.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البنية من ثلاث خدمات: الواجهة الأمامية، والواجهة البرمجية الرئيسة، وخدمة معلومات الأدوية، إضافةً إلى Keycloak وقاعدتَي بيانات. يجري كلّ اتصال عبر HTTPS برموز JWT، وتعمل نماذج ONNX داخل الخادم نفسه دون خدمة خارجية.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اخترنا معيار FHIR لأنه اللغة المشتركة الحديثة للبيانات الصحية. كلّ شيء في النظام «مورد» قياسي: مريض، حالة، ملاحظة، دواء… يُتحقَّق من صحّته عند الكتابة، ويُخزَّن بصيغته الأصلية، مع تاريخ نسخ كامل وفهرس بحثٍ سريع. بهذا يكون النظام قابلاً للتكامل مع أيّ نظامٍ صحي يفهم FHIR.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طبقة دعم القرار مبنية على مواصفة CDS Hooks: حين يصف الطبيب دواءً يُستدعى المسار، فيُقيّم محرّك قواعد JSON-Logic القواعد الفعّالة على بيانات المريض ومعرفة الأدوية وقيم الذكاء الاصطناعي، ويُعيد بطاقة تنبيه داخل سير العمل. والأهم: القواعد ليست مُبرمَجة في الشيفرة، بل تُؤلَّف وتُنشَر من واجهة إدارية.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ثلاثة نماذج غابات عشوائية دُرّبت في Google Colab وصُدّرت إلى ONNX: السكري بدقّة تمييز ٠٫٨٢، والقلب ٠٫٩٣، وإعادة الدخول ٠٫٦٣ — وهو هدفٌ يصعب التنبّؤ به بطبيعته. الفكرة الجوهرية أنّنا درّبنا كلّ نموذج على السمات التي يستطيع النظام فعلاً استخراجها من سجلّ FHIR، لا على كامل أعمدة مجموعة البحث؛ وعند نقص قيمة تُعوَّض بالوسيط ويُنبَّه الطبيب إلى ذلك.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النظام ليس مغلقاً على نماذجه: سجلٌّ للنماذج الخارجية يتيح ربط أيّ خدمة ذكاءٍ متخصّصة عبر HTTPS مع تشفير الأسرار. وعلى صعيد الأمان: مصادقة مركزية عبر Keycloak، ورموز JWT، وأدوار ونطاقات صلاحيات على غرار SMART on FHIR تضمن أنّ المريض لا يرى إلا سجلّه، والممارس لا يتجاوز صلاحياته.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حدّدت الدراسة التحليلية خمسة فاعلين تتدرّج صلاحياتهم بالوراثة: الزائر فالمريض فالممارس فمدير المؤسسة فمدير النظام. ولكلّ فاعل مخطّط حالات استخدامٍ تفصيلي في كتاب المشروع.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جوهر التصميم أنّ مستند FHIR نفسه هو مصدر الحقيقة: جدولٌ للنسخة الحالية، وجدولٌ للتاريخ، وفهرسٌ مُسطَّح للبحث. وإلى جانبها جداول دعم القرار بنشرٍ مُصدَّر النسخ، وسجلّ النماذج الخارجية، وقاعدةٌ مستقلة لمعرفة الأدوية.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لوحة عمل الطبيب: مؤشّرات حيّة وقائمة مراقبة تنبّؤية بالمرضى الأعلى خطراً. وفي ملف المريض تظهر بطاقات المخاطر الثلاث محسوبةً من بياناته الفعلية مع السمات المستخدمة في كلّ تقدير.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ورشة دعم القرار يُنشئ المدير القاعدة من قالب، ثم يتحقّق ويعاين وينشر ويفعّل. وإلى جانبها لوحة مدير المؤسسة لإدارة الكادر والدعوات.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بوابة المريض تتيح له الاطّلاع الآمن على حالاته وأدويته ومواعيده. ولوحة الرؤى الذكية تنتقل من مريضٍ واحد إلى مستوى المجتمع: توزيع المخاطر، وقوائم الأعلى خطراً، وشرح آلية الحساب — والواجهة كلّها ثنائية اللغة.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مع اكتمال الوظائف الأساسية تبقى آفاقٌ واسعة: نشرٌ سحابي بالحاويات، وربط مصدر أدوية حيّ مثل RxNorm، وتوسيع النماذج وإعادة تدريبها على بيانات محلية، وتطبيق موبايل، وتعزيز الأمان والتشغيل البيني الكامل.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خلاصة القول: عالج المشروع تشتّت البيانات بغياب معيارٍ موحّد عبر FHIR R5، وأضاف فوق السجل طبقتين من الذكاء: قواعد قرارٍ قابلة للتأليف ونماذج تنبّؤية أمينة، وأشرك المريض في رعايته. ومن سجلٍّ موحّد نصل إلى قرارٍ سريري أذكى ورعايةٍ استباقية.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اعتمدنا في المشروع على الوثائق الرسمية للمعايير والأطر المستخدمة، وعلى أوراقٍ ومجموعات بياناتٍ منشورة لتدريب النماذج، والقائمة الكاملة في كتاب المشروع.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شكراً لحسن إصغائكم، ونسعد الآن بالإجابة عن أسئلتكم. وسنعرض بعد ذلك التسجيل العملي للنظام.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3540"/>
        </a:solidFill>
      </p:bgPr>
    </p:bg>
    <p:spTree>
      <p:nvGrpSpPr>
        <p:cNvPr id="1" name=""/>
        <p:cNvGrpSpPr/>
        <p:nvPr/>
      </p:nvGrpSpPr>
      <p:grpSpPr>
        <a:xfrm>
          <a:off x="0" y="0"/>
          <a:ext cx="0" cy="0"/>
          <a:chOff x="0" y="0"/>
          <a:chExt cx="0" cy="0"/>
        </a:xfrm>
      </p:grpSpPr>
      <p:sp>
        <p:nvSpPr>
          <p:cNvPr id="2" name="Shape 0"/>
          <p:cNvSpPr/>
          <p:nvPr/>
        </p:nvSpPr>
        <p:spPr>
          <a:xfrm>
            <a:off x="-1463040" y="4480560"/>
            <a:ext cx="4754880" cy="4754880"/>
          </a:xfrm>
          <a:prstGeom prst="ellipse">
            <a:avLst/>
          </a:prstGeom>
          <a:solidFill>
            <a:srgbClr val="FFFFFF">
              <a:alpha val="5000"/>
            </a:srgbClr>
          </a:solidFill>
          <a:ln/>
        </p:spPr>
      </p:sp>
      <p:sp>
        <p:nvSpPr>
          <p:cNvPr id="3" name="Shape 1"/>
          <p:cNvSpPr/>
          <p:nvPr/>
        </p:nvSpPr>
        <p:spPr>
          <a:xfrm>
            <a:off x="9692640" y="-2194560"/>
            <a:ext cx="4206240" cy="4206240"/>
          </a:xfrm>
          <a:prstGeom prst="ellipse">
            <a:avLst/>
          </a:prstGeom>
          <a:solidFill>
            <a:srgbClr val="02C39A">
              <a:alpha val="12000"/>
            </a:srgbClr>
          </a:solidFill>
          <a:ln/>
        </p:spPr>
      </p:sp>
      <p:sp>
        <p:nvSpPr>
          <p:cNvPr id="4" name="Shape 2"/>
          <p:cNvSpPr/>
          <p:nvPr/>
        </p:nvSpPr>
        <p:spPr>
          <a:xfrm>
            <a:off x="10881360" y="5394960"/>
            <a:ext cx="2194560" cy="2194560"/>
          </a:xfrm>
          <a:prstGeom prst="ellipse">
            <a:avLst/>
          </a:prstGeom>
          <a:solidFill>
            <a:srgbClr val="E9B44C">
              <a:alpha val="12000"/>
            </a:srgbClr>
          </a:solidFill>
          <a:ln/>
        </p:spPr>
      </p:sp>
      <p:sp>
        <p:nvSpPr>
          <p:cNvPr id="5" name="Text 3"/>
          <p:cNvSpPr/>
          <p:nvPr/>
        </p:nvSpPr>
        <p:spPr>
          <a:xfrm>
            <a:off x="548640" y="457200"/>
            <a:ext cx="11094415" cy="292608"/>
          </a:xfrm>
          <a:prstGeom prst="rect">
            <a:avLst/>
          </a:prstGeom>
          <a:noFill/>
          <a:ln/>
        </p:spPr>
        <p:txBody>
          <a:bodyPr wrap="square" rtlCol="0" anchor="ctr"/>
          <a:lstStyle/>
          <a:p>
            <a:pPr rtl="1" algn="ctr" indent="0" marL="0">
              <a:buNone/>
            </a:pPr>
            <a:r>
              <a:rPr lang="ar-SA" altLang="en-US" sz="1300" dirty="0">
                <a:solidFill>
                  <a:srgbClr val="CFE8EA"/>
                </a:solidFill>
                <a:latin typeface="Arial" pitchFamily="34" charset="0"/>
                <a:ea typeface="Arial" pitchFamily="34" charset="-122"/>
                <a:cs typeface="Arial" pitchFamily="34" charset="-120"/>
              </a:rPr>
              <a:t>الجمهورية العربية السورية — وزارة التعليم العالي والبحث العلمي</a:t>
            </a:r>
            <a:endParaRPr lang="ar-SA" sz="1300" dirty="0"/>
          </a:p>
        </p:txBody>
      </p:sp>
      <p:sp>
        <p:nvSpPr>
          <p:cNvPr id="6" name="Text 4"/>
          <p:cNvSpPr/>
          <p:nvPr/>
        </p:nvSpPr>
        <p:spPr>
          <a:xfrm>
            <a:off x="548640" y="768096"/>
            <a:ext cx="11094415" cy="292608"/>
          </a:xfrm>
          <a:prstGeom prst="rect">
            <a:avLst/>
          </a:prstGeom>
          <a:noFill/>
          <a:ln/>
        </p:spPr>
        <p:txBody>
          <a:bodyPr wrap="square" rtlCol="0" anchor="ctr"/>
          <a:lstStyle/>
          <a:p>
            <a:pPr rtl="1" algn="ctr" indent="0" marL="0">
              <a:buNone/>
            </a:pPr>
            <a:r>
              <a:rPr lang="ar-SA" altLang="en-US" sz="1300" dirty="0">
                <a:solidFill>
                  <a:srgbClr val="CFE8EA"/>
                </a:solidFill>
                <a:latin typeface="Arial" pitchFamily="34" charset="0"/>
                <a:ea typeface="Arial" pitchFamily="34" charset="-122"/>
                <a:cs typeface="Arial" pitchFamily="34" charset="-120"/>
              </a:rPr>
              <a:t>الجامعة الوطنية الخاصة — كلية الهندسة — قسم هندسة الحاسوب</a:t>
            </a:r>
            <a:endParaRPr lang="ar-SA" sz="1300" dirty="0"/>
          </a:p>
        </p:txBody>
      </p:sp>
      <p:sp>
        <p:nvSpPr>
          <p:cNvPr id="7" name="Shape 5"/>
          <p:cNvSpPr/>
          <p:nvPr/>
        </p:nvSpPr>
        <p:spPr>
          <a:xfrm>
            <a:off x="5135728" y="1371600"/>
            <a:ext cx="1920240" cy="420624"/>
          </a:xfrm>
          <a:prstGeom prst="roundRect">
            <a:avLst>
              <a:gd name="adj" fmla="val 50000"/>
            </a:avLst>
          </a:prstGeom>
          <a:solidFill>
            <a:srgbClr val="E9B44C"/>
          </a:solidFill>
          <a:ln/>
        </p:spPr>
      </p:sp>
      <p:sp>
        <p:nvSpPr>
          <p:cNvPr id="8" name="Text 6"/>
          <p:cNvSpPr/>
          <p:nvPr/>
        </p:nvSpPr>
        <p:spPr>
          <a:xfrm>
            <a:off x="5135728" y="1371600"/>
            <a:ext cx="1920240" cy="420624"/>
          </a:xfrm>
          <a:prstGeom prst="rect">
            <a:avLst/>
          </a:prstGeom>
          <a:noFill/>
          <a:ln/>
        </p:spPr>
        <p:txBody>
          <a:bodyPr wrap="square" lIns="0" tIns="0" rIns="0" bIns="0" rtlCol="0" anchor="ctr"/>
          <a:lstStyle/>
          <a:p>
            <a:pPr rtl="1" algn="ctr" indent="0" marL="0">
              <a:buNone/>
            </a:pPr>
            <a:r>
              <a:rPr lang="ar-SA" altLang="en-US" sz="1500" b="1" dirty="0">
                <a:solidFill>
                  <a:srgbClr val="0A3540"/>
                </a:solidFill>
                <a:latin typeface="Arial" pitchFamily="34" charset="0"/>
                <a:ea typeface="Arial" pitchFamily="34" charset="-122"/>
                <a:cs typeface="Arial" pitchFamily="34" charset="-120"/>
              </a:rPr>
              <a:t>مشروع تخرّج</a:t>
            </a:r>
            <a:endParaRPr lang="ar-SA" sz="1500" dirty="0"/>
          </a:p>
        </p:txBody>
      </p:sp>
      <p:sp>
        <p:nvSpPr>
          <p:cNvPr id="9" name="Text 7"/>
          <p:cNvSpPr/>
          <p:nvPr/>
        </p:nvSpPr>
        <p:spPr>
          <a:xfrm>
            <a:off x="548640" y="1883664"/>
            <a:ext cx="11094415" cy="658368"/>
          </a:xfrm>
          <a:prstGeom prst="rect">
            <a:avLst/>
          </a:prstGeom>
          <a:noFill/>
          <a:ln/>
        </p:spPr>
        <p:txBody>
          <a:bodyPr wrap="square" rtlCol="0" anchor="ctr"/>
          <a:lstStyle/>
          <a:p>
            <a:pPr rtl="1" algn="ctr" indent="0" marL="0">
              <a:buNone/>
            </a:pPr>
            <a:r>
              <a:rPr lang="ar-SA" altLang="en-US" sz="4600" b="1" dirty="0">
                <a:solidFill>
                  <a:srgbClr val="FFFFFF"/>
                </a:solidFill>
                <a:latin typeface="Arial" pitchFamily="34" charset="0"/>
                <a:ea typeface="Arial" pitchFamily="34" charset="-122"/>
                <a:cs typeface="Arial" pitchFamily="34" charset="-120"/>
              </a:rPr>
              <a:t>نبض</a:t>
            </a:r>
            <a:endParaRPr lang="ar-SA" sz="4600" dirty="0"/>
          </a:p>
        </p:txBody>
      </p:sp>
      <p:sp>
        <p:nvSpPr>
          <p:cNvPr id="10" name="Text 8"/>
          <p:cNvSpPr/>
          <p:nvPr/>
        </p:nvSpPr>
        <p:spPr>
          <a:xfrm>
            <a:off x="548640" y="2523744"/>
            <a:ext cx="11094415" cy="384048"/>
          </a:xfrm>
          <a:prstGeom prst="rect">
            <a:avLst/>
          </a:prstGeom>
          <a:noFill/>
          <a:ln/>
        </p:spPr>
        <p:txBody>
          <a:bodyPr wrap="square" rtlCol="0" anchor="ctr"/>
          <a:lstStyle/>
          <a:p>
            <a:pPr rtl="1" algn="ctr" indent="0" marL="0">
              <a:buNone/>
            </a:pPr>
            <a:r>
              <a:rPr lang="ar-SA" altLang="en-US" sz="2100" b="1" dirty="0">
                <a:solidFill>
                  <a:srgbClr val="CFE8EA"/>
                </a:solidFill>
                <a:latin typeface="Arial" pitchFamily="34" charset="0"/>
                <a:ea typeface="Arial" pitchFamily="34" charset="-122"/>
                <a:cs typeface="Arial" pitchFamily="34" charset="-120"/>
              </a:rPr>
              <a:t>نظام السجلات الطبية الرقمية</a:t>
            </a:r>
            <a:endParaRPr lang="ar-SA" sz="2100" dirty="0"/>
          </a:p>
        </p:txBody>
      </p:sp>
      <p:sp>
        <p:nvSpPr>
          <p:cNvPr id="11" name="Text 9"/>
          <p:cNvSpPr/>
          <p:nvPr/>
        </p:nvSpPr>
        <p:spPr>
          <a:xfrm>
            <a:off x="548640" y="2926080"/>
            <a:ext cx="11094415" cy="457200"/>
          </a:xfrm>
          <a:prstGeom prst="rect">
            <a:avLst/>
          </a:prstGeom>
          <a:noFill/>
          <a:ln/>
        </p:spPr>
        <p:txBody>
          <a:bodyPr wrap="square" rtlCol="0" anchor="ctr"/>
          <a:lstStyle/>
          <a:p>
            <a:pPr algn="ctr" indent="0" marL="0">
              <a:buNone/>
            </a:pPr>
            <a:r>
              <a:rPr lang="en-US" sz="2000" b="1" dirty="0">
                <a:solidFill>
                  <a:srgbClr val="02C39A"/>
                </a:solidFill>
                <a:latin typeface="Arial" pitchFamily="34" charset="0"/>
                <a:ea typeface="Arial" pitchFamily="34" charset="-122"/>
                <a:cs typeface="Arial" pitchFamily="34" charset="-120"/>
              </a:rPr>
              <a:t>Nabd — Digital Medical Records System</a:t>
            </a:r>
            <a:endParaRPr lang="en-US" sz="2000" dirty="0"/>
          </a:p>
        </p:txBody>
      </p:sp>
      <p:sp>
        <p:nvSpPr>
          <p:cNvPr id="12" name="Text 10"/>
          <p:cNvSpPr/>
          <p:nvPr/>
        </p:nvSpPr>
        <p:spPr>
          <a:xfrm>
            <a:off x="548640" y="3429000"/>
            <a:ext cx="11094415" cy="411480"/>
          </a:xfrm>
          <a:prstGeom prst="rect">
            <a:avLst/>
          </a:prstGeom>
          <a:noFill/>
          <a:ln/>
        </p:spPr>
        <p:txBody>
          <a:bodyPr wrap="square" rtlCol="0" anchor="ctr"/>
          <a:lstStyle/>
          <a:p>
            <a:pPr rtl="1" algn="ctr" indent="0" marL="0">
              <a:buNone/>
            </a:pPr>
            <a:r>
              <a:rPr lang="ar-SA" altLang="en-US" sz="1500" i="1" dirty="0">
                <a:solidFill>
                  <a:srgbClr val="CFE8EA"/>
                </a:solidFill>
                <a:latin typeface="Arial" pitchFamily="34" charset="0"/>
                <a:ea typeface="Arial" pitchFamily="34" charset="-122"/>
                <a:cs typeface="Arial" pitchFamily="34" charset="-120"/>
              </a:rPr>
              <a:t>منصّة صحّية قائمة على معيار ‏</a:t>
            </a:r>
            <a:r>
              <a:rPr lang="en-US" altLang="en-US" sz="1500" i="1" dirty="0">
                <a:solidFill>
                  <a:srgbClr val="CFE8EA"/>
                </a:solidFill>
                <a:latin typeface="Arial" pitchFamily="34" charset="0"/>
                <a:ea typeface="Arial" pitchFamily="34" charset="-122"/>
                <a:cs typeface="Arial" pitchFamily="34" charset="-120"/>
              </a:rPr>
              <a:t>HL7 FHIR R5</a:t>
            </a:r>
            <a:r>
              <a:rPr lang="ar-SA" altLang="en-US" sz="1500" i="1" dirty="0">
                <a:solidFill>
                  <a:srgbClr val="CFE8EA"/>
                </a:solidFill>
                <a:latin typeface="Arial" pitchFamily="34" charset="0"/>
                <a:ea typeface="Arial" pitchFamily="34" charset="-122"/>
                <a:cs typeface="Arial" pitchFamily="34" charset="-120"/>
              </a:rPr>
              <a:t>‏ مع دعم القرار السريري والذكاء الاصطناعي التنبؤي</a:t>
            </a:r>
            <a:endParaRPr lang="ar-SA" sz="1500" dirty="0"/>
          </a:p>
        </p:txBody>
      </p:sp>
      <p:sp>
        <p:nvSpPr>
          <p:cNvPr id="13" name="Text 11"/>
          <p:cNvSpPr/>
          <p:nvPr/>
        </p:nvSpPr>
        <p:spPr>
          <a:xfrm>
            <a:off x="548640" y="4297680"/>
            <a:ext cx="11094415" cy="868680"/>
          </a:xfrm>
          <a:prstGeom prst="rect">
            <a:avLst/>
          </a:prstGeom>
          <a:noFill/>
          <a:ln/>
        </p:spPr>
        <p:txBody>
          <a:bodyPr wrap="square" rtlCol="0" anchor="ctr"/>
          <a:lstStyle/>
          <a:p>
            <a:pPr rtl="1" algn="ctr" indent="0" marL="0">
              <a:lnSpc>
                <a:spcPct val="140000"/>
              </a:lnSpc>
              <a:buNone/>
            </a:pPr>
            <a:r>
              <a:rPr lang="ar-SA" altLang="en-US" sz="1400" b="1" dirty="0">
                <a:solidFill>
                  <a:srgbClr val="02C39A"/>
                </a:solidFill>
                <a:latin typeface="Arial" pitchFamily="34" charset="0"/>
                <a:ea typeface="Arial" pitchFamily="34" charset="-122"/>
                <a:cs typeface="Arial" pitchFamily="34" charset="-120"/>
              </a:rPr>
              <a:t>إعداد الطلاب</a:t>
            </a:r>
            <a:endParaRPr lang="ar-SA" sz="1400" dirty="0"/>
          </a:p>
          <a:p>
            <a:pPr rtl="1" algn="ctr" indent="0" marL="0">
              <a:lnSpc>
                <a:spcPct val="140000"/>
              </a:lnSpc>
              <a:buNone/>
            </a:pPr>
            <a:r>
              <a:rPr lang="ar-SA" altLang="en-US" sz="1700" b="1" dirty="0">
                <a:solidFill>
                  <a:srgbClr val="FFFFFF"/>
                </a:solidFill>
                <a:latin typeface="Arial" pitchFamily="34" charset="0"/>
                <a:ea typeface="Arial" pitchFamily="34" charset="-122"/>
                <a:cs typeface="Arial" pitchFamily="34" charset="-120"/>
              </a:rPr>
              <a:t>أمير المنصور      محمد خير الحوراني      ميزر عمري</a:t>
            </a:r>
            <a:endParaRPr lang="ar-SA" sz="1400" dirty="0"/>
          </a:p>
        </p:txBody>
      </p:sp>
      <p:sp>
        <p:nvSpPr>
          <p:cNvPr id="14" name="Text 12"/>
          <p:cNvSpPr/>
          <p:nvPr/>
        </p:nvSpPr>
        <p:spPr>
          <a:xfrm>
            <a:off x="548640" y="5257800"/>
            <a:ext cx="11094415" cy="777240"/>
          </a:xfrm>
          <a:prstGeom prst="rect">
            <a:avLst/>
          </a:prstGeom>
          <a:noFill/>
          <a:ln/>
        </p:spPr>
        <p:txBody>
          <a:bodyPr wrap="square" rtlCol="0" anchor="ctr"/>
          <a:lstStyle/>
          <a:p>
            <a:pPr rtl="1" algn="ctr" indent="0" marL="0">
              <a:lnSpc>
                <a:spcPct val="140000"/>
              </a:lnSpc>
              <a:buNone/>
            </a:pPr>
            <a:r>
              <a:rPr lang="ar-SA" altLang="en-US" sz="1400" b="1" dirty="0">
                <a:solidFill>
                  <a:srgbClr val="02C39A"/>
                </a:solidFill>
                <a:latin typeface="Arial" pitchFamily="34" charset="0"/>
                <a:ea typeface="Arial" pitchFamily="34" charset="-122"/>
                <a:cs typeface="Arial" pitchFamily="34" charset="-120"/>
              </a:rPr>
              <a:t>بإشراف</a:t>
            </a:r>
            <a:endParaRPr lang="ar-SA" sz="1400" dirty="0"/>
          </a:p>
          <a:p>
            <a:pPr rtl="1" algn="ctr" indent="0" marL="0">
              <a:lnSpc>
                <a:spcPct val="140000"/>
              </a:lnSpc>
              <a:buNone/>
            </a:pPr>
            <a:r>
              <a:rPr lang="ar-SA" altLang="en-US" sz="1600" b="1" dirty="0">
                <a:solidFill>
                  <a:srgbClr val="FFFFFF"/>
                </a:solidFill>
                <a:latin typeface="Arial" pitchFamily="34" charset="0"/>
                <a:ea typeface="Arial" pitchFamily="34" charset="-122"/>
                <a:cs typeface="Arial" pitchFamily="34" charset="-120"/>
              </a:rPr>
              <a:t>د. وسيم رمضان</a:t>
            </a:r>
            <a:endParaRPr lang="ar-SA" sz="1400" dirty="0"/>
          </a:p>
        </p:txBody>
      </p:sp>
      <p:sp>
        <p:nvSpPr>
          <p:cNvPr id="15" name="Text 13"/>
          <p:cNvSpPr/>
          <p:nvPr/>
        </p:nvSpPr>
        <p:spPr>
          <a:xfrm>
            <a:off x="548640" y="6172200"/>
            <a:ext cx="11094415" cy="320040"/>
          </a:xfrm>
          <a:prstGeom prst="rect">
            <a:avLst/>
          </a:prstGeom>
          <a:noFill/>
          <a:ln/>
        </p:spPr>
        <p:txBody>
          <a:bodyPr wrap="square" rtlCol="0" anchor="ctr"/>
          <a:lstStyle/>
          <a:p>
            <a:pPr rtl="1" algn="ctr" indent="0" marL="0">
              <a:buNone/>
            </a:pPr>
            <a:r>
              <a:rPr lang="ar-SA" altLang="en-US" sz="1300" dirty="0">
                <a:solidFill>
                  <a:srgbClr val="CFE8EA"/>
                </a:solidFill>
                <a:latin typeface="Arial" pitchFamily="34" charset="0"/>
                <a:ea typeface="Arial" pitchFamily="34" charset="-122"/>
                <a:cs typeface="Arial" pitchFamily="34" charset="-120"/>
              </a:rPr>
              <a:t>العام الدراسي ٢٠٢٥ – ٢٠٢٦</a:t>
            </a:r>
            <a:endParaRPr lang="ar-SA"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نبض — نظام السجلات الطبية الرقمية</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2</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مخطّط العرض</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محاور تقديم المشروع خلال عشر دقائق</a:t>
            </a:r>
            <a:endParaRPr lang="ar-SA" sz="1400" dirty="0"/>
          </a:p>
        </p:txBody>
      </p:sp>
      <p:sp>
        <p:nvSpPr>
          <p:cNvPr id="6" name="Shape 4"/>
          <p:cNvSpPr/>
          <p:nvPr/>
        </p:nvSpPr>
        <p:spPr>
          <a:xfrm>
            <a:off x="6293815" y="1600200"/>
            <a:ext cx="5349240" cy="932688"/>
          </a:xfrm>
          <a:prstGeom prst="roundRect">
            <a:avLst>
              <a:gd name="adj" fmla="val 7843"/>
            </a:avLst>
          </a:prstGeom>
          <a:solidFill>
            <a:srgbClr val="F2F8F8"/>
          </a:solidFill>
          <a:ln w="9525">
            <a:solidFill>
              <a:srgbClr val="D9E7E9"/>
            </a:solidFill>
            <a:prstDash val="solid"/>
          </a:ln>
        </p:spPr>
      </p:sp>
      <p:sp>
        <p:nvSpPr>
          <p:cNvPr id="7" name="Shape 5"/>
          <p:cNvSpPr/>
          <p:nvPr/>
        </p:nvSpPr>
        <p:spPr>
          <a:xfrm>
            <a:off x="10774375" y="1810512"/>
            <a:ext cx="512064" cy="512064"/>
          </a:xfrm>
          <a:prstGeom prst="ellipse">
            <a:avLst/>
          </a:prstGeom>
          <a:solidFill>
            <a:srgbClr val="0E7C86"/>
          </a:solidFill>
          <a:ln/>
        </p:spPr>
      </p:sp>
      <p:sp>
        <p:nvSpPr>
          <p:cNvPr id="8" name="Text 6"/>
          <p:cNvSpPr/>
          <p:nvPr/>
        </p:nvSpPr>
        <p:spPr>
          <a:xfrm>
            <a:off x="10774375" y="1810512"/>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7"/>
          <p:cNvSpPr/>
          <p:nvPr/>
        </p:nvSpPr>
        <p:spPr>
          <a:xfrm>
            <a:off x="6568135" y="1600200"/>
            <a:ext cx="4023360" cy="932688"/>
          </a:xfrm>
          <a:prstGeom prst="rect">
            <a:avLst/>
          </a:prstGeom>
          <a:noFill/>
          <a:ln/>
        </p:spPr>
        <p:txBody>
          <a:bodyPr wrap="square" lIns="0" tIns="0" rIns="0" bIns="0" rtlCol="0" anchor="ctr"/>
          <a:lstStyle/>
          <a:p>
            <a:pPr rtl="1" algn="r" indent="0" marL="0">
              <a:buNone/>
            </a:pPr>
            <a:r>
              <a:rPr lang="ar-SA" altLang="en-US" sz="1600" b="1" dirty="0">
                <a:solidFill>
                  <a:srgbClr val="12333C"/>
                </a:solidFill>
                <a:latin typeface="Arial" pitchFamily="34" charset="0"/>
                <a:ea typeface="Arial" pitchFamily="34" charset="-122"/>
                <a:cs typeface="Arial" pitchFamily="34" charset="-120"/>
              </a:rPr>
              <a:t>المقدمة والتحديات</a:t>
            </a:r>
            <a:endParaRPr lang="ar-SA" sz="1600" dirty="0"/>
          </a:p>
        </p:txBody>
      </p:sp>
      <p:sp>
        <p:nvSpPr>
          <p:cNvPr id="10" name="Shape 8"/>
          <p:cNvSpPr/>
          <p:nvPr/>
        </p:nvSpPr>
        <p:spPr>
          <a:xfrm>
            <a:off x="6293815" y="2770632"/>
            <a:ext cx="5349240" cy="932688"/>
          </a:xfrm>
          <a:prstGeom prst="roundRect">
            <a:avLst>
              <a:gd name="adj" fmla="val 7843"/>
            </a:avLst>
          </a:prstGeom>
          <a:solidFill>
            <a:srgbClr val="F2F8F8"/>
          </a:solidFill>
          <a:ln w="9525">
            <a:solidFill>
              <a:srgbClr val="D9E7E9"/>
            </a:solidFill>
            <a:prstDash val="solid"/>
          </a:ln>
        </p:spPr>
      </p:sp>
      <p:sp>
        <p:nvSpPr>
          <p:cNvPr id="11" name="Shape 9"/>
          <p:cNvSpPr/>
          <p:nvPr/>
        </p:nvSpPr>
        <p:spPr>
          <a:xfrm>
            <a:off x="10774375" y="2980944"/>
            <a:ext cx="512064" cy="512064"/>
          </a:xfrm>
          <a:prstGeom prst="ellipse">
            <a:avLst/>
          </a:prstGeom>
          <a:solidFill>
            <a:srgbClr val="0E7C86"/>
          </a:solidFill>
          <a:ln/>
        </p:spPr>
      </p:sp>
      <p:sp>
        <p:nvSpPr>
          <p:cNvPr id="12" name="Text 10"/>
          <p:cNvSpPr/>
          <p:nvPr/>
        </p:nvSpPr>
        <p:spPr>
          <a:xfrm>
            <a:off x="10774375" y="2980944"/>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1"/>
          <p:cNvSpPr/>
          <p:nvPr/>
        </p:nvSpPr>
        <p:spPr>
          <a:xfrm>
            <a:off x="6568135" y="2770632"/>
            <a:ext cx="4023360" cy="932688"/>
          </a:xfrm>
          <a:prstGeom prst="rect">
            <a:avLst/>
          </a:prstGeom>
          <a:noFill/>
          <a:ln/>
        </p:spPr>
        <p:txBody>
          <a:bodyPr wrap="square" lIns="0" tIns="0" rIns="0" bIns="0" rtlCol="0" anchor="ctr"/>
          <a:lstStyle/>
          <a:p>
            <a:pPr rtl="1" algn="r" indent="0" marL="0">
              <a:buNone/>
            </a:pPr>
            <a:r>
              <a:rPr lang="ar-SA" altLang="en-US" sz="1600" b="1" dirty="0">
                <a:solidFill>
                  <a:srgbClr val="12333C"/>
                </a:solidFill>
                <a:latin typeface="Arial" pitchFamily="34" charset="0"/>
                <a:ea typeface="Arial" pitchFamily="34" charset="-122"/>
                <a:cs typeface="Arial" pitchFamily="34" charset="-120"/>
              </a:rPr>
              <a:t>الأهداف وأهمّ الميزات</a:t>
            </a:r>
            <a:endParaRPr lang="ar-SA" sz="1600" dirty="0"/>
          </a:p>
        </p:txBody>
      </p:sp>
      <p:sp>
        <p:nvSpPr>
          <p:cNvPr id="14" name="Shape 12"/>
          <p:cNvSpPr/>
          <p:nvPr/>
        </p:nvSpPr>
        <p:spPr>
          <a:xfrm>
            <a:off x="6293815" y="3941064"/>
            <a:ext cx="5349240" cy="932688"/>
          </a:xfrm>
          <a:prstGeom prst="roundRect">
            <a:avLst>
              <a:gd name="adj" fmla="val 7843"/>
            </a:avLst>
          </a:prstGeom>
          <a:solidFill>
            <a:srgbClr val="F2F8F8"/>
          </a:solidFill>
          <a:ln w="9525">
            <a:solidFill>
              <a:srgbClr val="D9E7E9"/>
            </a:solidFill>
            <a:prstDash val="solid"/>
          </a:ln>
        </p:spPr>
      </p:sp>
      <p:sp>
        <p:nvSpPr>
          <p:cNvPr id="15" name="Shape 13"/>
          <p:cNvSpPr/>
          <p:nvPr/>
        </p:nvSpPr>
        <p:spPr>
          <a:xfrm>
            <a:off x="10774375" y="4151376"/>
            <a:ext cx="512064" cy="512064"/>
          </a:xfrm>
          <a:prstGeom prst="ellipse">
            <a:avLst/>
          </a:prstGeom>
          <a:solidFill>
            <a:srgbClr val="0E7C86"/>
          </a:solidFill>
          <a:ln/>
        </p:spPr>
      </p:sp>
      <p:sp>
        <p:nvSpPr>
          <p:cNvPr id="16" name="Text 14"/>
          <p:cNvSpPr/>
          <p:nvPr/>
        </p:nvSpPr>
        <p:spPr>
          <a:xfrm>
            <a:off x="10774375" y="415137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xt 15"/>
          <p:cNvSpPr/>
          <p:nvPr/>
        </p:nvSpPr>
        <p:spPr>
          <a:xfrm>
            <a:off x="6568135" y="3941064"/>
            <a:ext cx="4023360" cy="932688"/>
          </a:xfrm>
          <a:prstGeom prst="rect">
            <a:avLst/>
          </a:prstGeom>
          <a:noFill/>
          <a:ln/>
        </p:spPr>
        <p:txBody>
          <a:bodyPr wrap="square" lIns="0" tIns="0" rIns="0" bIns="0" rtlCol="0" anchor="ctr"/>
          <a:lstStyle/>
          <a:p>
            <a:pPr rtl="1" algn="r" indent="0" marL="0">
              <a:buNone/>
            </a:pPr>
            <a:r>
              <a:rPr lang="ar-SA" altLang="en-US" sz="1600" b="1" dirty="0">
                <a:solidFill>
                  <a:srgbClr val="12333C"/>
                </a:solidFill>
                <a:latin typeface="Arial" pitchFamily="34" charset="0"/>
                <a:ea typeface="Arial" pitchFamily="34" charset="-122"/>
                <a:cs typeface="Arial" pitchFamily="34" charset="-120"/>
              </a:rPr>
              <a:t>التقنيات والبنية العامة</a:t>
            </a:r>
            <a:endParaRPr lang="ar-SA" sz="1600" dirty="0"/>
          </a:p>
        </p:txBody>
      </p:sp>
      <p:sp>
        <p:nvSpPr>
          <p:cNvPr id="18" name="Shape 16"/>
          <p:cNvSpPr/>
          <p:nvPr/>
        </p:nvSpPr>
        <p:spPr>
          <a:xfrm>
            <a:off x="6293815" y="5111496"/>
            <a:ext cx="5349240" cy="932688"/>
          </a:xfrm>
          <a:prstGeom prst="roundRect">
            <a:avLst>
              <a:gd name="adj" fmla="val 7843"/>
            </a:avLst>
          </a:prstGeom>
          <a:solidFill>
            <a:srgbClr val="F2F8F8"/>
          </a:solidFill>
          <a:ln w="9525">
            <a:solidFill>
              <a:srgbClr val="D9E7E9"/>
            </a:solidFill>
            <a:prstDash val="solid"/>
          </a:ln>
        </p:spPr>
      </p:sp>
      <p:sp>
        <p:nvSpPr>
          <p:cNvPr id="19" name="Shape 17"/>
          <p:cNvSpPr/>
          <p:nvPr/>
        </p:nvSpPr>
        <p:spPr>
          <a:xfrm>
            <a:off x="10774375" y="5321808"/>
            <a:ext cx="512064" cy="512064"/>
          </a:xfrm>
          <a:prstGeom prst="ellipse">
            <a:avLst/>
          </a:prstGeom>
          <a:solidFill>
            <a:srgbClr val="0E7C86"/>
          </a:solidFill>
          <a:ln/>
        </p:spPr>
      </p:sp>
      <p:sp>
        <p:nvSpPr>
          <p:cNvPr id="20" name="Text 18"/>
          <p:cNvSpPr/>
          <p:nvPr/>
        </p:nvSpPr>
        <p:spPr>
          <a:xfrm>
            <a:off x="10774375" y="532180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1" name="Text 19"/>
          <p:cNvSpPr/>
          <p:nvPr/>
        </p:nvSpPr>
        <p:spPr>
          <a:xfrm>
            <a:off x="6568135" y="5111496"/>
            <a:ext cx="4023360" cy="932688"/>
          </a:xfrm>
          <a:prstGeom prst="rect">
            <a:avLst/>
          </a:prstGeom>
          <a:noFill/>
          <a:ln/>
        </p:spPr>
        <p:txBody>
          <a:bodyPr wrap="square" lIns="0" tIns="0" rIns="0" bIns="0" rtlCol="0" anchor="ctr"/>
          <a:lstStyle/>
          <a:p>
            <a:pPr rtl="1" algn="r" indent="0" marL="0">
              <a:buNone/>
            </a:pPr>
            <a:r>
              <a:rPr lang="ar-SA" altLang="en-US" sz="1600" b="1" dirty="0">
                <a:solidFill>
                  <a:srgbClr val="12333C"/>
                </a:solidFill>
                <a:latin typeface="Arial" pitchFamily="34" charset="0"/>
                <a:ea typeface="Arial" pitchFamily="34" charset="-122"/>
                <a:cs typeface="Arial" pitchFamily="34" charset="-120"/>
              </a:rPr>
              <a:t>طبقات النظام: ‏</a:t>
            </a:r>
            <a:r>
              <a:rPr lang="en-US" altLang="en-US" sz="1600" b="1" dirty="0">
                <a:solidFill>
                  <a:srgbClr val="12333C"/>
                </a:solidFill>
                <a:latin typeface="Arial" pitchFamily="34" charset="0"/>
                <a:ea typeface="Arial" pitchFamily="34" charset="-122"/>
                <a:cs typeface="Arial" pitchFamily="34" charset="-120"/>
              </a:rPr>
              <a:t>FHIR</a:t>
            </a:r>
            <a:r>
              <a:rPr lang="ar-SA" altLang="en-US" sz="1600" b="1" dirty="0">
                <a:solidFill>
                  <a:srgbClr val="12333C"/>
                </a:solidFill>
                <a:latin typeface="Arial" pitchFamily="34" charset="0"/>
                <a:ea typeface="Arial" pitchFamily="34" charset="-122"/>
                <a:cs typeface="Arial" pitchFamily="34" charset="-120"/>
              </a:rPr>
              <a:t>‏ · دعم القرار · الذكاء الاصطناعي</a:t>
            </a:r>
            <a:endParaRPr lang="ar-SA" sz="1600" dirty="0"/>
          </a:p>
        </p:txBody>
      </p:sp>
      <p:sp>
        <p:nvSpPr>
          <p:cNvPr id="22" name="Shape 20"/>
          <p:cNvSpPr/>
          <p:nvPr/>
        </p:nvSpPr>
        <p:spPr>
          <a:xfrm>
            <a:off x="548640" y="1600200"/>
            <a:ext cx="5349240" cy="932688"/>
          </a:xfrm>
          <a:prstGeom prst="roundRect">
            <a:avLst>
              <a:gd name="adj" fmla="val 7843"/>
            </a:avLst>
          </a:prstGeom>
          <a:solidFill>
            <a:srgbClr val="F2F8F8"/>
          </a:solidFill>
          <a:ln w="9525">
            <a:solidFill>
              <a:srgbClr val="D9E7E9"/>
            </a:solidFill>
            <a:prstDash val="solid"/>
          </a:ln>
        </p:spPr>
      </p:sp>
      <p:sp>
        <p:nvSpPr>
          <p:cNvPr id="23" name="Shape 21"/>
          <p:cNvSpPr/>
          <p:nvPr/>
        </p:nvSpPr>
        <p:spPr>
          <a:xfrm>
            <a:off x="5029200" y="1810512"/>
            <a:ext cx="512064" cy="512064"/>
          </a:xfrm>
          <a:prstGeom prst="ellipse">
            <a:avLst/>
          </a:prstGeom>
          <a:solidFill>
            <a:srgbClr val="0E7C86"/>
          </a:solidFill>
          <a:ln/>
        </p:spPr>
      </p:sp>
      <p:sp>
        <p:nvSpPr>
          <p:cNvPr id="24" name="Text 22"/>
          <p:cNvSpPr/>
          <p:nvPr/>
        </p:nvSpPr>
        <p:spPr>
          <a:xfrm>
            <a:off x="5029200" y="1810512"/>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5" name="Text 23"/>
          <p:cNvSpPr/>
          <p:nvPr/>
        </p:nvSpPr>
        <p:spPr>
          <a:xfrm>
            <a:off x="822960" y="1600200"/>
            <a:ext cx="4023360" cy="932688"/>
          </a:xfrm>
          <a:prstGeom prst="rect">
            <a:avLst/>
          </a:prstGeom>
          <a:noFill/>
          <a:ln/>
        </p:spPr>
        <p:txBody>
          <a:bodyPr wrap="square" lIns="0" tIns="0" rIns="0" bIns="0" rtlCol="0" anchor="ctr"/>
          <a:lstStyle/>
          <a:p>
            <a:pPr rtl="1" algn="r" indent="0" marL="0">
              <a:buNone/>
            </a:pPr>
            <a:r>
              <a:rPr lang="ar-SA" altLang="en-US" sz="1600" b="1" dirty="0">
                <a:solidFill>
                  <a:srgbClr val="12333C"/>
                </a:solidFill>
                <a:latin typeface="Arial" pitchFamily="34" charset="0"/>
                <a:ea typeface="Arial" pitchFamily="34" charset="-122"/>
                <a:cs typeface="Arial" pitchFamily="34" charset="-120"/>
              </a:rPr>
              <a:t>الدراسة التحليلية والمخطّطات</a:t>
            </a:r>
            <a:endParaRPr lang="ar-SA" sz="1600" dirty="0"/>
          </a:p>
        </p:txBody>
      </p:sp>
      <p:sp>
        <p:nvSpPr>
          <p:cNvPr id="26" name="Shape 24"/>
          <p:cNvSpPr/>
          <p:nvPr/>
        </p:nvSpPr>
        <p:spPr>
          <a:xfrm>
            <a:off x="548640" y="2770632"/>
            <a:ext cx="5349240" cy="932688"/>
          </a:xfrm>
          <a:prstGeom prst="roundRect">
            <a:avLst>
              <a:gd name="adj" fmla="val 7843"/>
            </a:avLst>
          </a:prstGeom>
          <a:solidFill>
            <a:srgbClr val="F2F8F8"/>
          </a:solidFill>
          <a:ln w="9525">
            <a:solidFill>
              <a:srgbClr val="D9E7E9"/>
            </a:solidFill>
            <a:prstDash val="solid"/>
          </a:ln>
        </p:spPr>
      </p:sp>
      <p:sp>
        <p:nvSpPr>
          <p:cNvPr id="27" name="Shape 25"/>
          <p:cNvSpPr/>
          <p:nvPr/>
        </p:nvSpPr>
        <p:spPr>
          <a:xfrm>
            <a:off x="5029200" y="2980944"/>
            <a:ext cx="512064" cy="512064"/>
          </a:xfrm>
          <a:prstGeom prst="ellipse">
            <a:avLst/>
          </a:prstGeom>
          <a:solidFill>
            <a:srgbClr val="0E7C86"/>
          </a:solidFill>
          <a:ln/>
        </p:spPr>
      </p:sp>
      <p:sp>
        <p:nvSpPr>
          <p:cNvPr id="28" name="Text 26"/>
          <p:cNvSpPr/>
          <p:nvPr/>
        </p:nvSpPr>
        <p:spPr>
          <a:xfrm>
            <a:off x="5029200" y="2980944"/>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6</a:t>
            </a:r>
            <a:endParaRPr lang="en-US" sz="1800" dirty="0"/>
          </a:p>
        </p:txBody>
      </p:sp>
      <p:sp>
        <p:nvSpPr>
          <p:cNvPr id="29" name="Text 27"/>
          <p:cNvSpPr/>
          <p:nvPr/>
        </p:nvSpPr>
        <p:spPr>
          <a:xfrm>
            <a:off x="822960" y="2770632"/>
            <a:ext cx="4023360" cy="932688"/>
          </a:xfrm>
          <a:prstGeom prst="rect">
            <a:avLst/>
          </a:prstGeom>
          <a:noFill/>
          <a:ln/>
        </p:spPr>
        <p:txBody>
          <a:bodyPr wrap="square" lIns="0" tIns="0" rIns="0" bIns="0" rtlCol="0" anchor="ctr"/>
          <a:lstStyle/>
          <a:p>
            <a:pPr rtl="1" algn="r" indent="0" marL="0">
              <a:buNone/>
            </a:pPr>
            <a:r>
              <a:rPr lang="ar-SA" altLang="en-US" sz="1600" b="1" dirty="0">
                <a:solidFill>
                  <a:srgbClr val="12333C"/>
                </a:solidFill>
                <a:latin typeface="Arial" pitchFamily="34" charset="0"/>
                <a:ea typeface="Arial" pitchFamily="34" charset="-122"/>
                <a:cs typeface="Arial" pitchFamily="34" charset="-120"/>
              </a:rPr>
              <a:t>التطبيق العملي (الواجهات)</a:t>
            </a:r>
            <a:endParaRPr lang="ar-SA" sz="1600" dirty="0"/>
          </a:p>
        </p:txBody>
      </p:sp>
      <p:sp>
        <p:nvSpPr>
          <p:cNvPr id="30" name="Shape 28"/>
          <p:cNvSpPr/>
          <p:nvPr/>
        </p:nvSpPr>
        <p:spPr>
          <a:xfrm>
            <a:off x="548640" y="3941064"/>
            <a:ext cx="5349240" cy="932688"/>
          </a:xfrm>
          <a:prstGeom prst="roundRect">
            <a:avLst>
              <a:gd name="adj" fmla="val 7843"/>
            </a:avLst>
          </a:prstGeom>
          <a:solidFill>
            <a:srgbClr val="F2F8F8"/>
          </a:solidFill>
          <a:ln w="9525">
            <a:solidFill>
              <a:srgbClr val="D9E7E9"/>
            </a:solidFill>
            <a:prstDash val="solid"/>
          </a:ln>
        </p:spPr>
      </p:sp>
      <p:sp>
        <p:nvSpPr>
          <p:cNvPr id="31" name="Shape 29"/>
          <p:cNvSpPr/>
          <p:nvPr/>
        </p:nvSpPr>
        <p:spPr>
          <a:xfrm>
            <a:off x="5029200" y="4151376"/>
            <a:ext cx="512064" cy="512064"/>
          </a:xfrm>
          <a:prstGeom prst="ellipse">
            <a:avLst/>
          </a:prstGeom>
          <a:solidFill>
            <a:srgbClr val="0E7C86"/>
          </a:solidFill>
          <a:ln/>
        </p:spPr>
      </p:sp>
      <p:sp>
        <p:nvSpPr>
          <p:cNvPr id="32" name="Text 30"/>
          <p:cNvSpPr/>
          <p:nvPr/>
        </p:nvSpPr>
        <p:spPr>
          <a:xfrm>
            <a:off x="5029200" y="415137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7</a:t>
            </a:r>
            <a:endParaRPr lang="en-US" sz="1800" dirty="0"/>
          </a:p>
        </p:txBody>
      </p:sp>
      <p:sp>
        <p:nvSpPr>
          <p:cNvPr id="33" name="Text 31"/>
          <p:cNvSpPr/>
          <p:nvPr/>
        </p:nvSpPr>
        <p:spPr>
          <a:xfrm>
            <a:off x="822960" y="3941064"/>
            <a:ext cx="4023360" cy="932688"/>
          </a:xfrm>
          <a:prstGeom prst="rect">
            <a:avLst/>
          </a:prstGeom>
          <a:noFill/>
          <a:ln/>
        </p:spPr>
        <p:txBody>
          <a:bodyPr wrap="square" lIns="0" tIns="0" rIns="0" bIns="0" rtlCol="0" anchor="ctr"/>
          <a:lstStyle/>
          <a:p>
            <a:pPr rtl="1" algn="r" indent="0" marL="0">
              <a:buNone/>
            </a:pPr>
            <a:r>
              <a:rPr lang="ar-SA" altLang="en-US" sz="1600" b="1" dirty="0">
                <a:solidFill>
                  <a:srgbClr val="12333C"/>
                </a:solidFill>
                <a:latin typeface="Arial" pitchFamily="34" charset="0"/>
                <a:ea typeface="Arial" pitchFamily="34" charset="-122"/>
                <a:cs typeface="Arial" pitchFamily="34" charset="-120"/>
              </a:rPr>
              <a:t>الآفاق المستقبلية والخاتمة</a:t>
            </a:r>
            <a:endParaRPr lang="ar-SA"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نبض — نظام السجلات الطبية الرقمية</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3</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المقدمة</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لماذا نظام السجلات الطبية الرقمية؟</a:t>
            </a:r>
            <a:endParaRPr lang="ar-SA" sz="1400" dirty="0"/>
          </a:p>
        </p:txBody>
      </p:sp>
      <p:sp>
        <p:nvSpPr>
          <p:cNvPr id="6" name="Text 4"/>
          <p:cNvSpPr/>
          <p:nvPr/>
        </p:nvSpPr>
        <p:spPr>
          <a:xfrm>
            <a:off x="548640" y="1508760"/>
            <a:ext cx="11094415" cy="1371600"/>
          </a:xfrm>
          <a:prstGeom prst="rect">
            <a:avLst/>
          </a:prstGeom>
          <a:noFill/>
          <a:ln/>
        </p:spPr>
        <p:txBody>
          <a:bodyPr wrap="square" rtlCol="0" anchor="t"/>
          <a:lstStyle/>
          <a:p>
            <a:pPr rtl="1" algn="r" indent="0" marL="0">
              <a:lnSpc>
                <a:spcPct val="135000"/>
              </a:lnSpc>
              <a:buNone/>
            </a:pPr>
            <a:r>
              <a:rPr lang="ar-SA" altLang="en-US" sz="1550" dirty="0">
                <a:solidFill>
                  <a:srgbClr val="12333C"/>
                </a:solidFill>
                <a:latin typeface="Arial" pitchFamily="34" charset="0"/>
                <a:ea typeface="Arial" pitchFamily="34" charset="-122"/>
                <a:cs typeface="Arial" pitchFamily="34" charset="-120"/>
              </a:rPr>
              <a:t>تُعدّ السجلات الطبية حجر الأساس في تقديم رعاية صحّية آمنة وفعّالة، إلا أنّها غالباً ما تكون موزّعة بين أنظمةٍ غير متوافقة لا يتبادل بعضها البيانات مع بعض، ما يضعف التنسيق بين مقدّمي الرعاية، ويؤدّي إلى تكرار الفحوص، وإلى قراراتٍ سريرية تُتّخذ من دون صورةٍ كاملة عن حالة المريض. كما تبقى الرعاية في كثيرٍ من الأنظمة تفاعليةً لا استباقية.</a:t>
            </a:r>
            <a:endParaRPr lang="ar-SA" sz="1550" dirty="0"/>
          </a:p>
        </p:txBody>
      </p:sp>
      <p:sp>
        <p:nvSpPr>
          <p:cNvPr id="7" name="Shape 5"/>
          <p:cNvSpPr/>
          <p:nvPr/>
        </p:nvSpPr>
        <p:spPr>
          <a:xfrm>
            <a:off x="8076895" y="3246120"/>
            <a:ext cx="3566160" cy="2697480"/>
          </a:xfrm>
          <a:prstGeom prst="roundRect">
            <a:avLst>
              <a:gd name="adj" fmla="val 2712"/>
            </a:avLst>
          </a:prstGeom>
          <a:solidFill>
            <a:srgbClr val="F2F8F8"/>
          </a:solidFill>
          <a:ln w="9525">
            <a:solidFill>
              <a:srgbClr val="D9E7E9"/>
            </a:solidFill>
            <a:prstDash val="solid"/>
          </a:ln>
        </p:spPr>
      </p:sp>
      <p:sp>
        <p:nvSpPr>
          <p:cNvPr id="8" name="Shape 6"/>
          <p:cNvSpPr/>
          <p:nvPr/>
        </p:nvSpPr>
        <p:spPr>
          <a:xfrm>
            <a:off x="9558223" y="3566160"/>
            <a:ext cx="603504" cy="603504"/>
          </a:xfrm>
          <a:prstGeom prst="ellipse">
            <a:avLst/>
          </a:prstGeom>
          <a:solidFill>
            <a:srgbClr val="0E7C86"/>
          </a:solidFill>
          <a:ln/>
        </p:spPr>
      </p:sp>
      <p:sp>
        <p:nvSpPr>
          <p:cNvPr id="9" name="Text 7"/>
          <p:cNvSpPr/>
          <p:nvPr/>
        </p:nvSpPr>
        <p:spPr>
          <a:xfrm>
            <a:off x="9558223" y="3566160"/>
            <a:ext cx="603504" cy="603504"/>
          </a:xfrm>
          <a:prstGeom prst="rect">
            <a:avLst/>
          </a:prstGeom>
          <a:noFill/>
          <a:ln/>
        </p:spPr>
        <p:txBody>
          <a:bodyPr wrap="square" lIns="0" tIns="0" rIns="0" bIns="0" rtlCol="0" anchor="ctr"/>
          <a:lstStyle/>
          <a:p>
            <a:pPr rtl="1" algn="ctr" indent="0" marL="0">
              <a:buNone/>
            </a:pPr>
            <a:r>
              <a:rPr lang="ar-SA" altLang="en-US" sz="2000" b="1" dirty="0">
                <a:solidFill>
                  <a:srgbClr val="FFFFFF"/>
                </a:solidFill>
                <a:latin typeface="Arial" pitchFamily="34" charset="0"/>
                <a:ea typeface="Arial" pitchFamily="34" charset="-122"/>
                <a:cs typeface="Arial" pitchFamily="34" charset="-120"/>
              </a:rPr>
              <a:t>١</a:t>
            </a:r>
            <a:endParaRPr lang="ar-SA" sz="2000" dirty="0"/>
          </a:p>
        </p:txBody>
      </p:sp>
      <p:sp>
        <p:nvSpPr>
          <p:cNvPr id="10" name="Text 8"/>
          <p:cNvSpPr/>
          <p:nvPr/>
        </p:nvSpPr>
        <p:spPr>
          <a:xfrm>
            <a:off x="8305495" y="4315968"/>
            <a:ext cx="3108960" cy="384048"/>
          </a:xfrm>
          <a:prstGeom prst="rect">
            <a:avLst/>
          </a:prstGeom>
          <a:noFill/>
          <a:ln/>
        </p:spPr>
        <p:txBody>
          <a:bodyPr wrap="square" rtlCol="0" anchor="ctr"/>
          <a:lstStyle/>
          <a:p>
            <a:pPr rtl="1" algn="ctr" indent="0" marL="0">
              <a:buNone/>
            </a:pPr>
            <a:r>
              <a:rPr lang="ar-SA" altLang="en-US" sz="1700" b="1" dirty="0">
                <a:solidFill>
                  <a:srgbClr val="0A3540"/>
                </a:solidFill>
                <a:latin typeface="Arial" pitchFamily="34" charset="0"/>
                <a:ea typeface="Arial" pitchFamily="34" charset="-122"/>
                <a:cs typeface="Arial" pitchFamily="34" charset="-120"/>
              </a:rPr>
              <a:t>سجلّ موحّد</a:t>
            </a:r>
            <a:endParaRPr lang="ar-SA" sz="1700" dirty="0"/>
          </a:p>
        </p:txBody>
      </p:sp>
      <p:sp>
        <p:nvSpPr>
          <p:cNvPr id="11" name="Text 9"/>
          <p:cNvSpPr/>
          <p:nvPr/>
        </p:nvSpPr>
        <p:spPr>
          <a:xfrm>
            <a:off x="8351215" y="4736592"/>
            <a:ext cx="3017520" cy="1097280"/>
          </a:xfrm>
          <a:prstGeom prst="rect">
            <a:avLst/>
          </a:prstGeom>
          <a:noFill/>
          <a:ln/>
        </p:spPr>
        <p:txBody>
          <a:bodyPr wrap="square" rtlCol="0" anchor="t"/>
          <a:lstStyle/>
          <a:p>
            <a:pPr rtl="1" algn="ctr" indent="0" marL="0">
              <a:lnSpc>
                <a:spcPct val="125000"/>
              </a:lnSpc>
              <a:buNone/>
            </a:pPr>
            <a:r>
              <a:rPr lang="ar-SA" altLang="en-US" sz="1250" dirty="0">
                <a:solidFill>
                  <a:srgbClr val="587078"/>
                </a:solidFill>
                <a:latin typeface="Arial" pitchFamily="34" charset="0"/>
                <a:ea typeface="Arial" pitchFamily="34" charset="-122"/>
                <a:cs typeface="Arial" pitchFamily="34" charset="-120"/>
              </a:rPr>
              <a:t>تمثيل البيانات وفق المعيار العالمي ‏</a:t>
            </a:r>
            <a:r>
              <a:rPr lang="en-US" altLang="en-US" sz="1250" dirty="0">
                <a:solidFill>
                  <a:srgbClr val="587078"/>
                </a:solidFill>
                <a:latin typeface="Arial" pitchFamily="34" charset="0"/>
                <a:ea typeface="Arial" pitchFamily="34" charset="-122"/>
                <a:cs typeface="Arial" pitchFamily="34" charset="-120"/>
              </a:rPr>
              <a:t>HL7 FHIR R5</a:t>
            </a:r>
            <a:r>
              <a:rPr lang="ar-SA" altLang="en-US" sz="1250" dirty="0">
                <a:solidFill>
                  <a:srgbClr val="587078"/>
                </a:solidFill>
                <a:latin typeface="Arial" pitchFamily="34" charset="0"/>
                <a:ea typeface="Arial" pitchFamily="34" charset="-122"/>
                <a:cs typeface="Arial" pitchFamily="34" charset="-120"/>
              </a:rPr>
              <a:t>‏ يضمن قابلية التشغيل البيني بين الأنظمة الصحية.</a:t>
            </a:r>
            <a:endParaRPr lang="ar-SA" sz="1250" dirty="0"/>
          </a:p>
        </p:txBody>
      </p:sp>
      <p:sp>
        <p:nvSpPr>
          <p:cNvPr id="12" name="Shape 10"/>
          <p:cNvSpPr/>
          <p:nvPr/>
        </p:nvSpPr>
        <p:spPr>
          <a:xfrm>
            <a:off x="4309567" y="3246120"/>
            <a:ext cx="3566160" cy="2697480"/>
          </a:xfrm>
          <a:prstGeom prst="roundRect">
            <a:avLst>
              <a:gd name="adj" fmla="val 2712"/>
            </a:avLst>
          </a:prstGeom>
          <a:solidFill>
            <a:srgbClr val="F2F8F8"/>
          </a:solidFill>
          <a:ln w="9525">
            <a:solidFill>
              <a:srgbClr val="D9E7E9"/>
            </a:solidFill>
            <a:prstDash val="solid"/>
          </a:ln>
        </p:spPr>
      </p:sp>
      <p:sp>
        <p:nvSpPr>
          <p:cNvPr id="13" name="Shape 11"/>
          <p:cNvSpPr/>
          <p:nvPr/>
        </p:nvSpPr>
        <p:spPr>
          <a:xfrm>
            <a:off x="5790895" y="3566160"/>
            <a:ext cx="603504" cy="603504"/>
          </a:xfrm>
          <a:prstGeom prst="ellipse">
            <a:avLst/>
          </a:prstGeom>
          <a:solidFill>
            <a:srgbClr val="02C39A"/>
          </a:solidFill>
          <a:ln/>
        </p:spPr>
      </p:sp>
      <p:sp>
        <p:nvSpPr>
          <p:cNvPr id="14" name="Text 12"/>
          <p:cNvSpPr/>
          <p:nvPr/>
        </p:nvSpPr>
        <p:spPr>
          <a:xfrm>
            <a:off x="5790895" y="3566160"/>
            <a:ext cx="603504" cy="603504"/>
          </a:xfrm>
          <a:prstGeom prst="rect">
            <a:avLst/>
          </a:prstGeom>
          <a:noFill/>
          <a:ln/>
        </p:spPr>
        <p:txBody>
          <a:bodyPr wrap="square" lIns="0" tIns="0" rIns="0" bIns="0" rtlCol="0" anchor="ctr"/>
          <a:lstStyle/>
          <a:p>
            <a:pPr rtl="1" algn="ctr" indent="0" marL="0">
              <a:buNone/>
            </a:pPr>
            <a:r>
              <a:rPr lang="ar-SA" altLang="en-US" sz="2000" b="1" dirty="0">
                <a:solidFill>
                  <a:srgbClr val="FFFFFF"/>
                </a:solidFill>
                <a:latin typeface="Arial" pitchFamily="34" charset="0"/>
                <a:ea typeface="Arial" pitchFamily="34" charset="-122"/>
                <a:cs typeface="Arial" pitchFamily="34" charset="-120"/>
              </a:rPr>
              <a:t>٢</a:t>
            </a:r>
            <a:endParaRPr lang="ar-SA" sz="2000" dirty="0"/>
          </a:p>
        </p:txBody>
      </p:sp>
      <p:sp>
        <p:nvSpPr>
          <p:cNvPr id="15" name="Text 13"/>
          <p:cNvSpPr/>
          <p:nvPr/>
        </p:nvSpPr>
        <p:spPr>
          <a:xfrm>
            <a:off x="4538167" y="4315968"/>
            <a:ext cx="3108960" cy="384048"/>
          </a:xfrm>
          <a:prstGeom prst="rect">
            <a:avLst/>
          </a:prstGeom>
          <a:noFill/>
          <a:ln/>
        </p:spPr>
        <p:txBody>
          <a:bodyPr wrap="square" rtlCol="0" anchor="ctr"/>
          <a:lstStyle/>
          <a:p>
            <a:pPr rtl="1" algn="ctr" indent="0" marL="0">
              <a:buNone/>
            </a:pPr>
            <a:r>
              <a:rPr lang="ar-SA" altLang="en-US" sz="1700" b="1" dirty="0">
                <a:solidFill>
                  <a:srgbClr val="0A3540"/>
                </a:solidFill>
                <a:latin typeface="Arial" pitchFamily="34" charset="0"/>
                <a:ea typeface="Arial" pitchFamily="34" charset="-122"/>
                <a:cs typeface="Arial" pitchFamily="34" charset="-120"/>
              </a:rPr>
              <a:t>دعم ذكي للقرار</a:t>
            </a:r>
            <a:endParaRPr lang="ar-SA" sz="1700" dirty="0"/>
          </a:p>
        </p:txBody>
      </p:sp>
      <p:sp>
        <p:nvSpPr>
          <p:cNvPr id="16" name="Text 14"/>
          <p:cNvSpPr/>
          <p:nvPr/>
        </p:nvSpPr>
        <p:spPr>
          <a:xfrm>
            <a:off x="4583887" y="4736592"/>
            <a:ext cx="3017520" cy="1097280"/>
          </a:xfrm>
          <a:prstGeom prst="rect">
            <a:avLst/>
          </a:prstGeom>
          <a:noFill/>
          <a:ln/>
        </p:spPr>
        <p:txBody>
          <a:bodyPr wrap="square" rtlCol="0" anchor="t"/>
          <a:lstStyle/>
          <a:p>
            <a:pPr rtl="1" algn="ctr" indent="0" marL="0">
              <a:lnSpc>
                <a:spcPct val="125000"/>
              </a:lnSpc>
              <a:buNone/>
            </a:pPr>
            <a:r>
              <a:rPr lang="ar-SA" altLang="en-US" sz="1250" dirty="0">
                <a:solidFill>
                  <a:srgbClr val="587078"/>
                </a:solidFill>
                <a:latin typeface="Arial" pitchFamily="34" charset="0"/>
                <a:ea typeface="Arial" pitchFamily="34" charset="-122"/>
                <a:cs typeface="Arial" pitchFamily="34" charset="-120"/>
              </a:rPr>
              <a:t>تنبيهات سريرية في موضع الرعاية عبر محرّك قواعد مرن قابل للتهيئة وفق مواصفة ‏</a:t>
            </a:r>
            <a:r>
              <a:rPr lang="en-US" altLang="en-US" sz="1250" dirty="0">
                <a:solidFill>
                  <a:srgbClr val="587078"/>
                </a:solidFill>
                <a:latin typeface="Arial" pitchFamily="34" charset="0"/>
                <a:ea typeface="Arial" pitchFamily="34" charset="-122"/>
                <a:cs typeface="Arial" pitchFamily="34" charset="-120"/>
              </a:rPr>
              <a:t>CDS Hooks</a:t>
            </a:r>
            <a:r>
              <a:rPr lang="ar-SA" altLang="en-US" sz="1250" dirty="0">
                <a:solidFill>
                  <a:srgbClr val="587078"/>
                </a:solidFill>
                <a:latin typeface="Arial" pitchFamily="34" charset="0"/>
                <a:ea typeface="Arial" pitchFamily="34" charset="-122"/>
                <a:cs typeface="Arial" pitchFamily="34" charset="-120"/>
              </a:rPr>
              <a:t>‏.</a:t>
            </a:r>
            <a:endParaRPr lang="ar-SA" sz="1250" dirty="0"/>
          </a:p>
        </p:txBody>
      </p:sp>
      <p:sp>
        <p:nvSpPr>
          <p:cNvPr id="17" name="Shape 15"/>
          <p:cNvSpPr/>
          <p:nvPr/>
        </p:nvSpPr>
        <p:spPr>
          <a:xfrm>
            <a:off x="542239" y="3246120"/>
            <a:ext cx="3566160" cy="2697480"/>
          </a:xfrm>
          <a:prstGeom prst="roundRect">
            <a:avLst>
              <a:gd name="adj" fmla="val 2712"/>
            </a:avLst>
          </a:prstGeom>
          <a:solidFill>
            <a:srgbClr val="F2F8F8"/>
          </a:solidFill>
          <a:ln w="9525">
            <a:solidFill>
              <a:srgbClr val="D9E7E9"/>
            </a:solidFill>
            <a:prstDash val="solid"/>
          </a:ln>
        </p:spPr>
      </p:sp>
      <p:sp>
        <p:nvSpPr>
          <p:cNvPr id="18" name="Shape 16"/>
          <p:cNvSpPr/>
          <p:nvPr/>
        </p:nvSpPr>
        <p:spPr>
          <a:xfrm>
            <a:off x="2023567" y="3566160"/>
            <a:ext cx="603504" cy="603504"/>
          </a:xfrm>
          <a:prstGeom prst="ellipse">
            <a:avLst/>
          </a:prstGeom>
          <a:solidFill>
            <a:srgbClr val="E9B44C"/>
          </a:solidFill>
          <a:ln/>
        </p:spPr>
      </p:sp>
      <p:sp>
        <p:nvSpPr>
          <p:cNvPr id="19" name="Text 17"/>
          <p:cNvSpPr/>
          <p:nvPr/>
        </p:nvSpPr>
        <p:spPr>
          <a:xfrm>
            <a:off x="2023567" y="3566160"/>
            <a:ext cx="603504" cy="603504"/>
          </a:xfrm>
          <a:prstGeom prst="rect">
            <a:avLst/>
          </a:prstGeom>
          <a:noFill/>
          <a:ln/>
        </p:spPr>
        <p:txBody>
          <a:bodyPr wrap="square" lIns="0" tIns="0" rIns="0" bIns="0" rtlCol="0" anchor="ctr"/>
          <a:lstStyle/>
          <a:p>
            <a:pPr rtl="1" algn="ctr" indent="0" marL="0">
              <a:buNone/>
            </a:pPr>
            <a:r>
              <a:rPr lang="ar-SA" altLang="en-US" sz="2000" b="1" dirty="0">
                <a:solidFill>
                  <a:srgbClr val="0A3540"/>
                </a:solidFill>
                <a:latin typeface="Arial" pitchFamily="34" charset="0"/>
                <a:ea typeface="Arial" pitchFamily="34" charset="-122"/>
                <a:cs typeface="Arial" pitchFamily="34" charset="-120"/>
              </a:rPr>
              <a:t>٣</a:t>
            </a:r>
            <a:endParaRPr lang="ar-SA" sz="2000" dirty="0"/>
          </a:p>
        </p:txBody>
      </p:sp>
      <p:sp>
        <p:nvSpPr>
          <p:cNvPr id="20" name="Text 18"/>
          <p:cNvSpPr/>
          <p:nvPr/>
        </p:nvSpPr>
        <p:spPr>
          <a:xfrm>
            <a:off x="770839" y="4315968"/>
            <a:ext cx="3108960" cy="384048"/>
          </a:xfrm>
          <a:prstGeom prst="rect">
            <a:avLst/>
          </a:prstGeom>
          <a:noFill/>
          <a:ln/>
        </p:spPr>
        <p:txBody>
          <a:bodyPr wrap="square" rtlCol="0" anchor="ctr"/>
          <a:lstStyle/>
          <a:p>
            <a:pPr rtl="1" algn="ctr" indent="0" marL="0">
              <a:buNone/>
            </a:pPr>
            <a:r>
              <a:rPr lang="ar-SA" altLang="en-US" sz="1700" b="1" dirty="0">
                <a:solidFill>
                  <a:srgbClr val="0A3540"/>
                </a:solidFill>
                <a:latin typeface="Arial" pitchFamily="34" charset="0"/>
                <a:ea typeface="Arial" pitchFamily="34" charset="-122"/>
                <a:cs typeface="Arial" pitchFamily="34" charset="-120"/>
              </a:rPr>
              <a:t>ذكاء تنبّؤي</a:t>
            </a:r>
            <a:endParaRPr lang="ar-SA" sz="1700" dirty="0"/>
          </a:p>
        </p:txBody>
      </p:sp>
      <p:sp>
        <p:nvSpPr>
          <p:cNvPr id="21" name="Text 19"/>
          <p:cNvSpPr/>
          <p:nvPr/>
        </p:nvSpPr>
        <p:spPr>
          <a:xfrm>
            <a:off x="816559" y="4736592"/>
            <a:ext cx="3017520" cy="1097280"/>
          </a:xfrm>
          <a:prstGeom prst="rect">
            <a:avLst/>
          </a:prstGeom>
          <a:noFill/>
          <a:ln/>
        </p:spPr>
        <p:txBody>
          <a:bodyPr wrap="square" rtlCol="0" anchor="t"/>
          <a:lstStyle/>
          <a:p>
            <a:pPr rtl="1" algn="ctr" indent="0" marL="0">
              <a:lnSpc>
                <a:spcPct val="125000"/>
              </a:lnSpc>
              <a:buNone/>
            </a:pPr>
            <a:r>
              <a:rPr lang="ar-SA" altLang="en-US" sz="1250" dirty="0">
                <a:solidFill>
                  <a:srgbClr val="587078"/>
                </a:solidFill>
                <a:latin typeface="Arial" pitchFamily="34" charset="0"/>
                <a:ea typeface="Arial" pitchFamily="34" charset="-122"/>
                <a:cs typeface="Arial" pitchFamily="34" charset="-120"/>
              </a:rPr>
              <a:t>نماذج تُقدّر مخاطر المريض من بياناته الفعلية، فتنقل الرعاية من الطابع التفاعلي إلى الاستباقي.</a:t>
            </a:r>
            <a:endParaRPr lang="ar-SA"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نبض — نظام السجلات الطبية الرقمية</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4</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التحديات التي يعالجها المشروع</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خمسة تحدّيات واقعية في المنظومة الصحية</a:t>
            </a:r>
            <a:endParaRPr lang="ar-SA" sz="1400" dirty="0"/>
          </a:p>
        </p:txBody>
      </p:sp>
      <p:sp>
        <p:nvSpPr>
          <p:cNvPr id="6" name="Shape 4"/>
          <p:cNvSpPr/>
          <p:nvPr/>
        </p:nvSpPr>
        <p:spPr>
          <a:xfrm>
            <a:off x="8076895" y="1600200"/>
            <a:ext cx="3566160" cy="2084832"/>
          </a:xfrm>
          <a:prstGeom prst="roundRect">
            <a:avLst>
              <a:gd name="adj" fmla="val 3509"/>
            </a:avLst>
          </a:prstGeom>
          <a:solidFill>
            <a:srgbClr val="F2F8F8"/>
          </a:solidFill>
          <a:ln w="9525">
            <a:solidFill>
              <a:srgbClr val="D9E7E9"/>
            </a:solidFill>
            <a:prstDash val="solid"/>
          </a:ln>
        </p:spPr>
      </p:sp>
      <p:sp>
        <p:nvSpPr>
          <p:cNvPr id="7" name="Text 5"/>
          <p:cNvSpPr/>
          <p:nvPr/>
        </p:nvSpPr>
        <p:spPr>
          <a:xfrm>
            <a:off x="8332927" y="1783080"/>
            <a:ext cx="3054096" cy="685800"/>
          </a:xfrm>
          <a:prstGeom prst="rect">
            <a:avLst/>
          </a:prstGeom>
          <a:noFill/>
          <a:ln/>
        </p:spPr>
        <p:txBody>
          <a:bodyPr wrap="square" lIns="0" tIns="0" rIns="0" bIns="0" rtlCol="0" anchor="t"/>
          <a:lstStyle/>
          <a:p>
            <a:pPr rtl="1" algn="r" indent="0" marL="0">
              <a:buNone/>
            </a:pPr>
            <a:r>
              <a:rPr lang="ar-SA" altLang="en-US" sz="1450" b="1" dirty="0">
                <a:solidFill>
                  <a:srgbClr val="0E7C86"/>
                </a:solidFill>
                <a:latin typeface="Arial" pitchFamily="34" charset="0"/>
                <a:ea typeface="Arial" pitchFamily="34" charset="-122"/>
                <a:cs typeface="Arial" pitchFamily="34" charset="-120"/>
              </a:rPr>
              <a:t>تشتّت البيانات وانعدام التشغيل البيني</a:t>
            </a:r>
            <a:endParaRPr lang="ar-SA" sz="1450" dirty="0"/>
          </a:p>
        </p:txBody>
      </p:sp>
      <p:sp>
        <p:nvSpPr>
          <p:cNvPr id="8" name="Text 6"/>
          <p:cNvSpPr/>
          <p:nvPr/>
        </p:nvSpPr>
        <p:spPr>
          <a:xfrm>
            <a:off x="8332927" y="2468880"/>
            <a:ext cx="3054096" cy="1078992"/>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تُخزَّن بيانات المريض في أنظمةٍ متفرّقة وبصِيَغٍ مغلقة، فلا ينتقل سجلّه معه بين مقدّمي الرعاية، وتتكرّر الفحوص.</a:t>
            </a:r>
            <a:endParaRPr lang="ar-SA" sz="1150" dirty="0"/>
          </a:p>
        </p:txBody>
      </p:sp>
      <p:sp>
        <p:nvSpPr>
          <p:cNvPr id="9" name="Shape 7"/>
          <p:cNvSpPr/>
          <p:nvPr/>
        </p:nvSpPr>
        <p:spPr>
          <a:xfrm>
            <a:off x="4309567" y="1600200"/>
            <a:ext cx="3566160" cy="2084832"/>
          </a:xfrm>
          <a:prstGeom prst="roundRect">
            <a:avLst>
              <a:gd name="adj" fmla="val 3509"/>
            </a:avLst>
          </a:prstGeom>
          <a:solidFill>
            <a:srgbClr val="F2F8F8"/>
          </a:solidFill>
          <a:ln w="9525">
            <a:solidFill>
              <a:srgbClr val="D9E7E9"/>
            </a:solidFill>
            <a:prstDash val="solid"/>
          </a:ln>
        </p:spPr>
      </p:sp>
      <p:sp>
        <p:nvSpPr>
          <p:cNvPr id="10" name="Text 8"/>
          <p:cNvSpPr/>
          <p:nvPr/>
        </p:nvSpPr>
        <p:spPr>
          <a:xfrm>
            <a:off x="4565599" y="1783080"/>
            <a:ext cx="3054096" cy="685800"/>
          </a:xfrm>
          <a:prstGeom prst="rect">
            <a:avLst/>
          </a:prstGeom>
          <a:noFill/>
          <a:ln/>
        </p:spPr>
        <p:txBody>
          <a:bodyPr wrap="square" lIns="0" tIns="0" rIns="0" bIns="0" rtlCol="0" anchor="t"/>
          <a:lstStyle/>
          <a:p>
            <a:pPr rtl="1" algn="r" indent="0" marL="0">
              <a:buNone/>
            </a:pPr>
            <a:r>
              <a:rPr lang="ar-SA" altLang="en-US" sz="1450" b="1" dirty="0">
                <a:solidFill>
                  <a:srgbClr val="0E7C86"/>
                </a:solidFill>
                <a:latin typeface="Arial" pitchFamily="34" charset="0"/>
                <a:ea typeface="Arial" pitchFamily="34" charset="-122"/>
                <a:cs typeface="Arial" pitchFamily="34" charset="-120"/>
              </a:rPr>
              <a:t>ضعف الدعم الاستباقي للقرار</a:t>
            </a:r>
            <a:endParaRPr lang="ar-SA" sz="1450" dirty="0"/>
          </a:p>
        </p:txBody>
      </p:sp>
      <p:sp>
        <p:nvSpPr>
          <p:cNvPr id="11" name="Text 9"/>
          <p:cNvSpPr/>
          <p:nvPr/>
        </p:nvSpPr>
        <p:spPr>
          <a:xfrm>
            <a:off x="4565599" y="2468880"/>
            <a:ext cx="3054096" cy="1078992"/>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غياب أدواتٍ تنبّه الطبيب آنياً إلى المخاطر — كجرعةٍ زائدة أو تداخلٍ دوائي — يُبقي الأخطاء الطبية احتمالاً قائماً.</a:t>
            </a:r>
            <a:endParaRPr lang="ar-SA" sz="1150" dirty="0"/>
          </a:p>
        </p:txBody>
      </p:sp>
      <p:sp>
        <p:nvSpPr>
          <p:cNvPr id="12" name="Shape 10"/>
          <p:cNvSpPr/>
          <p:nvPr/>
        </p:nvSpPr>
        <p:spPr>
          <a:xfrm>
            <a:off x="542239" y="1600200"/>
            <a:ext cx="3566160" cy="2084832"/>
          </a:xfrm>
          <a:prstGeom prst="roundRect">
            <a:avLst>
              <a:gd name="adj" fmla="val 3509"/>
            </a:avLst>
          </a:prstGeom>
          <a:solidFill>
            <a:srgbClr val="F2F8F8"/>
          </a:solidFill>
          <a:ln w="9525">
            <a:solidFill>
              <a:srgbClr val="D9E7E9"/>
            </a:solidFill>
            <a:prstDash val="solid"/>
          </a:ln>
        </p:spPr>
      </p:sp>
      <p:sp>
        <p:nvSpPr>
          <p:cNvPr id="13" name="Text 11"/>
          <p:cNvSpPr/>
          <p:nvPr/>
        </p:nvSpPr>
        <p:spPr>
          <a:xfrm>
            <a:off x="798271" y="1783080"/>
            <a:ext cx="3054096" cy="685800"/>
          </a:xfrm>
          <a:prstGeom prst="rect">
            <a:avLst/>
          </a:prstGeom>
          <a:noFill/>
          <a:ln/>
        </p:spPr>
        <p:txBody>
          <a:bodyPr wrap="square" lIns="0" tIns="0" rIns="0" bIns="0" rtlCol="0" anchor="t"/>
          <a:lstStyle/>
          <a:p>
            <a:pPr rtl="1" algn="r" indent="0" marL="0">
              <a:buNone/>
            </a:pPr>
            <a:r>
              <a:rPr lang="ar-SA" altLang="en-US" sz="1450" b="1" dirty="0">
                <a:solidFill>
                  <a:srgbClr val="0E7C86"/>
                </a:solidFill>
                <a:latin typeface="Arial" pitchFamily="34" charset="0"/>
                <a:ea typeface="Arial" pitchFamily="34" charset="-122"/>
                <a:cs typeface="Arial" pitchFamily="34" charset="-120"/>
              </a:rPr>
              <a:t>صعوبة تتبّع تاريخ السجل</a:t>
            </a:r>
            <a:endParaRPr lang="ar-SA" sz="1450" dirty="0"/>
          </a:p>
        </p:txBody>
      </p:sp>
      <p:sp>
        <p:nvSpPr>
          <p:cNvPr id="14" name="Text 12"/>
          <p:cNvSpPr/>
          <p:nvPr/>
        </p:nvSpPr>
        <p:spPr>
          <a:xfrm>
            <a:off x="798271" y="2468880"/>
            <a:ext cx="3054096" cy="1078992"/>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من دون آليةٍ منضبطة لحفظ النسخ يصعب معرفة من غيّر البيانات ومتى، وهو أمرٌ جوهري للمساءلة والتدقيق.</a:t>
            </a:r>
            <a:endParaRPr lang="ar-SA" sz="1150" dirty="0"/>
          </a:p>
        </p:txBody>
      </p:sp>
      <p:sp>
        <p:nvSpPr>
          <p:cNvPr id="15" name="Shape 13"/>
          <p:cNvSpPr/>
          <p:nvPr/>
        </p:nvSpPr>
        <p:spPr>
          <a:xfrm>
            <a:off x="6193231" y="3959352"/>
            <a:ext cx="5449824" cy="1828800"/>
          </a:xfrm>
          <a:prstGeom prst="roundRect">
            <a:avLst>
              <a:gd name="adj" fmla="val 4000"/>
            </a:avLst>
          </a:prstGeom>
          <a:solidFill>
            <a:srgbClr val="F2F8F8"/>
          </a:solidFill>
          <a:ln w="9525">
            <a:solidFill>
              <a:srgbClr val="D9E7E9"/>
            </a:solidFill>
            <a:prstDash val="solid"/>
          </a:ln>
        </p:spPr>
      </p:sp>
      <p:sp>
        <p:nvSpPr>
          <p:cNvPr id="16" name="Text 14"/>
          <p:cNvSpPr/>
          <p:nvPr/>
        </p:nvSpPr>
        <p:spPr>
          <a:xfrm>
            <a:off x="6449263" y="4142232"/>
            <a:ext cx="4937760" cy="411480"/>
          </a:xfrm>
          <a:prstGeom prst="rect">
            <a:avLst/>
          </a:prstGeom>
          <a:noFill/>
          <a:ln/>
        </p:spPr>
        <p:txBody>
          <a:bodyPr wrap="square" lIns="0" tIns="0" rIns="0" bIns="0" rtlCol="0" anchor="t"/>
          <a:lstStyle/>
          <a:p>
            <a:pPr rtl="1" algn="r" indent="0" marL="0">
              <a:buNone/>
            </a:pPr>
            <a:r>
              <a:rPr lang="ar-SA" altLang="en-US" sz="1450" b="1" dirty="0">
                <a:solidFill>
                  <a:srgbClr val="0E7C86"/>
                </a:solidFill>
                <a:latin typeface="Arial" pitchFamily="34" charset="0"/>
                <a:ea typeface="Arial" pitchFamily="34" charset="-122"/>
                <a:cs typeface="Arial" pitchFamily="34" charset="-120"/>
              </a:rPr>
              <a:t>غياب مشاركة المريض</a:t>
            </a:r>
            <a:endParaRPr lang="ar-SA" sz="1450" dirty="0"/>
          </a:p>
        </p:txBody>
      </p:sp>
      <p:sp>
        <p:nvSpPr>
          <p:cNvPr id="17" name="Text 15"/>
          <p:cNvSpPr/>
          <p:nvPr/>
        </p:nvSpPr>
        <p:spPr>
          <a:xfrm>
            <a:off x="6449263" y="4617720"/>
            <a:ext cx="4937760" cy="1005840"/>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كثيراً ما يُحرَم المريض من الاطّلاع على سجلّه الصحّي ومتابعة مواعيده وأدويته، فيضعف انخراطه في رعايته.</a:t>
            </a:r>
            <a:endParaRPr lang="ar-SA" sz="1150" dirty="0"/>
          </a:p>
        </p:txBody>
      </p:sp>
      <p:sp>
        <p:nvSpPr>
          <p:cNvPr id="18" name="Shape 16"/>
          <p:cNvSpPr/>
          <p:nvPr/>
        </p:nvSpPr>
        <p:spPr>
          <a:xfrm>
            <a:off x="542239" y="3959352"/>
            <a:ext cx="5449824" cy="1828800"/>
          </a:xfrm>
          <a:prstGeom prst="roundRect">
            <a:avLst>
              <a:gd name="adj" fmla="val 4000"/>
            </a:avLst>
          </a:prstGeom>
          <a:solidFill>
            <a:srgbClr val="F2F8F8"/>
          </a:solidFill>
          <a:ln w="9525">
            <a:solidFill>
              <a:srgbClr val="D9E7E9"/>
            </a:solidFill>
            <a:prstDash val="solid"/>
          </a:ln>
        </p:spPr>
      </p:sp>
      <p:sp>
        <p:nvSpPr>
          <p:cNvPr id="19" name="Text 17"/>
          <p:cNvSpPr/>
          <p:nvPr/>
        </p:nvSpPr>
        <p:spPr>
          <a:xfrm>
            <a:off x="798271" y="4142232"/>
            <a:ext cx="4937760" cy="411480"/>
          </a:xfrm>
          <a:prstGeom prst="rect">
            <a:avLst/>
          </a:prstGeom>
          <a:noFill/>
          <a:ln/>
        </p:spPr>
        <p:txBody>
          <a:bodyPr wrap="square" lIns="0" tIns="0" rIns="0" bIns="0" rtlCol="0" anchor="t"/>
          <a:lstStyle/>
          <a:p>
            <a:pPr rtl="1" algn="r" indent="0" marL="0">
              <a:buNone/>
            </a:pPr>
            <a:r>
              <a:rPr lang="ar-SA" altLang="en-US" sz="1450" b="1" dirty="0">
                <a:solidFill>
                  <a:srgbClr val="0E7C86"/>
                </a:solidFill>
                <a:latin typeface="Arial" pitchFamily="34" charset="0"/>
                <a:ea typeface="Arial" pitchFamily="34" charset="-122"/>
                <a:cs typeface="Arial" pitchFamily="34" charset="-120"/>
              </a:rPr>
              <a:t>الأمان والخصوصية</a:t>
            </a:r>
            <a:endParaRPr lang="ar-SA" sz="1450" dirty="0"/>
          </a:p>
        </p:txBody>
      </p:sp>
      <p:sp>
        <p:nvSpPr>
          <p:cNvPr id="20" name="Text 18"/>
          <p:cNvSpPr/>
          <p:nvPr/>
        </p:nvSpPr>
        <p:spPr>
          <a:xfrm>
            <a:off x="798271" y="4617720"/>
            <a:ext cx="4937760" cy="1005840"/>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البيانات الصحية من أكثر البيانات حساسية، وتتطلّب تحكّماً دقيقاً بالوصول بحسب دور كلّ مستخدم.</a:t>
            </a:r>
            <a:endParaRPr lang="ar-SA"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نبض — نظام السجلات الطبية الرقمية</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5</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أهداف المشروع</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هدفٌ عام يتفرّع إلى خمسة أهداف تفصيلية</a:t>
            </a:r>
            <a:endParaRPr lang="ar-SA" sz="1400" dirty="0"/>
          </a:p>
        </p:txBody>
      </p:sp>
      <p:sp>
        <p:nvSpPr>
          <p:cNvPr id="6" name="Shape 4"/>
          <p:cNvSpPr/>
          <p:nvPr/>
        </p:nvSpPr>
        <p:spPr>
          <a:xfrm>
            <a:off x="548640" y="1572768"/>
            <a:ext cx="11094415" cy="804672"/>
          </a:xfrm>
          <a:prstGeom prst="roundRect">
            <a:avLst>
              <a:gd name="adj" fmla="val 9091"/>
            </a:avLst>
          </a:prstGeom>
          <a:solidFill>
            <a:srgbClr val="F2F8F8"/>
          </a:solidFill>
          <a:ln w="9525">
            <a:solidFill>
              <a:srgbClr val="D9E7E9"/>
            </a:solidFill>
            <a:prstDash val="solid"/>
          </a:ln>
        </p:spPr>
      </p:sp>
      <p:sp>
        <p:nvSpPr>
          <p:cNvPr id="7" name="Shape 5"/>
          <p:cNvSpPr/>
          <p:nvPr/>
        </p:nvSpPr>
        <p:spPr>
          <a:xfrm>
            <a:off x="10746943" y="1728216"/>
            <a:ext cx="493776" cy="493776"/>
          </a:xfrm>
          <a:prstGeom prst="ellipse">
            <a:avLst/>
          </a:prstGeom>
          <a:solidFill>
            <a:srgbClr val="0E7C86"/>
          </a:solidFill>
          <a:ln/>
        </p:spPr>
      </p:sp>
      <p:sp>
        <p:nvSpPr>
          <p:cNvPr id="8" name="Text 6"/>
          <p:cNvSpPr/>
          <p:nvPr/>
        </p:nvSpPr>
        <p:spPr>
          <a:xfrm>
            <a:off x="10746943" y="1728216"/>
            <a:ext cx="493776" cy="49377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9" name="Text 7"/>
          <p:cNvSpPr/>
          <p:nvPr/>
        </p:nvSpPr>
        <p:spPr>
          <a:xfrm>
            <a:off x="777240" y="1572768"/>
            <a:ext cx="9722815" cy="804672"/>
          </a:xfrm>
          <a:prstGeom prst="rect">
            <a:avLst/>
          </a:prstGeom>
          <a:noFill/>
          <a:ln/>
        </p:spPr>
        <p:txBody>
          <a:bodyPr wrap="square" lIns="0" tIns="0" rIns="0" bIns="0" rtlCol="0" anchor="ctr"/>
          <a:lstStyle/>
          <a:p>
            <a:pPr rtl="1" algn="r" indent="0" marL="0">
              <a:lnSpc>
                <a:spcPct val="115000"/>
              </a:lnSpc>
              <a:buNone/>
            </a:pPr>
            <a:r>
              <a:rPr lang="ar-SA" altLang="en-US" sz="1350" dirty="0">
                <a:solidFill>
                  <a:srgbClr val="12333C"/>
                </a:solidFill>
                <a:latin typeface="Arial" pitchFamily="34" charset="0"/>
                <a:ea typeface="Arial" pitchFamily="34" charset="-122"/>
                <a:cs typeface="Arial" pitchFamily="34" charset="-120"/>
              </a:rPr>
              <a:t>بناء سجلٍّ طبي قائم على معيار ‏</a:t>
            </a:r>
            <a:r>
              <a:rPr lang="en-US" altLang="en-US" sz="1350" dirty="0">
                <a:solidFill>
                  <a:srgbClr val="12333C"/>
                </a:solidFill>
                <a:latin typeface="Arial" pitchFamily="34" charset="0"/>
                <a:ea typeface="Arial" pitchFamily="34" charset="-122"/>
                <a:cs typeface="Arial" pitchFamily="34" charset="-120"/>
              </a:rPr>
              <a:t>FHIR R5</a:t>
            </a:r>
            <a:r>
              <a:rPr lang="ar-SA" altLang="en-US" sz="1350" dirty="0">
                <a:solidFill>
                  <a:srgbClr val="12333C"/>
                </a:solidFill>
                <a:latin typeface="Arial" pitchFamily="34" charset="0"/>
                <a:ea typeface="Arial" pitchFamily="34" charset="-122"/>
                <a:cs typeface="Arial" pitchFamily="34" charset="-120"/>
              </a:rPr>
              <a:t>‏ يدعم الإنشاء والقراءة والتحديث والحذف والبحث، مع حفظ تاريخ النسخ والتحقّق من صحّة الموارد.</a:t>
            </a:r>
            <a:endParaRPr lang="ar-SA" sz="1350" dirty="0"/>
          </a:p>
        </p:txBody>
      </p:sp>
      <p:sp>
        <p:nvSpPr>
          <p:cNvPr id="10" name="Shape 8"/>
          <p:cNvSpPr/>
          <p:nvPr/>
        </p:nvSpPr>
        <p:spPr>
          <a:xfrm>
            <a:off x="548640" y="2505456"/>
            <a:ext cx="11094415" cy="804672"/>
          </a:xfrm>
          <a:prstGeom prst="roundRect">
            <a:avLst>
              <a:gd name="adj" fmla="val 9091"/>
            </a:avLst>
          </a:prstGeom>
          <a:solidFill>
            <a:srgbClr val="FFFFFF"/>
          </a:solidFill>
          <a:ln w="9525">
            <a:solidFill>
              <a:srgbClr val="D9E7E9"/>
            </a:solidFill>
            <a:prstDash val="solid"/>
          </a:ln>
        </p:spPr>
      </p:sp>
      <p:sp>
        <p:nvSpPr>
          <p:cNvPr id="11" name="Shape 9"/>
          <p:cNvSpPr/>
          <p:nvPr/>
        </p:nvSpPr>
        <p:spPr>
          <a:xfrm>
            <a:off x="10746943" y="2660904"/>
            <a:ext cx="493776" cy="493776"/>
          </a:xfrm>
          <a:prstGeom prst="ellipse">
            <a:avLst/>
          </a:prstGeom>
          <a:solidFill>
            <a:srgbClr val="0E7C86"/>
          </a:solidFill>
          <a:ln/>
        </p:spPr>
      </p:sp>
      <p:sp>
        <p:nvSpPr>
          <p:cNvPr id="12" name="Text 10"/>
          <p:cNvSpPr/>
          <p:nvPr/>
        </p:nvSpPr>
        <p:spPr>
          <a:xfrm>
            <a:off x="10746943" y="2660904"/>
            <a:ext cx="493776" cy="49377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777240" y="2505456"/>
            <a:ext cx="9722815" cy="804672"/>
          </a:xfrm>
          <a:prstGeom prst="rect">
            <a:avLst/>
          </a:prstGeom>
          <a:noFill/>
          <a:ln/>
        </p:spPr>
        <p:txBody>
          <a:bodyPr wrap="square" lIns="0" tIns="0" rIns="0" bIns="0" rtlCol="0" anchor="ctr"/>
          <a:lstStyle/>
          <a:p>
            <a:pPr rtl="1" algn="r" indent="0" marL="0">
              <a:lnSpc>
                <a:spcPct val="115000"/>
              </a:lnSpc>
              <a:buNone/>
            </a:pPr>
            <a:r>
              <a:rPr lang="ar-SA" altLang="en-US" sz="1350" dirty="0">
                <a:solidFill>
                  <a:srgbClr val="12333C"/>
                </a:solidFill>
                <a:latin typeface="Arial" pitchFamily="34" charset="0"/>
                <a:ea typeface="Arial" pitchFamily="34" charset="-122"/>
                <a:cs typeface="Arial" pitchFamily="34" charset="-120"/>
              </a:rPr>
              <a:t>توفير مصادقةٍ وتفويضٍ آمنَين قائمَين على الأدوار ونطاقات الصلاحيات على غرار ‏</a:t>
            </a:r>
            <a:r>
              <a:rPr lang="en-US" altLang="en-US" sz="1350" dirty="0">
                <a:solidFill>
                  <a:srgbClr val="12333C"/>
                </a:solidFill>
                <a:latin typeface="Arial" pitchFamily="34" charset="0"/>
                <a:ea typeface="Arial" pitchFamily="34" charset="-122"/>
                <a:cs typeface="Arial" pitchFamily="34" charset="-120"/>
              </a:rPr>
              <a:t>SMART on FHIR</a:t>
            </a:r>
            <a:r>
              <a:rPr lang="ar-SA" altLang="en-US" sz="1350" dirty="0">
                <a:solidFill>
                  <a:srgbClr val="12333C"/>
                </a:solidFill>
                <a:latin typeface="Arial" pitchFamily="34" charset="0"/>
                <a:ea typeface="Arial" pitchFamily="34" charset="-122"/>
                <a:cs typeface="Arial" pitchFamily="34" charset="-120"/>
              </a:rPr>
              <a:t>‏، بحيث يرى كلّ مستخدمٍ ما يخصّه فقط.</a:t>
            </a:r>
            <a:endParaRPr lang="ar-SA" sz="1350" dirty="0"/>
          </a:p>
        </p:txBody>
      </p:sp>
      <p:sp>
        <p:nvSpPr>
          <p:cNvPr id="14" name="Shape 12"/>
          <p:cNvSpPr/>
          <p:nvPr/>
        </p:nvSpPr>
        <p:spPr>
          <a:xfrm>
            <a:off x="548640" y="3438144"/>
            <a:ext cx="11094415" cy="804672"/>
          </a:xfrm>
          <a:prstGeom prst="roundRect">
            <a:avLst>
              <a:gd name="adj" fmla="val 9091"/>
            </a:avLst>
          </a:prstGeom>
          <a:solidFill>
            <a:srgbClr val="F2F8F8"/>
          </a:solidFill>
          <a:ln w="9525">
            <a:solidFill>
              <a:srgbClr val="D9E7E9"/>
            </a:solidFill>
            <a:prstDash val="solid"/>
          </a:ln>
        </p:spPr>
      </p:sp>
      <p:sp>
        <p:nvSpPr>
          <p:cNvPr id="15" name="Shape 13"/>
          <p:cNvSpPr/>
          <p:nvPr/>
        </p:nvSpPr>
        <p:spPr>
          <a:xfrm>
            <a:off x="10746943" y="3593592"/>
            <a:ext cx="493776" cy="493776"/>
          </a:xfrm>
          <a:prstGeom prst="ellipse">
            <a:avLst/>
          </a:prstGeom>
          <a:solidFill>
            <a:srgbClr val="0E7C86"/>
          </a:solidFill>
          <a:ln/>
        </p:spPr>
      </p:sp>
      <p:sp>
        <p:nvSpPr>
          <p:cNvPr id="16" name="Text 14"/>
          <p:cNvSpPr/>
          <p:nvPr/>
        </p:nvSpPr>
        <p:spPr>
          <a:xfrm>
            <a:off x="10746943" y="3593592"/>
            <a:ext cx="493776" cy="49377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777240" y="3438144"/>
            <a:ext cx="9722815" cy="804672"/>
          </a:xfrm>
          <a:prstGeom prst="rect">
            <a:avLst/>
          </a:prstGeom>
          <a:noFill/>
          <a:ln/>
        </p:spPr>
        <p:txBody>
          <a:bodyPr wrap="square" lIns="0" tIns="0" rIns="0" bIns="0" rtlCol="0" anchor="ctr"/>
          <a:lstStyle/>
          <a:p>
            <a:pPr rtl="1" algn="r" indent="0" marL="0">
              <a:lnSpc>
                <a:spcPct val="115000"/>
              </a:lnSpc>
              <a:buNone/>
            </a:pPr>
            <a:r>
              <a:rPr lang="ar-SA" altLang="en-US" sz="1350" dirty="0">
                <a:solidFill>
                  <a:srgbClr val="12333C"/>
                </a:solidFill>
                <a:latin typeface="Arial" pitchFamily="34" charset="0"/>
                <a:ea typeface="Arial" pitchFamily="34" charset="-122"/>
                <a:cs typeface="Arial" pitchFamily="34" charset="-120"/>
              </a:rPr>
              <a:t>تقديم دعمٍ ذكي للقرار السريري عبر محرّك قواعد مرن يُطلق بطاقات تنبيهٍ مبنية على بيانات المريض ومعرفة الأدوية ومخاطره.</a:t>
            </a:r>
            <a:endParaRPr lang="ar-SA" sz="1350" dirty="0"/>
          </a:p>
        </p:txBody>
      </p:sp>
      <p:sp>
        <p:nvSpPr>
          <p:cNvPr id="18" name="Shape 16"/>
          <p:cNvSpPr/>
          <p:nvPr/>
        </p:nvSpPr>
        <p:spPr>
          <a:xfrm>
            <a:off x="548640" y="4370832"/>
            <a:ext cx="11094415" cy="804672"/>
          </a:xfrm>
          <a:prstGeom prst="roundRect">
            <a:avLst>
              <a:gd name="adj" fmla="val 9091"/>
            </a:avLst>
          </a:prstGeom>
          <a:solidFill>
            <a:srgbClr val="FFFFFF"/>
          </a:solidFill>
          <a:ln w="9525">
            <a:solidFill>
              <a:srgbClr val="D9E7E9"/>
            </a:solidFill>
            <a:prstDash val="solid"/>
          </a:ln>
        </p:spPr>
      </p:sp>
      <p:sp>
        <p:nvSpPr>
          <p:cNvPr id="19" name="Shape 17"/>
          <p:cNvSpPr/>
          <p:nvPr/>
        </p:nvSpPr>
        <p:spPr>
          <a:xfrm>
            <a:off x="10746943" y="4526280"/>
            <a:ext cx="493776" cy="493776"/>
          </a:xfrm>
          <a:prstGeom prst="ellipse">
            <a:avLst/>
          </a:prstGeom>
          <a:solidFill>
            <a:srgbClr val="0E7C86"/>
          </a:solidFill>
          <a:ln/>
        </p:spPr>
      </p:sp>
      <p:sp>
        <p:nvSpPr>
          <p:cNvPr id="20" name="Text 18"/>
          <p:cNvSpPr/>
          <p:nvPr/>
        </p:nvSpPr>
        <p:spPr>
          <a:xfrm>
            <a:off x="10746943" y="4526280"/>
            <a:ext cx="493776" cy="49377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1" name="Text 19"/>
          <p:cNvSpPr/>
          <p:nvPr/>
        </p:nvSpPr>
        <p:spPr>
          <a:xfrm>
            <a:off x="777240" y="4370832"/>
            <a:ext cx="9722815" cy="804672"/>
          </a:xfrm>
          <a:prstGeom prst="rect">
            <a:avLst/>
          </a:prstGeom>
          <a:noFill/>
          <a:ln/>
        </p:spPr>
        <p:txBody>
          <a:bodyPr wrap="square" lIns="0" tIns="0" rIns="0" bIns="0" rtlCol="0" anchor="ctr"/>
          <a:lstStyle/>
          <a:p>
            <a:pPr rtl="1" algn="r" indent="0" marL="0">
              <a:lnSpc>
                <a:spcPct val="115000"/>
              </a:lnSpc>
              <a:buNone/>
            </a:pPr>
            <a:r>
              <a:rPr lang="ar-SA" altLang="en-US" sz="1350" dirty="0">
                <a:solidFill>
                  <a:srgbClr val="12333C"/>
                </a:solidFill>
                <a:latin typeface="Arial" pitchFamily="34" charset="0"/>
                <a:ea typeface="Arial" pitchFamily="34" charset="-122"/>
                <a:cs typeface="Arial" pitchFamily="34" charset="-120"/>
              </a:rPr>
              <a:t>دمج نماذج ذكاءٍ اصطناعي تنبّؤية تعمل على بيانات المريض الحقيقية، مع إتاحة ربط نماذج خارجية متخصّصة.</a:t>
            </a:r>
            <a:endParaRPr lang="ar-SA" sz="1350" dirty="0"/>
          </a:p>
        </p:txBody>
      </p:sp>
      <p:sp>
        <p:nvSpPr>
          <p:cNvPr id="22" name="Shape 20"/>
          <p:cNvSpPr/>
          <p:nvPr/>
        </p:nvSpPr>
        <p:spPr>
          <a:xfrm>
            <a:off x="548640" y="5303520"/>
            <a:ext cx="11094415" cy="804672"/>
          </a:xfrm>
          <a:prstGeom prst="roundRect">
            <a:avLst>
              <a:gd name="adj" fmla="val 9091"/>
            </a:avLst>
          </a:prstGeom>
          <a:solidFill>
            <a:srgbClr val="F2F8F8"/>
          </a:solidFill>
          <a:ln w="9525">
            <a:solidFill>
              <a:srgbClr val="D9E7E9"/>
            </a:solidFill>
            <a:prstDash val="solid"/>
          </a:ln>
        </p:spPr>
      </p:sp>
      <p:sp>
        <p:nvSpPr>
          <p:cNvPr id="23" name="Shape 21"/>
          <p:cNvSpPr/>
          <p:nvPr/>
        </p:nvSpPr>
        <p:spPr>
          <a:xfrm>
            <a:off x="10746943" y="5458968"/>
            <a:ext cx="493776" cy="493776"/>
          </a:xfrm>
          <a:prstGeom prst="ellipse">
            <a:avLst/>
          </a:prstGeom>
          <a:solidFill>
            <a:srgbClr val="0E7C86"/>
          </a:solidFill>
          <a:ln/>
        </p:spPr>
      </p:sp>
      <p:sp>
        <p:nvSpPr>
          <p:cNvPr id="24" name="Text 22"/>
          <p:cNvSpPr/>
          <p:nvPr/>
        </p:nvSpPr>
        <p:spPr>
          <a:xfrm>
            <a:off x="10746943" y="5458968"/>
            <a:ext cx="493776" cy="49377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5" name="Text 23"/>
          <p:cNvSpPr/>
          <p:nvPr/>
        </p:nvSpPr>
        <p:spPr>
          <a:xfrm>
            <a:off x="777240" y="5303520"/>
            <a:ext cx="9722815" cy="804672"/>
          </a:xfrm>
          <a:prstGeom prst="rect">
            <a:avLst/>
          </a:prstGeom>
          <a:noFill/>
          <a:ln/>
        </p:spPr>
        <p:txBody>
          <a:bodyPr wrap="square" lIns="0" tIns="0" rIns="0" bIns="0" rtlCol="0" anchor="ctr"/>
          <a:lstStyle/>
          <a:p>
            <a:pPr rtl="1" algn="r" indent="0" marL="0">
              <a:lnSpc>
                <a:spcPct val="115000"/>
              </a:lnSpc>
              <a:buNone/>
            </a:pPr>
            <a:r>
              <a:rPr lang="ar-SA" altLang="en-US" sz="1350" dirty="0">
                <a:solidFill>
                  <a:srgbClr val="12333C"/>
                </a:solidFill>
                <a:latin typeface="Arial" pitchFamily="34" charset="0"/>
                <a:ea typeface="Arial" pitchFamily="34" charset="-122"/>
                <a:cs typeface="Arial" pitchFamily="34" charset="-120"/>
              </a:rPr>
              <a:t>تمكين المريض من الاطّلاع الآمن على سجلّه الصحّي عبر بوابة خدمةٍ ذاتية، بواجهةٍ ثنائية اللغة (عربي / إنجليزي).</a:t>
            </a:r>
            <a:endParaRPr lang="ar-SA"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نبض — نظام السجلات الطبية الرقمية</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6</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أهمّ ميزات المشروع</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من السجل السريري إلى الذكاء التنبّؤي</a:t>
            </a:r>
            <a:endParaRPr lang="ar-SA" sz="1400" dirty="0"/>
          </a:p>
        </p:txBody>
      </p:sp>
      <p:sp>
        <p:nvSpPr>
          <p:cNvPr id="6" name="Shape 4"/>
          <p:cNvSpPr/>
          <p:nvPr/>
        </p:nvSpPr>
        <p:spPr>
          <a:xfrm>
            <a:off x="9018727" y="1600200"/>
            <a:ext cx="2624328" cy="2084832"/>
          </a:xfrm>
          <a:prstGeom prst="roundRect">
            <a:avLst>
              <a:gd name="adj" fmla="val 3509"/>
            </a:avLst>
          </a:prstGeom>
          <a:solidFill>
            <a:srgbClr val="F2F8F8"/>
          </a:solidFill>
          <a:ln w="9525">
            <a:solidFill>
              <a:srgbClr val="D9E7E9"/>
            </a:solidFill>
            <a:prstDash val="solid"/>
          </a:ln>
        </p:spPr>
      </p:sp>
      <p:sp>
        <p:nvSpPr>
          <p:cNvPr id="7" name="Shape 5"/>
          <p:cNvSpPr/>
          <p:nvPr/>
        </p:nvSpPr>
        <p:spPr>
          <a:xfrm>
            <a:off x="10929823" y="1801368"/>
            <a:ext cx="457200" cy="457200"/>
          </a:xfrm>
          <a:prstGeom prst="ellipse">
            <a:avLst/>
          </a:prstGeom>
          <a:solidFill>
            <a:srgbClr val="0E7C86"/>
          </a:solidFill>
          <a:ln/>
        </p:spPr>
      </p:sp>
      <p:sp>
        <p:nvSpPr>
          <p:cNvPr id="8" name="Text 6"/>
          <p:cNvSpPr/>
          <p:nvPr/>
        </p:nvSpPr>
        <p:spPr>
          <a:xfrm>
            <a:off x="10929823" y="180136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9219895" y="2377440"/>
            <a:ext cx="2221992" cy="411480"/>
          </a:xfrm>
          <a:prstGeom prst="rect">
            <a:avLst/>
          </a:prstGeom>
          <a:noFill/>
          <a:ln/>
        </p:spPr>
        <p:txBody>
          <a:bodyPr wrap="square" lIns="0" tIns="0" rIns="0" bIns="0" rtlCol="0" anchor="ctr"/>
          <a:lstStyle/>
          <a:p>
            <a:pPr rtl="1" algn="r" indent="0" marL="0">
              <a:buNone/>
            </a:pPr>
            <a:r>
              <a:rPr lang="ar-SA" altLang="en-US" sz="1400" b="1" dirty="0">
                <a:solidFill>
                  <a:srgbClr val="0A3540"/>
                </a:solidFill>
                <a:latin typeface="Arial" pitchFamily="34" charset="0"/>
                <a:ea typeface="Arial" pitchFamily="34" charset="-122"/>
                <a:cs typeface="Arial" pitchFamily="34" charset="-120"/>
              </a:rPr>
              <a:t>سجلّ ‏</a:t>
            </a:r>
            <a:r>
              <a:rPr lang="en-US" altLang="en-US" sz="1400" b="1" dirty="0">
                <a:solidFill>
                  <a:srgbClr val="0A3540"/>
                </a:solidFill>
                <a:latin typeface="Arial" pitchFamily="34" charset="0"/>
                <a:ea typeface="Arial" pitchFamily="34" charset="-122"/>
                <a:cs typeface="Arial" pitchFamily="34" charset="-120"/>
              </a:rPr>
              <a:t>FHIR R5</a:t>
            </a:r>
            <a:endParaRPr lang="ar-SA" sz="1400" dirty="0"/>
          </a:p>
        </p:txBody>
      </p:sp>
      <p:sp>
        <p:nvSpPr>
          <p:cNvPr id="10" name="Text 8"/>
          <p:cNvSpPr/>
          <p:nvPr/>
        </p:nvSpPr>
        <p:spPr>
          <a:xfrm>
            <a:off x="9219895" y="2807208"/>
            <a:ext cx="2221992" cy="777240"/>
          </a:xfrm>
          <a:prstGeom prst="rect">
            <a:avLst/>
          </a:prstGeom>
          <a:noFill/>
          <a:ln/>
        </p:spPr>
        <p:txBody>
          <a:bodyPr wrap="square" lIns="0" tIns="0" rIns="0" bIns="0" rtlCol="0" anchor="t"/>
          <a:lstStyle/>
          <a:p>
            <a:pPr rtl="1" algn="r" indent="0" marL="0">
              <a:lnSpc>
                <a:spcPct val="115000"/>
              </a:lnSpc>
              <a:buNone/>
            </a:pPr>
            <a:r>
              <a:rPr lang="ar-SA" altLang="en-US" sz="1050" dirty="0">
                <a:solidFill>
                  <a:srgbClr val="587078"/>
                </a:solidFill>
                <a:latin typeface="Arial" pitchFamily="34" charset="0"/>
                <a:ea typeface="Arial" pitchFamily="34" charset="-122"/>
                <a:cs typeface="Arial" pitchFamily="34" charset="-120"/>
              </a:rPr>
              <a:t>١٣ نوعاً من موارد ‏</a:t>
            </a:r>
            <a:r>
              <a:rPr lang="en-US" altLang="en-US" sz="1050" dirty="0">
                <a:solidFill>
                  <a:srgbClr val="587078"/>
                </a:solidFill>
                <a:latin typeface="Arial" pitchFamily="34" charset="0"/>
                <a:ea typeface="Arial" pitchFamily="34" charset="-122"/>
                <a:cs typeface="Arial" pitchFamily="34" charset="-120"/>
              </a:rPr>
              <a:t>FHIR</a:t>
            </a:r>
            <a:r>
              <a:rPr lang="ar-SA" altLang="en-US" sz="1050" dirty="0">
                <a:solidFill>
                  <a:srgbClr val="587078"/>
                </a:solidFill>
                <a:latin typeface="Arial" pitchFamily="34" charset="0"/>
                <a:ea typeface="Arial" pitchFamily="34" charset="-122"/>
                <a:cs typeface="Arial" pitchFamily="34" charset="-120"/>
              </a:rPr>
              <a:t>‏ تُخزَّن بصيغة ‏</a:t>
            </a:r>
            <a:r>
              <a:rPr lang="en-US" altLang="en-US" sz="1050" dirty="0">
                <a:solidFill>
                  <a:srgbClr val="587078"/>
                </a:solidFill>
                <a:latin typeface="Arial" pitchFamily="34" charset="0"/>
                <a:ea typeface="Arial" pitchFamily="34" charset="-122"/>
                <a:cs typeface="Arial" pitchFamily="34" charset="-120"/>
              </a:rPr>
              <a:t>JSON</a:t>
            </a:r>
            <a:r>
              <a:rPr lang="ar-SA" altLang="en-US" sz="1050" dirty="0">
                <a:solidFill>
                  <a:srgbClr val="587078"/>
                </a:solidFill>
                <a:latin typeface="Arial" pitchFamily="34" charset="0"/>
                <a:ea typeface="Arial" pitchFamily="34" charset="-122"/>
                <a:cs typeface="Arial" pitchFamily="34" charset="-120"/>
              </a:rPr>
              <a:t>‏ الأصلية.</a:t>
            </a:r>
            <a:endParaRPr lang="ar-SA" sz="1050" dirty="0"/>
          </a:p>
        </p:txBody>
      </p:sp>
      <p:sp>
        <p:nvSpPr>
          <p:cNvPr id="11" name="Shape 9"/>
          <p:cNvSpPr/>
          <p:nvPr/>
        </p:nvSpPr>
        <p:spPr>
          <a:xfrm>
            <a:off x="6202375" y="1600200"/>
            <a:ext cx="2624328" cy="2084832"/>
          </a:xfrm>
          <a:prstGeom prst="roundRect">
            <a:avLst>
              <a:gd name="adj" fmla="val 3509"/>
            </a:avLst>
          </a:prstGeom>
          <a:solidFill>
            <a:srgbClr val="F2F8F8"/>
          </a:solidFill>
          <a:ln w="9525">
            <a:solidFill>
              <a:srgbClr val="D9E7E9"/>
            </a:solidFill>
            <a:prstDash val="solid"/>
          </a:ln>
        </p:spPr>
      </p:sp>
      <p:sp>
        <p:nvSpPr>
          <p:cNvPr id="12" name="Shape 10"/>
          <p:cNvSpPr/>
          <p:nvPr/>
        </p:nvSpPr>
        <p:spPr>
          <a:xfrm>
            <a:off x="8113471" y="1801368"/>
            <a:ext cx="457200" cy="457200"/>
          </a:xfrm>
          <a:prstGeom prst="ellipse">
            <a:avLst/>
          </a:prstGeom>
          <a:solidFill>
            <a:srgbClr val="0E7C86"/>
          </a:solidFill>
          <a:ln/>
        </p:spPr>
      </p:sp>
      <p:sp>
        <p:nvSpPr>
          <p:cNvPr id="13" name="Text 11"/>
          <p:cNvSpPr/>
          <p:nvPr/>
        </p:nvSpPr>
        <p:spPr>
          <a:xfrm>
            <a:off x="8113471" y="180136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6403543" y="2377440"/>
            <a:ext cx="2221992" cy="411480"/>
          </a:xfrm>
          <a:prstGeom prst="rect">
            <a:avLst/>
          </a:prstGeom>
          <a:noFill/>
          <a:ln/>
        </p:spPr>
        <p:txBody>
          <a:bodyPr wrap="square" lIns="0" tIns="0" rIns="0" bIns="0" rtlCol="0" anchor="ctr"/>
          <a:lstStyle/>
          <a:p>
            <a:pPr rtl="1" algn="r" indent="0" marL="0">
              <a:buNone/>
            </a:pPr>
            <a:r>
              <a:rPr lang="ar-SA" altLang="en-US" sz="1400" b="1" dirty="0">
                <a:solidFill>
                  <a:srgbClr val="0A3540"/>
                </a:solidFill>
                <a:latin typeface="Arial" pitchFamily="34" charset="0"/>
                <a:ea typeface="Arial" pitchFamily="34" charset="-122"/>
                <a:cs typeface="Arial" pitchFamily="34" charset="-120"/>
              </a:rPr>
              <a:t>النسخ والتاريخ</a:t>
            </a:r>
            <a:endParaRPr lang="ar-SA" sz="1400" dirty="0"/>
          </a:p>
        </p:txBody>
      </p:sp>
      <p:sp>
        <p:nvSpPr>
          <p:cNvPr id="15" name="Text 13"/>
          <p:cNvSpPr/>
          <p:nvPr/>
        </p:nvSpPr>
        <p:spPr>
          <a:xfrm>
            <a:off x="6403543" y="2807208"/>
            <a:ext cx="2221992" cy="777240"/>
          </a:xfrm>
          <a:prstGeom prst="rect">
            <a:avLst/>
          </a:prstGeom>
          <a:noFill/>
          <a:ln/>
        </p:spPr>
        <p:txBody>
          <a:bodyPr wrap="square" lIns="0" tIns="0" rIns="0" bIns="0" rtlCol="0" anchor="t"/>
          <a:lstStyle/>
          <a:p>
            <a:pPr rtl="1" algn="r" indent="0" marL="0">
              <a:lnSpc>
                <a:spcPct val="115000"/>
              </a:lnSpc>
              <a:buNone/>
            </a:pPr>
            <a:r>
              <a:rPr lang="ar-SA" altLang="en-US" sz="1050" dirty="0">
                <a:solidFill>
                  <a:srgbClr val="587078"/>
                </a:solidFill>
                <a:latin typeface="Arial" pitchFamily="34" charset="0"/>
                <a:ea typeface="Arial" pitchFamily="34" charset="-122"/>
                <a:cs typeface="Arial" pitchFamily="34" charset="-120"/>
              </a:rPr>
              <a:t>حفظ كامل لتاريخ النسخ مع حذفٍ ناعم يضمن المساءلة.</a:t>
            </a:r>
            <a:endParaRPr lang="ar-SA" sz="1050" dirty="0"/>
          </a:p>
        </p:txBody>
      </p:sp>
      <p:sp>
        <p:nvSpPr>
          <p:cNvPr id="16" name="Shape 14"/>
          <p:cNvSpPr/>
          <p:nvPr/>
        </p:nvSpPr>
        <p:spPr>
          <a:xfrm>
            <a:off x="3386023" y="1600200"/>
            <a:ext cx="2624328" cy="2084832"/>
          </a:xfrm>
          <a:prstGeom prst="roundRect">
            <a:avLst>
              <a:gd name="adj" fmla="val 3509"/>
            </a:avLst>
          </a:prstGeom>
          <a:solidFill>
            <a:srgbClr val="F2F8F8"/>
          </a:solidFill>
          <a:ln w="9525">
            <a:solidFill>
              <a:srgbClr val="D9E7E9"/>
            </a:solidFill>
            <a:prstDash val="solid"/>
          </a:ln>
        </p:spPr>
      </p:sp>
      <p:sp>
        <p:nvSpPr>
          <p:cNvPr id="17" name="Shape 15"/>
          <p:cNvSpPr/>
          <p:nvPr/>
        </p:nvSpPr>
        <p:spPr>
          <a:xfrm>
            <a:off x="5297119" y="1801368"/>
            <a:ext cx="457200" cy="457200"/>
          </a:xfrm>
          <a:prstGeom prst="ellipse">
            <a:avLst/>
          </a:prstGeom>
          <a:solidFill>
            <a:srgbClr val="0E7C86"/>
          </a:solidFill>
          <a:ln/>
        </p:spPr>
      </p:sp>
      <p:sp>
        <p:nvSpPr>
          <p:cNvPr id="18" name="Text 16"/>
          <p:cNvSpPr/>
          <p:nvPr/>
        </p:nvSpPr>
        <p:spPr>
          <a:xfrm>
            <a:off x="5297119" y="180136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9" name="Text 17"/>
          <p:cNvSpPr/>
          <p:nvPr/>
        </p:nvSpPr>
        <p:spPr>
          <a:xfrm>
            <a:off x="3587191" y="2377440"/>
            <a:ext cx="2221992" cy="411480"/>
          </a:xfrm>
          <a:prstGeom prst="rect">
            <a:avLst/>
          </a:prstGeom>
          <a:noFill/>
          <a:ln/>
        </p:spPr>
        <p:txBody>
          <a:bodyPr wrap="square" lIns="0" tIns="0" rIns="0" bIns="0" rtlCol="0" anchor="ctr"/>
          <a:lstStyle/>
          <a:p>
            <a:pPr rtl="1" algn="r" indent="0" marL="0">
              <a:buNone/>
            </a:pPr>
            <a:r>
              <a:rPr lang="ar-SA" altLang="en-US" sz="1400" b="1" dirty="0">
                <a:solidFill>
                  <a:srgbClr val="0A3540"/>
                </a:solidFill>
                <a:latin typeface="Arial" pitchFamily="34" charset="0"/>
                <a:ea typeface="Arial" pitchFamily="34" charset="-122"/>
                <a:cs typeface="Arial" pitchFamily="34" charset="-120"/>
              </a:rPr>
              <a:t>البحث والتحقّق</a:t>
            </a:r>
            <a:endParaRPr lang="ar-SA" sz="1400" dirty="0"/>
          </a:p>
        </p:txBody>
      </p:sp>
      <p:sp>
        <p:nvSpPr>
          <p:cNvPr id="20" name="Text 18"/>
          <p:cNvSpPr/>
          <p:nvPr/>
        </p:nvSpPr>
        <p:spPr>
          <a:xfrm>
            <a:off x="3587191" y="2807208"/>
            <a:ext cx="2221992" cy="777240"/>
          </a:xfrm>
          <a:prstGeom prst="rect">
            <a:avLst/>
          </a:prstGeom>
          <a:noFill/>
          <a:ln/>
        </p:spPr>
        <p:txBody>
          <a:bodyPr wrap="square" lIns="0" tIns="0" rIns="0" bIns="0" rtlCol="0" anchor="t"/>
          <a:lstStyle/>
          <a:p>
            <a:pPr rtl="1" algn="r" indent="0" marL="0">
              <a:lnSpc>
                <a:spcPct val="115000"/>
              </a:lnSpc>
              <a:buNone/>
            </a:pPr>
            <a:r>
              <a:rPr lang="ar-SA" altLang="en-US" sz="1050" dirty="0">
                <a:solidFill>
                  <a:srgbClr val="587078"/>
                </a:solidFill>
                <a:latin typeface="Arial" pitchFamily="34" charset="0"/>
                <a:ea typeface="Arial" pitchFamily="34" charset="-122"/>
                <a:cs typeface="Arial" pitchFamily="34" charset="-120"/>
              </a:rPr>
              <a:t>بحث ببارامترات قياسية وتحقّق من الموارد وفق المواصفة.</a:t>
            </a:r>
            <a:endParaRPr lang="ar-SA" sz="1050" dirty="0"/>
          </a:p>
        </p:txBody>
      </p:sp>
      <p:sp>
        <p:nvSpPr>
          <p:cNvPr id="21" name="Shape 19"/>
          <p:cNvSpPr/>
          <p:nvPr/>
        </p:nvSpPr>
        <p:spPr>
          <a:xfrm>
            <a:off x="569671" y="1600200"/>
            <a:ext cx="2624328" cy="2084832"/>
          </a:xfrm>
          <a:prstGeom prst="roundRect">
            <a:avLst>
              <a:gd name="adj" fmla="val 3509"/>
            </a:avLst>
          </a:prstGeom>
          <a:solidFill>
            <a:srgbClr val="F2F8F8"/>
          </a:solidFill>
          <a:ln w="9525">
            <a:solidFill>
              <a:srgbClr val="D9E7E9"/>
            </a:solidFill>
            <a:prstDash val="solid"/>
          </a:ln>
        </p:spPr>
      </p:sp>
      <p:sp>
        <p:nvSpPr>
          <p:cNvPr id="22" name="Shape 20"/>
          <p:cNvSpPr/>
          <p:nvPr/>
        </p:nvSpPr>
        <p:spPr>
          <a:xfrm>
            <a:off x="2480767" y="1801368"/>
            <a:ext cx="457200" cy="457200"/>
          </a:xfrm>
          <a:prstGeom prst="ellipse">
            <a:avLst/>
          </a:prstGeom>
          <a:solidFill>
            <a:srgbClr val="0E7C86"/>
          </a:solidFill>
          <a:ln/>
        </p:spPr>
      </p:sp>
      <p:sp>
        <p:nvSpPr>
          <p:cNvPr id="23" name="Text 21"/>
          <p:cNvSpPr/>
          <p:nvPr/>
        </p:nvSpPr>
        <p:spPr>
          <a:xfrm>
            <a:off x="2480767" y="180136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4" name="Text 22"/>
          <p:cNvSpPr/>
          <p:nvPr/>
        </p:nvSpPr>
        <p:spPr>
          <a:xfrm>
            <a:off x="770839" y="2377440"/>
            <a:ext cx="2221992" cy="411480"/>
          </a:xfrm>
          <a:prstGeom prst="rect">
            <a:avLst/>
          </a:prstGeom>
          <a:noFill/>
          <a:ln/>
        </p:spPr>
        <p:txBody>
          <a:bodyPr wrap="square" lIns="0" tIns="0" rIns="0" bIns="0" rtlCol="0" anchor="ctr"/>
          <a:lstStyle/>
          <a:p>
            <a:pPr rtl="1" algn="r" indent="0" marL="0">
              <a:buNone/>
            </a:pPr>
            <a:r>
              <a:rPr lang="ar-SA" altLang="en-US" sz="1400" b="1" dirty="0">
                <a:solidFill>
                  <a:srgbClr val="0A3540"/>
                </a:solidFill>
                <a:latin typeface="Arial" pitchFamily="34" charset="0"/>
                <a:ea typeface="Arial" pitchFamily="34" charset="-122"/>
                <a:cs typeface="Arial" pitchFamily="34" charset="-120"/>
              </a:rPr>
              <a:t>المصادقة والتفويض</a:t>
            </a:r>
            <a:endParaRPr lang="ar-SA" sz="1400" dirty="0"/>
          </a:p>
        </p:txBody>
      </p:sp>
      <p:sp>
        <p:nvSpPr>
          <p:cNvPr id="25" name="Text 23"/>
          <p:cNvSpPr/>
          <p:nvPr/>
        </p:nvSpPr>
        <p:spPr>
          <a:xfrm>
            <a:off x="770839" y="2807208"/>
            <a:ext cx="2221992" cy="777240"/>
          </a:xfrm>
          <a:prstGeom prst="rect">
            <a:avLst/>
          </a:prstGeom>
          <a:noFill/>
          <a:ln/>
        </p:spPr>
        <p:txBody>
          <a:bodyPr wrap="square" lIns="0" tIns="0" rIns="0" bIns="0" rtlCol="0" anchor="t"/>
          <a:lstStyle/>
          <a:p>
            <a:pPr rtl="1" algn="r" indent="0" marL="0">
              <a:lnSpc>
                <a:spcPct val="115000"/>
              </a:lnSpc>
              <a:buNone/>
            </a:pPr>
            <a:r>
              <a:rPr lang="en-US" altLang="en-US" sz="1050" dirty="0">
                <a:solidFill>
                  <a:srgbClr val="587078"/>
                </a:solidFill>
                <a:latin typeface="Arial" pitchFamily="34" charset="0"/>
                <a:ea typeface="Arial" pitchFamily="34" charset="-122"/>
                <a:cs typeface="Arial" pitchFamily="34" charset="-120"/>
              </a:rPr>
              <a:t>Keycloak</a:t>
            </a:r>
            <a:r>
              <a:rPr lang="ar-SA" altLang="en-US" sz="1050" dirty="0">
                <a:solidFill>
                  <a:srgbClr val="587078"/>
                </a:solidFill>
                <a:latin typeface="Arial" pitchFamily="34" charset="0"/>
                <a:ea typeface="Arial" pitchFamily="34" charset="-122"/>
                <a:cs typeface="Arial" pitchFamily="34" charset="-120"/>
              </a:rPr>
              <a:t>‏ ورموز ‏</a:t>
            </a:r>
            <a:r>
              <a:rPr lang="en-US" altLang="en-US" sz="1050" dirty="0">
                <a:solidFill>
                  <a:srgbClr val="587078"/>
                </a:solidFill>
                <a:latin typeface="Arial" pitchFamily="34" charset="0"/>
                <a:ea typeface="Arial" pitchFamily="34" charset="-122"/>
                <a:cs typeface="Arial" pitchFamily="34" charset="-120"/>
              </a:rPr>
              <a:t>JWT</a:t>
            </a:r>
            <a:r>
              <a:rPr lang="ar-SA" altLang="en-US" sz="1050" dirty="0">
                <a:solidFill>
                  <a:srgbClr val="587078"/>
                </a:solidFill>
                <a:latin typeface="Arial" pitchFamily="34" charset="0"/>
                <a:ea typeface="Arial" pitchFamily="34" charset="-122"/>
                <a:cs typeface="Arial" pitchFamily="34" charset="-120"/>
              </a:rPr>
              <a:t>‏ وأدوار ونطاقات ‏</a:t>
            </a:r>
            <a:r>
              <a:rPr lang="en-US" altLang="en-US" sz="1050" dirty="0">
                <a:solidFill>
                  <a:srgbClr val="587078"/>
                </a:solidFill>
                <a:latin typeface="Arial" pitchFamily="34" charset="0"/>
                <a:ea typeface="Arial" pitchFamily="34" charset="-122"/>
                <a:cs typeface="Arial" pitchFamily="34" charset="-120"/>
              </a:rPr>
              <a:t>SMART</a:t>
            </a:r>
            <a:r>
              <a:rPr lang="ar-SA" altLang="en-US" sz="1050" dirty="0">
                <a:solidFill>
                  <a:srgbClr val="587078"/>
                </a:solidFill>
                <a:latin typeface="Arial" pitchFamily="34" charset="0"/>
                <a:ea typeface="Arial" pitchFamily="34" charset="-122"/>
                <a:cs typeface="Arial" pitchFamily="34" charset="-120"/>
              </a:rPr>
              <a:t>‏.</a:t>
            </a:r>
            <a:endParaRPr lang="ar-SA" sz="1050" dirty="0"/>
          </a:p>
        </p:txBody>
      </p:sp>
      <p:sp>
        <p:nvSpPr>
          <p:cNvPr id="26" name="Shape 24"/>
          <p:cNvSpPr/>
          <p:nvPr/>
        </p:nvSpPr>
        <p:spPr>
          <a:xfrm>
            <a:off x="9018727" y="3941064"/>
            <a:ext cx="2624328" cy="2084832"/>
          </a:xfrm>
          <a:prstGeom prst="roundRect">
            <a:avLst>
              <a:gd name="adj" fmla="val 3509"/>
            </a:avLst>
          </a:prstGeom>
          <a:solidFill>
            <a:srgbClr val="F2F8F8"/>
          </a:solidFill>
          <a:ln w="9525">
            <a:solidFill>
              <a:srgbClr val="D9E7E9"/>
            </a:solidFill>
            <a:prstDash val="solid"/>
          </a:ln>
        </p:spPr>
      </p:sp>
      <p:sp>
        <p:nvSpPr>
          <p:cNvPr id="27" name="Shape 25"/>
          <p:cNvSpPr/>
          <p:nvPr/>
        </p:nvSpPr>
        <p:spPr>
          <a:xfrm>
            <a:off x="10929823" y="4142232"/>
            <a:ext cx="457200" cy="457200"/>
          </a:xfrm>
          <a:prstGeom prst="ellipse">
            <a:avLst/>
          </a:prstGeom>
          <a:solidFill>
            <a:srgbClr val="02C39A"/>
          </a:solidFill>
          <a:ln/>
        </p:spPr>
      </p:sp>
      <p:sp>
        <p:nvSpPr>
          <p:cNvPr id="28" name="Text 26"/>
          <p:cNvSpPr/>
          <p:nvPr/>
        </p:nvSpPr>
        <p:spPr>
          <a:xfrm>
            <a:off x="10929823" y="41422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9" name="Text 27"/>
          <p:cNvSpPr/>
          <p:nvPr/>
        </p:nvSpPr>
        <p:spPr>
          <a:xfrm>
            <a:off x="9219895" y="4718304"/>
            <a:ext cx="2221992" cy="411480"/>
          </a:xfrm>
          <a:prstGeom prst="rect">
            <a:avLst/>
          </a:prstGeom>
          <a:noFill/>
          <a:ln/>
        </p:spPr>
        <p:txBody>
          <a:bodyPr wrap="square" lIns="0" tIns="0" rIns="0" bIns="0" rtlCol="0" anchor="ctr"/>
          <a:lstStyle/>
          <a:p>
            <a:pPr rtl="1" algn="r" indent="0" marL="0">
              <a:buNone/>
            </a:pPr>
            <a:r>
              <a:rPr lang="ar-SA" altLang="en-US" sz="1400" b="1" dirty="0">
                <a:solidFill>
                  <a:srgbClr val="0A3540"/>
                </a:solidFill>
                <a:latin typeface="Arial" pitchFamily="34" charset="0"/>
                <a:ea typeface="Arial" pitchFamily="34" charset="-122"/>
                <a:cs typeface="Arial" pitchFamily="34" charset="-120"/>
              </a:rPr>
              <a:t>دعم القرار السريري</a:t>
            </a:r>
            <a:endParaRPr lang="ar-SA" sz="1400" dirty="0"/>
          </a:p>
        </p:txBody>
      </p:sp>
      <p:sp>
        <p:nvSpPr>
          <p:cNvPr id="30" name="Text 28"/>
          <p:cNvSpPr/>
          <p:nvPr/>
        </p:nvSpPr>
        <p:spPr>
          <a:xfrm>
            <a:off x="9219895" y="5148072"/>
            <a:ext cx="2221992" cy="777240"/>
          </a:xfrm>
          <a:prstGeom prst="rect">
            <a:avLst/>
          </a:prstGeom>
          <a:noFill/>
          <a:ln/>
        </p:spPr>
        <p:txBody>
          <a:bodyPr wrap="square" lIns="0" tIns="0" rIns="0" bIns="0" rtlCol="0" anchor="t"/>
          <a:lstStyle/>
          <a:p>
            <a:pPr rtl="1" algn="r" indent="0" marL="0">
              <a:lnSpc>
                <a:spcPct val="115000"/>
              </a:lnSpc>
              <a:buNone/>
            </a:pPr>
            <a:r>
              <a:rPr lang="en-US" altLang="en-US" sz="1050" dirty="0">
                <a:solidFill>
                  <a:srgbClr val="587078"/>
                </a:solidFill>
                <a:latin typeface="Arial" pitchFamily="34" charset="0"/>
                <a:ea typeface="Arial" pitchFamily="34" charset="-122"/>
                <a:cs typeface="Arial" pitchFamily="34" charset="-120"/>
              </a:rPr>
              <a:t>CDS Hooks</a:t>
            </a:r>
            <a:r>
              <a:rPr lang="ar-SA" altLang="en-US" sz="1050" dirty="0">
                <a:solidFill>
                  <a:srgbClr val="587078"/>
                </a:solidFill>
                <a:latin typeface="Arial" pitchFamily="34" charset="0"/>
                <a:ea typeface="Arial" pitchFamily="34" charset="-122"/>
                <a:cs typeface="Arial" pitchFamily="34" charset="-120"/>
              </a:rPr>
              <a:t>‏ ومحرّك قواعد وورشة تأليفٍ ونشر.</a:t>
            </a:r>
            <a:endParaRPr lang="ar-SA" sz="1050" dirty="0"/>
          </a:p>
        </p:txBody>
      </p:sp>
      <p:sp>
        <p:nvSpPr>
          <p:cNvPr id="31" name="Shape 29"/>
          <p:cNvSpPr/>
          <p:nvPr/>
        </p:nvSpPr>
        <p:spPr>
          <a:xfrm>
            <a:off x="6202375" y="3941064"/>
            <a:ext cx="2624328" cy="2084832"/>
          </a:xfrm>
          <a:prstGeom prst="roundRect">
            <a:avLst>
              <a:gd name="adj" fmla="val 3509"/>
            </a:avLst>
          </a:prstGeom>
          <a:solidFill>
            <a:srgbClr val="F2F8F8"/>
          </a:solidFill>
          <a:ln w="9525">
            <a:solidFill>
              <a:srgbClr val="D9E7E9"/>
            </a:solidFill>
            <a:prstDash val="solid"/>
          </a:ln>
        </p:spPr>
      </p:sp>
      <p:sp>
        <p:nvSpPr>
          <p:cNvPr id="32" name="Shape 30"/>
          <p:cNvSpPr/>
          <p:nvPr/>
        </p:nvSpPr>
        <p:spPr>
          <a:xfrm>
            <a:off x="8113471" y="4142232"/>
            <a:ext cx="457200" cy="457200"/>
          </a:xfrm>
          <a:prstGeom prst="ellipse">
            <a:avLst/>
          </a:prstGeom>
          <a:solidFill>
            <a:srgbClr val="02C39A"/>
          </a:solidFill>
          <a:ln/>
        </p:spPr>
      </p:sp>
      <p:sp>
        <p:nvSpPr>
          <p:cNvPr id="33" name="Text 31"/>
          <p:cNvSpPr/>
          <p:nvPr/>
        </p:nvSpPr>
        <p:spPr>
          <a:xfrm>
            <a:off x="8113471" y="41422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34" name="Text 32"/>
          <p:cNvSpPr/>
          <p:nvPr/>
        </p:nvSpPr>
        <p:spPr>
          <a:xfrm>
            <a:off x="6403543" y="4718304"/>
            <a:ext cx="2221992" cy="411480"/>
          </a:xfrm>
          <a:prstGeom prst="rect">
            <a:avLst/>
          </a:prstGeom>
          <a:noFill/>
          <a:ln/>
        </p:spPr>
        <p:txBody>
          <a:bodyPr wrap="square" lIns="0" tIns="0" rIns="0" bIns="0" rtlCol="0" anchor="ctr"/>
          <a:lstStyle/>
          <a:p>
            <a:pPr rtl="1" algn="r" indent="0" marL="0">
              <a:buNone/>
            </a:pPr>
            <a:r>
              <a:rPr lang="ar-SA" altLang="en-US" sz="1400" b="1" dirty="0">
                <a:solidFill>
                  <a:srgbClr val="0A3540"/>
                </a:solidFill>
                <a:latin typeface="Arial" pitchFamily="34" charset="0"/>
                <a:ea typeface="Arial" pitchFamily="34" charset="-122"/>
                <a:cs typeface="Arial" pitchFamily="34" charset="-120"/>
              </a:rPr>
              <a:t>نماذج المخاطر</a:t>
            </a:r>
            <a:endParaRPr lang="ar-SA" sz="1400" dirty="0"/>
          </a:p>
        </p:txBody>
      </p:sp>
      <p:sp>
        <p:nvSpPr>
          <p:cNvPr id="35" name="Text 33"/>
          <p:cNvSpPr/>
          <p:nvPr/>
        </p:nvSpPr>
        <p:spPr>
          <a:xfrm>
            <a:off x="6403543" y="5148072"/>
            <a:ext cx="2221992" cy="777240"/>
          </a:xfrm>
          <a:prstGeom prst="rect">
            <a:avLst/>
          </a:prstGeom>
          <a:noFill/>
          <a:ln/>
        </p:spPr>
        <p:txBody>
          <a:bodyPr wrap="square" lIns="0" tIns="0" rIns="0" bIns="0" rtlCol="0" anchor="t"/>
          <a:lstStyle/>
          <a:p>
            <a:pPr rtl="1" algn="r" indent="0" marL="0">
              <a:lnSpc>
                <a:spcPct val="115000"/>
              </a:lnSpc>
              <a:buNone/>
            </a:pPr>
            <a:r>
              <a:rPr lang="ar-SA" altLang="en-US" sz="1050" dirty="0">
                <a:solidFill>
                  <a:srgbClr val="587078"/>
                </a:solidFill>
                <a:latin typeface="Arial" pitchFamily="34" charset="0"/>
                <a:ea typeface="Arial" pitchFamily="34" charset="-122"/>
                <a:cs typeface="Arial" pitchFamily="34" charset="-120"/>
              </a:rPr>
              <a:t>السكري والقلب وإعادة الدخول — من بيانات ‏</a:t>
            </a:r>
            <a:r>
              <a:rPr lang="en-US" altLang="en-US" sz="1050" dirty="0">
                <a:solidFill>
                  <a:srgbClr val="587078"/>
                </a:solidFill>
                <a:latin typeface="Arial" pitchFamily="34" charset="0"/>
                <a:ea typeface="Arial" pitchFamily="34" charset="-122"/>
                <a:cs typeface="Arial" pitchFamily="34" charset="-120"/>
              </a:rPr>
              <a:t>FHIR</a:t>
            </a:r>
            <a:r>
              <a:rPr lang="ar-SA" altLang="en-US" sz="1050" dirty="0">
                <a:solidFill>
                  <a:srgbClr val="587078"/>
                </a:solidFill>
                <a:latin typeface="Arial" pitchFamily="34" charset="0"/>
                <a:ea typeface="Arial" pitchFamily="34" charset="-122"/>
                <a:cs typeface="Arial" pitchFamily="34" charset="-120"/>
              </a:rPr>
              <a:t>‏ الفعلية.</a:t>
            </a:r>
            <a:endParaRPr lang="ar-SA" sz="1050" dirty="0"/>
          </a:p>
        </p:txBody>
      </p:sp>
      <p:sp>
        <p:nvSpPr>
          <p:cNvPr id="36" name="Shape 34"/>
          <p:cNvSpPr/>
          <p:nvPr/>
        </p:nvSpPr>
        <p:spPr>
          <a:xfrm>
            <a:off x="3386023" y="3941064"/>
            <a:ext cx="2624328" cy="2084832"/>
          </a:xfrm>
          <a:prstGeom prst="roundRect">
            <a:avLst>
              <a:gd name="adj" fmla="val 3509"/>
            </a:avLst>
          </a:prstGeom>
          <a:solidFill>
            <a:srgbClr val="F2F8F8"/>
          </a:solidFill>
          <a:ln w="9525">
            <a:solidFill>
              <a:srgbClr val="D9E7E9"/>
            </a:solidFill>
            <a:prstDash val="solid"/>
          </a:ln>
        </p:spPr>
      </p:sp>
      <p:sp>
        <p:nvSpPr>
          <p:cNvPr id="37" name="Shape 35"/>
          <p:cNvSpPr/>
          <p:nvPr/>
        </p:nvSpPr>
        <p:spPr>
          <a:xfrm>
            <a:off x="5297119" y="4142232"/>
            <a:ext cx="457200" cy="457200"/>
          </a:xfrm>
          <a:prstGeom prst="ellipse">
            <a:avLst/>
          </a:prstGeom>
          <a:solidFill>
            <a:srgbClr val="02C39A"/>
          </a:solidFill>
          <a:ln/>
        </p:spPr>
      </p:sp>
      <p:sp>
        <p:nvSpPr>
          <p:cNvPr id="38" name="Text 36"/>
          <p:cNvSpPr/>
          <p:nvPr/>
        </p:nvSpPr>
        <p:spPr>
          <a:xfrm>
            <a:off x="5297119" y="41422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39" name="Text 37"/>
          <p:cNvSpPr/>
          <p:nvPr/>
        </p:nvSpPr>
        <p:spPr>
          <a:xfrm>
            <a:off x="3587191" y="4718304"/>
            <a:ext cx="2221992" cy="411480"/>
          </a:xfrm>
          <a:prstGeom prst="rect">
            <a:avLst/>
          </a:prstGeom>
          <a:noFill/>
          <a:ln/>
        </p:spPr>
        <p:txBody>
          <a:bodyPr wrap="square" lIns="0" tIns="0" rIns="0" bIns="0" rtlCol="0" anchor="ctr"/>
          <a:lstStyle/>
          <a:p>
            <a:pPr rtl="1" algn="r" indent="0" marL="0">
              <a:buNone/>
            </a:pPr>
            <a:r>
              <a:rPr lang="ar-SA" altLang="en-US" sz="1400" b="1" dirty="0">
                <a:solidFill>
                  <a:srgbClr val="0A3540"/>
                </a:solidFill>
                <a:latin typeface="Arial" pitchFamily="34" charset="0"/>
                <a:ea typeface="Arial" pitchFamily="34" charset="-122"/>
                <a:cs typeface="Arial" pitchFamily="34" charset="-120"/>
              </a:rPr>
              <a:t>بوابة المريض</a:t>
            </a:r>
            <a:endParaRPr lang="ar-SA" sz="1400" dirty="0"/>
          </a:p>
        </p:txBody>
      </p:sp>
      <p:sp>
        <p:nvSpPr>
          <p:cNvPr id="40" name="Text 38"/>
          <p:cNvSpPr/>
          <p:nvPr/>
        </p:nvSpPr>
        <p:spPr>
          <a:xfrm>
            <a:off x="3587191" y="5148072"/>
            <a:ext cx="2221992" cy="777240"/>
          </a:xfrm>
          <a:prstGeom prst="rect">
            <a:avLst/>
          </a:prstGeom>
          <a:noFill/>
          <a:ln/>
        </p:spPr>
        <p:txBody>
          <a:bodyPr wrap="square" lIns="0" tIns="0" rIns="0" bIns="0" rtlCol="0" anchor="t"/>
          <a:lstStyle/>
          <a:p>
            <a:pPr rtl="1" algn="r" indent="0" marL="0">
              <a:lnSpc>
                <a:spcPct val="115000"/>
              </a:lnSpc>
              <a:buNone/>
            </a:pPr>
            <a:r>
              <a:rPr lang="ar-SA" altLang="en-US" sz="1050" dirty="0">
                <a:solidFill>
                  <a:srgbClr val="587078"/>
                </a:solidFill>
                <a:latin typeface="Arial" pitchFamily="34" charset="0"/>
                <a:ea typeface="Arial" pitchFamily="34" charset="-122"/>
                <a:cs typeface="Arial" pitchFamily="34" charset="-120"/>
              </a:rPr>
              <a:t>اطّلاعٌ آمن على السجل والمواعيد والملف الشخصي.</a:t>
            </a:r>
            <a:endParaRPr lang="ar-SA" sz="1050" dirty="0"/>
          </a:p>
        </p:txBody>
      </p:sp>
      <p:sp>
        <p:nvSpPr>
          <p:cNvPr id="41" name="Shape 39"/>
          <p:cNvSpPr/>
          <p:nvPr/>
        </p:nvSpPr>
        <p:spPr>
          <a:xfrm>
            <a:off x="569671" y="3941064"/>
            <a:ext cx="2624328" cy="2084832"/>
          </a:xfrm>
          <a:prstGeom prst="roundRect">
            <a:avLst>
              <a:gd name="adj" fmla="val 3509"/>
            </a:avLst>
          </a:prstGeom>
          <a:solidFill>
            <a:srgbClr val="F2F8F8"/>
          </a:solidFill>
          <a:ln w="9525">
            <a:solidFill>
              <a:srgbClr val="D9E7E9"/>
            </a:solidFill>
            <a:prstDash val="solid"/>
          </a:ln>
        </p:spPr>
      </p:sp>
      <p:sp>
        <p:nvSpPr>
          <p:cNvPr id="42" name="Shape 40"/>
          <p:cNvSpPr/>
          <p:nvPr/>
        </p:nvSpPr>
        <p:spPr>
          <a:xfrm>
            <a:off x="2480767" y="4142232"/>
            <a:ext cx="457200" cy="457200"/>
          </a:xfrm>
          <a:prstGeom prst="ellipse">
            <a:avLst/>
          </a:prstGeom>
          <a:solidFill>
            <a:srgbClr val="02C39A"/>
          </a:solidFill>
          <a:ln/>
        </p:spPr>
      </p:sp>
      <p:sp>
        <p:nvSpPr>
          <p:cNvPr id="43" name="Text 41"/>
          <p:cNvSpPr/>
          <p:nvPr/>
        </p:nvSpPr>
        <p:spPr>
          <a:xfrm>
            <a:off x="2480767" y="41422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44" name="Text 42"/>
          <p:cNvSpPr/>
          <p:nvPr/>
        </p:nvSpPr>
        <p:spPr>
          <a:xfrm>
            <a:off x="770839" y="4718304"/>
            <a:ext cx="2221992" cy="411480"/>
          </a:xfrm>
          <a:prstGeom prst="rect">
            <a:avLst/>
          </a:prstGeom>
          <a:noFill/>
          <a:ln/>
        </p:spPr>
        <p:txBody>
          <a:bodyPr wrap="square" lIns="0" tIns="0" rIns="0" bIns="0" rtlCol="0" anchor="ctr"/>
          <a:lstStyle/>
          <a:p>
            <a:pPr rtl="1" algn="r" indent="0" marL="0">
              <a:buNone/>
            </a:pPr>
            <a:r>
              <a:rPr lang="ar-SA" altLang="en-US" sz="1400" b="1" dirty="0">
                <a:solidFill>
                  <a:srgbClr val="0A3540"/>
                </a:solidFill>
                <a:latin typeface="Arial" pitchFamily="34" charset="0"/>
                <a:ea typeface="Arial" pitchFamily="34" charset="-122"/>
                <a:cs typeface="Arial" pitchFamily="34" charset="-120"/>
              </a:rPr>
              <a:t>واجهة ثنائية اللغة</a:t>
            </a:r>
            <a:endParaRPr lang="ar-SA" sz="1400" dirty="0"/>
          </a:p>
        </p:txBody>
      </p:sp>
      <p:sp>
        <p:nvSpPr>
          <p:cNvPr id="45" name="Text 43"/>
          <p:cNvSpPr/>
          <p:nvPr/>
        </p:nvSpPr>
        <p:spPr>
          <a:xfrm>
            <a:off x="770839" y="5148072"/>
            <a:ext cx="2221992" cy="777240"/>
          </a:xfrm>
          <a:prstGeom prst="rect">
            <a:avLst/>
          </a:prstGeom>
          <a:noFill/>
          <a:ln/>
        </p:spPr>
        <p:txBody>
          <a:bodyPr wrap="square" lIns="0" tIns="0" rIns="0" bIns="0" rtlCol="0" anchor="t"/>
          <a:lstStyle/>
          <a:p>
            <a:pPr rtl="1" algn="r" indent="0" marL="0">
              <a:lnSpc>
                <a:spcPct val="115000"/>
              </a:lnSpc>
              <a:buNone/>
            </a:pPr>
            <a:r>
              <a:rPr lang="ar-SA" altLang="en-US" sz="1050" dirty="0">
                <a:solidFill>
                  <a:srgbClr val="587078"/>
                </a:solidFill>
                <a:latin typeface="Arial" pitchFamily="34" charset="0"/>
                <a:ea typeface="Arial" pitchFamily="34" charset="-122"/>
                <a:cs typeface="Arial" pitchFamily="34" charset="-120"/>
              </a:rPr>
              <a:t>عربي / إنجليزي بتبديلٍ فوري ودعم كامل لاتجاه ‏</a:t>
            </a:r>
            <a:r>
              <a:rPr lang="en-US" altLang="en-US" sz="1050" dirty="0">
                <a:solidFill>
                  <a:srgbClr val="587078"/>
                </a:solidFill>
                <a:latin typeface="Arial" pitchFamily="34" charset="0"/>
                <a:ea typeface="Arial" pitchFamily="34" charset="-122"/>
                <a:cs typeface="Arial" pitchFamily="34" charset="-120"/>
              </a:rPr>
              <a:t>RTL</a:t>
            </a:r>
            <a:r>
              <a:rPr lang="ar-SA" altLang="en-US" sz="1050" dirty="0">
                <a:solidFill>
                  <a:srgbClr val="587078"/>
                </a:solidFill>
                <a:latin typeface="Arial" pitchFamily="34" charset="0"/>
                <a:ea typeface="Arial" pitchFamily="34" charset="-122"/>
                <a:cs typeface="Arial" pitchFamily="34" charset="-120"/>
              </a:rPr>
              <a:t>‏.</a:t>
            </a:r>
            <a:endParaRPr lang="ar-SA"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نبض — نظام السجلات الطبية الرقمية</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7</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التقنيات المستخدمة</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حزمة تقنية حديثة ومفتوحة وقابلة للتوسّع</a:t>
            </a:r>
            <a:endParaRPr lang="ar-SA" sz="1400" dirty="0"/>
          </a:p>
        </p:txBody>
      </p:sp>
      <p:sp>
        <p:nvSpPr>
          <p:cNvPr id="6" name="Shape 4"/>
          <p:cNvSpPr/>
          <p:nvPr/>
        </p:nvSpPr>
        <p:spPr>
          <a:xfrm>
            <a:off x="9018727" y="1645920"/>
            <a:ext cx="2624328" cy="4480560"/>
          </a:xfrm>
          <a:prstGeom prst="roundRect">
            <a:avLst>
              <a:gd name="adj" fmla="val 2787"/>
            </a:avLst>
          </a:prstGeom>
          <a:solidFill>
            <a:srgbClr val="F2F8F8"/>
          </a:solidFill>
          <a:ln w="9525">
            <a:solidFill>
              <a:srgbClr val="D9E7E9"/>
            </a:solidFill>
            <a:prstDash val="solid"/>
          </a:ln>
        </p:spPr>
      </p:sp>
      <p:sp>
        <p:nvSpPr>
          <p:cNvPr id="7" name="Shape 5"/>
          <p:cNvSpPr/>
          <p:nvPr/>
        </p:nvSpPr>
        <p:spPr>
          <a:xfrm>
            <a:off x="9247327" y="1920240"/>
            <a:ext cx="2167128" cy="502920"/>
          </a:xfrm>
          <a:prstGeom prst="roundRect">
            <a:avLst>
              <a:gd name="adj" fmla="val 16364"/>
            </a:avLst>
          </a:prstGeom>
          <a:solidFill>
            <a:srgbClr val="0E7C86"/>
          </a:solidFill>
          <a:ln/>
        </p:spPr>
      </p:sp>
      <p:sp>
        <p:nvSpPr>
          <p:cNvPr id="8" name="Text 6"/>
          <p:cNvSpPr/>
          <p:nvPr/>
        </p:nvSpPr>
        <p:spPr>
          <a:xfrm>
            <a:off x="9247327" y="1920240"/>
            <a:ext cx="2167128" cy="502920"/>
          </a:xfrm>
          <a:prstGeom prst="rect">
            <a:avLst/>
          </a:prstGeom>
          <a:noFill/>
          <a:ln/>
        </p:spPr>
        <p:txBody>
          <a:bodyPr wrap="square" lIns="0" tIns="0" rIns="0" bIns="0" rtlCol="0" anchor="ctr"/>
          <a:lstStyle/>
          <a:p>
            <a:pPr rtl="1" algn="ctr" indent="0" marL="0">
              <a:buNone/>
            </a:pPr>
            <a:r>
              <a:rPr lang="ar-SA" altLang="en-US" sz="1450" b="1" dirty="0">
                <a:solidFill>
                  <a:srgbClr val="FFFFFF"/>
                </a:solidFill>
                <a:latin typeface="Arial" pitchFamily="34" charset="0"/>
                <a:ea typeface="Arial" pitchFamily="34" charset="-122"/>
                <a:cs typeface="Arial" pitchFamily="34" charset="-120"/>
              </a:rPr>
              <a:t>الواجهة الخلفية</a:t>
            </a:r>
            <a:endParaRPr lang="ar-SA" sz="1450" dirty="0"/>
          </a:p>
        </p:txBody>
      </p:sp>
      <p:sp>
        <p:nvSpPr>
          <p:cNvPr id="9" name="Text 7"/>
          <p:cNvSpPr/>
          <p:nvPr/>
        </p:nvSpPr>
        <p:spPr>
          <a:xfrm>
            <a:off x="9219895" y="2651760"/>
            <a:ext cx="2221992" cy="3291840"/>
          </a:xfrm>
          <a:prstGeom prst="rect">
            <a:avLst/>
          </a:prstGeom>
          <a:noFill/>
          <a:ln/>
        </p:spPr>
        <p:txBody>
          <a:bodyPr wrap="square" lIns="0" tIns="0" rIns="0" bIns="0" rtlCol="0" anchor="t"/>
          <a:lstStyle/>
          <a:p>
            <a:pPr rtl="1" algn="r" marL="127000" indent="-127000">
              <a:spcAft>
                <a:spcPts val="1000"/>
              </a:spcAft>
              <a:buSzPct val="100000"/>
              <a:buChar char="•"/>
            </a:pPr>
            <a:r>
              <a:rPr lang="en-US" altLang="en-US" sz="1200" dirty="0">
                <a:solidFill>
                  <a:srgbClr val="12333C"/>
                </a:solidFill>
                <a:latin typeface="Arial" pitchFamily="34" charset="0"/>
                <a:ea typeface="Arial" pitchFamily="34" charset="-122"/>
                <a:cs typeface="Arial" pitchFamily="34" charset="-120"/>
              </a:rPr>
              <a:t>ASP.NET Core 10 (Web API)</a:t>
            </a:r>
            <a:endParaRPr lang="ar-SA" sz="1200" dirty="0"/>
          </a:p>
          <a:p>
            <a:pPr rtl="1" algn="r" marL="127000" indent="-127000">
              <a:spcAft>
                <a:spcPts val="1000"/>
              </a:spcAft>
              <a:buSzPct val="100000"/>
              <a:buChar char="•"/>
            </a:pPr>
            <a:r>
              <a:rPr lang="en-US" altLang="en-US" sz="1200" dirty="0">
                <a:solidFill>
                  <a:srgbClr val="12333C"/>
                </a:solidFill>
                <a:latin typeface="Arial" pitchFamily="34" charset="0"/>
                <a:ea typeface="Arial" pitchFamily="34" charset="-122"/>
                <a:cs typeface="Arial" pitchFamily="34" charset="-120"/>
              </a:rPr>
              <a:t>Entity Framework Core 10</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قاعدة ‏</a:t>
            </a:r>
            <a:r>
              <a:rPr lang="en-US" altLang="en-US" sz="1200" dirty="0">
                <a:solidFill>
                  <a:srgbClr val="12333C"/>
                </a:solidFill>
                <a:latin typeface="Arial" pitchFamily="34" charset="0"/>
                <a:ea typeface="Arial" pitchFamily="34" charset="-122"/>
                <a:cs typeface="Arial" pitchFamily="34" charset="-120"/>
              </a:rPr>
              <a:t>PostgreSQL</a:t>
            </a:r>
            <a:r>
              <a:rPr lang="ar-SA" altLang="en-US" sz="1200" dirty="0">
                <a:solidFill>
                  <a:srgbClr val="12333C"/>
                </a:solidFill>
                <a:latin typeface="Arial" pitchFamily="34" charset="0"/>
                <a:ea typeface="Arial" pitchFamily="34" charset="-122"/>
                <a:cs typeface="Arial" pitchFamily="34" charset="-120"/>
              </a:rPr>
              <a:t>‏ مع تخزين ‏</a:t>
            </a:r>
            <a:r>
              <a:rPr lang="en-US" altLang="en-US" sz="1200" dirty="0">
                <a:solidFill>
                  <a:srgbClr val="12333C"/>
                </a:solidFill>
                <a:latin typeface="Arial" pitchFamily="34" charset="0"/>
                <a:ea typeface="Arial" pitchFamily="34" charset="-122"/>
                <a:cs typeface="Arial" pitchFamily="34" charset="-120"/>
              </a:rPr>
              <a:t>JSONB</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مكتبة ‏</a:t>
            </a:r>
            <a:r>
              <a:rPr lang="en-US" altLang="en-US" sz="1200" dirty="0">
                <a:solidFill>
                  <a:srgbClr val="12333C"/>
                </a:solidFill>
                <a:latin typeface="Arial" pitchFamily="34" charset="0"/>
                <a:ea typeface="Arial" pitchFamily="34" charset="-122"/>
                <a:cs typeface="Arial" pitchFamily="34" charset="-120"/>
              </a:rPr>
              <a:t>Firely SDK</a:t>
            </a:r>
            <a:r>
              <a:rPr lang="ar-SA" altLang="en-US" sz="1200" dirty="0">
                <a:solidFill>
                  <a:srgbClr val="12333C"/>
                </a:solidFill>
                <a:latin typeface="Arial" pitchFamily="34" charset="0"/>
                <a:ea typeface="Arial" pitchFamily="34" charset="-122"/>
                <a:cs typeface="Arial" pitchFamily="34" charset="-120"/>
              </a:rPr>
              <a:t>‏ لمعيار ‏</a:t>
            </a:r>
            <a:r>
              <a:rPr lang="en-US" altLang="en-US" sz="1200" dirty="0">
                <a:solidFill>
                  <a:srgbClr val="12333C"/>
                </a:solidFill>
                <a:latin typeface="Arial" pitchFamily="34" charset="0"/>
                <a:ea typeface="Arial" pitchFamily="34" charset="-122"/>
                <a:cs typeface="Arial" pitchFamily="34" charset="-120"/>
              </a:rPr>
              <a:t>HL7 FHIR R5</a:t>
            </a:r>
            <a:endParaRPr lang="ar-SA" sz="1200" dirty="0"/>
          </a:p>
          <a:p>
            <a:pPr rtl="1" algn="r" marL="127000" indent="-127000">
              <a:spcAft>
                <a:spcPts val="1000"/>
              </a:spcAft>
              <a:buSzPct val="100000"/>
              <a:buChar char="•"/>
            </a:pPr>
            <a:r>
              <a:rPr lang="en-US" altLang="en-US" sz="1200" dirty="0">
                <a:solidFill>
                  <a:srgbClr val="12333C"/>
                </a:solidFill>
                <a:latin typeface="Arial" pitchFamily="34" charset="0"/>
                <a:ea typeface="Arial" pitchFamily="34" charset="-122"/>
                <a:cs typeface="Arial" pitchFamily="34" charset="-120"/>
              </a:rPr>
              <a:t>Serilog</a:t>
            </a:r>
            <a:r>
              <a:rPr lang="ar-SA" altLang="en-US" sz="1200" dirty="0">
                <a:solidFill>
                  <a:srgbClr val="12333C"/>
                </a:solidFill>
                <a:latin typeface="Arial" pitchFamily="34" charset="0"/>
                <a:ea typeface="Arial" pitchFamily="34" charset="-122"/>
                <a:cs typeface="Arial" pitchFamily="34" charset="-120"/>
              </a:rPr>
              <a:t>‏ · ‏</a:t>
            </a:r>
            <a:r>
              <a:rPr lang="en-US" altLang="en-US" sz="1200" dirty="0">
                <a:solidFill>
                  <a:srgbClr val="12333C"/>
                </a:solidFill>
                <a:latin typeface="Arial" pitchFamily="34" charset="0"/>
                <a:ea typeface="Arial" pitchFamily="34" charset="-122"/>
                <a:cs typeface="Arial" pitchFamily="34" charset="-120"/>
              </a:rPr>
              <a:t>Swagger / OpenAPI</a:t>
            </a:r>
            <a:endParaRPr lang="ar-SA" sz="1200" dirty="0"/>
          </a:p>
        </p:txBody>
      </p:sp>
      <p:sp>
        <p:nvSpPr>
          <p:cNvPr id="10" name="Shape 8"/>
          <p:cNvSpPr/>
          <p:nvPr/>
        </p:nvSpPr>
        <p:spPr>
          <a:xfrm>
            <a:off x="6202375" y="1645920"/>
            <a:ext cx="2624328" cy="4480560"/>
          </a:xfrm>
          <a:prstGeom prst="roundRect">
            <a:avLst>
              <a:gd name="adj" fmla="val 2787"/>
            </a:avLst>
          </a:prstGeom>
          <a:solidFill>
            <a:srgbClr val="F2F8F8"/>
          </a:solidFill>
          <a:ln w="9525">
            <a:solidFill>
              <a:srgbClr val="D9E7E9"/>
            </a:solidFill>
            <a:prstDash val="solid"/>
          </a:ln>
        </p:spPr>
      </p:sp>
      <p:sp>
        <p:nvSpPr>
          <p:cNvPr id="11" name="Shape 9"/>
          <p:cNvSpPr/>
          <p:nvPr/>
        </p:nvSpPr>
        <p:spPr>
          <a:xfrm>
            <a:off x="6430975" y="1920240"/>
            <a:ext cx="2167128" cy="502920"/>
          </a:xfrm>
          <a:prstGeom prst="roundRect">
            <a:avLst>
              <a:gd name="adj" fmla="val 16364"/>
            </a:avLst>
          </a:prstGeom>
          <a:solidFill>
            <a:srgbClr val="02C39A"/>
          </a:solidFill>
          <a:ln/>
        </p:spPr>
      </p:sp>
      <p:sp>
        <p:nvSpPr>
          <p:cNvPr id="12" name="Text 10"/>
          <p:cNvSpPr/>
          <p:nvPr/>
        </p:nvSpPr>
        <p:spPr>
          <a:xfrm>
            <a:off x="6430975" y="1920240"/>
            <a:ext cx="2167128" cy="502920"/>
          </a:xfrm>
          <a:prstGeom prst="rect">
            <a:avLst/>
          </a:prstGeom>
          <a:noFill/>
          <a:ln/>
        </p:spPr>
        <p:txBody>
          <a:bodyPr wrap="square" lIns="0" tIns="0" rIns="0" bIns="0" rtlCol="0" anchor="ctr"/>
          <a:lstStyle/>
          <a:p>
            <a:pPr rtl="1" algn="ctr" indent="0" marL="0">
              <a:buNone/>
            </a:pPr>
            <a:r>
              <a:rPr lang="ar-SA" altLang="en-US" sz="1450" b="1" dirty="0">
                <a:solidFill>
                  <a:srgbClr val="FFFFFF"/>
                </a:solidFill>
                <a:latin typeface="Arial" pitchFamily="34" charset="0"/>
                <a:ea typeface="Arial" pitchFamily="34" charset="-122"/>
                <a:cs typeface="Arial" pitchFamily="34" charset="-120"/>
              </a:rPr>
              <a:t>الواجهة الأمامية</a:t>
            </a:r>
            <a:endParaRPr lang="ar-SA" sz="1450" dirty="0"/>
          </a:p>
        </p:txBody>
      </p:sp>
      <p:sp>
        <p:nvSpPr>
          <p:cNvPr id="13" name="Text 11"/>
          <p:cNvSpPr/>
          <p:nvPr/>
        </p:nvSpPr>
        <p:spPr>
          <a:xfrm>
            <a:off x="6403543" y="2651760"/>
            <a:ext cx="2221992" cy="3291840"/>
          </a:xfrm>
          <a:prstGeom prst="rect">
            <a:avLst/>
          </a:prstGeom>
          <a:noFill/>
          <a:ln/>
        </p:spPr>
        <p:txBody>
          <a:bodyPr wrap="square" lIns="0" tIns="0" rIns="0" bIns="0" rtlCol="0" anchor="t"/>
          <a:lstStyle/>
          <a:p>
            <a:pPr rtl="1" algn="r" marL="127000" indent="-127000">
              <a:spcAft>
                <a:spcPts val="1000"/>
              </a:spcAft>
              <a:buSzPct val="100000"/>
              <a:buChar char="•"/>
            </a:pPr>
            <a:r>
              <a:rPr lang="en-US" altLang="en-US" sz="1200" dirty="0">
                <a:solidFill>
                  <a:srgbClr val="12333C"/>
                </a:solidFill>
                <a:latin typeface="Arial" pitchFamily="34" charset="0"/>
                <a:ea typeface="Arial" pitchFamily="34" charset="-122"/>
                <a:cs typeface="Arial" pitchFamily="34" charset="-120"/>
              </a:rPr>
              <a:t>Blazor WebAssembly (.NET 10)</a:t>
            </a:r>
            <a:endParaRPr lang="ar-SA" sz="1200" dirty="0"/>
          </a:p>
          <a:p>
            <a:pPr rtl="1" algn="r" marL="127000" indent="-127000">
              <a:spcAft>
                <a:spcPts val="1000"/>
              </a:spcAft>
              <a:buSzPct val="100000"/>
              <a:buChar char="•"/>
            </a:pPr>
            <a:r>
              <a:rPr lang="en-US" altLang="en-US" sz="1200" dirty="0">
                <a:solidFill>
                  <a:srgbClr val="12333C"/>
                </a:solidFill>
                <a:latin typeface="Arial" pitchFamily="34" charset="0"/>
                <a:ea typeface="Arial" pitchFamily="34" charset="-122"/>
                <a:cs typeface="Arial" pitchFamily="34" charset="-120"/>
              </a:rPr>
              <a:t>Bootstrap 5</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مكوّنات موارد موحّدة</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ترجمة فورية عربي / إنجليزي</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دعم كامل للاتجاهين ‏</a:t>
            </a:r>
            <a:r>
              <a:rPr lang="en-US" altLang="en-US" sz="1200" dirty="0">
                <a:solidFill>
                  <a:srgbClr val="12333C"/>
                </a:solidFill>
                <a:latin typeface="Arial" pitchFamily="34" charset="0"/>
                <a:ea typeface="Arial" pitchFamily="34" charset="-122"/>
                <a:cs typeface="Arial" pitchFamily="34" charset="-120"/>
              </a:rPr>
              <a:t>RTL / LTR</a:t>
            </a:r>
            <a:endParaRPr lang="ar-SA" sz="1200" dirty="0"/>
          </a:p>
        </p:txBody>
      </p:sp>
      <p:sp>
        <p:nvSpPr>
          <p:cNvPr id="14" name="Shape 12"/>
          <p:cNvSpPr/>
          <p:nvPr/>
        </p:nvSpPr>
        <p:spPr>
          <a:xfrm>
            <a:off x="3386023" y="1645920"/>
            <a:ext cx="2624328" cy="4480560"/>
          </a:xfrm>
          <a:prstGeom prst="roundRect">
            <a:avLst>
              <a:gd name="adj" fmla="val 2787"/>
            </a:avLst>
          </a:prstGeom>
          <a:solidFill>
            <a:srgbClr val="F2F8F8"/>
          </a:solidFill>
          <a:ln w="9525">
            <a:solidFill>
              <a:srgbClr val="D9E7E9"/>
            </a:solidFill>
            <a:prstDash val="solid"/>
          </a:ln>
        </p:spPr>
      </p:sp>
      <p:sp>
        <p:nvSpPr>
          <p:cNvPr id="15" name="Shape 13"/>
          <p:cNvSpPr/>
          <p:nvPr/>
        </p:nvSpPr>
        <p:spPr>
          <a:xfrm>
            <a:off x="3614623" y="1920240"/>
            <a:ext cx="2167128" cy="502920"/>
          </a:xfrm>
          <a:prstGeom prst="roundRect">
            <a:avLst>
              <a:gd name="adj" fmla="val 16364"/>
            </a:avLst>
          </a:prstGeom>
          <a:solidFill>
            <a:srgbClr val="0A3540"/>
          </a:solidFill>
          <a:ln/>
        </p:spPr>
      </p:sp>
      <p:sp>
        <p:nvSpPr>
          <p:cNvPr id="16" name="Text 14"/>
          <p:cNvSpPr/>
          <p:nvPr/>
        </p:nvSpPr>
        <p:spPr>
          <a:xfrm>
            <a:off x="3614623" y="1920240"/>
            <a:ext cx="2167128" cy="502920"/>
          </a:xfrm>
          <a:prstGeom prst="rect">
            <a:avLst/>
          </a:prstGeom>
          <a:noFill/>
          <a:ln/>
        </p:spPr>
        <p:txBody>
          <a:bodyPr wrap="square" lIns="0" tIns="0" rIns="0" bIns="0" rtlCol="0" anchor="ctr"/>
          <a:lstStyle/>
          <a:p>
            <a:pPr rtl="1" algn="ctr" indent="0" marL="0">
              <a:buNone/>
            </a:pPr>
            <a:r>
              <a:rPr lang="ar-SA" altLang="en-US" sz="1450" b="1" dirty="0">
                <a:solidFill>
                  <a:srgbClr val="FFFFFF"/>
                </a:solidFill>
                <a:latin typeface="Arial" pitchFamily="34" charset="0"/>
                <a:ea typeface="Arial" pitchFamily="34" charset="-122"/>
                <a:cs typeface="Arial" pitchFamily="34" charset="-120"/>
              </a:rPr>
              <a:t>الأمان والهوية</a:t>
            </a:r>
            <a:endParaRPr lang="ar-SA" sz="1450" dirty="0"/>
          </a:p>
        </p:txBody>
      </p:sp>
      <p:sp>
        <p:nvSpPr>
          <p:cNvPr id="17" name="Text 15"/>
          <p:cNvSpPr/>
          <p:nvPr/>
        </p:nvSpPr>
        <p:spPr>
          <a:xfrm>
            <a:off x="3587191" y="2651760"/>
            <a:ext cx="2221992" cy="3291840"/>
          </a:xfrm>
          <a:prstGeom prst="rect">
            <a:avLst/>
          </a:prstGeom>
          <a:noFill/>
          <a:ln/>
        </p:spPr>
        <p:txBody>
          <a:bodyPr wrap="square" lIns="0" tIns="0" rIns="0" bIns="0" rtlCol="0" anchor="t"/>
          <a:lstStyle/>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خادم الهوية ‏</a:t>
            </a:r>
            <a:r>
              <a:rPr lang="en-US" altLang="en-US" sz="1200" dirty="0">
                <a:solidFill>
                  <a:srgbClr val="12333C"/>
                </a:solidFill>
                <a:latin typeface="Arial" pitchFamily="34" charset="0"/>
                <a:ea typeface="Arial" pitchFamily="34" charset="-122"/>
                <a:cs typeface="Arial" pitchFamily="34" charset="-120"/>
              </a:rPr>
              <a:t>Keycloak</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بروتوكولا ‏</a:t>
            </a:r>
            <a:r>
              <a:rPr lang="en-US" altLang="en-US" sz="1200" dirty="0">
                <a:solidFill>
                  <a:srgbClr val="12333C"/>
                </a:solidFill>
                <a:latin typeface="Arial" pitchFamily="34" charset="0"/>
                <a:ea typeface="Arial" pitchFamily="34" charset="-122"/>
                <a:cs typeface="Arial" pitchFamily="34" charset="-120"/>
              </a:rPr>
              <a:t>OAuth2</a:t>
            </a:r>
            <a:r>
              <a:rPr lang="ar-SA" altLang="en-US" sz="1200" dirty="0">
                <a:solidFill>
                  <a:srgbClr val="12333C"/>
                </a:solidFill>
                <a:latin typeface="Arial" pitchFamily="34" charset="0"/>
                <a:ea typeface="Arial" pitchFamily="34" charset="-122"/>
                <a:cs typeface="Arial" pitchFamily="34" charset="-120"/>
              </a:rPr>
              <a:t>‏ و</a:t>
            </a:r>
            <a:r>
              <a:rPr lang="en-US" altLang="en-US" sz="1200" dirty="0">
                <a:solidFill>
                  <a:srgbClr val="12333C"/>
                </a:solidFill>
                <a:latin typeface="Arial" pitchFamily="34" charset="0"/>
                <a:ea typeface="Arial" pitchFamily="34" charset="-122"/>
                <a:cs typeface="Arial" pitchFamily="34" charset="-120"/>
              </a:rPr>
              <a:t>OpenID Connect</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رموز ‏</a:t>
            </a:r>
            <a:r>
              <a:rPr lang="en-US" altLang="en-US" sz="1200" dirty="0">
                <a:solidFill>
                  <a:srgbClr val="12333C"/>
                </a:solidFill>
                <a:latin typeface="Arial" pitchFamily="34" charset="0"/>
                <a:ea typeface="Arial" pitchFamily="34" charset="-122"/>
                <a:cs typeface="Arial" pitchFamily="34" charset="-120"/>
              </a:rPr>
              <a:t>JWT</a:t>
            </a:r>
            <a:r>
              <a:rPr lang="ar-SA" altLang="en-US" sz="1200" dirty="0">
                <a:solidFill>
                  <a:srgbClr val="12333C"/>
                </a:solidFill>
                <a:latin typeface="Arial" pitchFamily="34" charset="0"/>
                <a:ea typeface="Arial" pitchFamily="34" charset="-122"/>
                <a:cs typeface="Arial" pitchFamily="34" charset="-120"/>
              </a:rPr>
              <a:t>‏ موقَّعة</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أدوار ‏</a:t>
            </a:r>
            <a:r>
              <a:rPr lang="en-US" altLang="en-US" sz="1200" dirty="0">
                <a:solidFill>
                  <a:srgbClr val="12333C"/>
                </a:solidFill>
                <a:latin typeface="Arial" pitchFamily="34" charset="0"/>
                <a:ea typeface="Arial" pitchFamily="34" charset="-122"/>
                <a:cs typeface="Arial" pitchFamily="34" charset="-120"/>
              </a:rPr>
              <a:t>RBAC</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نطاقات ‏</a:t>
            </a:r>
            <a:r>
              <a:rPr lang="en-US" altLang="en-US" sz="1200" dirty="0">
                <a:solidFill>
                  <a:srgbClr val="12333C"/>
                </a:solidFill>
                <a:latin typeface="Arial" pitchFamily="34" charset="0"/>
                <a:ea typeface="Arial" pitchFamily="34" charset="-122"/>
                <a:cs typeface="Arial" pitchFamily="34" charset="-120"/>
              </a:rPr>
              <a:t>SMART on FHIR</a:t>
            </a:r>
            <a:endParaRPr lang="ar-SA" sz="1200" dirty="0"/>
          </a:p>
        </p:txBody>
      </p:sp>
      <p:sp>
        <p:nvSpPr>
          <p:cNvPr id="18" name="Shape 16"/>
          <p:cNvSpPr/>
          <p:nvPr/>
        </p:nvSpPr>
        <p:spPr>
          <a:xfrm>
            <a:off x="569671" y="1645920"/>
            <a:ext cx="2624328" cy="4480560"/>
          </a:xfrm>
          <a:prstGeom prst="roundRect">
            <a:avLst>
              <a:gd name="adj" fmla="val 2787"/>
            </a:avLst>
          </a:prstGeom>
          <a:solidFill>
            <a:srgbClr val="F2F8F8"/>
          </a:solidFill>
          <a:ln w="9525">
            <a:solidFill>
              <a:srgbClr val="D9E7E9"/>
            </a:solidFill>
            <a:prstDash val="solid"/>
          </a:ln>
        </p:spPr>
      </p:sp>
      <p:sp>
        <p:nvSpPr>
          <p:cNvPr id="19" name="Shape 17"/>
          <p:cNvSpPr/>
          <p:nvPr/>
        </p:nvSpPr>
        <p:spPr>
          <a:xfrm>
            <a:off x="798271" y="1920240"/>
            <a:ext cx="2167128" cy="502920"/>
          </a:xfrm>
          <a:prstGeom prst="roundRect">
            <a:avLst>
              <a:gd name="adj" fmla="val 16364"/>
            </a:avLst>
          </a:prstGeom>
          <a:solidFill>
            <a:srgbClr val="E9B44C"/>
          </a:solidFill>
          <a:ln/>
        </p:spPr>
      </p:sp>
      <p:sp>
        <p:nvSpPr>
          <p:cNvPr id="20" name="Text 18"/>
          <p:cNvSpPr/>
          <p:nvPr/>
        </p:nvSpPr>
        <p:spPr>
          <a:xfrm>
            <a:off x="798271" y="1920240"/>
            <a:ext cx="2167128" cy="502920"/>
          </a:xfrm>
          <a:prstGeom prst="rect">
            <a:avLst/>
          </a:prstGeom>
          <a:noFill/>
          <a:ln/>
        </p:spPr>
        <p:txBody>
          <a:bodyPr wrap="square" lIns="0" tIns="0" rIns="0" bIns="0" rtlCol="0" anchor="ctr"/>
          <a:lstStyle/>
          <a:p>
            <a:pPr rtl="1" algn="ctr" indent="0" marL="0">
              <a:buNone/>
            </a:pPr>
            <a:r>
              <a:rPr lang="ar-SA" altLang="en-US" sz="1450" b="1" dirty="0">
                <a:solidFill>
                  <a:srgbClr val="0A3540"/>
                </a:solidFill>
                <a:latin typeface="Arial" pitchFamily="34" charset="0"/>
                <a:ea typeface="Arial" pitchFamily="34" charset="-122"/>
                <a:cs typeface="Arial" pitchFamily="34" charset="-120"/>
              </a:rPr>
              <a:t>الذكاء الاصطناعي</a:t>
            </a:r>
            <a:endParaRPr lang="ar-SA" sz="1450" dirty="0"/>
          </a:p>
        </p:txBody>
      </p:sp>
      <p:sp>
        <p:nvSpPr>
          <p:cNvPr id="21" name="Text 19"/>
          <p:cNvSpPr/>
          <p:nvPr/>
        </p:nvSpPr>
        <p:spPr>
          <a:xfrm>
            <a:off x="770839" y="2651760"/>
            <a:ext cx="2221992" cy="3291840"/>
          </a:xfrm>
          <a:prstGeom prst="rect">
            <a:avLst/>
          </a:prstGeom>
          <a:noFill/>
          <a:ln/>
        </p:spPr>
        <p:txBody>
          <a:bodyPr wrap="square" lIns="0" tIns="0" rIns="0" bIns="0" rtlCol="0" anchor="t"/>
          <a:lstStyle/>
          <a:p>
            <a:pPr rtl="1" algn="r" marL="127000" indent="-127000">
              <a:spcAft>
                <a:spcPts val="1000"/>
              </a:spcAft>
              <a:buSzPct val="100000"/>
              <a:buChar char="•"/>
            </a:pPr>
            <a:r>
              <a:rPr lang="en-US" altLang="en-US" sz="1200" dirty="0">
                <a:solidFill>
                  <a:srgbClr val="12333C"/>
                </a:solidFill>
                <a:latin typeface="Arial" pitchFamily="34" charset="0"/>
                <a:ea typeface="Arial" pitchFamily="34" charset="-122"/>
                <a:cs typeface="Arial" pitchFamily="34" charset="-120"/>
              </a:rPr>
              <a:t>Python + scikit-learn</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تصدير عبر ‏</a:t>
            </a:r>
            <a:r>
              <a:rPr lang="en-US" altLang="en-US" sz="1200" dirty="0">
                <a:solidFill>
                  <a:srgbClr val="12333C"/>
                </a:solidFill>
                <a:latin typeface="Arial" pitchFamily="34" charset="0"/>
                <a:ea typeface="Arial" pitchFamily="34" charset="-122"/>
                <a:cs typeface="Arial" pitchFamily="34" charset="-120"/>
              </a:rPr>
              <a:t>skl2onnx</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تشغيل ‏</a:t>
            </a:r>
            <a:r>
              <a:rPr lang="en-US" altLang="en-US" sz="1200" dirty="0">
                <a:solidFill>
                  <a:srgbClr val="12333C"/>
                </a:solidFill>
                <a:latin typeface="Arial" pitchFamily="34" charset="0"/>
                <a:ea typeface="Arial" pitchFamily="34" charset="-122"/>
                <a:cs typeface="Arial" pitchFamily="34" charset="-120"/>
              </a:rPr>
              <a:t>ONNX Runtime</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بيانات تدريب عامة موثّقة</a:t>
            </a:r>
            <a:endParaRPr lang="ar-SA" sz="1200" dirty="0"/>
          </a:p>
          <a:p>
            <a:pPr rtl="1" algn="r" marL="127000" indent="-127000">
              <a:spcAft>
                <a:spcPts val="1000"/>
              </a:spcAft>
              <a:buSzPct val="100000"/>
              <a:buChar char="•"/>
            </a:pPr>
            <a:r>
              <a:rPr lang="ar-SA" altLang="en-US" sz="1200" dirty="0">
                <a:solidFill>
                  <a:srgbClr val="12333C"/>
                </a:solidFill>
                <a:latin typeface="Arial" pitchFamily="34" charset="0"/>
                <a:ea typeface="Arial" pitchFamily="34" charset="-122"/>
                <a:cs typeface="Arial" pitchFamily="34" charset="-120"/>
              </a:rPr>
              <a:t>بيانات ‏</a:t>
            </a:r>
            <a:r>
              <a:rPr lang="en-US" altLang="en-US" sz="1200" dirty="0">
                <a:solidFill>
                  <a:srgbClr val="12333C"/>
                </a:solidFill>
                <a:latin typeface="Arial" pitchFamily="34" charset="0"/>
                <a:ea typeface="Arial" pitchFamily="34" charset="-122"/>
                <a:cs typeface="Arial" pitchFamily="34" charset="-120"/>
              </a:rPr>
              <a:t>Synthea</a:t>
            </a:r>
            <a:r>
              <a:rPr lang="ar-SA" altLang="en-US" sz="1200" dirty="0">
                <a:solidFill>
                  <a:srgbClr val="12333C"/>
                </a:solidFill>
                <a:latin typeface="Arial" pitchFamily="34" charset="0"/>
                <a:ea typeface="Arial" pitchFamily="34" charset="-122"/>
                <a:cs typeface="Arial" pitchFamily="34" charset="-120"/>
              </a:rPr>
              <a:t>‏ للعرض</a:t>
            </a:r>
            <a:endParaRPr lang="ar-SA"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نبض — نظام السجلات الطبية الرقمية</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8</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البنية العامة للنظام</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ثلاث خدمات، وقاعدتا بيانات، وخادم هوية</a:t>
            </a:r>
            <a:endParaRPr lang="ar-SA" sz="1400" dirty="0"/>
          </a:p>
        </p:txBody>
      </p:sp>
      <p:sp>
        <p:nvSpPr>
          <p:cNvPr id="6" name="Shape 4"/>
          <p:cNvSpPr/>
          <p:nvPr/>
        </p:nvSpPr>
        <p:spPr>
          <a:xfrm>
            <a:off x="1075792" y="1655064"/>
            <a:ext cx="10040112" cy="3898271"/>
          </a:xfrm>
          <a:prstGeom prst="rect">
            <a:avLst/>
          </a:prstGeom>
          <a:solidFill>
            <a:srgbClr val="FFFFFF"/>
          </a:solidFill>
          <a:ln w="12700">
            <a:solidFill>
              <a:srgbClr val="D9E7E9"/>
            </a:solidFill>
            <a:prstDash val="solid"/>
          </a:ln>
          <a:effectLst>
            <a:outerShdw sx="100000" sy="100000" kx="0" ky="0" algn="bl" rotWithShape="0" blurRad="76200" dist="25400" dir="5400000">
              <a:srgbClr val="808f93">
                <a:alpha val="35000"/>
              </a:srgbClr>
            </a:outerShdw>
          </a:effectLst>
        </p:spPr>
      </p:sp>
      <p:pic>
        <p:nvPicPr>
          <p:cNvPr id="7" name="Image 0" descr="D:/Code/ASP/DMRS/docs/diagrams/architecture.png">    </p:cNvPr>
          <p:cNvPicPr>
            <a:picLocks noChangeAspect="1"/>
          </p:cNvPicPr>
          <p:nvPr/>
        </p:nvPicPr>
        <p:blipFill>
          <a:blip r:embed="rId1"/>
          <a:stretch>
            <a:fillRect/>
          </a:stretch>
        </p:blipFill>
        <p:spPr>
          <a:xfrm>
            <a:off x="1112368" y="1691640"/>
            <a:ext cx="9966960" cy="3825119"/>
          </a:xfrm>
          <a:prstGeom prst="rect">
            <a:avLst/>
          </a:prstGeom>
        </p:spPr>
      </p:pic>
      <p:sp>
        <p:nvSpPr>
          <p:cNvPr id="8" name="Text 5"/>
          <p:cNvSpPr/>
          <p:nvPr/>
        </p:nvSpPr>
        <p:spPr>
          <a:xfrm>
            <a:off x="1188720" y="5669280"/>
            <a:ext cx="9814255" cy="731520"/>
          </a:xfrm>
          <a:prstGeom prst="rect">
            <a:avLst/>
          </a:prstGeom>
          <a:noFill/>
          <a:ln/>
        </p:spPr>
        <p:txBody>
          <a:bodyPr wrap="square" rtlCol="0" anchor="t"/>
          <a:lstStyle/>
          <a:p>
            <a:pPr rtl="1" algn="ctr" indent="0" marL="0">
              <a:lnSpc>
                <a:spcPct val="125000"/>
              </a:lnSpc>
              <a:buNone/>
            </a:pPr>
            <a:r>
              <a:rPr lang="ar-SA" altLang="en-US" sz="1250" dirty="0">
                <a:solidFill>
                  <a:srgbClr val="587078"/>
                </a:solidFill>
                <a:latin typeface="Arial" pitchFamily="34" charset="0"/>
                <a:ea typeface="Arial" pitchFamily="34" charset="-122"/>
                <a:cs typeface="Arial" pitchFamily="34" charset="-120"/>
              </a:rPr>
              <a:t>تُصادِق واجهة ‏</a:t>
            </a:r>
            <a:r>
              <a:rPr lang="en-US" altLang="en-US" sz="1250" dirty="0">
                <a:solidFill>
                  <a:srgbClr val="587078"/>
                </a:solidFill>
                <a:latin typeface="Arial" pitchFamily="34" charset="0"/>
                <a:ea typeface="Arial" pitchFamily="34" charset="-122"/>
                <a:cs typeface="Arial" pitchFamily="34" charset="-120"/>
              </a:rPr>
              <a:t>Blazor</a:t>
            </a:r>
            <a:r>
              <a:rPr lang="ar-SA" altLang="en-US" sz="1250" dirty="0">
                <a:solidFill>
                  <a:srgbClr val="587078"/>
                </a:solidFill>
                <a:latin typeface="Arial" pitchFamily="34" charset="0"/>
                <a:ea typeface="Arial" pitchFamily="34" charset="-122"/>
                <a:cs typeface="Arial" pitchFamily="34" charset="-120"/>
              </a:rPr>
              <a:t>‏ عبر ‏</a:t>
            </a:r>
            <a:r>
              <a:rPr lang="en-US" altLang="en-US" sz="1250" dirty="0">
                <a:solidFill>
                  <a:srgbClr val="587078"/>
                </a:solidFill>
                <a:latin typeface="Arial" pitchFamily="34" charset="0"/>
                <a:ea typeface="Arial" pitchFamily="34" charset="-122"/>
                <a:cs typeface="Arial" pitchFamily="34" charset="-120"/>
              </a:rPr>
              <a:t>Keycloak</a:t>
            </a:r>
            <a:r>
              <a:rPr lang="ar-SA" altLang="en-US" sz="1250" dirty="0">
                <a:solidFill>
                  <a:srgbClr val="587078"/>
                </a:solidFill>
                <a:latin typeface="Arial" pitchFamily="34" charset="0"/>
                <a:ea typeface="Arial" pitchFamily="34" charset="-122"/>
                <a:cs typeface="Arial" pitchFamily="34" charset="-120"/>
              </a:rPr>
              <a:t>‏ ثم تخاطب الواجهة البرمجية عبر ‏</a:t>
            </a:r>
            <a:r>
              <a:rPr lang="en-US" altLang="en-US" sz="1250" dirty="0">
                <a:solidFill>
                  <a:srgbClr val="587078"/>
                </a:solidFill>
                <a:latin typeface="Arial" pitchFamily="34" charset="0"/>
                <a:ea typeface="Arial" pitchFamily="34" charset="-122"/>
                <a:cs typeface="Arial" pitchFamily="34" charset="-120"/>
              </a:rPr>
              <a:t>HTTPS</a:t>
            </a:r>
            <a:r>
              <a:rPr lang="ar-SA" altLang="en-US" sz="1250" dirty="0">
                <a:solidFill>
                  <a:srgbClr val="587078"/>
                </a:solidFill>
                <a:latin typeface="Arial" pitchFamily="34" charset="0"/>
                <a:ea typeface="Arial" pitchFamily="34" charset="-122"/>
                <a:cs typeface="Arial" pitchFamily="34" charset="-120"/>
              </a:rPr>
              <a:t>‏ برموز ‏</a:t>
            </a:r>
            <a:r>
              <a:rPr lang="en-US" altLang="en-US" sz="1250" dirty="0">
                <a:solidFill>
                  <a:srgbClr val="587078"/>
                </a:solidFill>
                <a:latin typeface="Arial" pitchFamily="34" charset="0"/>
                <a:ea typeface="Arial" pitchFamily="34" charset="-122"/>
                <a:cs typeface="Arial" pitchFamily="34" charset="-120"/>
              </a:rPr>
              <a:t>JWT</a:t>
            </a:r>
            <a:r>
              <a:rPr lang="ar-SA" altLang="en-US" sz="1250" dirty="0">
                <a:solidFill>
                  <a:srgbClr val="587078"/>
                </a:solidFill>
                <a:latin typeface="Arial" pitchFamily="34" charset="0"/>
                <a:ea typeface="Arial" pitchFamily="34" charset="-122"/>
                <a:cs typeface="Arial" pitchFamily="34" charset="-120"/>
              </a:rPr>
              <a:t>‏؛ فتخزّن الموارد في ‏</a:t>
            </a:r>
            <a:r>
              <a:rPr lang="en-US" altLang="en-US" sz="1250" dirty="0">
                <a:solidFill>
                  <a:srgbClr val="587078"/>
                </a:solidFill>
                <a:latin typeface="Arial" pitchFamily="34" charset="0"/>
                <a:ea typeface="Arial" pitchFamily="34" charset="-122"/>
                <a:cs typeface="Arial" pitchFamily="34" charset="-120"/>
              </a:rPr>
              <a:t>PostgreSQL</a:t>
            </a:r>
            <a:r>
              <a:rPr lang="ar-SA" altLang="en-US" sz="1250" dirty="0">
                <a:solidFill>
                  <a:srgbClr val="587078"/>
                </a:solidFill>
                <a:latin typeface="Arial" pitchFamily="34" charset="0"/>
                <a:ea typeface="Arial" pitchFamily="34" charset="-122"/>
                <a:cs typeface="Arial" pitchFamily="34" charset="-120"/>
              </a:rPr>
              <a:t>‏، وتُحمّل نماذج ‏</a:t>
            </a:r>
            <a:r>
              <a:rPr lang="en-US" altLang="en-US" sz="1250" dirty="0">
                <a:solidFill>
                  <a:srgbClr val="587078"/>
                </a:solidFill>
                <a:latin typeface="Arial" pitchFamily="34" charset="0"/>
                <a:ea typeface="Arial" pitchFamily="34" charset="-122"/>
                <a:cs typeface="Arial" pitchFamily="34" charset="-120"/>
              </a:rPr>
              <a:t>ONNX</a:t>
            </a:r>
            <a:r>
              <a:rPr lang="ar-SA" altLang="en-US" sz="1250" dirty="0">
                <a:solidFill>
                  <a:srgbClr val="587078"/>
                </a:solidFill>
                <a:latin typeface="Arial" pitchFamily="34" charset="0"/>
                <a:ea typeface="Arial" pitchFamily="34" charset="-122"/>
                <a:cs typeface="Arial" pitchFamily="34" charset="-120"/>
              </a:rPr>
              <a:t>‏ محلياً، وتستعلم خدمة معلومات الأدوية، مع إمكانية الربط بنماذج ذكاءٍ خارجية وبمصدر ‏</a:t>
            </a:r>
            <a:r>
              <a:rPr lang="en-US" altLang="en-US" sz="1250" dirty="0">
                <a:solidFill>
                  <a:srgbClr val="587078"/>
                </a:solidFill>
                <a:latin typeface="Arial" pitchFamily="34" charset="0"/>
                <a:ea typeface="Arial" pitchFamily="34" charset="-122"/>
                <a:cs typeface="Arial" pitchFamily="34" charset="-120"/>
              </a:rPr>
              <a:t>RxNorm</a:t>
            </a:r>
            <a:r>
              <a:rPr lang="ar-SA" altLang="en-US" sz="1250" dirty="0">
                <a:solidFill>
                  <a:srgbClr val="587078"/>
                </a:solidFill>
                <a:latin typeface="Arial" pitchFamily="34" charset="0"/>
                <a:ea typeface="Arial" pitchFamily="34" charset="-122"/>
                <a:cs typeface="Arial" pitchFamily="34" charset="-120"/>
              </a:rPr>
              <a:t>‏ الحيّ.</a:t>
            </a:r>
            <a:endParaRPr lang="ar-SA"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نبض — نظام السجلات الطبية الرقمية</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9</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السجلّ الطبي وفق معيار ‏</a:t>
            </a:r>
            <a:r>
              <a:rPr lang="en-US" altLang="en-US" sz="2900" b="1" dirty="0">
                <a:solidFill>
                  <a:srgbClr val="0A3540"/>
                </a:solidFill>
                <a:latin typeface="Arial" pitchFamily="34" charset="0"/>
                <a:ea typeface="Arial" pitchFamily="34" charset="-122"/>
                <a:cs typeface="Arial" pitchFamily="34" charset="-120"/>
              </a:rPr>
              <a:t>HL7 FHIR</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الأساس الذي بُنيت عليه المنصّة</a:t>
            </a:r>
            <a:endParaRPr lang="ar-SA" sz="1400" dirty="0"/>
          </a:p>
        </p:txBody>
      </p:sp>
      <p:sp>
        <p:nvSpPr>
          <p:cNvPr id="6" name="Text 4"/>
          <p:cNvSpPr/>
          <p:nvPr/>
        </p:nvSpPr>
        <p:spPr>
          <a:xfrm>
            <a:off x="5333695" y="1691640"/>
            <a:ext cx="6309360" cy="4480560"/>
          </a:xfrm>
          <a:prstGeom prst="rect">
            <a:avLst/>
          </a:prstGeom>
          <a:noFill/>
          <a:ln/>
        </p:spPr>
        <p:txBody>
          <a:bodyPr wrap="square" rtlCol="0" anchor="t"/>
          <a:lstStyle/>
          <a:p>
            <a:pPr rtl="1" algn="r" marL="152400" indent="-152400">
              <a:lnSpc>
                <a:spcPct val="120000"/>
              </a:lnSpc>
              <a:spcAft>
                <a:spcPts val="1400"/>
              </a:spcAft>
              <a:buSzPct val="100000"/>
              <a:buChar char="•"/>
            </a:pPr>
            <a:r>
              <a:rPr lang="ar-SA" altLang="en-US" sz="1400" dirty="0">
                <a:solidFill>
                  <a:srgbClr val="12333C"/>
                </a:solidFill>
                <a:latin typeface="Arial" pitchFamily="34" charset="0"/>
                <a:ea typeface="Arial" pitchFamily="34" charset="-122"/>
                <a:cs typeface="Arial" pitchFamily="34" charset="-120"/>
              </a:rPr>
              <a:t>معيار ‏</a:t>
            </a:r>
            <a:r>
              <a:rPr lang="en-US" altLang="en-US" sz="1400" dirty="0">
                <a:solidFill>
                  <a:srgbClr val="12333C"/>
                </a:solidFill>
                <a:latin typeface="Arial" pitchFamily="34" charset="0"/>
                <a:ea typeface="Arial" pitchFamily="34" charset="-122"/>
                <a:cs typeface="Arial" pitchFamily="34" charset="-120"/>
              </a:rPr>
              <a:t>HL7</a:t>
            </a:r>
            <a:r>
              <a:rPr lang="ar-SA" altLang="en-US" sz="1400" dirty="0">
                <a:solidFill>
                  <a:srgbClr val="12333C"/>
                </a:solidFill>
                <a:latin typeface="Arial" pitchFamily="34" charset="0"/>
                <a:ea typeface="Arial" pitchFamily="34" charset="-122"/>
                <a:cs typeface="Arial" pitchFamily="34" charset="-120"/>
              </a:rPr>
              <a:t>‏ الحديث لتبادل البيانات الصحية؛ يمثّل المفاهيم السريرية على شكل «موارد» قياسية.</a:t>
            </a:r>
            <a:endParaRPr lang="ar-SA" sz="1400" dirty="0"/>
          </a:p>
          <a:p>
            <a:pPr rtl="1" algn="r" marL="152400" indent="-152400">
              <a:lnSpc>
                <a:spcPct val="120000"/>
              </a:lnSpc>
              <a:spcAft>
                <a:spcPts val="1400"/>
              </a:spcAft>
              <a:buSzPct val="100000"/>
              <a:buChar char="•"/>
            </a:pPr>
            <a:r>
              <a:rPr lang="ar-SA" altLang="en-US" sz="1400" dirty="0">
                <a:solidFill>
                  <a:srgbClr val="12333C"/>
                </a:solidFill>
                <a:latin typeface="Arial" pitchFamily="34" charset="0"/>
                <a:ea typeface="Arial" pitchFamily="34" charset="-122"/>
                <a:cs typeface="Arial" pitchFamily="34" charset="-120"/>
              </a:rPr>
              <a:t>اعتُمد الإصدار الخامس ‏</a:t>
            </a:r>
            <a:r>
              <a:rPr lang="en-US" altLang="en-US" sz="1400" dirty="0">
                <a:solidFill>
                  <a:srgbClr val="12333C"/>
                </a:solidFill>
                <a:latin typeface="Arial" pitchFamily="34" charset="0"/>
                <a:ea typeface="Arial" pitchFamily="34" charset="-122"/>
                <a:cs typeface="Arial" pitchFamily="34" charset="-120"/>
              </a:rPr>
              <a:t>R5</a:t>
            </a:r>
            <a:r>
              <a:rPr lang="ar-SA" altLang="en-US" sz="1400" dirty="0">
                <a:solidFill>
                  <a:srgbClr val="12333C"/>
                </a:solidFill>
                <a:latin typeface="Arial" pitchFamily="34" charset="0"/>
                <a:ea typeface="Arial" pitchFamily="34" charset="-122"/>
                <a:cs typeface="Arial" pitchFamily="34" charset="-120"/>
              </a:rPr>
              <a:t>‏ عبر مكتبة ‏</a:t>
            </a:r>
            <a:r>
              <a:rPr lang="en-US" altLang="en-US" sz="1400" dirty="0">
                <a:solidFill>
                  <a:srgbClr val="12333C"/>
                </a:solidFill>
                <a:latin typeface="Arial" pitchFamily="34" charset="0"/>
                <a:ea typeface="Arial" pitchFamily="34" charset="-122"/>
                <a:cs typeface="Arial" pitchFamily="34" charset="-120"/>
              </a:rPr>
              <a:t>Firely .NET SDK</a:t>
            </a:r>
            <a:r>
              <a:rPr lang="ar-SA" altLang="en-US" sz="1400" dirty="0">
                <a:solidFill>
                  <a:srgbClr val="12333C"/>
                </a:solidFill>
                <a:latin typeface="Arial" pitchFamily="34" charset="0"/>
                <a:ea typeface="Arial" pitchFamily="34" charset="-122"/>
                <a:cs typeface="Arial" pitchFamily="34" charset="-120"/>
              </a:rPr>
              <a:t>‏ مع التحقّق من كلّ مورد عند الكتابة.</a:t>
            </a:r>
            <a:endParaRPr lang="ar-SA" sz="1400" dirty="0"/>
          </a:p>
          <a:p>
            <a:pPr rtl="1" algn="r" marL="152400" indent="-152400">
              <a:lnSpc>
                <a:spcPct val="120000"/>
              </a:lnSpc>
              <a:spcAft>
                <a:spcPts val="1400"/>
              </a:spcAft>
              <a:buSzPct val="100000"/>
              <a:buChar char="•"/>
            </a:pPr>
            <a:r>
              <a:rPr lang="ar-SA" altLang="en-US" sz="1400" dirty="0">
                <a:solidFill>
                  <a:srgbClr val="12333C"/>
                </a:solidFill>
                <a:latin typeface="Arial" pitchFamily="34" charset="0"/>
                <a:ea typeface="Arial" pitchFamily="34" charset="-122"/>
                <a:cs typeface="Arial" pitchFamily="34" charset="-120"/>
              </a:rPr>
              <a:t>تُخزَّن الموارد بصيغة ‏</a:t>
            </a:r>
            <a:r>
              <a:rPr lang="en-US" altLang="en-US" sz="1400" dirty="0">
                <a:solidFill>
                  <a:srgbClr val="12333C"/>
                </a:solidFill>
                <a:latin typeface="Arial" pitchFamily="34" charset="0"/>
                <a:ea typeface="Arial" pitchFamily="34" charset="-122"/>
                <a:cs typeface="Arial" pitchFamily="34" charset="-120"/>
              </a:rPr>
              <a:t>FHIR JSON</a:t>
            </a:r>
            <a:r>
              <a:rPr lang="ar-SA" altLang="en-US" sz="1400" dirty="0">
                <a:solidFill>
                  <a:srgbClr val="12333C"/>
                </a:solidFill>
                <a:latin typeface="Arial" pitchFamily="34" charset="0"/>
                <a:ea typeface="Arial" pitchFamily="34" charset="-122"/>
                <a:cs typeface="Arial" pitchFamily="34" charset="-120"/>
              </a:rPr>
              <a:t>‏ الأصلية حفاظاً على الدقّة الكاملة للبيانات.</a:t>
            </a:r>
            <a:endParaRPr lang="ar-SA" sz="1400" dirty="0"/>
          </a:p>
          <a:p>
            <a:pPr rtl="1" algn="r" marL="152400" indent="-152400">
              <a:lnSpc>
                <a:spcPct val="120000"/>
              </a:lnSpc>
              <a:spcAft>
                <a:spcPts val="1400"/>
              </a:spcAft>
              <a:buSzPct val="100000"/>
              <a:buChar char="•"/>
            </a:pPr>
            <a:r>
              <a:rPr lang="ar-SA" altLang="en-US" sz="1400" dirty="0">
                <a:solidFill>
                  <a:srgbClr val="12333C"/>
                </a:solidFill>
                <a:latin typeface="Arial" pitchFamily="34" charset="0"/>
                <a:ea typeface="Arial" pitchFamily="34" charset="-122"/>
                <a:cs typeface="Arial" pitchFamily="34" charset="-120"/>
              </a:rPr>
              <a:t>جدول نسخٍ مستقل يمنح أثراً تدقيقياً كاملاً: مَن غيّر، ومتى، وما القيمة السابقة.</a:t>
            </a:r>
            <a:endParaRPr lang="ar-SA" sz="1400" dirty="0"/>
          </a:p>
          <a:p>
            <a:pPr rtl="1" algn="r" marL="152400" indent="-152400">
              <a:lnSpc>
                <a:spcPct val="120000"/>
              </a:lnSpc>
              <a:spcAft>
                <a:spcPts val="1400"/>
              </a:spcAft>
              <a:buSzPct val="100000"/>
              <a:buChar char="•"/>
            </a:pPr>
            <a:r>
              <a:rPr lang="ar-SA" altLang="en-US" sz="1400" dirty="0">
                <a:solidFill>
                  <a:srgbClr val="12333C"/>
                </a:solidFill>
                <a:latin typeface="Arial" pitchFamily="34" charset="0"/>
                <a:ea typeface="Arial" pitchFamily="34" charset="-122"/>
                <a:cs typeface="Arial" pitchFamily="34" charset="-120"/>
              </a:rPr>
              <a:t>فهرس بحثٍ مُسطَّح باسم ‏</a:t>
            </a:r>
            <a:r>
              <a:rPr lang="en-US" altLang="en-US" sz="1400" dirty="0">
                <a:solidFill>
                  <a:srgbClr val="12333C"/>
                </a:solidFill>
                <a:latin typeface="Arial" pitchFamily="34" charset="0"/>
                <a:ea typeface="Arial" pitchFamily="34" charset="-122"/>
                <a:cs typeface="Arial" pitchFamily="34" charset="-120"/>
              </a:rPr>
              <a:t>ResourceIndex</a:t>
            </a:r>
            <a:r>
              <a:rPr lang="ar-SA" altLang="en-US" sz="1400" dirty="0">
                <a:solidFill>
                  <a:srgbClr val="12333C"/>
                </a:solidFill>
                <a:latin typeface="Arial" pitchFamily="34" charset="0"/>
                <a:ea typeface="Arial" pitchFamily="34" charset="-122"/>
                <a:cs typeface="Arial" pitchFamily="34" charset="-120"/>
              </a:rPr>
              <a:t>‏ يُسرّع البحث ببارامترات ‏</a:t>
            </a:r>
            <a:r>
              <a:rPr lang="en-US" altLang="en-US" sz="1400" dirty="0">
                <a:solidFill>
                  <a:srgbClr val="12333C"/>
                </a:solidFill>
                <a:latin typeface="Arial" pitchFamily="34" charset="0"/>
                <a:ea typeface="Arial" pitchFamily="34" charset="-122"/>
                <a:cs typeface="Arial" pitchFamily="34" charset="-120"/>
              </a:rPr>
              <a:t>FHIR</a:t>
            </a:r>
            <a:r>
              <a:rPr lang="ar-SA" altLang="en-US" sz="1400" dirty="0">
                <a:solidFill>
                  <a:srgbClr val="12333C"/>
                </a:solidFill>
                <a:latin typeface="Arial" pitchFamily="34" charset="0"/>
                <a:ea typeface="Arial" pitchFamily="34" charset="-122"/>
                <a:cs typeface="Arial" pitchFamily="34" charset="-120"/>
              </a:rPr>
              <a:t>‏ القياسية.</a:t>
            </a:r>
            <a:endParaRPr lang="ar-SA" sz="1400" dirty="0"/>
          </a:p>
          <a:p>
            <a:pPr rtl="1" algn="r" marL="152400" indent="-152400">
              <a:lnSpc>
                <a:spcPct val="120000"/>
              </a:lnSpc>
              <a:spcAft>
                <a:spcPts val="1400"/>
              </a:spcAft>
              <a:buSzPct val="100000"/>
              <a:buChar char="•"/>
            </a:pPr>
            <a:r>
              <a:rPr lang="ar-SA" altLang="en-US" sz="1400" dirty="0">
                <a:solidFill>
                  <a:srgbClr val="12333C"/>
                </a:solidFill>
                <a:latin typeface="Arial" pitchFamily="34" charset="0"/>
                <a:ea typeface="Arial" pitchFamily="34" charset="-122"/>
                <a:cs typeface="Arial" pitchFamily="34" charset="-120"/>
              </a:rPr>
              <a:t>حذفٌ ناعم يُبقي التاريخ محفوظاً ويمنع الضياع غير المقصود للبيانات.</a:t>
            </a:r>
            <a:endParaRPr lang="ar-SA" sz="1400" dirty="0"/>
          </a:p>
        </p:txBody>
      </p:sp>
      <p:sp>
        <p:nvSpPr>
          <p:cNvPr id="7" name="Shape 5"/>
          <p:cNvSpPr/>
          <p:nvPr/>
        </p:nvSpPr>
        <p:spPr>
          <a:xfrm>
            <a:off x="548640" y="1691640"/>
            <a:ext cx="4206240" cy="1325880"/>
          </a:xfrm>
          <a:prstGeom prst="roundRect">
            <a:avLst>
              <a:gd name="adj" fmla="val 5517"/>
            </a:avLst>
          </a:prstGeom>
          <a:solidFill>
            <a:srgbClr val="F2F8F8"/>
          </a:solidFill>
          <a:ln w="9525">
            <a:solidFill>
              <a:srgbClr val="D9E7E9"/>
            </a:solidFill>
            <a:prstDash val="solid"/>
          </a:ln>
        </p:spPr>
      </p:sp>
      <p:sp>
        <p:nvSpPr>
          <p:cNvPr id="8" name="Text 6"/>
          <p:cNvSpPr/>
          <p:nvPr/>
        </p:nvSpPr>
        <p:spPr>
          <a:xfrm>
            <a:off x="731520" y="1837944"/>
            <a:ext cx="1737360" cy="1005840"/>
          </a:xfrm>
          <a:prstGeom prst="rect">
            <a:avLst/>
          </a:prstGeom>
          <a:noFill/>
          <a:ln/>
        </p:spPr>
        <p:txBody>
          <a:bodyPr wrap="square" lIns="0" tIns="0" rIns="0" bIns="0" rtlCol="0" anchor="ctr"/>
          <a:lstStyle/>
          <a:p>
            <a:pPr algn="ctr" indent="0" marL="0">
              <a:buNone/>
            </a:pPr>
            <a:r>
              <a:rPr lang="en-US" sz="4000" b="1" dirty="0">
                <a:solidFill>
                  <a:srgbClr val="0E7C86"/>
                </a:solidFill>
                <a:latin typeface="Arial" pitchFamily="34" charset="0"/>
                <a:ea typeface="Arial" pitchFamily="34" charset="-122"/>
                <a:cs typeface="Arial" pitchFamily="34" charset="-120"/>
              </a:rPr>
              <a:t>13</a:t>
            </a:r>
            <a:endParaRPr lang="en-US" sz="4000" dirty="0"/>
          </a:p>
        </p:txBody>
      </p:sp>
      <p:sp>
        <p:nvSpPr>
          <p:cNvPr id="9" name="Text 7"/>
          <p:cNvSpPr/>
          <p:nvPr/>
        </p:nvSpPr>
        <p:spPr>
          <a:xfrm>
            <a:off x="2514600" y="1837944"/>
            <a:ext cx="2103120" cy="1005840"/>
          </a:xfrm>
          <a:prstGeom prst="rect">
            <a:avLst/>
          </a:prstGeom>
          <a:noFill/>
          <a:ln/>
        </p:spPr>
        <p:txBody>
          <a:bodyPr wrap="square" lIns="0" tIns="0" rIns="0" bIns="0" rtlCol="0" anchor="ctr"/>
          <a:lstStyle/>
          <a:p>
            <a:pPr rtl="1" algn="r" indent="0" marL="0">
              <a:buNone/>
            </a:pPr>
            <a:r>
              <a:rPr lang="ar-SA" altLang="en-US" sz="1350" b="1" dirty="0">
                <a:solidFill>
                  <a:srgbClr val="0A3540"/>
                </a:solidFill>
                <a:latin typeface="Arial" pitchFamily="34" charset="0"/>
                <a:ea typeface="Arial" pitchFamily="34" charset="-122"/>
                <a:cs typeface="Arial" pitchFamily="34" charset="-120"/>
              </a:rPr>
              <a:t>نوع مورد ‏</a:t>
            </a:r>
            <a:r>
              <a:rPr lang="en-US" altLang="en-US" sz="1350" b="1" dirty="0">
                <a:solidFill>
                  <a:srgbClr val="0A3540"/>
                </a:solidFill>
                <a:latin typeface="Arial" pitchFamily="34" charset="0"/>
                <a:ea typeface="Arial" pitchFamily="34" charset="-122"/>
                <a:cs typeface="Arial" pitchFamily="34" charset="-120"/>
              </a:rPr>
              <a:t>FHIR</a:t>
            </a:r>
            <a:r>
              <a:rPr lang="ar-SA" altLang="en-US" sz="1350" b="1" dirty="0">
                <a:solidFill>
                  <a:srgbClr val="0A3540"/>
                </a:solidFill>
                <a:latin typeface="Arial" pitchFamily="34" charset="0"/>
                <a:ea typeface="Arial" pitchFamily="34" charset="-122"/>
                <a:cs typeface="Arial" pitchFamily="34" charset="-120"/>
              </a:rPr>
              <a:t>‏ مدعوم</a:t>
            </a:r>
            <a:endParaRPr lang="ar-SA" sz="1350" dirty="0"/>
          </a:p>
        </p:txBody>
      </p:sp>
      <p:sp>
        <p:nvSpPr>
          <p:cNvPr id="10" name="Shape 8"/>
          <p:cNvSpPr/>
          <p:nvPr/>
        </p:nvSpPr>
        <p:spPr>
          <a:xfrm>
            <a:off x="548640" y="3200400"/>
            <a:ext cx="4206240" cy="1325880"/>
          </a:xfrm>
          <a:prstGeom prst="roundRect">
            <a:avLst>
              <a:gd name="adj" fmla="val 5517"/>
            </a:avLst>
          </a:prstGeom>
          <a:solidFill>
            <a:srgbClr val="F2F8F8"/>
          </a:solidFill>
          <a:ln w="9525">
            <a:solidFill>
              <a:srgbClr val="D9E7E9"/>
            </a:solidFill>
            <a:prstDash val="solid"/>
          </a:ln>
        </p:spPr>
      </p:sp>
      <p:sp>
        <p:nvSpPr>
          <p:cNvPr id="11" name="Text 9"/>
          <p:cNvSpPr/>
          <p:nvPr/>
        </p:nvSpPr>
        <p:spPr>
          <a:xfrm>
            <a:off x="731520" y="3346704"/>
            <a:ext cx="1737360" cy="1005840"/>
          </a:xfrm>
          <a:prstGeom prst="rect">
            <a:avLst/>
          </a:prstGeom>
          <a:noFill/>
          <a:ln/>
        </p:spPr>
        <p:txBody>
          <a:bodyPr wrap="square" lIns="0" tIns="0" rIns="0" bIns="0" rtlCol="0" anchor="ctr"/>
          <a:lstStyle/>
          <a:p>
            <a:pPr algn="ctr" indent="0" marL="0">
              <a:buNone/>
            </a:pPr>
            <a:r>
              <a:rPr lang="en-US" sz="4000" b="1" dirty="0">
                <a:solidFill>
                  <a:srgbClr val="02C39A"/>
                </a:solidFill>
                <a:latin typeface="Arial" pitchFamily="34" charset="0"/>
                <a:ea typeface="Arial" pitchFamily="34" charset="-122"/>
                <a:cs typeface="Arial" pitchFamily="34" charset="-120"/>
              </a:rPr>
              <a:t>R5</a:t>
            </a:r>
            <a:endParaRPr lang="en-US" sz="4000" dirty="0"/>
          </a:p>
        </p:txBody>
      </p:sp>
      <p:sp>
        <p:nvSpPr>
          <p:cNvPr id="12" name="Text 10"/>
          <p:cNvSpPr/>
          <p:nvPr/>
        </p:nvSpPr>
        <p:spPr>
          <a:xfrm>
            <a:off x="2514600" y="3346704"/>
            <a:ext cx="2103120" cy="1005840"/>
          </a:xfrm>
          <a:prstGeom prst="rect">
            <a:avLst/>
          </a:prstGeom>
          <a:noFill/>
          <a:ln/>
        </p:spPr>
        <p:txBody>
          <a:bodyPr wrap="square" lIns="0" tIns="0" rIns="0" bIns="0" rtlCol="0" anchor="ctr"/>
          <a:lstStyle/>
          <a:p>
            <a:pPr rtl="1" algn="r" indent="0" marL="0">
              <a:buNone/>
            </a:pPr>
            <a:r>
              <a:rPr lang="ar-SA" altLang="en-US" sz="1350" b="1" dirty="0">
                <a:solidFill>
                  <a:srgbClr val="0A3540"/>
                </a:solidFill>
                <a:latin typeface="Arial" pitchFamily="34" charset="0"/>
                <a:ea typeface="Arial" pitchFamily="34" charset="-122"/>
                <a:cs typeface="Arial" pitchFamily="34" charset="-120"/>
              </a:rPr>
              <a:t>أحدث إصدارات المعيار</a:t>
            </a:r>
            <a:endParaRPr lang="ar-SA" sz="1350" dirty="0"/>
          </a:p>
        </p:txBody>
      </p:sp>
      <p:sp>
        <p:nvSpPr>
          <p:cNvPr id="13" name="Shape 11"/>
          <p:cNvSpPr/>
          <p:nvPr/>
        </p:nvSpPr>
        <p:spPr>
          <a:xfrm>
            <a:off x="548640" y="4709160"/>
            <a:ext cx="4206240" cy="1325880"/>
          </a:xfrm>
          <a:prstGeom prst="roundRect">
            <a:avLst>
              <a:gd name="adj" fmla="val 5517"/>
            </a:avLst>
          </a:prstGeom>
          <a:solidFill>
            <a:srgbClr val="F2F8F8"/>
          </a:solidFill>
          <a:ln w="9525">
            <a:solidFill>
              <a:srgbClr val="D9E7E9"/>
            </a:solidFill>
            <a:prstDash val="solid"/>
          </a:ln>
        </p:spPr>
      </p:sp>
      <p:sp>
        <p:nvSpPr>
          <p:cNvPr id="14" name="Text 12"/>
          <p:cNvSpPr/>
          <p:nvPr/>
        </p:nvSpPr>
        <p:spPr>
          <a:xfrm>
            <a:off x="731520" y="4855464"/>
            <a:ext cx="1737360" cy="1005840"/>
          </a:xfrm>
          <a:prstGeom prst="rect">
            <a:avLst/>
          </a:prstGeom>
          <a:noFill/>
          <a:ln/>
        </p:spPr>
        <p:txBody>
          <a:bodyPr wrap="square" lIns="0" tIns="0" rIns="0" bIns="0" rtlCol="0" anchor="ctr"/>
          <a:lstStyle/>
          <a:p>
            <a:pPr algn="ctr" indent="0" marL="0">
              <a:buNone/>
            </a:pPr>
            <a:r>
              <a:rPr lang="en-US" sz="4000" b="1" dirty="0">
                <a:solidFill>
                  <a:srgbClr val="E9B44C"/>
                </a:solidFill>
                <a:latin typeface="Arial" pitchFamily="34" charset="0"/>
                <a:ea typeface="Arial" pitchFamily="34" charset="-122"/>
                <a:cs typeface="Arial" pitchFamily="34" charset="-120"/>
              </a:rPr>
              <a:t>JSON</a:t>
            </a:r>
            <a:endParaRPr lang="en-US" sz="4000" dirty="0"/>
          </a:p>
        </p:txBody>
      </p:sp>
      <p:sp>
        <p:nvSpPr>
          <p:cNvPr id="15" name="Text 13"/>
          <p:cNvSpPr/>
          <p:nvPr/>
        </p:nvSpPr>
        <p:spPr>
          <a:xfrm>
            <a:off x="2514600" y="4855464"/>
            <a:ext cx="2103120" cy="1005840"/>
          </a:xfrm>
          <a:prstGeom prst="rect">
            <a:avLst/>
          </a:prstGeom>
          <a:noFill/>
          <a:ln/>
        </p:spPr>
        <p:txBody>
          <a:bodyPr wrap="square" lIns="0" tIns="0" rIns="0" bIns="0" rtlCol="0" anchor="ctr"/>
          <a:lstStyle/>
          <a:p>
            <a:pPr rtl="1" algn="r" indent="0" marL="0">
              <a:buNone/>
            </a:pPr>
            <a:r>
              <a:rPr lang="ar-SA" altLang="en-US" sz="1350" b="1" dirty="0">
                <a:solidFill>
                  <a:srgbClr val="0A3540"/>
                </a:solidFill>
                <a:latin typeface="Arial" pitchFamily="34" charset="0"/>
                <a:ea typeface="Arial" pitchFamily="34" charset="-122"/>
                <a:cs typeface="Arial" pitchFamily="34" charset="-120"/>
              </a:rPr>
              <a:t>تخزينٌ بالصيغة الأصلية</a:t>
            </a:r>
            <a:endParaRPr lang="ar-SA"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نبض — نظام السجلات الطبية الرقمية</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10</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دعم القرار السريري ‏</a:t>
            </a:r>
            <a:r>
              <a:rPr lang="en-US" altLang="en-US" sz="2900" b="1" dirty="0">
                <a:solidFill>
                  <a:srgbClr val="0A3540"/>
                </a:solidFill>
                <a:latin typeface="Arial" pitchFamily="34" charset="0"/>
                <a:ea typeface="Arial" pitchFamily="34" charset="-122"/>
                <a:cs typeface="Arial" pitchFamily="34" charset="-120"/>
              </a:rPr>
              <a:t>CDS</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تنبيهات قابلة للتهيئة في موضع الرعاية — لا مُبرمَجة مسبقاً</a:t>
            </a:r>
            <a:endParaRPr lang="ar-SA" sz="1400" dirty="0"/>
          </a:p>
        </p:txBody>
      </p:sp>
      <p:sp>
        <p:nvSpPr>
          <p:cNvPr id="6" name="Shape 4"/>
          <p:cNvSpPr/>
          <p:nvPr/>
        </p:nvSpPr>
        <p:spPr>
          <a:xfrm>
            <a:off x="6193231" y="1627632"/>
            <a:ext cx="5449824" cy="1481328"/>
          </a:xfrm>
          <a:prstGeom prst="roundRect">
            <a:avLst>
              <a:gd name="adj" fmla="val 4938"/>
            </a:avLst>
          </a:prstGeom>
          <a:solidFill>
            <a:srgbClr val="F2F8F8"/>
          </a:solidFill>
          <a:ln w="9525">
            <a:solidFill>
              <a:srgbClr val="D9E7E9"/>
            </a:solidFill>
            <a:prstDash val="solid"/>
          </a:ln>
        </p:spPr>
      </p:sp>
      <p:sp>
        <p:nvSpPr>
          <p:cNvPr id="7" name="Text 5"/>
          <p:cNvSpPr/>
          <p:nvPr/>
        </p:nvSpPr>
        <p:spPr>
          <a:xfrm>
            <a:off x="6449263" y="1773936"/>
            <a:ext cx="4937760" cy="384048"/>
          </a:xfrm>
          <a:prstGeom prst="rect">
            <a:avLst/>
          </a:prstGeom>
          <a:noFill/>
          <a:ln/>
        </p:spPr>
        <p:txBody>
          <a:bodyPr wrap="square" lIns="0" tIns="0" rIns="0" bIns="0" rtlCol="0" anchor="ctr"/>
          <a:lstStyle/>
          <a:p>
            <a:pPr rtl="1" algn="r" indent="0" marL="0">
              <a:buNone/>
            </a:pPr>
            <a:r>
              <a:rPr lang="en-US" altLang="en-US" sz="1500" b="1" dirty="0">
                <a:solidFill>
                  <a:srgbClr val="0E7C86"/>
                </a:solidFill>
                <a:latin typeface="Arial" pitchFamily="34" charset="0"/>
                <a:ea typeface="Arial" pitchFamily="34" charset="-122"/>
                <a:cs typeface="Arial" pitchFamily="34" charset="-120"/>
              </a:rPr>
              <a:t>CDS Hooks</a:t>
            </a:r>
            <a:endParaRPr lang="ar-SA" sz="1500" dirty="0"/>
          </a:p>
        </p:txBody>
      </p:sp>
      <p:sp>
        <p:nvSpPr>
          <p:cNvPr id="8" name="Text 6"/>
          <p:cNvSpPr/>
          <p:nvPr/>
        </p:nvSpPr>
        <p:spPr>
          <a:xfrm>
            <a:off x="6449263" y="2176272"/>
            <a:ext cx="4937760" cy="822960"/>
          </a:xfrm>
          <a:prstGeom prst="rect">
            <a:avLst/>
          </a:prstGeom>
          <a:noFill/>
          <a:ln/>
        </p:spPr>
        <p:txBody>
          <a:bodyPr wrap="square" lIns="0" tIns="0" rIns="0" bIns="0" rtlCol="0" anchor="t"/>
          <a:lstStyle/>
          <a:p>
            <a:pPr rtl="1" algn="r" indent="0" marL="0">
              <a:lnSpc>
                <a:spcPct val="120000"/>
              </a:lnSpc>
              <a:buNone/>
            </a:pPr>
            <a:r>
              <a:rPr lang="ar-SA" altLang="en-US" sz="1200" dirty="0">
                <a:solidFill>
                  <a:srgbClr val="587078"/>
                </a:solidFill>
                <a:latin typeface="Arial" pitchFamily="34" charset="0"/>
                <a:ea typeface="Arial" pitchFamily="34" charset="-122"/>
                <a:cs typeface="Arial" pitchFamily="34" charset="-120"/>
              </a:rPr>
              <a:t>مساراتٌ قياسية تُستدعى عند فعلٍ سريري — كوصف دواء — فتُعيد بطاقات تنبيه.</a:t>
            </a:r>
            <a:endParaRPr lang="ar-SA" sz="1200" dirty="0"/>
          </a:p>
        </p:txBody>
      </p:sp>
      <p:sp>
        <p:nvSpPr>
          <p:cNvPr id="9" name="Shape 7"/>
          <p:cNvSpPr/>
          <p:nvPr/>
        </p:nvSpPr>
        <p:spPr>
          <a:xfrm>
            <a:off x="551383" y="1627632"/>
            <a:ext cx="5449824" cy="1481328"/>
          </a:xfrm>
          <a:prstGeom prst="roundRect">
            <a:avLst>
              <a:gd name="adj" fmla="val 4938"/>
            </a:avLst>
          </a:prstGeom>
          <a:solidFill>
            <a:srgbClr val="F2F8F8"/>
          </a:solidFill>
          <a:ln w="9525">
            <a:solidFill>
              <a:srgbClr val="D9E7E9"/>
            </a:solidFill>
            <a:prstDash val="solid"/>
          </a:ln>
        </p:spPr>
      </p:sp>
      <p:sp>
        <p:nvSpPr>
          <p:cNvPr id="10" name="Text 8"/>
          <p:cNvSpPr/>
          <p:nvPr/>
        </p:nvSpPr>
        <p:spPr>
          <a:xfrm>
            <a:off x="807415" y="1773936"/>
            <a:ext cx="4937760" cy="384048"/>
          </a:xfrm>
          <a:prstGeom prst="rect">
            <a:avLst/>
          </a:prstGeom>
          <a:noFill/>
          <a:ln/>
        </p:spPr>
        <p:txBody>
          <a:bodyPr wrap="square" lIns="0" tIns="0" rIns="0" bIns="0" rtlCol="0" anchor="ctr"/>
          <a:lstStyle/>
          <a:p>
            <a:pPr rtl="1" algn="r" indent="0" marL="0">
              <a:buNone/>
            </a:pPr>
            <a:r>
              <a:rPr lang="ar-SA" altLang="en-US" sz="1500" b="1" dirty="0">
                <a:solidFill>
                  <a:srgbClr val="0E7C86"/>
                </a:solidFill>
                <a:latin typeface="Arial" pitchFamily="34" charset="0"/>
                <a:ea typeface="Arial" pitchFamily="34" charset="-122"/>
                <a:cs typeface="Arial" pitchFamily="34" charset="-120"/>
              </a:rPr>
              <a:t>محرّك القواعد</a:t>
            </a:r>
            <a:endParaRPr lang="ar-SA" sz="1500" dirty="0"/>
          </a:p>
        </p:txBody>
      </p:sp>
      <p:sp>
        <p:nvSpPr>
          <p:cNvPr id="11" name="Text 9"/>
          <p:cNvSpPr/>
          <p:nvPr/>
        </p:nvSpPr>
        <p:spPr>
          <a:xfrm>
            <a:off x="807415" y="2176272"/>
            <a:ext cx="4937760" cy="822960"/>
          </a:xfrm>
          <a:prstGeom prst="rect">
            <a:avLst/>
          </a:prstGeom>
          <a:noFill/>
          <a:ln/>
        </p:spPr>
        <p:txBody>
          <a:bodyPr wrap="square" lIns="0" tIns="0" rIns="0" bIns="0" rtlCol="0" anchor="t"/>
          <a:lstStyle/>
          <a:p>
            <a:pPr rtl="1" algn="r" indent="0" marL="0">
              <a:lnSpc>
                <a:spcPct val="120000"/>
              </a:lnSpc>
              <a:buNone/>
            </a:pPr>
            <a:r>
              <a:rPr lang="ar-SA" altLang="en-US" sz="1200" dirty="0">
                <a:solidFill>
                  <a:srgbClr val="587078"/>
                </a:solidFill>
                <a:latin typeface="Arial" pitchFamily="34" charset="0"/>
                <a:ea typeface="Arial" pitchFamily="34" charset="-122"/>
                <a:cs typeface="Arial" pitchFamily="34" charset="-120"/>
              </a:rPr>
              <a:t>قواعد ‏</a:t>
            </a:r>
            <a:r>
              <a:rPr lang="en-US" altLang="en-US" sz="1200" dirty="0">
                <a:solidFill>
                  <a:srgbClr val="587078"/>
                </a:solidFill>
                <a:latin typeface="Arial" pitchFamily="34" charset="0"/>
                <a:ea typeface="Arial" pitchFamily="34" charset="-122"/>
                <a:cs typeface="Arial" pitchFamily="34" charset="-120"/>
              </a:rPr>
              <a:t>JSON-Logic</a:t>
            </a:r>
            <a:r>
              <a:rPr lang="ar-SA" altLang="en-US" sz="1200" dirty="0">
                <a:solidFill>
                  <a:srgbClr val="587078"/>
                </a:solidFill>
                <a:latin typeface="Arial" pitchFamily="34" charset="0"/>
                <a:ea typeface="Arial" pitchFamily="34" charset="-122"/>
                <a:cs typeface="Arial" pitchFamily="34" charset="-120"/>
              </a:rPr>
              <a:t>‏ تُقيَّم على متغيّرات سريرية ودوائية وقيَم الذكاء الاصطناعي.</a:t>
            </a:r>
            <a:endParaRPr lang="ar-SA" sz="1200" dirty="0"/>
          </a:p>
        </p:txBody>
      </p:sp>
      <p:sp>
        <p:nvSpPr>
          <p:cNvPr id="12" name="Shape 10"/>
          <p:cNvSpPr/>
          <p:nvPr/>
        </p:nvSpPr>
        <p:spPr>
          <a:xfrm>
            <a:off x="6193231" y="3328416"/>
            <a:ext cx="5449824" cy="1481328"/>
          </a:xfrm>
          <a:prstGeom prst="roundRect">
            <a:avLst>
              <a:gd name="adj" fmla="val 4938"/>
            </a:avLst>
          </a:prstGeom>
          <a:solidFill>
            <a:srgbClr val="F2F8F8"/>
          </a:solidFill>
          <a:ln w="9525">
            <a:solidFill>
              <a:srgbClr val="D9E7E9"/>
            </a:solidFill>
            <a:prstDash val="solid"/>
          </a:ln>
        </p:spPr>
      </p:sp>
      <p:sp>
        <p:nvSpPr>
          <p:cNvPr id="13" name="Text 11"/>
          <p:cNvSpPr/>
          <p:nvPr/>
        </p:nvSpPr>
        <p:spPr>
          <a:xfrm>
            <a:off x="6449263" y="3474720"/>
            <a:ext cx="4937760" cy="384048"/>
          </a:xfrm>
          <a:prstGeom prst="rect">
            <a:avLst/>
          </a:prstGeom>
          <a:noFill/>
          <a:ln/>
        </p:spPr>
        <p:txBody>
          <a:bodyPr wrap="square" lIns="0" tIns="0" rIns="0" bIns="0" rtlCol="0" anchor="ctr"/>
          <a:lstStyle/>
          <a:p>
            <a:pPr rtl="1" algn="r" indent="0" marL="0">
              <a:buNone/>
            </a:pPr>
            <a:r>
              <a:rPr lang="ar-SA" altLang="en-US" sz="1500" b="1" dirty="0">
                <a:solidFill>
                  <a:srgbClr val="0E7C86"/>
                </a:solidFill>
                <a:latin typeface="Arial" pitchFamily="34" charset="0"/>
                <a:ea typeface="Arial" pitchFamily="34" charset="-122"/>
                <a:cs typeface="Arial" pitchFamily="34" charset="-120"/>
              </a:rPr>
              <a:t>ورشة التأليف</a:t>
            </a:r>
            <a:endParaRPr lang="ar-SA" sz="1500" dirty="0"/>
          </a:p>
        </p:txBody>
      </p:sp>
      <p:sp>
        <p:nvSpPr>
          <p:cNvPr id="14" name="Text 12"/>
          <p:cNvSpPr/>
          <p:nvPr/>
        </p:nvSpPr>
        <p:spPr>
          <a:xfrm>
            <a:off x="6449263" y="3877056"/>
            <a:ext cx="4937760" cy="822960"/>
          </a:xfrm>
          <a:prstGeom prst="rect">
            <a:avLst/>
          </a:prstGeom>
          <a:noFill/>
          <a:ln/>
        </p:spPr>
        <p:txBody>
          <a:bodyPr wrap="square" lIns="0" tIns="0" rIns="0" bIns="0" rtlCol="0" anchor="t"/>
          <a:lstStyle/>
          <a:p>
            <a:pPr rtl="1" algn="r" indent="0" marL="0">
              <a:lnSpc>
                <a:spcPct val="120000"/>
              </a:lnSpc>
              <a:buNone/>
            </a:pPr>
            <a:r>
              <a:rPr lang="ar-SA" altLang="en-US" sz="1200" dirty="0">
                <a:solidFill>
                  <a:srgbClr val="587078"/>
                </a:solidFill>
                <a:latin typeface="Arial" pitchFamily="34" charset="0"/>
                <a:ea typeface="Arial" pitchFamily="34" charset="-122"/>
                <a:cs typeface="Arial" pitchFamily="34" charset="-120"/>
              </a:rPr>
              <a:t>إنشاء القواعد من قوالب، ثم تحقّق ومعاينة ونشرٌ مُصدَّر النسخ وتفعيل.</a:t>
            </a:r>
            <a:endParaRPr lang="ar-SA" sz="1200" dirty="0"/>
          </a:p>
        </p:txBody>
      </p:sp>
      <p:sp>
        <p:nvSpPr>
          <p:cNvPr id="15" name="Shape 13"/>
          <p:cNvSpPr/>
          <p:nvPr/>
        </p:nvSpPr>
        <p:spPr>
          <a:xfrm>
            <a:off x="551383" y="3328416"/>
            <a:ext cx="5449824" cy="1481328"/>
          </a:xfrm>
          <a:prstGeom prst="roundRect">
            <a:avLst>
              <a:gd name="adj" fmla="val 4938"/>
            </a:avLst>
          </a:prstGeom>
          <a:solidFill>
            <a:srgbClr val="F2F8F8"/>
          </a:solidFill>
          <a:ln w="9525">
            <a:solidFill>
              <a:srgbClr val="D9E7E9"/>
            </a:solidFill>
            <a:prstDash val="solid"/>
          </a:ln>
        </p:spPr>
      </p:sp>
      <p:sp>
        <p:nvSpPr>
          <p:cNvPr id="16" name="Text 14"/>
          <p:cNvSpPr/>
          <p:nvPr/>
        </p:nvSpPr>
        <p:spPr>
          <a:xfrm>
            <a:off x="807415" y="3474720"/>
            <a:ext cx="4937760" cy="384048"/>
          </a:xfrm>
          <a:prstGeom prst="rect">
            <a:avLst/>
          </a:prstGeom>
          <a:noFill/>
          <a:ln/>
        </p:spPr>
        <p:txBody>
          <a:bodyPr wrap="square" lIns="0" tIns="0" rIns="0" bIns="0" rtlCol="0" anchor="ctr"/>
          <a:lstStyle/>
          <a:p>
            <a:pPr rtl="1" algn="r" indent="0" marL="0">
              <a:buNone/>
            </a:pPr>
            <a:r>
              <a:rPr lang="ar-SA" altLang="en-US" sz="1500" b="1" dirty="0">
                <a:solidFill>
                  <a:srgbClr val="0E7C86"/>
                </a:solidFill>
                <a:latin typeface="Arial" pitchFamily="34" charset="0"/>
                <a:ea typeface="Arial" pitchFamily="34" charset="-122"/>
                <a:cs typeface="Arial" pitchFamily="34" charset="-120"/>
              </a:rPr>
              <a:t>معرفة الأدوية</a:t>
            </a:r>
            <a:endParaRPr lang="ar-SA" sz="1500" dirty="0"/>
          </a:p>
        </p:txBody>
      </p:sp>
      <p:sp>
        <p:nvSpPr>
          <p:cNvPr id="17" name="Text 15"/>
          <p:cNvSpPr/>
          <p:nvPr/>
        </p:nvSpPr>
        <p:spPr>
          <a:xfrm>
            <a:off x="807415" y="3877056"/>
            <a:ext cx="4937760" cy="822960"/>
          </a:xfrm>
          <a:prstGeom prst="rect">
            <a:avLst/>
          </a:prstGeom>
          <a:noFill/>
          <a:ln/>
        </p:spPr>
        <p:txBody>
          <a:bodyPr wrap="square" lIns="0" tIns="0" rIns="0" bIns="0" rtlCol="0" anchor="t"/>
          <a:lstStyle/>
          <a:p>
            <a:pPr rtl="1" algn="r" indent="0" marL="0">
              <a:lnSpc>
                <a:spcPct val="120000"/>
              </a:lnSpc>
              <a:buNone/>
            </a:pPr>
            <a:r>
              <a:rPr lang="ar-SA" altLang="en-US" sz="1200" dirty="0">
                <a:solidFill>
                  <a:srgbClr val="587078"/>
                </a:solidFill>
                <a:latin typeface="Arial" pitchFamily="34" charset="0"/>
                <a:ea typeface="Arial" pitchFamily="34" charset="-122"/>
                <a:cs typeface="Arial" pitchFamily="34" charset="-120"/>
              </a:rPr>
              <a:t>فحوص الجرعات القصوى والمواد الخاضعة للرقابة وتكرار المكوّن الدوائي.</a:t>
            </a:r>
            <a:endParaRPr lang="ar-SA" sz="1200" dirty="0"/>
          </a:p>
        </p:txBody>
      </p:sp>
      <p:sp>
        <p:nvSpPr>
          <p:cNvPr id="18" name="Shape 16"/>
          <p:cNvSpPr/>
          <p:nvPr/>
        </p:nvSpPr>
        <p:spPr>
          <a:xfrm>
            <a:off x="9311335" y="5120640"/>
            <a:ext cx="2331720" cy="685800"/>
          </a:xfrm>
          <a:prstGeom prst="roundRect">
            <a:avLst>
              <a:gd name="adj" fmla="val 13333"/>
            </a:avLst>
          </a:prstGeom>
          <a:solidFill>
            <a:srgbClr val="0A3540"/>
          </a:solidFill>
          <a:ln/>
        </p:spPr>
      </p:sp>
      <p:sp>
        <p:nvSpPr>
          <p:cNvPr id="19" name="Text 17"/>
          <p:cNvSpPr/>
          <p:nvPr/>
        </p:nvSpPr>
        <p:spPr>
          <a:xfrm>
            <a:off x="9311335" y="5120640"/>
            <a:ext cx="2331720" cy="685800"/>
          </a:xfrm>
          <a:prstGeom prst="rect">
            <a:avLst/>
          </a:prstGeom>
          <a:noFill/>
          <a:ln/>
        </p:spPr>
        <p:txBody>
          <a:bodyPr wrap="square" lIns="0" tIns="0" rIns="0" bIns="0" rtlCol="0" anchor="ctr"/>
          <a:lstStyle/>
          <a:p>
            <a:pPr rtl="1" algn="ctr" indent="0" marL="0">
              <a:buNone/>
            </a:pPr>
            <a:r>
              <a:rPr lang="ar-SA" altLang="en-US" sz="1250" b="1" dirty="0">
                <a:solidFill>
                  <a:srgbClr val="FFFFFF"/>
                </a:solidFill>
                <a:latin typeface="Arial" pitchFamily="34" charset="0"/>
                <a:ea typeface="Arial" pitchFamily="34" charset="-122"/>
                <a:cs typeface="Arial" pitchFamily="34" charset="-120"/>
              </a:rPr>
              <a:t>وصف دواء</a:t>
            </a:r>
            <a:endParaRPr lang="ar-SA" sz="1250" dirty="0"/>
          </a:p>
        </p:txBody>
      </p:sp>
      <p:sp>
        <p:nvSpPr>
          <p:cNvPr id="20" name="Text 18"/>
          <p:cNvSpPr/>
          <p:nvPr/>
        </p:nvSpPr>
        <p:spPr>
          <a:xfrm>
            <a:off x="8716975" y="5120640"/>
            <a:ext cx="594360" cy="685800"/>
          </a:xfrm>
          <a:prstGeom prst="rect">
            <a:avLst/>
          </a:prstGeom>
          <a:noFill/>
          <a:ln/>
        </p:spPr>
        <p:txBody>
          <a:bodyPr wrap="square" lIns="0" tIns="0" rIns="0" bIns="0" rtlCol="0" anchor="ctr"/>
          <a:lstStyle/>
          <a:p>
            <a:pPr algn="ctr" indent="0" marL="0">
              <a:buNone/>
            </a:pPr>
            <a:r>
              <a:rPr lang="en-US" sz="1600" dirty="0">
                <a:solidFill>
                  <a:srgbClr val="0E7C86"/>
                </a:solidFill>
                <a:latin typeface="Arial" pitchFamily="34" charset="0"/>
                <a:ea typeface="Arial" pitchFamily="34" charset="-122"/>
                <a:cs typeface="Arial" pitchFamily="34" charset="-120"/>
              </a:rPr>
              <a:t>◀</a:t>
            </a:r>
            <a:endParaRPr lang="en-US" sz="1600" dirty="0"/>
          </a:p>
        </p:txBody>
      </p:sp>
      <p:sp>
        <p:nvSpPr>
          <p:cNvPr id="21" name="Shape 19"/>
          <p:cNvSpPr/>
          <p:nvPr/>
        </p:nvSpPr>
        <p:spPr>
          <a:xfrm>
            <a:off x="6385255" y="5120640"/>
            <a:ext cx="2331720" cy="685800"/>
          </a:xfrm>
          <a:prstGeom prst="roundRect">
            <a:avLst>
              <a:gd name="adj" fmla="val 13333"/>
            </a:avLst>
          </a:prstGeom>
          <a:solidFill>
            <a:srgbClr val="0A3540"/>
          </a:solidFill>
          <a:ln/>
        </p:spPr>
      </p:sp>
      <p:sp>
        <p:nvSpPr>
          <p:cNvPr id="22" name="Text 20"/>
          <p:cNvSpPr/>
          <p:nvPr/>
        </p:nvSpPr>
        <p:spPr>
          <a:xfrm>
            <a:off x="6385255" y="5120640"/>
            <a:ext cx="2331720" cy="685800"/>
          </a:xfrm>
          <a:prstGeom prst="rect">
            <a:avLst/>
          </a:prstGeom>
          <a:noFill/>
          <a:ln/>
        </p:spPr>
        <p:txBody>
          <a:bodyPr wrap="square" lIns="0" tIns="0" rIns="0" bIns="0" rtlCol="0" anchor="ctr"/>
          <a:lstStyle/>
          <a:p>
            <a:pPr rtl="1" algn="ctr" indent="0" marL="0">
              <a:buNone/>
            </a:pPr>
            <a:r>
              <a:rPr lang="ar-SA" altLang="en-US" sz="1250" b="1" dirty="0">
                <a:solidFill>
                  <a:srgbClr val="FFFFFF"/>
                </a:solidFill>
                <a:latin typeface="Arial" pitchFamily="34" charset="0"/>
                <a:ea typeface="Arial" pitchFamily="34" charset="-122"/>
                <a:cs typeface="Arial" pitchFamily="34" charset="-120"/>
              </a:rPr>
              <a:t>استدعاء ‏</a:t>
            </a:r>
            <a:r>
              <a:rPr lang="en-US" altLang="en-US" sz="1250" b="1" dirty="0">
                <a:solidFill>
                  <a:srgbClr val="FFFFFF"/>
                </a:solidFill>
                <a:latin typeface="Arial" pitchFamily="34" charset="0"/>
                <a:ea typeface="Arial" pitchFamily="34" charset="-122"/>
                <a:cs typeface="Arial" pitchFamily="34" charset="-120"/>
              </a:rPr>
              <a:t>CDS Hook</a:t>
            </a:r>
            <a:endParaRPr lang="ar-SA" sz="1250" dirty="0"/>
          </a:p>
        </p:txBody>
      </p:sp>
      <p:sp>
        <p:nvSpPr>
          <p:cNvPr id="23" name="Text 21"/>
          <p:cNvSpPr/>
          <p:nvPr/>
        </p:nvSpPr>
        <p:spPr>
          <a:xfrm>
            <a:off x="5790895" y="5120640"/>
            <a:ext cx="594360" cy="685800"/>
          </a:xfrm>
          <a:prstGeom prst="rect">
            <a:avLst/>
          </a:prstGeom>
          <a:noFill/>
          <a:ln/>
        </p:spPr>
        <p:txBody>
          <a:bodyPr wrap="square" lIns="0" tIns="0" rIns="0" bIns="0" rtlCol="0" anchor="ctr"/>
          <a:lstStyle/>
          <a:p>
            <a:pPr algn="ctr" indent="0" marL="0">
              <a:buNone/>
            </a:pPr>
            <a:r>
              <a:rPr lang="en-US" sz="1600" dirty="0">
                <a:solidFill>
                  <a:srgbClr val="0E7C86"/>
                </a:solidFill>
                <a:latin typeface="Arial" pitchFamily="34" charset="0"/>
                <a:ea typeface="Arial" pitchFamily="34" charset="-122"/>
                <a:cs typeface="Arial" pitchFamily="34" charset="-120"/>
              </a:rPr>
              <a:t>◀</a:t>
            </a:r>
            <a:endParaRPr lang="en-US" sz="1600" dirty="0"/>
          </a:p>
        </p:txBody>
      </p:sp>
      <p:sp>
        <p:nvSpPr>
          <p:cNvPr id="24" name="Shape 22"/>
          <p:cNvSpPr/>
          <p:nvPr/>
        </p:nvSpPr>
        <p:spPr>
          <a:xfrm>
            <a:off x="3459175" y="5120640"/>
            <a:ext cx="2331720" cy="685800"/>
          </a:xfrm>
          <a:prstGeom prst="roundRect">
            <a:avLst>
              <a:gd name="adj" fmla="val 13333"/>
            </a:avLst>
          </a:prstGeom>
          <a:solidFill>
            <a:srgbClr val="0A3540"/>
          </a:solidFill>
          <a:ln/>
        </p:spPr>
      </p:sp>
      <p:sp>
        <p:nvSpPr>
          <p:cNvPr id="25" name="Text 23"/>
          <p:cNvSpPr/>
          <p:nvPr/>
        </p:nvSpPr>
        <p:spPr>
          <a:xfrm>
            <a:off x="3459175" y="5120640"/>
            <a:ext cx="2331720" cy="685800"/>
          </a:xfrm>
          <a:prstGeom prst="rect">
            <a:avLst/>
          </a:prstGeom>
          <a:noFill/>
          <a:ln/>
        </p:spPr>
        <p:txBody>
          <a:bodyPr wrap="square" lIns="0" tIns="0" rIns="0" bIns="0" rtlCol="0" anchor="ctr"/>
          <a:lstStyle/>
          <a:p>
            <a:pPr rtl="1" algn="ctr" indent="0" marL="0">
              <a:buNone/>
            </a:pPr>
            <a:r>
              <a:rPr lang="ar-SA" altLang="en-US" sz="1250" b="1" dirty="0">
                <a:solidFill>
                  <a:srgbClr val="FFFFFF"/>
                </a:solidFill>
                <a:latin typeface="Arial" pitchFamily="34" charset="0"/>
                <a:ea typeface="Arial" pitchFamily="34" charset="-122"/>
                <a:cs typeface="Arial" pitchFamily="34" charset="-120"/>
              </a:rPr>
              <a:t>تقييم القواعد</a:t>
            </a:r>
            <a:endParaRPr lang="ar-SA" sz="1250" dirty="0"/>
          </a:p>
        </p:txBody>
      </p:sp>
      <p:sp>
        <p:nvSpPr>
          <p:cNvPr id="26" name="Text 24"/>
          <p:cNvSpPr/>
          <p:nvPr/>
        </p:nvSpPr>
        <p:spPr>
          <a:xfrm>
            <a:off x="2864815" y="5120640"/>
            <a:ext cx="594360" cy="685800"/>
          </a:xfrm>
          <a:prstGeom prst="rect">
            <a:avLst/>
          </a:prstGeom>
          <a:noFill/>
          <a:ln/>
        </p:spPr>
        <p:txBody>
          <a:bodyPr wrap="square" lIns="0" tIns="0" rIns="0" bIns="0" rtlCol="0" anchor="ctr"/>
          <a:lstStyle/>
          <a:p>
            <a:pPr algn="ctr" indent="0" marL="0">
              <a:buNone/>
            </a:pPr>
            <a:r>
              <a:rPr lang="en-US" sz="1600" dirty="0">
                <a:solidFill>
                  <a:srgbClr val="0E7C86"/>
                </a:solidFill>
                <a:latin typeface="Arial" pitchFamily="34" charset="0"/>
                <a:ea typeface="Arial" pitchFamily="34" charset="-122"/>
                <a:cs typeface="Arial" pitchFamily="34" charset="-120"/>
              </a:rPr>
              <a:t>◀</a:t>
            </a:r>
            <a:endParaRPr lang="en-US" sz="1600" dirty="0"/>
          </a:p>
        </p:txBody>
      </p:sp>
      <p:sp>
        <p:nvSpPr>
          <p:cNvPr id="27" name="Shape 25"/>
          <p:cNvSpPr/>
          <p:nvPr/>
        </p:nvSpPr>
        <p:spPr>
          <a:xfrm>
            <a:off x="533095" y="5120640"/>
            <a:ext cx="2331720" cy="685800"/>
          </a:xfrm>
          <a:prstGeom prst="roundRect">
            <a:avLst>
              <a:gd name="adj" fmla="val 13333"/>
            </a:avLst>
          </a:prstGeom>
          <a:solidFill>
            <a:srgbClr val="02C39A"/>
          </a:solidFill>
          <a:ln/>
        </p:spPr>
      </p:sp>
      <p:sp>
        <p:nvSpPr>
          <p:cNvPr id="28" name="Text 26"/>
          <p:cNvSpPr/>
          <p:nvPr/>
        </p:nvSpPr>
        <p:spPr>
          <a:xfrm>
            <a:off x="533095" y="5120640"/>
            <a:ext cx="2331720" cy="685800"/>
          </a:xfrm>
          <a:prstGeom prst="rect">
            <a:avLst/>
          </a:prstGeom>
          <a:noFill/>
          <a:ln/>
        </p:spPr>
        <p:txBody>
          <a:bodyPr wrap="square" lIns="0" tIns="0" rIns="0" bIns="0" rtlCol="0" anchor="ctr"/>
          <a:lstStyle/>
          <a:p>
            <a:pPr rtl="1" algn="ctr" indent="0" marL="0">
              <a:buNone/>
            </a:pPr>
            <a:r>
              <a:rPr lang="ar-SA" altLang="en-US" sz="1250" b="1" dirty="0">
                <a:solidFill>
                  <a:srgbClr val="FFFFFF"/>
                </a:solidFill>
                <a:latin typeface="Arial" pitchFamily="34" charset="0"/>
                <a:ea typeface="Arial" pitchFamily="34" charset="-122"/>
                <a:cs typeface="Arial" pitchFamily="34" charset="-120"/>
              </a:rPr>
              <a:t>بطاقة تنبيه للطبيب</a:t>
            </a:r>
            <a:endParaRPr lang="ar-SA"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نبض — نظام السجلات الطبية الرقمية</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11</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نماذج الذكاء الاصطناعي التنبّؤية</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مُدرَّبة على بيانات بحثية عامة — تُقيِّم كلّ مريض من بياناته الفعلية</a:t>
            </a:r>
            <a:endParaRPr lang="ar-SA" sz="1400" dirty="0"/>
          </a:p>
        </p:txBody>
      </p:sp>
      <p:sp>
        <p:nvSpPr>
          <p:cNvPr id="6" name="Shape 4"/>
          <p:cNvSpPr/>
          <p:nvPr/>
        </p:nvSpPr>
        <p:spPr>
          <a:xfrm>
            <a:off x="8076895" y="1645920"/>
            <a:ext cx="3566160" cy="3291840"/>
          </a:xfrm>
          <a:prstGeom prst="roundRect">
            <a:avLst>
              <a:gd name="adj" fmla="val 2222"/>
            </a:avLst>
          </a:prstGeom>
          <a:solidFill>
            <a:srgbClr val="F2F8F8"/>
          </a:solidFill>
          <a:ln w="9525">
            <a:solidFill>
              <a:srgbClr val="D9E7E9"/>
            </a:solidFill>
            <a:prstDash val="solid"/>
          </a:ln>
        </p:spPr>
      </p:sp>
      <p:sp>
        <p:nvSpPr>
          <p:cNvPr id="7" name="Text 5"/>
          <p:cNvSpPr/>
          <p:nvPr/>
        </p:nvSpPr>
        <p:spPr>
          <a:xfrm>
            <a:off x="8259775" y="1847088"/>
            <a:ext cx="3200400" cy="685800"/>
          </a:xfrm>
          <a:prstGeom prst="rect">
            <a:avLst/>
          </a:prstGeom>
          <a:noFill/>
          <a:ln/>
        </p:spPr>
        <p:txBody>
          <a:bodyPr wrap="square" rtlCol="0" anchor="t"/>
          <a:lstStyle/>
          <a:p>
            <a:pPr rtl="1" algn="ctr" indent="0" marL="0">
              <a:buNone/>
            </a:pPr>
            <a:r>
              <a:rPr lang="ar-SA" altLang="en-US" sz="1550" b="1" dirty="0">
                <a:solidFill>
                  <a:srgbClr val="0A3540"/>
                </a:solidFill>
                <a:latin typeface="Arial" pitchFamily="34" charset="0"/>
                <a:ea typeface="Arial" pitchFamily="34" charset="-122"/>
                <a:cs typeface="Arial" pitchFamily="34" charset="-120"/>
              </a:rPr>
              <a:t>خطر السكري</a:t>
            </a:r>
            <a:endParaRPr lang="ar-SA" sz="1550" dirty="0"/>
          </a:p>
        </p:txBody>
      </p:sp>
      <p:sp>
        <p:nvSpPr>
          <p:cNvPr id="8" name="Text 6"/>
          <p:cNvSpPr/>
          <p:nvPr/>
        </p:nvSpPr>
        <p:spPr>
          <a:xfrm>
            <a:off x="8259775" y="2468880"/>
            <a:ext cx="3200400" cy="960120"/>
          </a:xfrm>
          <a:prstGeom prst="rect">
            <a:avLst/>
          </a:prstGeom>
          <a:noFill/>
          <a:ln/>
        </p:spPr>
        <p:txBody>
          <a:bodyPr wrap="square" rtlCol="0" anchor="ctr"/>
          <a:lstStyle/>
          <a:p>
            <a:pPr algn="ctr" indent="0" marL="0">
              <a:buNone/>
            </a:pPr>
            <a:r>
              <a:rPr lang="en-US" sz="4800" b="1" dirty="0">
                <a:solidFill>
                  <a:srgbClr val="0E7C86"/>
                </a:solidFill>
                <a:latin typeface="Arial" pitchFamily="34" charset="0"/>
                <a:ea typeface="Arial" pitchFamily="34" charset="-122"/>
                <a:cs typeface="Arial" pitchFamily="34" charset="-120"/>
              </a:rPr>
              <a:t>0.82</a:t>
            </a:r>
            <a:endParaRPr lang="en-US" sz="4800" dirty="0"/>
          </a:p>
        </p:txBody>
      </p:sp>
      <p:sp>
        <p:nvSpPr>
          <p:cNvPr id="9" name="Text 7"/>
          <p:cNvSpPr/>
          <p:nvPr/>
        </p:nvSpPr>
        <p:spPr>
          <a:xfrm>
            <a:off x="8259775" y="3429000"/>
            <a:ext cx="3200400" cy="274320"/>
          </a:xfrm>
          <a:prstGeom prst="rect">
            <a:avLst/>
          </a:prstGeom>
          <a:noFill/>
          <a:ln/>
        </p:spPr>
        <p:txBody>
          <a:bodyPr wrap="square" rtlCol="0" anchor="ctr"/>
          <a:lstStyle/>
          <a:p>
            <a:pPr algn="ctr" indent="0" marL="0">
              <a:buNone/>
            </a:pPr>
            <a:r>
              <a:rPr lang="en-US" sz="1050" b="1" dirty="0">
                <a:solidFill>
                  <a:srgbClr val="587078"/>
                </a:solidFill>
                <a:latin typeface="Arial" pitchFamily="34" charset="0"/>
                <a:ea typeface="Arial" pitchFamily="34" charset="-122"/>
                <a:cs typeface="Arial" pitchFamily="34" charset="-120"/>
              </a:rPr>
              <a:t>ROC-AUC</a:t>
            </a:r>
            <a:endParaRPr lang="en-US" sz="1050" dirty="0"/>
          </a:p>
        </p:txBody>
      </p:sp>
      <p:sp>
        <p:nvSpPr>
          <p:cNvPr id="10" name="Text 8"/>
          <p:cNvSpPr/>
          <p:nvPr/>
        </p:nvSpPr>
        <p:spPr>
          <a:xfrm>
            <a:off x="8305495" y="3767328"/>
            <a:ext cx="3108960" cy="685800"/>
          </a:xfrm>
          <a:prstGeom prst="rect">
            <a:avLst/>
          </a:prstGeom>
          <a:noFill/>
          <a:ln/>
        </p:spPr>
        <p:txBody>
          <a:bodyPr wrap="square" rtlCol="0" anchor="t"/>
          <a:lstStyle/>
          <a:p>
            <a:pPr rtl="1" algn="ctr" indent="0" marL="0">
              <a:lnSpc>
                <a:spcPct val="120000"/>
              </a:lnSpc>
              <a:buNone/>
            </a:pPr>
            <a:r>
              <a:rPr lang="ar-SA" altLang="en-US" sz="1100" dirty="0">
                <a:solidFill>
                  <a:srgbClr val="12333C"/>
                </a:solidFill>
                <a:latin typeface="Arial" pitchFamily="34" charset="0"/>
                <a:ea typeface="Arial" pitchFamily="34" charset="-122"/>
                <a:cs typeface="Arial" pitchFamily="34" charset="-120"/>
              </a:rPr>
              <a:t>الغلوكوز · الضغط الانبساطي · كتلة الجسم · العمر</a:t>
            </a:r>
            <a:endParaRPr lang="ar-SA" sz="1100" dirty="0"/>
          </a:p>
        </p:txBody>
      </p:sp>
      <p:sp>
        <p:nvSpPr>
          <p:cNvPr id="11" name="Text 9"/>
          <p:cNvSpPr/>
          <p:nvPr/>
        </p:nvSpPr>
        <p:spPr>
          <a:xfrm>
            <a:off x="8259775" y="4498848"/>
            <a:ext cx="3200400" cy="274320"/>
          </a:xfrm>
          <a:prstGeom prst="rect">
            <a:avLst/>
          </a:prstGeom>
          <a:noFill/>
          <a:ln/>
        </p:spPr>
        <p:txBody>
          <a:bodyPr wrap="square" rtlCol="0" anchor="ctr"/>
          <a:lstStyle/>
          <a:p>
            <a:pPr algn="ctr" indent="0" marL="0">
              <a:buNone/>
            </a:pPr>
            <a:r>
              <a:rPr lang="en-US" sz="1000" i="1" dirty="0">
                <a:solidFill>
                  <a:srgbClr val="587078"/>
                </a:solidFill>
                <a:latin typeface="Arial" pitchFamily="34" charset="0"/>
                <a:ea typeface="Arial" pitchFamily="34" charset="-122"/>
                <a:cs typeface="Arial" pitchFamily="34" charset="-120"/>
              </a:rPr>
              <a:t>Pima Indians Diabetes</a:t>
            </a:r>
            <a:endParaRPr lang="en-US" sz="1000" dirty="0"/>
          </a:p>
        </p:txBody>
      </p:sp>
      <p:sp>
        <p:nvSpPr>
          <p:cNvPr id="12" name="Shape 10"/>
          <p:cNvSpPr/>
          <p:nvPr/>
        </p:nvSpPr>
        <p:spPr>
          <a:xfrm>
            <a:off x="4309567" y="1645920"/>
            <a:ext cx="3566160" cy="3291840"/>
          </a:xfrm>
          <a:prstGeom prst="roundRect">
            <a:avLst>
              <a:gd name="adj" fmla="val 2222"/>
            </a:avLst>
          </a:prstGeom>
          <a:solidFill>
            <a:srgbClr val="F2F8F8"/>
          </a:solidFill>
          <a:ln w="9525">
            <a:solidFill>
              <a:srgbClr val="D9E7E9"/>
            </a:solidFill>
            <a:prstDash val="solid"/>
          </a:ln>
        </p:spPr>
      </p:sp>
      <p:sp>
        <p:nvSpPr>
          <p:cNvPr id="13" name="Text 11"/>
          <p:cNvSpPr/>
          <p:nvPr/>
        </p:nvSpPr>
        <p:spPr>
          <a:xfrm>
            <a:off x="4492447" y="1847088"/>
            <a:ext cx="3200400" cy="685800"/>
          </a:xfrm>
          <a:prstGeom prst="rect">
            <a:avLst/>
          </a:prstGeom>
          <a:noFill/>
          <a:ln/>
        </p:spPr>
        <p:txBody>
          <a:bodyPr wrap="square" rtlCol="0" anchor="t"/>
          <a:lstStyle/>
          <a:p>
            <a:pPr rtl="1" algn="ctr" indent="0" marL="0">
              <a:buNone/>
            </a:pPr>
            <a:r>
              <a:rPr lang="ar-SA" altLang="en-US" sz="1550" b="1" dirty="0">
                <a:solidFill>
                  <a:srgbClr val="0A3540"/>
                </a:solidFill>
                <a:latin typeface="Arial" pitchFamily="34" charset="0"/>
                <a:ea typeface="Arial" pitchFamily="34" charset="-122"/>
                <a:cs typeface="Arial" pitchFamily="34" charset="-120"/>
              </a:rPr>
              <a:t>خطر أمراض القلب</a:t>
            </a:r>
            <a:endParaRPr lang="ar-SA" sz="1550" dirty="0"/>
          </a:p>
        </p:txBody>
      </p:sp>
      <p:sp>
        <p:nvSpPr>
          <p:cNvPr id="14" name="Text 12"/>
          <p:cNvSpPr/>
          <p:nvPr/>
        </p:nvSpPr>
        <p:spPr>
          <a:xfrm>
            <a:off x="4492447" y="2468880"/>
            <a:ext cx="3200400" cy="960120"/>
          </a:xfrm>
          <a:prstGeom prst="rect">
            <a:avLst/>
          </a:prstGeom>
          <a:noFill/>
          <a:ln/>
        </p:spPr>
        <p:txBody>
          <a:bodyPr wrap="square" rtlCol="0" anchor="ctr"/>
          <a:lstStyle/>
          <a:p>
            <a:pPr algn="ctr" indent="0" marL="0">
              <a:buNone/>
            </a:pPr>
            <a:r>
              <a:rPr lang="en-US" sz="4800" b="1" dirty="0">
                <a:solidFill>
                  <a:srgbClr val="02C39A"/>
                </a:solidFill>
                <a:latin typeface="Arial" pitchFamily="34" charset="0"/>
                <a:ea typeface="Arial" pitchFamily="34" charset="-122"/>
                <a:cs typeface="Arial" pitchFamily="34" charset="-120"/>
              </a:rPr>
              <a:t>0.93</a:t>
            </a:r>
            <a:endParaRPr lang="en-US" sz="4800" dirty="0"/>
          </a:p>
        </p:txBody>
      </p:sp>
      <p:sp>
        <p:nvSpPr>
          <p:cNvPr id="15" name="Text 13"/>
          <p:cNvSpPr/>
          <p:nvPr/>
        </p:nvSpPr>
        <p:spPr>
          <a:xfrm>
            <a:off x="4492447" y="3429000"/>
            <a:ext cx="3200400" cy="274320"/>
          </a:xfrm>
          <a:prstGeom prst="rect">
            <a:avLst/>
          </a:prstGeom>
          <a:noFill/>
          <a:ln/>
        </p:spPr>
        <p:txBody>
          <a:bodyPr wrap="square" rtlCol="0" anchor="ctr"/>
          <a:lstStyle/>
          <a:p>
            <a:pPr algn="ctr" indent="0" marL="0">
              <a:buNone/>
            </a:pPr>
            <a:r>
              <a:rPr lang="en-US" sz="1050" b="1" dirty="0">
                <a:solidFill>
                  <a:srgbClr val="587078"/>
                </a:solidFill>
                <a:latin typeface="Arial" pitchFamily="34" charset="0"/>
                <a:ea typeface="Arial" pitchFamily="34" charset="-122"/>
                <a:cs typeface="Arial" pitchFamily="34" charset="-120"/>
              </a:rPr>
              <a:t>ROC-AUC</a:t>
            </a:r>
            <a:endParaRPr lang="en-US" sz="1050" dirty="0"/>
          </a:p>
        </p:txBody>
      </p:sp>
      <p:sp>
        <p:nvSpPr>
          <p:cNvPr id="16" name="Text 14"/>
          <p:cNvSpPr/>
          <p:nvPr/>
        </p:nvSpPr>
        <p:spPr>
          <a:xfrm>
            <a:off x="4538167" y="3767328"/>
            <a:ext cx="3108960" cy="685800"/>
          </a:xfrm>
          <a:prstGeom prst="rect">
            <a:avLst/>
          </a:prstGeom>
          <a:noFill/>
          <a:ln/>
        </p:spPr>
        <p:txBody>
          <a:bodyPr wrap="square" rtlCol="0" anchor="t"/>
          <a:lstStyle/>
          <a:p>
            <a:pPr rtl="1" algn="ctr" indent="0" marL="0">
              <a:lnSpc>
                <a:spcPct val="120000"/>
              </a:lnSpc>
              <a:buNone/>
            </a:pPr>
            <a:r>
              <a:rPr lang="ar-SA" altLang="en-US" sz="1100" dirty="0">
                <a:solidFill>
                  <a:srgbClr val="12333C"/>
                </a:solidFill>
                <a:latin typeface="Arial" pitchFamily="34" charset="0"/>
                <a:ea typeface="Arial" pitchFamily="34" charset="-122"/>
                <a:cs typeface="Arial" pitchFamily="34" charset="-120"/>
              </a:rPr>
              <a:t>العمر · الجنس · الضغط · الكوليسترول · النبض الأقصى</a:t>
            </a:r>
            <a:endParaRPr lang="ar-SA" sz="1100" dirty="0"/>
          </a:p>
        </p:txBody>
      </p:sp>
      <p:sp>
        <p:nvSpPr>
          <p:cNvPr id="17" name="Text 15"/>
          <p:cNvSpPr/>
          <p:nvPr/>
        </p:nvSpPr>
        <p:spPr>
          <a:xfrm>
            <a:off x="4492447" y="4498848"/>
            <a:ext cx="3200400" cy="274320"/>
          </a:xfrm>
          <a:prstGeom prst="rect">
            <a:avLst/>
          </a:prstGeom>
          <a:noFill/>
          <a:ln/>
        </p:spPr>
        <p:txBody>
          <a:bodyPr wrap="square" rtlCol="0" anchor="ctr"/>
          <a:lstStyle/>
          <a:p>
            <a:pPr algn="ctr" indent="0" marL="0">
              <a:buNone/>
            </a:pPr>
            <a:r>
              <a:rPr lang="en-US" sz="1000" i="1" dirty="0">
                <a:solidFill>
                  <a:srgbClr val="587078"/>
                </a:solidFill>
                <a:latin typeface="Arial" pitchFamily="34" charset="0"/>
                <a:ea typeface="Arial" pitchFamily="34" charset="-122"/>
                <a:cs typeface="Arial" pitchFamily="34" charset="-120"/>
              </a:rPr>
              <a:t>UCI Heart Disease</a:t>
            </a:r>
            <a:endParaRPr lang="en-US" sz="1000" dirty="0"/>
          </a:p>
        </p:txBody>
      </p:sp>
      <p:sp>
        <p:nvSpPr>
          <p:cNvPr id="18" name="Shape 16"/>
          <p:cNvSpPr/>
          <p:nvPr/>
        </p:nvSpPr>
        <p:spPr>
          <a:xfrm>
            <a:off x="542239" y="1645920"/>
            <a:ext cx="3566160" cy="3291840"/>
          </a:xfrm>
          <a:prstGeom prst="roundRect">
            <a:avLst>
              <a:gd name="adj" fmla="val 2222"/>
            </a:avLst>
          </a:prstGeom>
          <a:solidFill>
            <a:srgbClr val="F2F8F8"/>
          </a:solidFill>
          <a:ln w="9525">
            <a:solidFill>
              <a:srgbClr val="D9E7E9"/>
            </a:solidFill>
            <a:prstDash val="solid"/>
          </a:ln>
        </p:spPr>
      </p:sp>
      <p:sp>
        <p:nvSpPr>
          <p:cNvPr id="19" name="Text 17"/>
          <p:cNvSpPr/>
          <p:nvPr/>
        </p:nvSpPr>
        <p:spPr>
          <a:xfrm>
            <a:off x="725119" y="1847088"/>
            <a:ext cx="3200400" cy="685800"/>
          </a:xfrm>
          <a:prstGeom prst="rect">
            <a:avLst/>
          </a:prstGeom>
          <a:noFill/>
          <a:ln/>
        </p:spPr>
        <p:txBody>
          <a:bodyPr wrap="square" rtlCol="0" anchor="t"/>
          <a:lstStyle/>
          <a:p>
            <a:pPr rtl="1" algn="ctr" indent="0" marL="0">
              <a:buNone/>
            </a:pPr>
            <a:r>
              <a:rPr lang="ar-SA" altLang="en-US" sz="1550" b="1" dirty="0">
                <a:solidFill>
                  <a:srgbClr val="0A3540"/>
                </a:solidFill>
                <a:latin typeface="Arial" pitchFamily="34" charset="0"/>
                <a:ea typeface="Arial" pitchFamily="34" charset="-122"/>
                <a:cs typeface="Arial" pitchFamily="34" charset="-120"/>
              </a:rPr>
              <a:t>خطر إعادة الدخول (٣٠ يوماً)</a:t>
            </a:r>
            <a:endParaRPr lang="ar-SA" sz="1550" dirty="0"/>
          </a:p>
        </p:txBody>
      </p:sp>
      <p:sp>
        <p:nvSpPr>
          <p:cNvPr id="20" name="Text 18"/>
          <p:cNvSpPr/>
          <p:nvPr/>
        </p:nvSpPr>
        <p:spPr>
          <a:xfrm>
            <a:off x="725119" y="2468880"/>
            <a:ext cx="3200400" cy="960120"/>
          </a:xfrm>
          <a:prstGeom prst="rect">
            <a:avLst/>
          </a:prstGeom>
          <a:noFill/>
          <a:ln/>
        </p:spPr>
        <p:txBody>
          <a:bodyPr wrap="square" rtlCol="0" anchor="ctr"/>
          <a:lstStyle/>
          <a:p>
            <a:pPr algn="ctr" indent="0" marL="0">
              <a:buNone/>
            </a:pPr>
            <a:r>
              <a:rPr lang="en-US" sz="4800" b="1" dirty="0">
                <a:solidFill>
                  <a:srgbClr val="E9B44C"/>
                </a:solidFill>
                <a:latin typeface="Arial" pitchFamily="34" charset="0"/>
                <a:ea typeface="Arial" pitchFamily="34" charset="-122"/>
                <a:cs typeface="Arial" pitchFamily="34" charset="-120"/>
              </a:rPr>
              <a:t>0.63</a:t>
            </a:r>
            <a:endParaRPr lang="en-US" sz="4800" dirty="0"/>
          </a:p>
        </p:txBody>
      </p:sp>
      <p:sp>
        <p:nvSpPr>
          <p:cNvPr id="21" name="Text 19"/>
          <p:cNvSpPr/>
          <p:nvPr/>
        </p:nvSpPr>
        <p:spPr>
          <a:xfrm>
            <a:off x="725119" y="3429000"/>
            <a:ext cx="3200400" cy="274320"/>
          </a:xfrm>
          <a:prstGeom prst="rect">
            <a:avLst/>
          </a:prstGeom>
          <a:noFill/>
          <a:ln/>
        </p:spPr>
        <p:txBody>
          <a:bodyPr wrap="square" rtlCol="0" anchor="ctr"/>
          <a:lstStyle/>
          <a:p>
            <a:pPr algn="ctr" indent="0" marL="0">
              <a:buNone/>
            </a:pPr>
            <a:r>
              <a:rPr lang="en-US" sz="1050" b="1" dirty="0">
                <a:solidFill>
                  <a:srgbClr val="587078"/>
                </a:solidFill>
                <a:latin typeface="Arial" pitchFamily="34" charset="0"/>
                <a:ea typeface="Arial" pitchFamily="34" charset="-122"/>
                <a:cs typeface="Arial" pitchFamily="34" charset="-120"/>
              </a:rPr>
              <a:t>ROC-AUC</a:t>
            </a:r>
            <a:endParaRPr lang="en-US" sz="1050" dirty="0"/>
          </a:p>
        </p:txBody>
      </p:sp>
      <p:sp>
        <p:nvSpPr>
          <p:cNvPr id="22" name="Text 20"/>
          <p:cNvSpPr/>
          <p:nvPr/>
        </p:nvSpPr>
        <p:spPr>
          <a:xfrm>
            <a:off x="770839" y="3767328"/>
            <a:ext cx="3108960" cy="685800"/>
          </a:xfrm>
          <a:prstGeom prst="rect">
            <a:avLst/>
          </a:prstGeom>
          <a:noFill/>
          <a:ln/>
        </p:spPr>
        <p:txBody>
          <a:bodyPr wrap="square" rtlCol="0" anchor="t"/>
          <a:lstStyle/>
          <a:p>
            <a:pPr rtl="1" algn="ctr" indent="0" marL="0">
              <a:lnSpc>
                <a:spcPct val="120000"/>
              </a:lnSpc>
              <a:buNone/>
            </a:pPr>
            <a:r>
              <a:rPr lang="ar-SA" altLang="en-US" sz="1100" dirty="0">
                <a:solidFill>
                  <a:srgbClr val="12333C"/>
                </a:solidFill>
                <a:latin typeface="Arial" pitchFamily="34" charset="0"/>
                <a:ea typeface="Arial" pitchFamily="34" charset="-122"/>
                <a:cs typeface="Arial" pitchFamily="34" charset="-120"/>
              </a:rPr>
              <a:t>العمر · الجنس · عدد الحالات والأدوية والزيارات والإجراءات</a:t>
            </a:r>
            <a:endParaRPr lang="ar-SA" sz="1100" dirty="0"/>
          </a:p>
        </p:txBody>
      </p:sp>
      <p:sp>
        <p:nvSpPr>
          <p:cNvPr id="23" name="Text 21"/>
          <p:cNvSpPr/>
          <p:nvPr/>
        </p:nvSpPr>
        <p:spPr>
          <a:xfrm>
            <a:off x="725119" y="4498848"/>
            <a:ext cx="3200400" cy="274320"/>
          </a:xfrm>
          <a:prstGeom prst="rect">
            <a:avLst/>
          </a:prstGeom>
          <a:noFill/>
          <a:ln/>
        </p:spPr>
        <p:txBody>
          <a:bodyPr wrap="square" rtlCol="0" anchor="ctr"/>
          <a:lstStyle/>
          <a:p>
            <a:pPr algn="ctr" indent="0" marL="0">
              <a:buNone/>
            </a:pPr>
            <a:r>
              <a:rPr lang="en-US" sz="1000" i="1" dirty="0">
                <a:solidFill>
                  <a:srgbClr val="587078"/>
                </a:solidFill>
                <a:latin typeface="Arial" pitchFamily="34" charset="0"/>
                <a:ea typeface="Arial" pitchFamily="34" charset="-122"/>
                <a:cs typeface="Arial" pitchFamily="34" charset="-120"/>
              </a:rPr>
              <a:t>UCI 130-US Hospitals</a:t>
            </a:r>
            <a:endParaRPr lang="en-US" sz="1000" dirty="0"/>
          </a:p>
        </p:txBody>
      </p:sp>
      <p:sp>
        <p:nvSpPr>
          <p:cNvPr id="24" name="Shape 22"/>
          <p:cNvSpPr/>
          <p:nvPr/>
        </p:nvSpPr>
        <p:spPr>
          <a:xfrm>
            <a:off x="548640" y="5166360"/>
            <a:ext cx="11094415" cy="868680"/>
          </a:xfrm>
          <a:prstGeom prst="roundRect">
            <a:avLst>
              <a:gd name="adj" fmla="val 8421"/>
            </a:avLst>
          </a:prstGeom>
          <a:solidFill>
            <a:srgbClr val="F2F8F8"/>
          </a:solidFill>
          <a:ln w="9525">
            <a:solidFill>
              <a:srgbClr val="D9E7E9"/>
            </a:solidFill>
            <a:prstDash val="solid"/>
          </a:ln>
        </p:spPr>
      </p:sp>
      <p:sp>
        <p:nvSpPr>
          <p:cNvPr id="25" name="Text 23"/>
          <p:cNvSpPr/>
          <p:nvPr/>
        </p:nvSpPr>
        <p:spPr>
          <a:xfrm>
            <a:off x="822960" y="5166360"/>
            <a:ext cx="10545775" cy="868680"/>
          </a:xfrm>
          <a:prstGeom prst="rect">
            <a:avLst/>
          </a:prstGeom>
          <a:noFill/>
          <a:ln/>
        </p:spPr>
        <p:txBody>
          <a:bodyPr wrap="square" lIns="0" tIns="0" rIns="0" bIns="0" rtlCol="0" anchor="ctr"/>
          <a:lstStyle/>
          <a:p>
            <a:pPr rtl="1" algn="r" indent="0" marL="0">
              <a:lnSpc>
                <a:spcPct val="120000"/>
              </a:lnSpc>
              <a:buNone/>
            </a:pPr>
            <a:r>
              <a:rPr lang="ar-SA" altLang="en-US" sz="1250" dirty="0">
                <a:solidFill>
                  <a:srgbClr val="12333C"/>
                </a:solidFill>
                <a:latin typeface="Arial" pitchFamily="34" charset="0"/>
                <a:ea typeface="Arial" pitchFamily="34" charset="-122"/>
                <a:cs typeface="Arial" pitchFamily="34" charset="-120"/>
              </a:rPr>
              <a:t>المبدأ التصميمي: تُدرَّب النماذج حصراً على سماتٍ يمكن استخراجها فعلاً من سجلّ ‏</a:t>
            </a:r>
            <a:r>
              <a:rPr lang="en-US" altLang="en-US" sz="1250" dirty="0">
                <a:solidFill>
                  <a:srgbClr val="12333C"/>
                </a:solidFill>
                <a:latin typeface="Arial" pitchFamily="34" charset="0"/>
                <a:ea typeface="Arial" pitchFamily="34" charset="-122"/>
                <a:cs typeface="Arial" pitchFamily="34" charset="-120"/>
              </a:rPr>
              <a:t>FHIR</a:t>
            </a:r>
            <a:r>
              <a:rPr lang="ar-SA" altLang="en-US" sz="1250" dirty="0">
                <a:solidFill>
                  <a:srgbClr val="12333C"/>
                </a:solidFill>
                <a:latin typeface="Arial" pitchFamily="34" charset="0"/>
                <a:ea typeface="Arial" pitchFamily="34" charset="-122"/>
                <a:cs typeface="Arial" pitchFamily="34" charset="-120"/>
              </a:rPr>
              <a:t>‏ (رموز ‏</a:t>
            </a:r>
            <a:r>
              <a:rPr lang="en-US" altLang="en-US" sz="1250" dirty="0">
                <a:solidFill>
                  <a:srgbClr val="12333C"/>
                </a:solidFill>
                <a:latin typeface="Arial" pitchFamily="34" charset="0"/>
                <a:ea typeface="Arial" pitchFamily="34" charset="-122"/>
                <a:cs typeface="Arial" pitchFamily="34" charset="-120"/>
              </a:rPr>
              <a:t>LOINC</a:t>
            </a:r>
            <a:r>
              <a:rPr lang="ar-SA" altLang="en-US" sz="1250" dirty="0">
                <a:solidFill>
                  <a:srgbClr val="12333C"/>
                </a:solidFill>
                <a:latin typeface="Arial" pitchFamily="34" charset="0"/>
                <a:ea typeface="Arial" pitchFamily="34" charset="-122"/>
                <a:cs typeface="Arial" pitchFamily="34" charset="-120"/>
              </a:rPr>
              <a:t>‏ للملاحظات)، وتُعوَّض القيم الناقصة بوسيط بيانات التدريب مع الإشارة إلى ذلك صراحةً — فيحصل الطبيب دائماً على تقديرٍ أمين.</a:t>
            </a:r>
            <a:endParaRPr lang="ar-SA"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نبض — نظام السجلات الطبية الرقمية</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12</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النماذج الخارجية والأمان</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منظومة مفتوحة للذكاء — وحمايةٌ صارمة للبيانات</a:t>
            </a:r>
            <a:endParaRPr lang="ar-SA" sz="1400" dirty="0"/>
          </a:p>
        </p:txBody>
      </p:sp>
      <p:sp>
        <p:nvSpPr>
          <p:cNvPr id="6" name="Shape 4"/>
          <p:cNvSpPr/>
          <p:nvPr/>
        </p:nvSpPr>
        <p:spPr>
          <a:xfrm>
            <a:off x="6193231" y="1645920"/>
            <a:ext cx="5449824" cy="4297680"/>
          </a:xfrm>
          <a:prstGeom prst="roundRect">
            <a:avLst>
              <a:gd name="adj" fmla="val 1702"/>
            </a:avLst>
          </a:prstGeom>
          <a:solidFill>
            <a:srgbClr val="F2F8F8"/>
          </a:solidFill>
          <a:ln w="9525">
            <a:solidFill>
              <a:srgbClr val="D9E7E9"/>
            </a:solidFill>
            <a:prstDash val="solid"/>
          </a:ln>
        </p:spPr>
      </p:sp>
      <p:sp>
        <p:nvSpPr>
          <p:cNvPr id="7" name="Text 5"/>
          <p:cNvSpPr/>
          <p:nvPr/>
        </p:nvSpPr>
        <p:spPr>
          <a:xfrm>
            <a:off x="6467551" y="1847088"/>
            <a:ext cx="4901184" cy="411480"/>
          </a:xfrm>
          <a:prstGeom prst="rect">
            <a:avLst/>
          </a:prstGeom>
          <a:noFill/>
          <a:ln/>
        </p:spPr>
        <p:txBody>
          <a:bodyPr wrap="square" lIns="0" tIns="0" rIns="0" bIns="0" rtlCol="0" anchor="ctr"/>
          <a:lstStyle/>
          <a:p>
            <a:pPr rtl="1" algn="r" indent="0" marL="0">
              <a:buNone/>
            </a:pPr>
            <a:r>
              <a:rPr lang="ar-SA" altLang="en-US" sz="1600" b="1" dirty="0">
                <a:solidFill>
                  <a:srgbClr val="0E7C86"/>
                </a:solidFill>
                <a:latin typeface="Arial" pitchFamily="34" charset="0"/>
                <a:ea typeface="Arial" pitchFamily="34" charset="-122"/>
                <a:cs typeface="Arial" pitchFamily="34" charset="-120"/>
              </a:rPr>
              <a:t>سجلّ النماذج الخارجية</a:t>
            </a:r>
            <a:endParaRPr lang="ar-SA" sz="1600" dirty="0"/>
          </a:p>
        </p:txBody>
      </p:sp>
      <p:sp>
        <p:nvSpPr>
          <p:cNvPr id="8" name="Text 6"/>
          <p:cNvSpPr/>
          <p:nvPr/>
        </p:nvSpPr>
        <p:spPr>
          <a:xfrm>
            <a:off x="6467551" y="2331720"/>
            <a:ext cx="4901184" cy="3383280"/>
          </a:xfrm>
          <a:prstGeom prst="rect">
            <a:avLst/>
          </a:prstGeom>
          <a:noFill/>
          <a:ln/>
        </p:spPr>
        <p:txBody>
          <a:bodyPr wrap="square" rtlCol="0" anchor="t"/>
          <a:lstStyle/>
          <a:p>
            <a:pPr rtl="1" algn="r" marL="152400" indent="-152400">
              <a:lnSpc>
                <a:spcPct val="120000"/>
              </a:lnSpc>
              <a:spcAft>
                <a:spcPts val="1200"/>
              </a:spcAft>
              <a:buSzPct val="100000"/>
              <a:buChar char="•"/>
            </a:pPr>
            <a:r>
              <a:rPr lang="ar-SA" altLang="en-US" sz="1250" dirty="0">
                <a:solidFill>
                  <a:srgbClr val="12333C"/>
                </a:solidFill>
                <a:latin typeface="Arial" pitchFamily="34" charset="0"/>
                <a:ea typeface="Arial" pitchFamily="34" charset="-122"/>
                <a:cs typeface="Arial" pitchFamily="34" charset="-120"/>
              </a:rPr>
              <a:t>تسجيل نماذج ذكاءٍ مستضافة خارجياً عبر روابط ‏</a:t>
            </a:r>
            <a:r>
              <a:rPr lang="en-US" altLang="en-US" sz="1250" dirty="0">
                <a:solidFill>
                  <a:srgbClr val="12333C"/>
                </a:solidFill>
                <a:latin typeface="Arial" pitchFamily="34" charset="0"/>
                <a:ea typeface="Arial" pitchFamily="34" charset="-122"/>
                <a:cs typeface="Arial" pitchFamily="34" charset="-120"/>
              </a:rPr>
              <a:t>HTTPS</a:t>
            </a:r>
            <a:r>
              <a:rPr lang="ar-SA" altLang="en-US" sz="1250" dirty="0">
                <a:solidFill>
                  <a:srgbClr val="12333C"/>
                </a:solidFill>
                <a:latin typeface="Arial" pitchFamily="34" charset="0"/>
                <a:ea typeface="Arial" pitchFamily="34" charset="-122"/>
                <a:cs typeface="Arial" pitchFamily="34" charset="-120"/>
              </a:rPr>
              <a:t>‏ آمنة حصراً.</a:t>
            </a:r>
            <a:endParaRPr lang="ar-SA" sz="1250" dirty="0"/>
          </a:p>
          <a:p>
            <a:pPr rtl="1" algn="r" marL="152400" indent="-152400">
              <a:lnSpc>
                <a:spcPct val="120000"/>
              </a:lnSpc>
              <a:spcAft>
                <a:spcPts val="1200"/>
              </a:spcAft>
              <a:buSzPct val="100000"/>
              <a:buChar char="•"/>
            </a:pPr>
            <a:r>
              <a:rPr lang="ar-SA" altLang="en-US" sz="1250" dirty="0">
                <a:solidFill>
                  <a:srgbClr val="12333C"/>
                </a:solidFill>
                <a:latin typeface="Arial" pitchFamily="34" charset="0"/>
                <a:ea typeface="Arial" pitchFamily="34" charset="-122"/>
                <a:cs typeface="Arial" pitchFamily="34" charset="-120"/>
              </a:rPr>
              <a:t>أنماط مصادقة مرنة: بلا مصادقة، أو مفتاح ‏</a:t>
            </a:r>
            <a:r>
              <a:rPr lang="en-US" altLang="en-US" sz="1250" dirty="0">
                <a:solidFill>
                  <a:srgbClr val="12333C"/>
                </a:solidFill>
                <a:latin typeface="Arial" pitchFamily="34" charset="0"/>
                <a:ea typeface="Arial" pitchFamily="34" charset="-122"/>
                <a:cs typeface="Arial" pitchFamily="34" charset="-120"/>
              </a:rPr>
              <a:t>API</a:t>
            </a:r>
            <a:r>
              <a:rPr lang="ar-SA" altLang="en-US" sz="1250" dirty="0">
                <a:solidFill>
                  <a:srgbClr val="12333C"/>
                </a:solidFill>
                <a:latin typeface="Arial" pitchFamily="34" charset="0"/>
                <a:ea typeface="Arial" pitchFamily="34" charset="-122"/>
                <a:cs typeface="Arial" pitchFamily="34" charset="-120"/>
              </a:rPr>
              <a:t>‏، أو رمز ‏</a:t>
            </a:r>
            <a:r>
              <a:rPr lang="en-US" altLang="en-US" sz="1250" dirty="0">
                <a:solidFill>
                  <a:srgbClr val="12333C"/>
                </a:solidFill>
                <a:latin typeface="Arial" pitchFamily="34" charset="0"/>
                <a:ea typeface="Arial" pitchFamily="34" charset="-122"/>
                <a:cs typeface="Arial" pitchFamily="34" charset="-120"/>
              </a:rPr>
              <a:t>Bearer</a:t>
            </a:r>
            <a:r>
              <a:rPr lang="ar-SA" altLang="en-US" sz="1250" dirty="0">
                <a:solidFill>
                  <a:srgbClr val="12333C"/>
                </a:solidFill>
                <a:latin typeface="Arial" pitchFamily="34" charset="0"/>
                <a:ea typeface="Arial" pitchFamily="34" charset="-122"/>
                <a:cs typeface="Arial" pitchFamily="34" charset="-120"/>
              </a:rPr>
              <a:t>‏.</a:t>
            </a:r>
            <a:endParaRPr lang="ar-SA" sz="1250" dirty="0"/>
          </a:p>
          <a:p>
            <a:pPr rtl="1" algn="r" marL="152400" indent="-152400">
              <a:lnSpc>
                <a:spcPct val="120000"/>
              </a:lnSpc>
              <a:spcAft>
                <a:spcPts val="1200"/>
              </a:spcAft>
              <a:buSzPct val="100000"/>
              <a:buChar char="•"/>
            </a:pPr>
            <a:r>
              <a:rPr lang="ar-SA" altLang="en-US" sz="1250" dirty="0">
                <a:solidFill>
                  <a:srgbClr val="12333C"/>
                </a:solidFill>
                <a:latin typeface="Arial" pitchFamily="34" charset="0"/>
                <a:ea typeface="Arial" pitchFamily="34" charset="-122"/>
                <a:cs typeface="Arial" pitchFamily="34" charset="-120"/>
              </a:rPr>
              <a:t>تُخزَّن الأسرار مشفّرةً عبر ‏</a:t>
            </a:r>
            <a:r>
              <a:rPr lang="en-US" altLang="en-US" sz="1250" dirty="0">
                <a:solidFill>
                  <a:srgbClr val="12333C"/>
                </a:solidFill>
                <a:latin typeface="Arial" pitchFamily="34" charset="0"/>
                <a:ea typeface="Arial" pitchFamily="34" charset="-122"/>
                <a:cs typeface="Arial" pitchFamily="34" charset="-120"/>
              </a:rPr>
              <a:t>ASP.NET Data Protection</a:t>
            </a:r>
            <a:r>
              <a:rPr lang="ar-SA" altLang="en-US" sz="1250" dirty="0">
                <a:solidFill>
                  <a:srgbClr val="12333C"/>
                </a:solidFill>
                <a:latin typeface="Arial" pitchFamily="34" charset="0"/>
                <a:ea typeface="Arial" pitchFamily="34" charset="-122"/>
                <a:cs typeface="Arial" pitchFamily="34" charset="-120"/>
              </a:rPr>
              <a:t>‏ ولا تُعاد إلى العملاء أبداً.</a:t>
            </a:r>
            <a:endParaRPr lang="ar-SA" sz="1250" dirty="0"/>
          </a:p>
          <a:p>
            <a:pPr rtl="1" algn="r" marL="152400" indent="-152400">
              <a:lnSpc>
                <a:spcPct val="120000"/>
              </a:lnSpc>
              <a:spcAft>
                <a:spcPts val="1200"/>
              </a:spcAft>
              <a:buSzPct val="100000"/>
              <a:buChar char="•"/>
            </a:pPr>
            <a:r>
              <a:rPr lang="ar-SA" altLang="en-US" sz="1250" dirty="0">
                <a:solidFill>
                  <a:srgbClr val="12333C"/>
                </a:solidFill>
                <a:latin typeface="Arial" pitchFamily="34" charset="0"/>
                <a:ea typeface="Arial" pitchFamily="34" charset="-122"/>
                <a:cs typeface="Arial" pitchFamily="34" charset="-120"/>
              </a:rPr>
              <a:t>مسار قرارٍ قابل للتهيئة لقراءة النتيجة من استجابة ‏</a:t>
            </a:r>
            <a:r>
              <a:rPr lang="en-US" altLang="en-US" sz="1250" dirty="0">
                <a:solidFill>
                  <a:srgbClr val="12333C"/>
                </a:solidFill>
                <a:latin typeface="Arial" pitchFamily="34" charset="0"/>
                <a:ea typeface="Arial" pitchFamily="34" charset="-122"/>
                <a:cs typeface="Arial" pitchFamily="34" charset="-120"/>
              </a:rPr>
              <a:t>JSON</a:t>
            </a:r>
            <a:r>
              <a:rPr lang="ar-SA" altLang="en-US" sz="1250" dirty="0">
                <a:solidFill>
                  <a:srgbClr val="12333C"/>
                </a:solidFill>
                <a:latin typeface="Arial" pitchFamily="34" charset="0"/>
                <a:ea typeface="Arial" pitchFamily="34" charset="-122"/>
                <a:cs typeface="Arial" pitchFamily="34" charset="-120"/>
              </a:rPr>
              <a:t>‏.</a:t>
            </a:r>
            <a:endParaRPr lang="ar-SA" sz="1250" dirty="0"/>
          </a:p>
          <a:p>
            <a:pPr rtl="1" algn="r" marL="152400" indent="-152400">
              <a:lnSpc>
                <a:spcPct val="120000"/>
              </a:lnSpc>
              <a:spcAft>
                <a:spcPts val="1200"/>
              </a:spcAft>
              <a:buSzPct val="100000"/>
              <a:buChar char="•"/>
            </a:pPr>
            <a:r>
              <a:rPr lang="ar-SA" altLang="en-US" sz="1250" dirty="0">
                <a:solidFill>
                  <a:srgbClr val="12333C"/>
                </a:solidFill>
                <a:latin typeface="Arial" pitchFamily="34" charset="0"/>
                <a:ea typeface="Arial" pitchFamily="34" charset="-122"/>
                <a:cs typeface="Arial" pitchFamily="34" charset="-120"/>
              </a:rPr>
              <a:t>تشغيل النموذج على مريضٍ محدّد وعرض القرار وزمن الاستجابة.</a:t>
            </a:r>
            <a:endParaRPr lang="ar-SA" sz="1250" dirty="0"/>
          </a:p>
        </p:txBody>
      </p:sp>
      <p:sp>
        <p:nvSpPr>
          <p:cNvPr id="9" name="Shape 7"/>
          <p:cNvSpPr/>
          <p:nvPr/>
        </p:nvSpPr>
        <p:spPr>
          <a:xfrm>
            <a:off x="548640" y="1645920"/>
            <a:ext cx="5449824" cy="4297680"/>
          </a:xfrm>
          <a:prstGeom prst="roundRect">
            <a:avLst>
              <a:gd name="adj" fmla="val 1702"/>
            </a:avLst>
          </a:prstGeom>
          <a:solidFill>
            <a:srgbClr val="F2F8F8"/>
          </a:solidFill>
          <a:ln w="9525">
            <a:solidFill>
              <a:srgbClr val="D9E7E9"/>
            </a:solidFill>
            <a:prstDash val="solid"/>
          </a:ln>
        </p:spPr>
      </p:sp>
      <p:sp>
        <p:nvSpPr>
          <p:cNvPr id="10" name="Text 8"/>
          <p:cNvSpPr/>
          <p:nvPr/>
        </p:nvSpPr>
        <p:spPr>
          <a:xfrm>
            <a:off x="822960" y="1847088"/>
            <a:ext cx="4901184" cy="411480"/>
          </a:xfrm>
          <a:prstGeom prst="rect">
            <a:avLst/>
          </a:prstGeom>
          <a:noFill/>
          <a:ln/>
        </p:spPr>
        <p:txBody>
          <a:bodyPr wrap="square" lIns="0" tIns="0" rIns="0" bIns="0" rtlCol="0" anchor="ctr"/>
          <a:lstStyle/>
          <a:p>
            <a:pPr rtl="1" algn="r" indent="0" marL="0">
              <a:buNone/>
            </a:pPr>
            <a:r>
              <a:rPr lang="ar-SA" altLang="en-US" sz="1600" b="1" dirty="0">
                <a:solidFill>
                  <a:srgbClr val="0E7C86"/>
                </a:solidFill>
                <a:latin typeface="Arial" pitchFamily="34" charset="0"/>
                <a:ea typeface="Arial" pitchFamily="34" charset="-122"/>
                <a:cs typeface="Arial" pitchFamily="34" charset="-120"/>
              </a:rPr>
              <a:t>الأمان والصلاحيات</a:t>
            </a:r>
            <a:endParaRPr lang="ar-SA" sz="1600" dirty="0"/>
          </a:p>
        </p:txBody>
      </p:sp>
      <p:sp>
        <p:nvSpPr>
          <p:cNvPr id="11" name="Text 9"/>
          <p:cNvSpPr/>
          <p:nvPr/>
        </p:nvSpPr>
        <p:spPr>
          <a:xfrm>
            <a:off x="822960" y="2331720"/>
            <a:ext cx="4901184" cy="3383280"/>
          </a:xfrm>
          <a:prstGeom prst="rect">
            <a:avLst/>
          </a:prstGeom>
          <a:noFill/>
          <a:ln/>
        </p:spPr>
        <p:txBody>
          <a:bodyPr wrap="square" rtlCol="0" anchor="t"/>
          <a:lstStyle/>
          <a:p>
            <a:pPr rtl="1" algn="r" marL="152400" indent="-152400">
              <a:lnSpc>
                <a:spcPct val="120000"/>
              </a:lnSpc>
              <a:spcAft>
                <a:spcPts val="1200"/>
              </a:spcAft>
              <a:buSzPct val="100000"/>
              <a:buChar char="•"/>
            </a:pPr>
            <a:r>
              <a:rPr lang="ar-SA" altLang="en-US" sz="1250" dirty="0">
                <a:solidFill>
                  <a:srgbClr val="12333C"/>
                </a:solidFill>
                <a:latin typeface="Arial" pitchFamily="34" charset="0"/>
                <a:ea typeface="Arial" pitchFamily="34" charset="-122"/>
                <a:cs typeface="Arial" pitchFamily="34" charset="-120"/>
              </a:rPr>
              <a:t>مصادقة مركزية عبر ‏</a:t>
            </a:r>
            <a:r>
              <a:rPr lang="en-US" altLang="en-US" sz="1250" dirty="0">
                <a:solidFill>
                  <a:srgbClr val="12333C"/>
                </a:solidFill>
                <a:latin typeface="Arial" pitchFamily="34" charset="0"/>
                <a:ea typeface="Arial" pitchFamily="34" charset="-122"/>
                <a:cs typeface="Arial" pitchFamily="34" charset="-120"/>
              </a:rPr>
              <a:t>Keycloak</a:t>
            </a:r>
            <a:r>
              <a:rPr lang="ar-SA" altLang="en-US" sz="1250" dirty="0">
                <a:solidFill>
                  <a:srgbClr val="12333C"/>
                </a:solidFill>
                <a:latin typeface="Arial" pitchFamily="34" charset="0"/>
                <a:ea typeface="Arial" pitchFamily="34" charset="-122"/>
                <a:cs typeface="Arial" pitchFamily="34" charset="-120"/>
              </a:rPr>
              <a:t>‏ وفق بروتوكولَي ‏</a:t>
            </a:r>
            <a:r>
              <a:rPr lang="en-US" altLang="en-US" sz="1250" dirty="0">
                <a:solidFill>
                  <a:srgbClr val="12333C"/>
                </a:solidFill>
                <a:latin typeface="Arial" pitchFamily="34" charset="0"/>
                <a:ea typeface="Arial" pitchFamily="34" charset="-122"/>
                <a:cs typeface="Arial" pitchFamily="34" charset="-120"/>
              </a:rPr>
              <a:t>OAuth2</a:t>
            </a:r>
            <a:r>
              <a:rPr lang="ar-SA" altLang="en-US" sz="1250" dirty="0">
                <a:solidFill>
                  <a:srgbClr val="12333C"/>
                </a:solidFill>
                <a:latin typeface="Arial" pitchFamily="34" charset="0"/>
                <a:ea typeface="Arial" pitchFamily="34" charset="-122"/>
                <a:cs typeface="Arial" pitchFamily="34" charset="-120"/>
              </a:rPr>
              <a:t>‏ و</a:t>
            </a:r>
            <a:r>
              <a:rPr lang="en-US" altLang="en-US" sz="1250" dirty="0">
                <a:solidFill>
                  <a:srgbClr val="12333C"/>
                </a:solidFill>
                <a:latin typeface="Arial" pitchFamily="34" charset="0"/>
                <a:ea typeface="Arial" pitchFamily="34" charset="-122"/>
                <a:cs typeface="Arial" pitchFamily="34" charset="-120"/>
              </a:rPr>
              <a:t>OpenID Connect</a:t>
            </a:r>
            <a:r>
              <a:rPr lang="ar-SA" altLang="en-US" sz="1250" dirty="0">
                <a:solidFill>
                  <a:srgbClr val="12333C"/>
                </a:solidFill>
                <a:latin typeface="Arial" pitchFamily="34" charset="0"/>
                <a:ea typeface="Arial" pitchFamily="34" charset="-122"/>
                <a:cs typeface="Arial" pitchFamily="34" charset="-120"/>
              </a:rPr>
              <a:t>‏.</a:t>
            </a:r>
            <a:endParaRPr lang="ar-SA" sz="1250" dirty="0"/>
          </a:p>
          <a:p>
            <a:pPr rtl="1" algn="r" marL="152400" indent="-152400">
              <a:lnSpc>
                <a:spcPct val="120000"/>
              </a:lnSpc>
              <a:spcAft>
                <a:spcPts val="1200"/>
              </a:spcAft>
              <a:buSzPct val="100000"/>
              <a:buChar char="•"/>
            </a:pPr>
            <a:r>
              <a:rPr lang="ar-SA" altLang="en-US" sz="1250" dirty="0">
                <a:solidFill>
                  <a:srgbClr val="12333C"/>
                </a:solidFill>
                <a:latin typeface="Arial" pitchFamily="34" charset="0"/>
                <a:ea typeface="Arial" pitchFamily="34" charset="-122"/>
                <a:cs typeface="Arial" pitchFamily="34" charset="-120"/>
              </a:rPr>
              <a:t>رموز ‏</a:t>
            </a:r>
            <a:r>
              <a:rPr lang="en-US" altLang="en-US" sz="1250" dirty="0">
                <a:solidFill>
                  <a:srgbClr val="12333C"/>
                </a:solidFill>
                <a:latin typeface="Arial" pitchFamily="34" charset="0"/>
                <a:ea typeface="Arial" pitchFamily="34" charset="-122"/>
                <a:cs typeface="Arial" pitchFamily="34" charset="-120"/>
              </a:rPr>
              <a:t>JWT</a:t>
            </a:r>
            <a:r>
              <a:rPr lang="ar-SA" altLang="en-US" sz="1250" dirty="0">
                <a:solidFill>
                  <a:srgbClr val="12333C"/>
                </a:solidFill>
                <a:latin typeface="Arial" pitchFamily="34" charset="0"/>
                <a:ea typeface="Arial" pitchFamily="34" charset="-122"/>
                <a:cs typeface="Arial" pitchFamily="34" charset="-120"/>
              </a:rPr>
              <a:t>‏ موقَّعة يتحقّق منها الخادم في كلّ طلب.</a:t>
            </a:r>
            <a:endParaRPr lang="ar-SA" sz="1250" dirty="0"/>
          </a:p>
          <a:p>
            <a:pPr rtl="1" algn="r" marL="152400" indent="-152400">
              <a:lnSpc>
                <a:spcPct val="120000"/>
              </a:lnSpc>
              <a:spcAft>
                <a:spcPts val="1200"/>
              </a:spcAft>
              <a:buSzPct val="100000"/>
              <a:buChar char="•"/>
            </a:pPr>
            <a:r>
              <a:rPr lang="ar-SA" altLang="en-US" sz="1250" dirty="0">
                <a:solidFill>
                  <a:srgbClr val="12333C"/>
                </a:solidFill>
                <a:latin typeface="Arial" pitchFamily="34" charset="0"/>
                <a:ea typeface="Arial" pitchFamily="34" charset="-122"/>
                <a:cs typeface="Arial" pitchFamily="34" charset="-120"/>
              </a:rPr>
              <a:t>تحكّم بالوصول قائم على الأدوار: مدير نظام، مدير مؤسسة، ممارس، مريض.</a:t>
            </a:r>
            <a:endParaRPr lang="ar-SA" sz="1250" dirty="0"/>
          </a:p>
          <a:p>
            <a:pPr rtl="1" algn="r" marL="152400" indent="-152400">
              <a:lnSpc>
                <a:spcPct val="120000"/>
              </a:lnSpc>
              <a:spcAft>
                <a:spcPts val="1200"/>
              </a:spcAft>
              <a:buSzPct val="100000"/>
              <a:buChar char="•"/>
            </a:pPr>
            <a:r>
              <a:rPr lang="ar-SA" altLang="en-US" sz="1250" dirty="0">
                <a:solidFill>
                  <a:srgbClr val="12333C"/>
                </a:solidFill>
                <a:latin typeface="Arial" pitchFamily="34" charset="0"/>
                <a:ea typeface="Arial" pitchFamily="34" charset="-122"/>
                <a:cs typeface="Arial" pitchFamily="34" charset="-120"/>
              </a:rPr>
              <a:t>نطاقات صلاحيات ‏</a:t>
            </a:r>
            <a:r>
              <a:rPr lang="en-US" altLang="en-US" sz="1250" dirty="0">
                <a:solidFill>
                  <a:srgbClr val="12333C"/>
                </a:solidFill>
                <a:latin typeface="Arial" pitchFamily="34" charset="0"/>
                <a:ea typeface="Arial" pitchFamily="34" charset="-122"/>
                <a:cs typeface="Arial" pitchFamily="34" charset="-120"/>
              </a:rPr>
              <a:t>System</a:t>
            </a:r>
            <a:r>
              <a:rPr lang="ar-SA" altLang="en-US" sz="1250" dirty="0">
                <a:solidFill>
                  <a:srgbClr val="12333C"/>
                </a:solidFill>
                <a:latin typeface="Arial" pitchFamily="34" charset="0"/>
                <a:ea typeface="Arial" pitchFamily="34" charset="-122"/>
                <a:cs typeface="Arial" pitchFamily="34" charset="-120"/>
              </a:rPr>
              <a:t>‏ و</a:t>
            </a:r>
            <a:r>
              <a:rPr lang="en-US" altLang="en-US" sz="1250" dirty="0">
                <a:solidFill>
                  <a:srgbClr val="12333C"/>
                </a:solidFill>
                <a:latin typeface="Arial" pitchFamily="34" charset="0"/>
                <a:ea typeface="Arial" pitchFamily="34" charset="-122"/>
                <a:cs typeface="Arial" pitchFamily="34" charset="-120"/>
              </a:rPr>
              <a:t>User</a:t>
            </a:r>
            <a:r>
              <a:rPr lang="ar-SA" altLang="en-US" sz="1250" dirty="0">
                <a:solidFill>
                  <a:srgbClr val="12333C"/>
                </a:solidFill>
                <a:latin typeface="Arial" pitchFamily="34" charset="0"/>
                <a:ea typeface="Arial" pitchFamily="34" charset="-122"/>
                <a:cs typeface="Arial" pitchFamily="34" charset="-120"/>
              </a:rPr>
              <a:t>‏ و</a:t>
            </a:r>
            <a:r>
              <a:rPr lang="en-US" altLang="en-US" sz="1250" dirty="0">
                <a:solidFill>
                  <a:srgbClr val="12333C"/>
                </a:solidFill>
                <a:latin typeface="Arial" pitchFamily="34" charset="0"/>
                <a:ea typeface="Arial" pitchFamily="34" charset="-122"/>
                <a:cs typeface="Arial" pitchFamily="34" charset="-120"/>
              </a:rPr>
              <a:t>Patient</a:t>
            </a:r>
            <a:r>
              <a:rPr lang="ar-SA" altLang="en-US" sz="1250" dirty="0">
                <a:solidFill>
                  <a:srgbClr val="12333C"/>
                </a:solidFill>
                <a:latin typeface="Arial" pitchFamily="34" charset="0"/>
                <a:ea typeface="Arial" pitchFamily="34" charset="-122"/>
                <a:cs typeface="Arial" pitchFamily="34" charset="-120"/>
              </a:rPr>
              <a:t>‏ على غرار ‏</a:t>
            </a:r>
            <a:r>
              <a:rPr lang="en-US" altLang="en-US" sz="1250" dirty="0">
                <a:solidFill>
                  <a:srgbClr val="12333C"/>
                </a:solidFill>
                <a:latin typeface="Arial" pitchFamily="34" charset="0"/>
                <a:ea typeface="Arial" pitchFamily="34" charset="-122"/>
                <a:cs typeface="Arial" pitchFamily="34" charset="-120"/>
              </a:rPr>
              <a:t>SMART on FHIR</a:t>
            </a:r>
            <a:r>
              <a:rPr lang="ar-SA" altLang="en-US" sz="1250" dirty="0">
                <a:solidFill>
                  <a:srgbClr val="12333C"/>
                </a:solidFill>
                <a:latin typeface="Arial" pitchFamily="34" charset="0"/>
                <a:ea typeface="Arial" pitchFamily="34" charset="-122"/>
                <a:cs typeface="Arial" pitchFamily="34" charset="-120"/>
              </a:rPr>
              <a:t>‏.</a:t>
            </a:r>
            <a:endParaRPr lang="ar-SA" sz="1250" dirty="0"/>
          </a:p>
          <a:p>
            <a:pPr rtl="1" algn="r" marL="152400" indent="-152400">
              <a:lnSpc>
                <a:spcPct val="120000"/>
              </a:lnSpc>
              <a:spcAft>
                <a:spcPts val="1200"/>
              </a:spcAft>
              <a:buSzPct val="100000"/>
              <a:buChar char="•"/>
            </a:pPr>
            <a:r>
              <a:rPr lang="ar-SA" altLang="en-US" sz="1250" dirty="0">
                <a:solidFill>
                  <a:srgbClr val="12333C"/>
                </a:solidFill>
                <a:latin typeface="Arial" pitchFamily="34" charset="0"/>
                <a:ea typeface="Arial" pitchFamily="34" charset="-122"/>
                <a:cs typeface="Arial" pitchFamily="34" charset="-120"/>
              </a:rPr>
              <a:t>تشفير الاتصالات عبر ‏</a:t>
            </a:r>
            <a:r>
              <a:rPr lang="en-US" altLang="en-US" sz="1250" dirty="0">
                <a:solidFill>
                  <a:srgbClr val="12333C"/>
                </a:solidFill>
                <a:latin typeface="Arial" pitchFamily="34" charset="0"/>
                <a:ea typeface="Arial" pitchFamily="34" charset="-122"/>
                <a:cs typeface="Arial" pitchFamily="34" charset="-120"/>
              </a:rPr>
              <a:t>HTTPS</a:t>
            </a:r>
            <a:r>
              <a:rPr lang="ar-SA" altLang="en-US" sz="1250" dirty="0">
                <a:solidFill>
                  <a:srgbClr val="12333C"/>
                </a:solidFill>
                <a:latin typeface="Arial" pitchFamily="34" charset="0"/>
                <a:ea typeface="Arial" pitchFamily="34" charset="-122"/>
                <a:cs typeface="Arial" pitchFamily="34" charset="-120"/>
              </a:rPr>
              <a:t>‏ وربط حساب المريض بسجلّه عبر رمز دعوة.</a:t>
            </a:r>
            <a:endParaRPr lang="ar-SA"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نبض — نظام السجلات الطبية الرقمية</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13</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مخطّط حالات الاستخدام العام</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خمسة فاعلين يتدرّجون في الصلاحيات بالوراثة</a:t>
            </a:r>
            <a:endParaRPr lang="ar-SA" sz="1400" dirty="0"/>
          </a:p>
        </p:txBody>
      </p:sp>
      <p:sp>
        <p:nvSpPr>
          <p:cNvPr id="6" name="Shape 4"/>
          <p:cNvSpPr/>
          <p:nvPr/>
        </p:nvSpPr>
        <p:spPr>
          <a:xfrm>
            <a:off x="877824" y="1609344"/>
            <a:ext cx="2743951" cy="4782312"/>
          </a:xfrm>
          <a:prstGeom prst="rect">
            <a:avLst/>
          </a:prstGeom>
          <a:solidFill>
            <a:srgbClr val="FFFFFF"/>
          </a:solidFill>
          <a:ln w="12700">
            <a:solidFill>
              <a:srgbClr val="D9E7E9"/>
            </a:solidFill>
            <a:prstDash val="solid"/>
          </a:ln>
          <a:effectLst>
            <a:outerShdw sx="100000" sy="100000" kx="0" ky="0" algn="bl" rotWithShape="0" blurRad="76200" dist="25400" dir="5400000">
              <a:srgbClr val="808f93">
                <a:alpha val="35000"/>
              </a:srgbClr>
            </a:outerShdw>
          </a:effectLst>
        </p:spPr>
      </p:sp>
      <p:pic>
        <p:nvPicPr>
          <p:cNvPr id="7" name="Image 0" descr="D:/Code/ASP/DMRS/docs/diagrams/usecase-overview.png">    </p:cNvPr>
          <p:cNvPicPr>
            <a:picLocks noChangeAspect="1"/>
          </p:cNvPicPr>
          <p:nvPr/>
        </p:nvPicPr>
        <p:blipFill>
          <a:blip r:embed="rId1"/>
          <a:stretch>
            <a:fillRect/>
          </a:stretch>
        </p:blipFill>
        <p:spPr>
          <a:xfrm>
            <a:off x="914400" y="1645920"/>
            <a:ext cx="2670799" cy="4709160"/>
          </a:xfrm>
          <a:prstGeom prst="rect">
            <a:avLst/>
          </a:prstGeom>
        </p:spPr>
      </p:pic>
      <p:sp>
        <p:nvSpPr>
          <p:cNvPr id="8" name="Shape 5"/>
          <p:cNvSpPr/>
          <p:nvPr/>
        </p:nvSpPr>
        <p:spPr>
          <a:xfrm>
            <a:off x="4042399" y="1645920"/>
            <a:ext cx="7600656" cy="822960"/>
          </a:xfrm>
          <a:prstGeom prst="roundRect">
            <a:avLst>
              <a:gd name="adj" fmla="val 8889"/>
            </a:avLst>
          </a:prstGeom>
          <a:solidFill>
            <a:srgbClr val="F2F8F8"/>
          </a:solidFill>
          <a:ln w="9525">
            <a:solidFill>
              <a:srgbClr val="D9E7E9"/>
            </a:solidFill>
            <a:prstDash val="solid"/>
          </a:ln>
        </p:spPr>
      </p:sp>
      <p:sp>
        <p:nvSpPr>
          <p:cNvPr id="9" name="Text 6"/>
          <p:cNvSpPr/>
          <p:nvPr/>
        </p:nvSpPr>
        <p:spPr>
          <a:xfrm>
            <a:off x="4298431" y="1645920"/>
            <a:ext cx="7088592" cy="822960"/>
          </a:xfrm>
          <a:prstGeom prst="rect">
            <a:avLst/>
          </a:prstGeom>
          <a:noFill/>
          <a:ln/>
        </p:spPr>
        <p:txBody>
          <a:bodyPr wrap="square" lIns="0" tIns="0" rIns="0" bIns="0" rtlCol="0" anchor="ctr"/>
          <a:lstStyle/>
          <a:p>
            <a:pPr rtl="1" algn="r" indent="0" marL="0">
              <a:lnSpc>
                <a:spcPct val="115000"/>
              </a:lnSpc>
              <a:buNone/>
            </a:pPr>
            <a:r>
              <a:rPr lang="ar-SA" altLang="en-US" sz="1250" b="1" dirty="0">
                <a:solidFill>
                  <a:srgbClr val="0E7C86"/>
                </a:solidFill>
                <a:latin typeface="Arial" pitchFamily="34" charset="0"/>
                <a:ea typeface="Arial" pitchFamily="34" charset="-122"/>
                <a:cs typeface="Arial" pitchFamily="34" charset="-120"/>
              </a:rPr>
              <a:t>مدير النظام  —  </a:t>
            </a:r>
            <a:r>
              <a:rPr lang="ar-SA" altLang="en-US" sz="1250" dirty="0">
                <a:solidFill>
                  <a:srgbClr val="587078"/>
                </a:solidFill>
                <a:latin typeface="Arial" pitchFamily="34" charset="0"/>
                <a:ea typeface="Arial" pitchFamily="34" charset="-122"/>
                <a:cs typeface="Arial" pitchFamily="34" charset="-120"/>
              </a:rPr>
              <a:t>أعلى صلاحية: إدارة المؤسسات على مستوى المنصّة، ويرث قدرات مدير المؤسسة.</a:t>
            </a:r>
            <a:endParaRPr lang="ar-SA" sz="1250" dirty="0"/>
          </a:p>
        </p:txBody>
      </p:sp>
      <p:sp>
        <p:nvSpPr>
          <p:cNvPr id="10" name="Shape 7"/>
          <p:cNvSpPr/>
          <p:nvPr/>
        </p:nvSpPr>
        <p:spPr>
          <a:xfrm>
            <a:off x="4042399" y="2587752"/>
            <a:ext cx="7600656" cy="822960"/>
          </a:xfrm>
          <a:prstGeom prst="roundRect">
            <a:avLst>
              <a:gd name="adj" fmla="val 8889"/>
            </a:avLst>
          </a:prstGeom>
          <a:solidFill>
            <a:srgbClr val="F2F8F8"/>
          </a:solidFill>
          <a:ln w="9525">
            <a:solidFill>
              <a:srgbClr val="D9E7E9"/>
            </a:solidFill>
            <a:prstDash val="solid"/>
          </a:ln>
        </p:spPr>
      </p:sp>
      <p:sp>
        <p:nvSpPr>
          <p:cNvPr id="11" name="Text 8"/>
          <p:cNvSpPr/>
          <p:nvPr/>
        </p:nvSpPr>
        <p:spPr>
          <a:xfrm>
            <a:off x="4298431" y="2587752"/>
            <a:ext cx="7088592" cy="822960"/>
          </a:xfrm>
          <a:prstGeom prst="rect">
            <a:avLst/>
          </a:prstGeom>
          <a:noFill/>
          <a:ln/>
        </p:spPr>
        <p:txBody>
          <a:bodyPr wrap="square" lIns="0" tIns="0" rIns="0" bIns="0" rtlCol="0" anchor="ctr"/>
          <a:lstStyle/>
          <a:p>
            <a:pPr rtl="1" algn="r" indent="0" marL="0">
              <a:lnSpc>
                <a:spcPct val="115000"/>
              </a:lnSpc>
              <a:buNone/>
            </a:pPr>
            <a:r>
              <a:rPr lang="ar-SA" altLang="en-US" sz="1250" b="1" dirty="0">
                <a:solidFill>
                  <a:srgbClr val="0E7C86"/>
                </a:solidFill>
                <a:latin typeface="Arial" pitchFamily="34" charset="0"/>
                <a:ea typeface="Arial" pitchFamily="34" charset="-122"/>
                <a:cs typeface="Arial" pitchFamily="34" charset="-120"/>
              </a:rPr>
              <a:t>مدير المؤسسة  —  </a:t>
            </a:r>
            <a:r>
              <a:rPr lang="ar-SA" altLang="en-US" sz="1250" dirty="0">
                <a:solidFill>
                  <a:srgbClr val="587078"/>
                </a:solidFill>
                <a:latin typeface="Arial" pitchFamily="34" charset="0"/>
                <a:ea typeface="Arial" pitchFamily="34" charset="-122"/>
                <a:cs typeface="Arial" pitchFamily="34" charset="-120"/>
              </a:rPr>
              <a:t>الكادر والدعوات، وتأليف قواعد دعم القرار، والنماذج الخارجية — ويرث قدرات الممارس.</a:t>
            </a:r>
            <a:endParaRPr lang="ar-SA" sz="1250" dirty="0"/>
          </a:p>
        </p:txBody>
      </p:sp>
      <p:sp>
        <p:nvSpPr>
          <p:cNvPr id="12" name="Shape 9"/>
          <p:cNvSpPr/>
          <p:nvPr/>
        </p:nvSpPr>
        <p:spPr>
          <a:xfrm>
            <a:off x="4042399" y="3529584"/>
            <a:ext cx="7600656" cy="822960"/>
          </a:xfrm>
          <a:prstGeom prst="roundRect">
            <a:avLst>
              <a:gd name="adj" fmla="val 8889"/>
            </a:avLst>
          </a:prstGeom>
          <a:solidFill>
            <a:srgbClr val="F2F8F8"/>
          </a:solidFill>
          <a:ln w="9525">
            <a:solidFill>
              <a:srgbClr val="D9E7E9"/>
            </a:solidFill>
            <a:prstDash val="solid"/>
          </a:ln>
        </p:spPr>
      </p:sp>
      <p:sp>
        <p:nvSpPr>
          <p:cNvPr id="13" name="Text 10"/>
          <p:cNvSpPr/>
          <p:nvPr/>
        </p:nvSpPr>
        <p:spPr>
          <a:xfrm>
            <a:off x="4298431" y="3529584"/>
            <a:ext cx="7088592" cy="822960"/>
          </a:xfrm>
          <a:prstGeom prst="rect">
            <a:avLst/>
          </a:prstGeom>
          <a:noFill/>
          <a:ln/>
        </p:spPr>
        <p:txBody>
          <a:bodyPr wrap="square" lIns="0" tIns="0" rIns="0" bIns="0" rtlCol="0" anchor="ctr"/>
          <a:lstStyle/>
          <a:p>
            <a:pPr rtl="1" algn="r" indent="0" marL="0">
              <a:lnSpc>
                <a:spcPct val="115000"/>
              </a:lnSpc>
              <a:buNone/>
            </a:pPr>
            <a:r>
              <a:rPr lang="ar-SA" altLang="en-US" sz="1250" b="1" dirty="0">
                <a:solidFill>
                  <a:srgbClr val="0E7C86"/>
                </a:solidFill>
                <a:latin typeface="Arial" pitchFamily="34" charset="0"/>
                <a:ea typeface="Arial" pitchFamily="34" charset="-122"/>
                <a:cs typeface="Arial" pitchFamily="34" charset="-120"/>
              </a:rPr>
              <a:t>الطبيب / الممارس  —  </a:t>
            </a:r>
            <a:r>
              <a:rPr lang="ar-SA" altLang="en-US" sz="1250" dirty="0">
                <a:solidFill>
                  <a:srgbClr val="587078"/>
                </a:solidFill>
                <a:latin typeface="Arial" pitchFamily="34" charset="0"/>
                <a:ea typeface="Arial" pitchFamily="34" charset="-122"/>
                <a:cs typeface="Arial" pitchFamily="34" charset="-120"/>
              </a:rPr>
              <a:t>المرضى والسجل السريري والطلبات والمواعيد وبطاقات المخاطر والرؤى.</a:t>
            </a:r>
            <a:endParaRPr lang="ar-SA" sz="1250" dirty="0"/>
          </a:p>
        </p:txBody>
      </p:sp>
      <p:sp>
        <p:nvSpPr>
          <p:cNvPr id="14" name="Shape 11"/>
          <p:cNvSpPr/>
          <p:nvPr/>
        </p:nvSpPr>
        <p:spPr>
          <a:xfrm>
            <a:off x="4042399" y="4471416"/>
            <a:ext cx="7600656" cy="822960"/>
          </a:xfrm>
          <a:prstGeom prst="roundRect">
            <a:avLst>
              <a:gd name="adj" fmla="val 8889"/>
            </a:avLst>
          </a:prstGeom>
          <a:solidFill>
            <a:srgbClr val="F2F8F8"/>
          </a:solidFill>
          <a:ln w="9525">
            <a:solidFill>
              <a:srgbClr val="D9E7E9"/>
            </a:solidFill>
            <a:prstDash val="solid"/>
          </a:ln>
        </p:spPr>
      </p:sp>
      <p:sp>
        <p:nvSpPr>
          <p:cNvPr id="15" name="Text 12"/>
          <p:cNvSpPr/>
          <p:nvPr/>
        </p:nvSpPr>
        <p:spPr>
          <a:xfrm>
            <a:off x="4298431" y="4471416"/>
            <a:ext cx="7088592" cy="822960"/>
          </a:xfrm>
          <a:prstGeom prst="rect">
            <a:avLst/>
          </a:prstGeom>
          <a:noFill/>
          <a:ln/>
        </p:spPr>
        <p:txBody>
          <a:bodyPr wrap="square" lIns="0" tIns="0" rIns="0" bIns="0" rtlCol="0" anchor="ctr"/>
          <a:lstStyle/>
          <a:p>
            <a:pPr rtl="1" algn="r" indent="0" marL="0">
              <a:lnSpc>
                <a:spcPct val="115000"/>
              </a:lnSpc>
              <a:buNone/>
            </a:pPr>
            <a:r>
              <a:rPr lang="ar-SA" altLang="en-US" sz="1250" b="1" dirty="0">
                <a:solidFill>
                  <a:srgbClr val="0E7C86"/>
                </a:solidFill>
                <a:latin typeface="Arial" pitchFamily="34" charset="0"/>
                <a:ea typeface="Arial" pitchFamily="34" charset="-122"/>
                <a:cs typeface="Arial" pitchFamily="34" charset="-120"/>
              </a:rPr>
              <a:t>المريض  —  </a:t>
            </a:r>
            <a:r>
              <a:rPr lang="ar-SA" altLang="en-US" sz="1250" dirty="0">
                <a:solidFill>
                  <a:srgbClr val="587078"/>
                </a:solidFill>
                <a:latin typeface="Arial" pitchFamily="34" charset="0"/>
                <a:ea typeface="Arial" pitchFamily="34" charset="-122"/>
                <a:cs typeface="Arial" pitchFamily="34" charset="-120"/>
              </a:rPr>
              <a:t>بوابة خدمة ذاتية: السجل الصحّي والمواعيد والملف الشخصي ضمن نطاقه فقط.</a:t>
            </a:r>
            <a:endParaRPr lang="ar-SA" sz="1250" dirty="0"/>
          </a:p>
        </p:txBody>
      </p:sp>
      <p:sp>
        <p:nvSpPr>
          <p:cNvPr id="16" name="Shape 13"/>
          <p:cNvSpPr/>
          <p:nvPr/>
        </p:nvSpPr>
        <p:spPr>
          <a:xfrm>
            <a:off x="4042399" y="5413248"/>
            <a:ext cx="7600656" cy="822960"/>
          </a:xfrm>
          <a:prstGeom prst="roundRect">
            <a:avLst>
              <a:gd name="adj" fmla="val 8889"/>
            </a:avLst>
          </a:prstGeom>
          <a:solidFill>
            <a:srgbClr val="F2F8F8"/>
          </a:solidFill>
          <a:ln w="9525">
            <a:solidFill>
              <a:srgbClr val="D9E7E9"/>
            </a:solidFill>
            <a:prstDash val="solid"/>
          </a:ln>
        </p:spPr>
      </p:sp>
      <p:sp>
        <p:nvSpPr>
          <p:cNvPr id="17" name="Text 14"/>
          <p:cNvSpPr/>
          <p:nvPr/>
        </p:nvSpPr>
        <p:spPr>
          <a:xfrm>
            <a:off x="4298431" y="5413248"/>
            <a:ext cx="7088592" cy="822960"/>
          </a:xfrm>
          <a:prstGeom prst="rect">
            <a:avLst/>
          </a:prstGeom>
          <a:noFill/>
          <a:ln/>
        </p:spPr>
        <p:txBody>
          <a:bodyPr wrap="square" lIns="0" tIns="0" rIns="0" bIns="0" rtlCol="0" anchor="ctr"/>
          <a:lstStyle/>
          <a:p>
            <a:pPr rtl="1" algn="r" indent="0" marL="0">
              <a:lnSpc>
                <a:spcPct val="115000"/>
              </a:lnSpc>
              <a:buNone/>
            </a:pPr>
            <a:r>
              <a:rPr lang="ar-SA" altLang="en-US" sz="1250" b="1" dirty="0">
                <a:solidFill>
                  <a:srgbClr val="0E7C86"/>
                </a:solidFill>
                <a:latin typeface="Arial" pitchFamily="34" charset="0"/>
                <a:ea typeface="Arial" pitchFamily="34" charset="-122"/>
                <a:cs typeface="Arial" pitchFamily="34" charset="-120"/>
              </a:rPr>
              <a:t>الزائر  —  </a:t>
            </a:r>
            <a:r>
              <a:rPr lang="ar-SA" altLang="en-US" sz="1250" dirty="0">
                <a:solidFill>
                  <a:srgbClr val="587078"/>
                </a:solidFill>
                <a:latin typeface="Arial" pitchFamily="34" charset="0"/>
                <a:ea typeface="Arial" pitchFamily="34" charset="-122"/>
                <a:cs typeface="Arial" pitchFamily="34" charset="-120"/>
              </a:rPr>
              <a:t>صفحة الترحيب التعريفية وتبديل اللغة وبدء تسجيل الدخول.</a:t>
            </a:r>
            <a:endParaRPr lang="ar-SA"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نبض — نظام السجلات الطبية الرقمية</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14</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مخطّط قاعدة البيانات ‏</a:t>
            </a:r>
            <a:r>
              <a:rPr lang="en-US" altLang="en-US" sz="2900" b="1" dirty="0">
                <a:solidFill>
                  <a:srgbClr val="0A3540"/>
                </a:solidFill>
                <a:latin typeface="Arial" pitchFamily="34" charset="0"/>
                <a:ea typeface="Arial" pitchFamily="34" charset="-122"/>
                <a:cs typeface="Arial" pitchFamily="34" charset="-120"/>
              </a:rPr>
              <a:t>ERD</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تصميمٌ عام: مستند ‏</a:t>
            </a:r>
            <a:r>
              <a:rPr lang="en-US" altLang="en-US" sz="1400" dirty="0">
                <a:solidFill>
                  <a:srgbClr val="0E7C86"/>
                </a:solidFill>
                <a:latin typeface="Arial" pitchFamily="34" charset="0"/>
                <a:ea typeface="Arial" pitchFamily="34" charset="-122"/>
                <a:cs typeface="Arial" pitchFamily="34" charset="-120"/>
              </a:rPr>
              <a:t>FHIR</a:t>
            </a:r>
            <a:r>
              <a:rPr lang="ar-SA" altLang="en-US" sz="1400" dirty="0">
                <a:solidFill>
                  <a:srgbClr val="0E7C86"/>
                </a:solidFill>
                <a:latin typeface="Arial" pitchFamily="34" charset="0"/>
                <a:ea typeface="Arial" pitchFamily="34" charset="-122"/>
                <a:cs typeface="Arial" pitchFamily="34" charset="-120"/>
              </a:rPr>
              <a:t>‏ في المركز، وحوله جداول الفهرسة والنسخ والدعم</a:t>
            </a:r>
            <a:endParaRPr lang="ar-SA" sz="1400" dirty="0"/>
          </a:p>
        </p:txBody>
      </p:sp>
      <p:sp>
        <p:nvSpPr>
          <p:cNvPr id="6" name="Shape 4"/>
          <p:cNvSpPr/>
          <p:nvPr/>
        </p:nvSpPr>
        <p:spPr>
          <a:xfrm>
            <a:off x="786384" y="1609344"/>
            <a:ext cx="3168270" cy="4782312"/>
          </a:xfrm>
          <a:prstGeom prst="rect">
            <a:avLst/>
          </a:prstGeom>
          <a:solidFill>
            <a:srgbClr val="FFFFFF"/>
          </a:solidFill>
          <a:ln w="12700">
            <a:solidFill>
              <a:srgbClr val="D9E7E9"/>
            </a:solidFill>
            <a:prstDash val="solid"/>
          </a:ln>
          <a:effectLst>
            <a:outerShdw sx="100000" sy="100000" kx="0" ky="0" algn="bl" rotWithShape="0" blurRad="76200" dist="25400" dir="5400000">
              <a:srgbClr val="808f93">
                <a:alpha val="35000"/>
              </a:srgbClr>
            </a:outerShdw>
          </a:effectLst>
        </p:spPr>
      </p:sp>
      <p:pic>
        <p:nvPicPr>
          <p:cNvPr id="7" name="Image 0" descr="D:/Code/ASP/DMRS/docs/diagrams/erd.png">    </p:cNvPr>
          <p:cNvPicPr>
            <a:picLocks noChangeAspect="1"/>
          </p:cNvPicPr>
          <p:nvPr/>
        </p:nvPicPr>
        <p:blipFill>
          <a:blip r:embed="rId1"/>
          <a:stretch>
            <a:fillRect/>
          </a:stretch>
        </p:blipFill>
        <p:spPr>
          <a:xfrm>
            <a:off x="822960" y="1645920"/>
            <a:ext cx="3095118" cy="4709160"/>
          </a:xfrm>
          <a:prstGeom prst="rect">
            <a:avLst/>
          </a:prstGeom>
        </p:spPr>
      </p:pic>
      <p:sp>
        <p:nvSpPr>
          <p:cNvPr id="8" name="Text 5"/>
          <p:cNvSpPr/>
          <p:nvPr/>
        </p:nvSpPr>
        <p:spPr>
          <a:xfrm>
            <a:off x="4420998" y="1737360"/>
            <a:ext cx="7222057" cy="4572000"/>
          </a:xfrm>
          <a:prstGeom prst="rect">
            <a:avLst/>
          </a:prstGeom>
          <a:noFill/>
          <a:ln/>
        </p:spPr>
        <p:txBody>
          <a:bodyPr wrap="square" rtlCol="0" anchor="t"/>
          <a:lstStyle/>
          <a:p>
            <a:pPr rtl="1" algn="r" marL="152400" indent="-152400">
              <a:lnSpc>
                <a:spcPct val="120000"/>
              </a:lnSpc>
              <a:spcAft>
                <a:spcPts val="1300"/>
              </a:spcAft>
              <a:buSzPct val="100000"/>
              <a:buChar char="•"/>
            </a:pPr>
            <a:r>
              <a:rPr lang="ar-SA" altLang="en-US" sz="1300" dirty="0">
                <a:solidFill>
                  <a:srgbClr val="12333C"/>
                </a:solidFill>
                <a:latin typeface="Arial" pitchFamily="34" charset="0"/>
                <a:ea typeface="Arial" pitchFamily="34" charset="-122"/>
                <a:cs typeface="Arial" pitchFamily="34" charset="-120"/>
              </a:rPr>
              <a:t>جدول ‏</a:t>
            </a:r>
            <a:r>
              <a:rPr lang="en-US" altLang="en-US" sz="1300" dirty="0">
                <a:solidFill>
                  <a:srgbClr val="12333C"/>
                </a:solidFill>
                <a:latin typeface="Arial" pitchFamily="34" charset="0"/>
                <a:ea typeface="Arial" pitchFamily="34" charset="-122"/>
                <a:cs typeface="Arial" pitchFamily="34" charset="-120"/>
              </a:rPr>
              <a:t>FhirResource</a:t>
            </a:r>
            <a:r>
              <a:rPr lang="ar-SA" altLang="en-US" sz="1300" dirty="0">
                <a:solidFill>
                  <a:srgbClr val="12333C"/>
                </a:solidFill>
                <a:latin typeface="Arial" pitchFamily="34" charset="0"/>
                <a:ea typeface="Arial" pitchFamily="34" charset="-122"/>
                <a:cs typeface="Arial" pitchFamily="34" charset="-120"/>
              </a:rPr>
              <a:t>‏ يحفظ النسخة الحالية لكلّ مورد: النوع والمعرّف ومستند ‏</a:t>
            </a:r>
            <a:r>
              <a:rPr lang="en-US" altLang="en-US" sz="1300" dirty="0">
                <a:solidFill>
                  <a:srgbClr val="12333C"/>
                </a:solidFill>
                <a:latin typeface="Arial" pitchFamily="34" charset="0"/>
                <a:ea typeface="Arial" pitchFamily="34" charset="-122"/>
                <a:cs typeface="Arial" pitchFamily="34" charset="-120"/>
              </a:rPr>
              <a:t>JSON</a:t>
            </a:r>
            <a:r>
              <a:rPr lang="ar-SA" altLang="en-US" sz="1300" dirty="0">
                <a:solidFill>
                  <a:srgbClr val="12333C"/>
                </a:solidFill>
                <a:latin typeface="Arial" pitchFamily="34" charset="0"/>
                <a:ea typeface="Arial" pitchFamily="34" charset="-122"/>
                <a:cs typeface="Arial" pitchFamily="34" charset="-120"/>
              </a:rPr>
              <a:t>‏.</a:t>
            </a:r>
            <a:endParaRPr lang="ar-SA" sz="1300" dirty="0"/>
          </a:p>
          <a:p>
            <a:pPr rtl="1" algn="r" marL="152400" indent="-152400">
              <a:lnSpc>
                <a:spcPct val="120000"/>
              </a:lnSpc>
              <a:spcAft>
                <a:spcPts val="1300"/>
              </a:spcAft>
              <a:buSzPct val="100000"/>
              <a:buChar char="•"/>
            </a:pPr>
            <a:r>
              <a:rPr lang="ar-SA" altLang="en-US" sz="1300" dirty="0">
                <a:solidFill>
                  <a:srgbClr val="12333C"/>
                </a:solidFill>
                <a:latin typeface="Arial" pitchFamily="34" charset="0"/>
                <a:ea typeface="Arial" pitchFamily="34" charset="-122"/>
                <a:cs typeface="Arial" pitchFamily="34" charset="-120"/>
              </a:rPr>
              <a:t>جدول ‏</a:t>
            </a:r>
            <a:r>
              <a:rPr lang="en-US" altLang="en-US" sz="1300" dirty="0">
                <a:solidFill>
                  <a:srgbClr val="12333C"/>
                </a:solidFill>
                <a:latin typeface="Arial" pitchFamily="34" charset="0"/>
                <a:ea typeface="Arial" pitchFamily="34" charset="-122"/>
                <a:cs typeface="Arial" pitchFamily="34" charset="-120"/>
              </a:rPr>
              <a:t>FhirResourceVersion</a:t>
            </a:r>
            <a:r>
              <a:rPr lang="ar-SA" altLang="en-US" sz="1300" dirty="0">
                <a:solidFill>
                  <a:srgbClr val="12333C"/>
                </a:solidFill>
                <a:latin typeface="Arial" pitchFamily="34" charset="0"/>
                <a:ea typeface="Arial" pitchFamily="34" charset="-122"/>
                <a:cs typeface="Arial" pitchFamily="34" charset="-120"/>
              </a:rPr>
              <a:t>‏ يحفظ تاريخ النسخ كاملاً لكلّ مورد (أثرٌ تدقيقي).</a:t>
            </a:r>
            <a:endParaRPr lang="ar-SA" sz="1300" dirty="0"/>
          </a:p>
          <a:p>
            <a:pPr rtl="1" algn="r" marL="152400" indent="-152400">
              <a:lnSpc>
                <a:spcPct val="120000"/>
              </a:lnSpc>
              <a:spcAft>
                <a:spcPts val="1300"/>
              </a:spcAft>
              <a:buSzPct val="100000"/>
              <a:buChar char="•"/>
            </a:pPr>
            <a:r>
              <a:rPr lang="ar-SA" altLang="en-US" sz="1300" dirty="0">
                <a:solidFill>
                  <a:srgbClr val="12333C"/>
                </a:solidFill>
                <a:latin typeface="Arial" pitchFamily="34" charset="0"/>
                <a:ea typeface="Arial" pitchFamily="34" charset="-122"/>
                <a:cs typeface="Arial" pitchFamily="34" charset="-120"/>
              </a:rPr>
              <a:t>فهرس ‏</a:t>
            </a:r>
            <a:r>
              <a:rPr lang="en-US" altLang="en-US" sz="1300" dirty="0">
                <a:solidFill>
                  <a:srgbClr val="12333C"/>
                </a:solidFill>
                <a:latin typeface="Arial" pitchFamily="34" charset="0"/>
                <a:ea typeface="Arial" pitchFamily="34" charset="-122"/>
                <a:cs typeface="Arial" pitchFamily="34" charset="-120"/>
              </a:rPr>
              <a:t>ResourceIndex</a:t>
            </a:r>
            <a:r>
              <a:rPr lang="ar-SA" altLang="en-US" sz="1300" dirty="0">
                <a:solidFill>
                  <a:srgbClr val="12333C"/>
                </a:solidFill>
                <a:latin typeface="Arial" pitchFamily="34" charset="0"/>
                <a:ea typeface="Arial" pitchFamily="34" charset="-122"/>
                <a:cs typeface="Arial" pitchFamily="34" charset="-120"/>
              </a:rPr>
              <a:t>‏ فهرس بحثٍ مُسطَّح يُبنى تلقائياً من الموارد.</a:t>
            </a:r>
            <a:endParaRPr lang="ar-SA" sz="1300" dirty="0"/>
          </a:p>
          <a:p>
            <a:pPr rtl="1" algn="r" marL="152400" indent="-152400">
              <a:lnSpc>
                <a:spcPct val="120000"/>
              </a:lnSpc>
              <a:spcAft>
                <a:spcPts val="1300"/>
              </a:spcAft>
              <a:buSzPct val="100000"/>
              <a:buChar char="•"/>
            </a:pPr>
            <a:r>
              <a:rPr lang="ar-SA" altLang="en-US" sz="1300" dirty="0">
                <a:solidFill>
                  <a:srgbClr val="12333C"/>
                </a:solidFill>
                <a:latin typeface="Arial" pitchFamily="34" charset="0"/>
                <a:ea typeface="Arial" pitchFamily="34" charset="-122"/>
                <a:cs typeface="Arial" pitchFamily="34" charset="-120"/>
              </a:rPr>
              <a:t>علاقة ‏</a:t>
            </a:r>
            <a:r>
              <a:rPr lang="en-US" altLang="en-US" sz="1300" dirty="0">
                <a:solidFill>
                  <a:srgbClr val="12333C"/>
                </a:solidFill>
                <a:latin typeface="Arial" pitchFamily="34" charset="0"/>
                <a:ea typeface="Arial" pitchFamily="34" charset="-122"/>
                <a:cs typeface="Arial" pitchFamily="34" charset="-120"/>
              </a:rPr>
              <a:t>CdsRuleDefinition</a:t>
            </a:r>
            <a:r>
              <a:rPr lang="ar-SA" altLang="en-US" sz="1300" dirty="0">
                <a:solidFill>
                  <a:srgbClr val="12333C"/>
                </a:solidFill>
                <a:latin typeface="Arial" pitchFamily="34" charset="0"/>
                <a:ea typeface="Arial" pitchFamily="34" charset="-122"/>
                <a:cs typeface="Arial" pitchFamily="34" charset="-120"/>
              </a:rPr>
              <a:t>‏ مع ‏</a:t>
            </a:r>
            <a:r>
              <a:rPr lang="en-US" altLang="en-US" sz="1300" dirty="0">
                <a:solidFill>
                  <a:srgbClr val="12333C"/>
                </a:solidFill>
                <a:latin typeface="Arial" pitchFamily="34" charset="0"/>
                <a:ea typeface="Arial" pitchFamily="34" charset="-122"/>
                <a:cs typeface="Arial" pitchFamily="34" charset="-120"/>
              </a:rPr>
              <a:t>CdsRuleVersion</a:t>
            </a:r>
            <a:r>
              <a:rPr lang="ar-SA" altLang="en-US" sz="1300" dirty="0">
                <a:solidFill>
                  <a:srgbClr val="12333C"/>
                </a:solidFill>
                <a:latin typeface="Arial" pitchFamily="34" charset="0"/>
                <a:ea typeface="Arial" pitchFamily="34" charset="-122"/>
                <a:cs typeface="Arial" pitchFamily="34" charset="-120"/>
              </a:rPr>
              <a:t>‏ تحقّق نشراً مُصدَّر النسخ لقواعد دعم القرار.</a:t>
            </a:r>
            <a:endParaRPr lang="ar-SA" sz="1300" dirty="0"/>
          </a:p>
          <a:p>
            <a:pPr rtl="1" algn="r" marL="152400" indent="-152400">
              <a:lnSpc>
                <a:spcPct val="120000"/>
              </a:lnSpc>
              <a:spcAft>
                <a:spcPts val="1300"/>
              </a:spcAft>
              <a:buSzPct val="100000"/>
              <a:buChar char="•"/>
            </a:pPr>
            <a:r>
              <a:rPr lang="ar-SA" altLang="en-US" sz="1300" dirty="0">
                <a:solidFill>
                  <a:srgbClr val="12333C"/>
                </a:solidFill>
                <a:latin typeface="Arial" pitchFamily="34" charset="0"/>
                <a:ea typeface="Arial" pitchFamily="34" charset="-122"/>
                <a:cs typeface="Arial" pitchFamily="34" charset="-120"/>
              </a:rPr>
              <a:t>جدول ‏</a:t>
            </a:r>
            <a:r>
              <a:rPr lang="en-US" altLang="en-US" sz="1300" dirty="0">
                <a:solidFill>
                  <a:srgbClr val="12333C"/>
                </a:solidFill>
                <a:latin typeface="Arial" pitchFamily="34" charset="0"/>
                <a:ea typeface="Arial" pitchFamily="34" charset="-122"/>
                <a:cs typeface="Arial" pitchFamily="34" charset="-120"/>
              </a:rPr>
              <a:t>MedicineKnowledgeRecord</a:t>
            </a:r>
            <a:r>
              <a:rPr lang="ar-SA" altLang="en-US" sz="1300" dirty="0">
                <a:solidFill>
                  <a:srgbClr val="12333C"/>
                </a:solidFill>
                <a:latin typeface="Arial" pitchFamily="34" charset="0"/>
                <a:ea typeface="Arial" pitchFamily="34" charset="-122"/>
                <a:cs typeface="Arial" pitchFamily="34" charset="-120"/>
              </a:rPr>
              <a:t>‏ ذاكرةٌ مؤقّتة لمعرفة الأدوية.</a:t>
            </a:r>
            <a:endParaRPr lang="ar-SA" sz="1300" dirty="0"/>
          </a:p>
          <a:p>
            <a:pPr rtl="1" algn="r" marL="152400" indent="-152400">
              <a:lnSpc>
                <a:spcPct val="120000"/>
              </a:lnSpc>
              <a:spcAft>
                <a:spcPts val="1300"/>
              </a:spcAft>
              <a:buSzPct val="100000"/>
              <a:buChar char="•"/>
            </a:pPr>
            <a:r>
              <a:rPr lang="ar-SA" altLang="en-US" sz="1300" dirty="0">
                <a:solidFill>
                  <a:srgbClr val="12333C"/>
                </a:solidFill>
                <a:latin typeface="Arial" pitchFamily="34" charset="0"/>
                <a:ea typeface="Arial" pitchFamily="34" charset="-122"/>
                <a:cs typeface="Arial" pitchFamily="34" charset="-120"/>
              </a:rPr>
              <a:t>جدول ‏</a:t>
            </a:r>
            <a:r>
              <a:rPr lang="en-US" altLang="en-US" sz="1300" dirty="0">
                <a:solidFill>
                  <a:srgbClr val="12333C"/>
                </a:solidFill>
                <a:latin typeface="Arial" pitchFamily="34" charset="0"/>
                <a:ea typeface="Arial" pitchFamily="34" charset="-122"/>
                <a:cs typeface="Arial" pitchFamily="34" charset="-120"/>
              </a:rPr>
              <a:t>ExternalAiModel</a:t>
            </a:r>
            <a:r>
              <a:rPr lang="ar-SA" altLang="en-US" sz="1300" dirty="0">
                <a:solidFill>
                  <a:srgbClr val="12333C"/>
                </a:solidFill>
                <a:latin typeface="Arial" pitchFamily="34" charset="0"/>
                <a:ea typeface="Arial" pitchFamily="34" charset="-122"/>
                <a:cs typeface="Arial" pitchFamily="34" charset="-120"/>
              </a:rPr>
              <a:t>‏ سجلّ النماذج الخارجية بأسرارٍ مشفّرة.</a:t>
            </a:r>
            <a:endParaRPr lang="ar-SA" sz="1300" dirty="0"/>
          </a:p>
          <a:p>
            <a:pPr rtl="1" algn="r" marL="152400" indent="-152400">
              <a:lnSpc>
                <a:spcPct val="120000"/>
              </a:lnSpc>
              <a:spcAft>
                <a:spcPts val="1300"/>
              </a:spcAft>
              <a:buSzPct val="100000"/>
              <a:buChar char="•"/>
            </a:pPr>
            <a:r>
              <a:rPr lang="ar-SA" altLang="en-US" sz="1300" dirty="0">
                <a:solidFill>
                  <a:srgbClr val="12333C"/>
                </a:solidFill>
                <a:latin typeface="Arial" pitchFamily="34" charset="0"/>
                <a:ea typeface="Arial" pitchFamily="34" charset="-122"/>
                <a:cs typeface="Arial" pitchFamily="34" charset="-120"/>
              </a:rPr>
              <a:t>قاعدة مستقلة ‏</a:t>
            </a:r>
            <a:r>
              <a:rPr lang="en-US" altLang="en-US" sz="1300" dirty="0">
                <a:solidFill>
                  <a:srgbClr val="12333C"/>
                </a:solidFill>
                <a:latin typeface="Arial" pitchFamily="34" charset="0"/>
                <a:ea typeface="Arial" pitchFamily="34" charset="-122"/>
                <a:cs typeface="Arial" pitchFamily="34" charset="-120"/>
              </a:rPr>
              <a:t>DMRSMedicine</a:t>
            </a:r>
            <a:r>
              <a:rPr lang="ar-SA" altLang="en-US" sz="1300" dirty="0">
                <a:solidFill>
                  <a:srgbClr val="12333C"/>
                </a:solidFill>
                <a:latin typeface="Arial" pitchFamily="34" charset="0"/>
                <a:ea typeface="Arial" pitchFamily="34" charset="-122"/>
                <a:cs typeface="Arial" pitchFamily="34" charset="-120"/>
              </a:rPr>
              <a:t>‏ للأدوية والمكوّنات بعلاقة متعدّد-متعدّد.</a:t>
            </a:r>
            <a:endParaRPr lang="ar-SA"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نبض — نظام السجلات الطبية الرقمية</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15</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التطبيق العملي — واجهات الطبيب</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لوحة عمل، وملف مريضٍ ببطاقات المخاطر الثلاث</a:t>
            </a:r>
            <a:endParaRPr lang="ar-SA" sz="1400" dirty="0"/>
          </a:p>
        </p:txBody>
      </p:sp>
      <p:sp>
        <p:nvSpPr>
          <p:cNvPr id="6" name="Shape 4"/>
          <p:cNvSpPr/>
          <p:nvPr/>
        </p:nvSpPr>
        <p:spPr>
          <a:xfrm>
            <a:off x="6257239" y="1929384"/>
            <a:ext cx="5422392" cy="2948369"/>
          </a:xfrm>
          <a:prstGeom prst="rect">
            <a:avLst/>
          </a:prstGeom>
          <a:solidFill>
            <a:srgbClr val="FFFFFF"/>
          </a:solidFill>
          <a:ln w="12700">
            <a:solidFill>
              <a:srgbClr val="D9E7E9"/>
            </a:solidFill>
            <a:prstDash val="solid"/>
          </a:ln>
          <a:effectLst>
            <a:outerShdw sx="100000" sy="100000" kx="0" ky="0" algn="bl" rotWithShape="0" blurRad="76200" dist="25400" dir="5400000">
              <a:srgbClr val="808f93">
                <a:alpha val="35000"/>
              </a:srgbClr>
            </a:outerShdw>
          </a:effectLst>
        </p:spPr>
      </p:sp>
      <p:pic>
        <p:nvPicPr>
          <p:cNvPr id="7" name="Image 0" descr="D:/Code/ASP/DMRS/docs/screenshots/doctor/doctordash.png">    </p:cNvPr>
          <p:cNvPicPr>
            <a:picLocks noChangeAspect="1"/>
          </p:cNvPicPr>
          <p:nvPr/>
        </p:nvPicPr>
        <p:blipFill>
          <a:blip r:embed="rId1"/>
          <a:stretch>
            <a:fillRect/>
          </a:stretch>
        </p:blipFill>
        <p:spPr>
          <a:xfrm>
            <a:off x="6293815" y="1965960"/>
            <a:ext cx="5349240" cy="2875216"/>
          </a:xfrm>
          <a:prstGeom prst="rect">
            <a:avLst/>
          </a:prstGeom>
        </p:spPr>
      </p:pic>
      <p:sp>
        <p:nvSpPr>
          <p:cNvPr id="8" name="Text 5"/>
          <p:cNvSpPr/>
          <p:nvPr/>
        </p:nvSpPr>
        <p:spPr>
          <a:xfrm>
            <a:off x="6293815" y="5005768"/>
            <a:ext cx="5349240" cy="365760"/>
          </a:xfrm>
          <a:prstGeom prst="rect">
            <a:avLst/>
          </a:prstGeom>
          <a:noFill/>
          <a:ln/>
        </p:spPr>
        <p:txBody>
          <a:bodyPr wrap="square" lIns="0" tIns="0" rIns="0" bIns="0" rtlCol="0" anchor="ctr"/>
          <a:lstStyle/>
          <a:p>
            <a:pPr rtl="1" algn="ctr" indent="0" marL="0">
              <a:buNone/>
            </a:pPr>
            <a:r>
              <a:rPr lang="ar-SA" altLang="en-US" sz="1300" b="1" dirty="0">
                <a:solidFill>
                  <a:srgbClr val="0E7C86"/>
                </a:solidFill>
                <a:latin typeface="Arial" pitchFamily="34" charset="0"/>
                <a:ea typeface="Arial" pitchFamily="34" charset="-122"/>
                <a:cs typeface="Arial" pitchFamily="34" charset="-120"/>
              </a:rPr>
              <a:t>لوحة عمل الطبيب مع قائمة المراقبة التنبّؤية</a:t>
            </a:r>
            <a:endParaRPr lang="ar-SA" sz="1300" dirty="0"/>
          </a:p>
        </p:txBody>
      </p:sp>
      <p:sp>
        <p:nvSpPr>
          <p:cNvPr id="9" name="Shape 6"/>
          <p:cNvSpPr/>
          <p:nvPr/>
        </p:nvSpPr>
        <p:spPr>
          <a:xfrm>
            <a:off x="512064" y="1929384"/>
            <a:ext cx="5422392" cy="2948369"/>
          </a:xfrm>
          <a:prstGeom prst="rect">
            <a:avLst/>
          </a:prstGeom>
          <a:solidFill>
            <a:srgbClr val="FFFFFF"/>
          </a:solidFill>
          <a:ln w="12700">
            <a:solidFill>
              <a:srgbClr val="D9E7E9"/>
            </a:solidFill>
            <a:prstDash val="solid"/>
          </a:ln>
          <a:effectLst>
            <a:outerShdw sx="100000" sy="100000" kx="0" ky="0" algn="bl" rotWithShape="0" blurRad="76200" dist="25400" dir="5400000">
              <a:srgbClr val="808f93">
                <a:alpha val="35000"/>
              </a:srgbClr>
            </a:outerShdw>
          </a:effectLst>
        </p:spPr>
      </p:sp>
      <p:pic>
        <p:nvPicPr>
          <p:cNvPr id="10" name="Image 1" descr="D:/Code/ASP/DMRS/docs/screenshots/doctor/patientai.png">    </p:cNvPr>
          <p:cNvPicPr>
            <a:picLocks noChangeAspect="1"/>
          </p:cNvPicPr>
          <p:nvPr/>
        </p:nvPicPr>
        <p:blipFill>
          <a:blip r:embed="rId2"/>
          <a:stretch>
            <a:fillRect/>
          </a:stretch>
        </p:blipFill>
        <p:spPr>
          <a:xfrm>
            <a:off x="548640" y="1965960"/>
            <a:ext cx="5349240" cy="2875216"/>
          </a:xfrm>
          <a:prstGeom prst="rect">
            <a:avLst/>
          </a:prstGeom>
        </p:spPr>
      </p:pic>
      <p:sp>
        <p:nvSpPr>
          <p:cNvPr id="11" name="Text 7"/>
          <p:cNvSpPr/>
          <p:nvPr/>
        </p:nvSpPr>
        <p:spPr>
          <a:xfrm>
            <a:off x="548640" y="5005768"/>
            <a:ext cx="5349240" cy="365760"/>
          </a:xfrm>
          <a:prstGeom prst="rect">
            <a:avLst/>
          </a:prstGeom>
          <a:noFill/>
          <a:ln/>
        </p:spPr>
        <p:txBody>
          <a:bodyPr wrap="square" lIns="0" tIns="0" rIns="0" bIns="0" rtlCol="0" anchor="ctr"/>
          <a:lstStyle/>
          <a:p>
            <a:pPr rtl="1" algn="ctr" indent="0" marL="0">
              <a:buNone/>
            </a:pPr>
            <a:r>
              <a:rPr lang="ar-SA" altLang="en-US" sz="1300" b="1" dirty="0">
                <a:solidFill>
                  <a:srgbClr val="0E7C86"/>
                </a:solidFill>
                <a:latin typeface="Arial" pitchFamily="34" charset="0"/>
                <a:ea typeface="Arial" pitchFamily="34" charset="-122"/>
                <a:cs typeface="Arial" pitchFamily="34" charset="-120"/>
              </a:rPr>
              <a:t>ملف المريض — بطاقات مخاطر الذكاء الاصطناعي</a:t>
            </a:r>
            <a:endParaRPr lang="ar-SA" sz="1300" dirty="0"/>
          </a:p>
        </p:txBody>
      </p:sp>
      <p:sp>
        <p:nvSpPr>
          <p:cNvPr id="12" name="Text 8"/>
          <p:cNvSpPr/>
          <p:nvPr/>
        </p:nvSpPr>
        <p:spPr>
          <a:xfrm>
            <a:off x="548640" y="5806440"/>
            <a:ext cx="11094415" cy="320040"/>
          </a:xfrm>
          <a:prstGeom prst="rect">
            <a:avLst/>
          </a:prstGeom>
          <a:noFill/>
          <a:ln/>
        </p:spPr>
        <p:txBody>
          <a:bodyPr wrap="square" rtlCol="0" anchor="ctr"/>
          <a:lstStyle/>
          <a:p>
            <a:pPr rtl="1" algn="r" indent="0" marL="0">
              <a:buNone/>
            </a:pPr>
            <a:r>
              <a:rPr lang="ar-SA" altLang="en-US" sz="1150" i="1" dirty="0">
                <a:solidFill>
                  <a:srgbClr val="587078"/>
                </a:solidFill>
                <a:latin typeface="Arial" pitchFamily="34" charset="0"/>
                <a:ea typeface="Arial" pitchFamily="34" charset="-122"/>
                <a:cs typeface="Arial" pitchFamily="34" charset="-120"/>
              </a:rPr>
              <a:t>يعرض التسجيل العملي هذه الواجهات وغيرها بالتفصيل.</a:t>
            </a:r>
            <a:endParaRPr lang="ar-SA"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نبض — نظام السجلات الطبية الرقمية</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16</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التطبيق العملي — دعم القرار والإدارة</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ورشة تأليف القواعد، ولوحة مدير المؤسسة</a:t>
            </a:r>
            <a:endParaRPr lang="ar-SA" sz="1400" dirty="0"/>
          </a:p>
        </p:txBody>
      </p:sp>
      <p:sp>
        <p:nvSpPr>
          <p:cNvPr id="6" name="Shape 4"/>
          <p:cNvSpPr/>
          <p:nvPr/>
        </p:nvSpPr>
        <p:spPr>
          <a:xfrm>
            <a:off x="6257239" y="1929384"/>
            <a:ext cx="5422392" cy="2948369"/>
          </a:xfrm>
          <a:prstGeom prst="rect">
            <a:avLst/>
          </a:prstGeom>
          <a:solidFill>
            <a:srgbClr val="FFFFFF"/>
          </a:solidFill>
          <a:ln w="12700">
            <a:solidFill>
              <a:srgbClr val="D9E7E9"/>
            </a:solidFill>
            <a:prstDash val="solid"/>
          </a:ln>
          <a:effectLst>
            <a:outerShdw sx="100000" sy="100000" kx="0" ky="0" algn="bl" rotWithShape="0" blurRad="76200" dist="25400" dir="5400000">
              <a:srgbClr val="808f93">
                <a:alpha val="35000"/>
              </a:srgbClr>
            </a:outerShdw>
          </a:effectLst>
        </p:spPr>
      </p:sp>
      <p:pic>
        <p:nvPicPr>
          <p:cNvPr id="7" name="Image 0" descr="D:/Code/ASP/DMRS/docs/screenshots/orgadmin/cds.png">    </p:cNvPr>
          <p:cNvPicPr>
            <a:picLocks noChangeAspect="1"/>
          </p:cNvPicPr>
          <p:nvPr/>
        </p:nvPicPr>
        <p:blipFill>
          <a:blip r:embed="rId1"/>
          <a:stretch>
            <a:fillRect/>
          </a:stretch>
        </p:blipFill>
        <p:spPr>
          <a:xfrm>
            <a:off x="6293815" y="1965960"/>
            <a:ext cx="5349240" cy="2875216"/>
          </a:xfrm>
          <a:prstGeom prst="rect">
            <a:avLst/>
          </a:prstGeom>
        </p:spPr>
      </p:pic>
      <p:sp>
        <p:nvSpPr>
          <p:cNvPr id="8" name="Text 5"/>
          <p:cNvSpPr/>
          <p:nvPr/>
        </p:nvSpPr>
        <p:spPr>
          <a:xfrm>
            <a:off x="6293815" y="5005768"/>
            <a:ext cx="5349240" cy="365760"/>
          </a:xfrm>
          <a:prstGeom prst="rect">
            <a:avLst/>
          </a:prstGeom>
          <a:noFill/>
          <a:ln/>
        </p:spPr>
        <p:txBody>
          <a:bodyPr wrap="square" lIns="0" tIns="0" rIns="0" bIns="0" rtlCol="0" anchor="ctr"/>
          <a:lstStyle/>
          <a:p>
            <a:pPr rtl="1" algn="ctr" indent="0" marL="0">
              <a:buNone/>
            </a:pPr>
            <a:r>
              <a:rPr lang="ar-SA" altLang="en-US" sz="1300" b="1" dirty="0">
                <a:solidFill>
                  <a:srgbClr val="0E7C86"/>
                </a:solidFill>
                <a:latin typeface="Arial" pitchFamily="34" charset="0"/>
                <a:ea typeface="Arial" pitchFamily="34" charset="-122"/>
                <a:cs typeface="Arial" pitchFamily="34" charset="-120"/>
              </a:rPr>
              <a:t>ورشة تأليف قواعد دعم القرار السريري</a:t>
            </a:r>
            <a:endParaRPr lang="ar-SA" sz="1300" dirty="0"/>
          </a:p>
        </p:txBody>
      </p:sp>
      <p:sp>
        <p:nvSpPr>
          <p:cNvPr id="9" name="Shape 6"/>
          <p:cNvSpPr/>
          <p:nvPr/>
        </p:nvSpPr>
        <p:spPr>
          <a:xfrm>
            <a:off x="512064" y="1929384"/>
            <a:ext cx="5422392" cy="2948369"/>
          </a:xfrm>
          <a:prstGeom prst="rect">
            <a:avLst/>
          </a:prstGeom>
          <a:solidFill>
            <a:srgbClr val="FFFFFF"/>
          </a:solidFill>
          <a:ln w="12700">
            <a:solidFill>
              <a:srgbClr val="D9E7E9"/>
            </a:solidFill>
            <a:prstDash val="solid"/>
          </a:ln>
          <a:effectLst>
            <a:outerShdw sx="100000" sy="100000" kx="0" ky="0" algn="bl" rotWithShape="0" blurRad="76200" dist="25400" dir="5400000">
              <a:srgbClr val="808f93">
                <a:alpha val="35000"/>
              </a:srgbClr>
            </a:outerShdw>
          </a:effectLst>
        </p:spPr>
      </p:sp>
      <p:pic>
        <p:nvPicPr>
          <p:cNvPr id="10" name="Image 1" descr="D:/Code/ASP/DMRS/docs/screenshots/orgadmin/orgdash.png">    </p:cNvPr>
          <p:cNvPicPr>
            <a:picLocks noChangeAspect="1"/>
          </p:cNvPicPr>
          <p:nvPr/>
        </p:nvPicPr>
        <p:blipFill>
          <a:blip r:embed="rId2"/>
          <a:stretch>
            <a:fillRect/>
          </a:stretch>
        </p:blipFill>
        <p:spPr>
          <a:xfrm>
            <a:off x="548640" y="1965960"/>
            <a:ext cx="5349240" cy="2875216"/>
          </a:xfrm>
          <a:prstGeom prst="rect">
            <a:avLst/>
          </a:prstGeom>
        </p:spPr>
      </p:pic>
      <p:sp>
        <p:nvSpPr>
          <p:cNvPr id="11" name="Text 7"/>
          <p:cNvSpPr/>
          <p:nvPr/>
        </p:nvSpPr>
        <p:spPr>
          <a:xfrm>
            <a:off x="548640" y="5005768"/>
            <a:ext cx="5349240" cy="365760"/>
          </a:xfrm>
          <a:prstGeom prst="rect">
            <a:avLst/>
          </a:prstGeom>
          <a:noFill/>
          <a:ln/>
        </p:spPr>
        <p:txBody>
          <a:bodyPr wrap="square" lIns="0" tIns="0" rIns="0" bIns="0" rtlCol="0" anchor="ctr"/>
          <a:lstStyle/>
          <a:p>
            <a:pPr rtl="1" algn="ctr" indent="0" marL="0">
              <a:buNone/>
            </a:pPr>
            <a:r>
              <a:rPr lang="ar-SA" altLang="en-US" sz="1300" b="1" dirty="0">
                <a:solidFill>
                  <a:srgbClr val="0E7C86"/>
                </a:solidFill>
                <a:latin typeface="Arial" pitchFamily="34" charset="0"/>
                <a:ea typeface="Arial" pitchFamily="34" charset="-122"/>
                <a:cs typeface="Arial" pitchFamily="34" charset="-120"/>
              </a:rPr>
              <a:t>لوحة مدير المؤسسة وإدارة الكادر</a:t>
            </a:r>
            <a:endParaRPr lang="ar-SA" sz="1300" dirty="0"/>
          </a:p>
        </p:txBody>
      </p:sp>
      <p:sp>
        <p:nvSpPr>
          <p:cNvPr id="12" name="Text 8"/>
          <p:cNvSpPr/>
          <p:nvPr/>
        </p:nvSpPr>
        <p:spPr>
          <a:xfrm>
            <a:off x="548640" y="5806440"/>
            <a:ext cx="11094415" cy="320040"/>
          </a:xfrm>
          <a:prstGeom prst="rect">
            <a:avLst/>
          </a:prstGeom>
          <a:noFill/>
          <a:ln/>
        </p:spPr>
        <p:txBody>
          <a:bodyPr wrap="square" rtlCol="0" anchor="ctr"/>
          <a:lstStyle/>
          <a:p>
            <a:pPr rtl="1" algn="r" indent="0" marL="0">
              <a:buNone/>
            </a:pPr>
            <a:r>
              <a:rPr lang="ar-SA" altLang="en-US" sz="1150" i="1" dirty="0">
                <a:solidFill>
                  <a:srgbClr val="587078"/>
                </a:solidFill>
                <a:latin typeface="Arial" pitchFamily="34" charset="0"/>
                <a:ea typeface="Arial" pitchFamily="34" charset="-122"/>
                <a:cs typeface="Arial" pitchFamily="34" charset="-120"/>
              </a:rPr>
              <a:t>يعرض التسجيل العملي هذه الواجهات وغيرها بالتفصيل.</a:t>
            </a:r>
            <a:endParaRPr lang="ar-SA"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نبض — نظام السجلات الطبية الرقمية</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17</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التطبيق العملي — بوابة المريض والرؤى الذكية</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خدمة ذاتية للمريض، ونظرة سكانية على المخاطر</a:t>
            </a:r>
            <a:endParaRPr lang="ar-SA" sz="1400" dirty="0"/>
          </a:p>
        </p:txBody>
      </p:sp>
      <p:sp>
        <p:nvSpPr>
          <p:cNvPr id="6" name="Shape 4"/>
          <p:cNvSpPr/>
          <p:nvPr/>
        </p:nvSpPr>
        <p:spPr>
          <a:xfrm>
            <a:off x="6257239" y="1929384"/>
            <a:ext cx="5422392" cy="2948369"/>
          </a:xfrm>
          <a:prstGeom prst="rect">
            <a:avLst/>
          </a:prstGeom>
          <a:solidFill>
            <a:srgbClr val="FFFFFF"/>
          </a:solidFill>
          <a:ln w="12700">
            <a:solidFill>
              <a:srgbClr val="D9E7E9"/>
            </a:solidFill>
            <a:prstDash val="solid"/>
          </a:ln>
          <a:effectLst>
            <a:outerShdw sx="100000" sy="100000" kx="0" ky="0" algn="bl" rotWithShape="0" blurRad="76200" dist="25400" dir="5400000">
              <a:srgbClr val="808f93">
                <a:alpha val="35000"/>
              </a:srgbClr>
            </a:outerShdw>
          </a:effectLst>
        </p:spPr>
      </p:sp>
      <p:pic>
        <p:nvPicPr>
          <p:cNvPr id="7" name="Image 0" descr="D:/Code/ASP/DMRS/docs/screenshots/patient/myhealth.png">    </p:cNvPr>
          <p:cNvPicPr>
            <a:picLocks noChangeAspect="1"/>
          </p:cNvPicPr>
          <p:nvPr/>
        </p:nvPicPr>
        <p:blipFill>
          <a:blip r:embed="rId1"/>
          <a:stretch>
            <a:fillRect/>
          </a:stretch>
        </p:blipFill>
        <p:spPr>
          <a:xfrm>
            <a:off x="6293815" y="1965960"/>
            <a:ext cx="5349240" cy="2875216"/>
          </a:xfrm>
          <a:prstGeom prst="rect">
            <a:avLst/>
          </a:prstGeom>
        </p:spPr>
      </p:pic>
      <p:sp>
        <p:nvSpPr>
          <p:cNvPr id="8" name="Text 5"/>
          <p:cNvSpPr/>
          <p:nvPr/>
        </p:nvSpPr>
        <p:spPr>
          <a:xfrm>
            <a:off x="6293815" y="5005768"/>
            <a:ext cx="5349240" cy="365760"/>
          </a:xfrm>
          <a:prstGeom prst="rect">
            <a:avLst/>
          </a:prstGeom>
          <a:noFill/>
          <a:ln/>
        </p:spPr>
        <p:txBody>
          <a:bodyPr wrap="square" lIns="0" tIns="0" rIns="0" bIns="0" rtlCol="0" anchor="ctr"/>
          <a:lstStyle/>
          <a:p>
            <a:pPr rtl="1" algn="ctr" indent="0" marL="0">
              <a:buNone/>
            </a:pPr>
            <a:r>
              <a:rPr lang="ar-SA" altLang="en-US" sz="1300" b="1" dirty="0">
                <a:solidFill>
                  <a:srgbClr val="0E7C86"/>
                </a:solidFill>
                <a:latin typeface="Arial" pitchFamily="34" charset="0"/>
                <a:ea typeface="Arial" pitchFamily="34" charset="-122"/>
                <a:cs typeface="Arial" pitchFamily="34" charset="-120"/>
              </a:rPr>
              <a:t>بوابة «صحّتي» — سجلّ المريض ضمن نطاقه فقط</a:t>
            </a:r>
            <a:endParaRPr lang="ar-SA" sz="1300" dirty="0"/>
          </a:p>
        </p:txBody>
      </p:sp>
      <p:sp>
        <p:nvSpPr>
          <p:cNvPr id="9" name="Shape 6"/>
          <p:cNvSpPr/>
          <p:nvPr/>
        </p:nvSpPr>
        <p:spPr>
          <a:xfrm>
            <a:off x="512064" y="1929384"/>
            <a:ext cx="5422392" cy="2948369"/>
          </a:xfrm>
          <a:prstGeom prst="rect">
            <a:avLst/>
          </a:prstGeom>
          <a:solidFill>
            <a:srgbClr val="FFFFFF"/>
          </a:solidFill>
          <a:ln w="12700">
            <a:solidFill>
              <a:srgbClr val="D9E7E9"/>
            </a:solidFill>
            <a:prstDash val="solid"/>
          </a:ln>
          <a:effectLst>
            <a:outerShdw sx="100000" sy="100000" kx="0" ky="0" algn="bl" rotWithShape="0" blurRad="76200" dist="25400" dir="5400000">
              <a:srgbClr val="808f93">
                <a:alpha val="35000"/>
              </a:srgbClr>
            </a:outerShdw>
          </a:effectLst>
        </p:spPr>
      </p:sp>
      <p:pic>
        <p:nvPicPr>
          <p:cNvPr id="10" name="Image 1" descr="D:/Code/ASP/DMRS/docs/screenshots/ai/aiinsights.png">    </p:cNvPr>
          <p:cNvPicPr>
            <a:picLocks noChangeAspect="1"/>
          </p:cNvPicPr>
          <p:nvPr/>
        </p:nvPicPr>
        <p:blipFill>
          <a:blip r:embed="rId2"/>
          <a:stretch>
            <a:fillRect/>
          </a:stretch>
        </p:blipFill>
        <p:spPr>
          <a:xfrm>
            <a:off x="548640" y="1965960"/>
            <a:ext cx="5349240" cy="2875216"/>
          </a:xfrm>
          <a:prstGeom prst="rect">
            <a:avLst/>
          </a:prstGeom>
        </p:spPr>
      </p:pic>
      <p:sp>
        <p:nvSpPr>
          <p:cNvPr id="11" name="Text 7"/>
          <p:cNvSpPr/>
          <p:nvPr/>
        </p:nvSpPr>
        <p:spPr>
          <a:xfrm>
            <a:off x="548640" y="5005768"/>
            <a:ext cx="5349240" cy="365760"/>
          </a:xfrm>
          <a:prstGeom prst="rect">
            <a:avLst/>
          </a:prstGeom>
          <a:noFill/>
          <a:ln/>
        </p:spPr>
        <p:txBody>
          <a:bodyPr wrap="square" lIns="0" tIns="0" rIns="0" bIns="0" rtlCol="0" anchor="ctr"/>
          <a:lstStyle/>
          <a:p>
            <a:pPr rtl="1" algn="ctr" indent="0" marL="0">
              <a:buNone/>
            </a:pPr>
            <a:r>
              <a:rPr lang="ar-SA" altLang="en-US" sz="1300" b="1" dirty="0">
                <a:solidFill>
                  <a:srgbClr val="0E7C86"/>
                </a:solidFill>
                <a:latin typeface="Arial" pitchFamily="34" charset="0"/>
                <a:ea typeface="Arial" pitchFamily="34" charset="-122"/>
                <a:cs typeface="Arial" pitchFamily="34" charset="-120"/>
              </a:rPr>
              <a:t>لوحة الرؤى الذكية — توزيع المخاطر وقوائم المراقبة</a:t>
            </a:r>
            <a:endParaRPr lang="ar-SA" sz="1300" dirty="0"/>
          </a:p>
        </p:txBody>
      </p:sp>
      <p:sp>
        <p:nvSpPr>
          <p:cNvPr id="12" name="Text 8"/>
          <p:cNvSpPr/>
          <p:nvPr/>
        </p:nvSpPr>
        <p:spPr>
          <a:xfrm>
            <a:off x="548640" y="5806440"/>
            <a:ext cx="11094415" cy="320040"/>
          </a:xfrm>
          <a:prstGeom prst="rect">
            <a:avLst/>
          </a:prstGeom>
          <a:noFill/>
          <a:ln/>
        </p:spPr>
        <p:txBody>
          <a:bodyPr wrap="square" rtlCol="0" anchor="ctr"/>
          <a:lstStyle/>
          <a:p>
            <a:pPr rtl="1" algn="r" indent="0" marL="0">
              <a:buNone/>
            </a:pPr>
            <a:r>
              <a:rPr lang="ar-SA" altLang="en-US" sz="1150" i="1" dirty="0">
                <a:solidFill>
                  <a:srgbClr val="587078"/>
                </a:solidFill>
                <a:latin typeface="Arial" pitchFamily="34" charset="0"/>
                <a:ea typeface="Arial" pitchFamily="34" charset="-122"/>
                <a:cs typeface="Arial" pitchFamily="34" charset="-120"/>
              </a:rPr>
              <a:t>يعرض التسجيل العملي هذه الواجهات وغيرها بالتفصيل.</a:t>
            </a:r>
            <a:endParaRPr lang="ar-SA"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نبض — نظام السجلات الطبية الرقمية</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18</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الآفاق المستقبلية</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أساسٌ قابل للبناء عليه</a:t>
            </a:r>
            <a:endParaRPr lang="ar-SA" sz="1400" dirty="0"/>
          </a:p>
        </p:txBody>
      </p:sp>
      <p:sp>
        <p:nvSpPr>
          <p:cNvPr id="6" name="Shape 4"/>
          <p:cNvSpPr/>
          <p:nvPr/>
        </p:nvSpPr>
        <p:spPr>
          <a:xfrm>
            <a:off x="8076895" y="1691640"/>
            <a:ext cx="3566160" cy="1965960"/>
          </a:xfrm>
          <a:prstGeom prst="roundRect">
            <a:avLst>
              <a:gd name="adj" fmla="val 3721"/>
            </a:avLst>
          </a:prstGeom>
          <a:solidFill>
            <a:srgbClr val="F2F8F8"/>
          </a:solidFill>
          <a:ln w="9525">
            <a:solidFill>
              <a:srgbClr val="D9E7E9"/>
            </a:solidFill>
            <a:prstDash val="solid"/>
          </a:ln>
        </p:spPr>
      </p:sp>
      <p:sp>
        <p:nvSpPr>
          <p:cNvPr id="7" name="Shape 5"/>
          <p:cNvSpPr/>
          <p:nvPr/>
        </p:nvSpPr>
        <p:spPr>
          <a:xfrm>
            <a:off x="10984687" y="1892808"/>
            <a:ext cx="402336" cy="402336"/>
          </a:xfrm>
          <a:prstGeom prst="ellipse">
            <a:avLst/>
          </a:prstGeom>
          <a:solidFill>
            <a:srgbClr val="0E7C86"/>
          </a:solidFill>
          <a:ln/>
        </p:spPr>
      </p:sp>
      <p:sp>
        <p:nvSpPr>
          <p:cNvPr id="8" name="Text 6"/>
          <p:cNvSpPr/>
          <p:nvPr/>
        </p:nvSpPr>
        <p:spPr>
          <a:xfrm>
            <a:off x="8305495" y="2350008"/>
            <a:ext cx="3108960" cy="457200"/>
          </a:xfrm>
          <a:prstGeom prst="rect">
            <a:avLst/>
          </a:prstGeom>
          <a:noFill/>
          <a:ln/>
        </p:spPr>
        <p:txBody>
          <a:bodyPr wrap="square" lIns="0" tIns="0" rIns="0" bIns="0" rtlCol="0" anchor="ctr"/>
          <a:lstStyle/>
          <a:p>
            <a:pPr rtl="1" algn="r" indent="0" marL="0">
              <a:buNone/>
            </a:pPr>
            <a:r>
              <a:rPr lang="ar-SA" altLang="en-US" sz="1450" b="1" dirty="0">
                <a:solidFill>
                  <a:srgbClr val="0A3540"/>
                </a:solidFill>
                <a:latin typeface="Arial" pitchFamily="34" charset="0"/>
                <a:ea typeface="Arial" pitchFamily="34" charset="-122"/>
                <a:cs typeface="Arial" pitchFamily="34" charset="-120"/>
              </a:rPr>
              <a:t>النشر السحابي والحاويات</a:t>
            </a:r>
            <a:endParaRPr lang="ar-SA" sz="1450" dirty="0"/>
          </a:p>
        </p:txBody>
      </p:sp>
      <p:sp>
        <p:nvSpPr>
          <p:cNvPr id="9" name="Text 7"/>
          <p:cNvSpPr/>
          <p:nvPr/>
        </p:nvSpPr>
        <p:spPr>
          <a:xfrm>
            <a:off x="8305495" y="2807208"/>
            <a:ext cx="3108960" cy="777240"/>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حاويات ‏</a:t>
            </a:r>
            <a:r>
              <a:rPr lang="en-US" altLang="en-US" sz="1150" dirty="0">
                <a:solidFill>
                  <a:srgbClr val="587078"/>
                </a:solidFill>
                <a:latin typeface="Arial" pitchFamily="34" charset="0"/>
                <a:ea typeface="Arial" pitchFamily="34" charset="-122"/>
                <a:cs typeface="Arial" pitchFamily="34" charset="-120"/>
              </a:rPr>
              <a:t>Docker</a:t>
            </a:r>
            <a:r>
              <a:rPr lang="ar-SA" altLang="en-US" sz="1150" dirty="0">
                <a:solidFill>
                  <a:srgbClr val="587078"/>
                </a:solidFill>
                <a:latin typeface="Arial" pitchFamily="34" charset="0"/>
                <a:ea typeface="Arial" pitchFamily="34" charset="-122"/>
                <a:cs typeface="Arial" pitchFamily="34" charset="-120"/>
              </a:rPr>
              <a:t>‏ وإدارة أسرار وشهادات ‏</a:t>
            </a:r>
            <a:r>
              <a:rPr lang="en-US" altLang="en-US" sz="1150" dirty="0">
                <a:solidFill>
                  <a:srgbClr val="587078"/>
                </a:solidFill>
                <a:latin typeface="Arial" pitchFamily="34" charset="0"/>
                <a:ea typeface="Arial" pitchFamily="34" charset="-122"/>
                <a:cs typeface="Arial" pitchFamily="34" charset="-120"/>
              </a:rPr>
              <a:t>TLS</a:t>
            </a:r>
            <a:r>
              <a:rPr lang="ar-SA" altLang="en-US" sz="1150" dirty="0">
                <a:solidFill>
                  <a:srgbClr val="587078"/>
                </a:solidFill>
                <a:latin typeface="Arial" pitchFamily="34" charset="0"/>
                <a:ea typeface="Arial" pitchFamily="34" charset="-122"/>
                <a:cs typeface="Arial" pitchFamily="34" charset="-120"/>
              </a:rPr>
              <a:t>‏ وخطوط ‏</a:t>
            </a:r>
            <a:r>
              <a:rPr lang="en-US" altLang="en-US" sz="1150" dirty="0">
                <a:solidFill>
                  <a:srgbClr val="587078"/>
                </a:solidFill>
                <a:latin typeface="Arial" pitchFamily="34" charset="0"/>
                <a:ea typeface="Arial" pitchFamily="34" charset="-122"/>
                <a:cs typeface="Arial" pitchFamily="34" charset="-120"/>
              </a:rPr>
              <a:t>CI/CD</a:t>
            </a:r>
            <a:r>
              <a:rPr lang="ar-SA" altLang="en-US" sz="1150" dirty="0">
                <a:solidFill>
                  <a:srgbClr val="587078"/>
                </a:solidFill>
                <a:latin typeface="Arial" pitchFamily="34" charset="0"/>
                <a:ea typeface="Arial" pitchFamily="34" charset="-122"/>
                <a:cs typeface="Arial" pitchFamily="34" charset="-120"/>
              </a:rPr>
              <a:t>‏.</a:t>
            </a:r>
            <a:endParaRPr lang="ar-SA" sz="1150" dirty="0"/>
          </a:p>
        </p:txBody>
      </p:sp>
      <p:sp>
        <p:nvSpPr>
          <p:cNvPr id="10" name="Shape 8"/>
          <p:cNvSpPr/>
          <p:nvPr/>
        </p:nvSpPr>
        <p:spPr>
          <a:xfrm>
            <a:off x="4309567" y="1691640"/>
            <a:ext cx="3566160" cy="1965960"/>
          </a:xfrm>
          <a:prstGeom prst="roundRect">
            <a:avLst>
              <a:gd name="adj" fmla="val 3721"/>
            </a:avLst>
          </a:prstGeom>
          <a:solidFill>
            <a:srgbClr val="F2F8F8"/>
          </a:solidFill>
          <a:ln w="9525">
            <a:solidFill>
              <a:srgbClr val="D9E7E9"/>
            </a:solidFill>
            <a:prstDash val="solid"/>
          </a:ln>
        </p:spPr>
      </p:sp>
      <p:sp>
        <p:nvSpPr>
          <p:cNvPr id="11" name="Shape 9"/>
          <p:cNvSpPr/>
          <p:nvPr/>
        </p:nvSpPr>
        <p:spPr>
          <a:xfrm>
            <a:off x="7217359" y="1892808"/>
            <a:ext cx="402336" cy="402336"/>
          </a:xfrm>
          <a:prstGeom prst="ellipse">
            <a:avLst/>
          </a:prstGeom>
          <a:solidFill>
            <a:srgbClr val="0E7C86"/>
          </a:solidFill>
          <a:ln/>
        </p:spPr>
      </p:sp>
      <p:sp>
        <p:nvSpPr>
          <p:cNvPr id="12" name="Text 10"/>
          <p:cNvSpPr/>
          <p:nvPr/>
        </p:nvSpPr>
        <p:spPr>
          <a:xfrm>
            <a:off x="4538167" y="2350008"/>
            <a:ext cx="3108960" cy="457200"/>
          </a:xfrm>
          <a:prstGeom prst="rect">
            <a:avLst/>
          </a:prstGeom>
          <a:noFill/>
          <a:ln/>
        </p:spPr>
        <p:txBody>
          <a:bodyPr wrap="square" lIns="0" tIns="0" rIns="0" bIns="0" rtlCol="0" anchor="ctr"/>
          <a:lstStyle/>
          <a:p>
            <a:pPr rtl="1" algn="r" indent="0" marL="0">
              <a:buNone/>
            </a:pPr>
            <a:r>
              <a:rPr lang="ar-SA" altLang="en-US" sz="1450" b="1" dirty="0">
                <a:solidFill>
                  <a:srgbClr val="0A3540"/>
                </a:solidFill>
                <a:latin typeface="Arial" pitchFamily="34" charset="0"/>
                <a:ea typeface="Arial" pitchFamily="34" charset="-122"/>
                <a:cs typeface="Arial" pitchFamily="34" charset="-120"/>
              </a:rPr>
              <a:t>بيانات أدوية حيّة</a:t>
            </a:r>
            <a:endParaRPr lang="ar-SA" sz="1450" dirty="0"/>
          </a:p>
        </p:txBody>
      </p:sp>
      <p:sp>
        <p:nvSpPr>
          <p:cNvPr id="13" name="Text 11"/>
          <p:cNvSpPr/>
          <p:nvPr/>
        </p:nvSpPr>
        <p:spPr>
          <a:xfrm>
            <a:off x="4538167" y="2807208"/>
            <a:ext cx="3108960" cy="777240"/>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استبدال المزوّد التجريبي بمصدر ‏</a:t>
            </a:r>
            <a:r>
              <a:rPr lang="en-US" altLang="en-US" sz="1150" dirty="0">
                <a:solidFill>
                  <a:srgbClr val="587078"/>
                </a:solidFill>
                <a:latin typeface="Arial" pitchFamily="34" charset="0"/>
                <a:ea typeface="Arial" pitchFamily="34" charset="-122"/>
                <a:cs typeface="Arial" pitchFamily="34" charset="-120"/>
              </a:rPr>
              <a:t>RxNorm</a:t>
            </a:r>
            <a:r>
              <a:rPr lang="ar-SA" altLang="en-US" sz="1150" dirty="0">
                <a:solidFill>
                  <a:srgbClr val="587078"/>
                </a:solidFill>
                <a:latin typeface="Arial" pitchFamily="34" charset="0"/>
                <a:ea typeface="Arial" pitchFamily="34" charset="-122"/>
                <a:cs typeface="Arial" pitchFamily="34" charset="-120"/>
              </a:rPr>
              <a:t>‏ الحيّ لإثراء الفحوص الدوائية.</a:t>
            </a:r>
            <a:endParaRPr lang="ar-SA" sz="1150" dirty="0"/>
          </a:p>
        </p:txBody>
      </p:sp>
      <p:sp>
        <p:nvSpPr>
          <p:cNvPr id="14" name="Shape 12"/>
          <p:cNvSpPr/>
          <p:nvPr/>
        </p:nvSpPr>
        <p:spPr>
          <a:xfrm>
            <a:off x="542239" y="1691640"/>
            <a:ext cx="3566160" cy="1965960"/>
          </a:xfrm>
          <a:prstGeom prst="roundRect">
            <a:avLst>
              <a:gd name="adj" fmla="val 3721"/>
            </a:avLst>
          </a:prstGeom>
          <a:solidFill>
            <a:srgbClr val="F2F8F8"/>
          </a:solidFill>
          <a:ln w="9525">
            <a:solidFill>
              <a:srgbClr val="D9E7E9"/>
            </a:solidFill>
            <a:prstDash val="solid"/>
          </a:ln>
        </p:spPr>
      </p:sp>
      <p:sp>
        <p:nvSpPr>
          <p:cNvPr id="15" name="Shape 13"/>
          <p:cNvSpPr/>
          <p:nvPr/>
        </p:nvSpPr>
        <p:spPr>
          <a:xfrm>
            <a:off x="3450031" y="1892808"/>
            <a:ext cx="402336" cy="402336"/>
          </a:xfrm>
          <a:prstGeom prst="ellipse">
            <a:avLst/>
          </a:prstGeom>
          <a:solidFill>
            <a:srgbClr val="0E7C86"/>
          </a:solidFill>
          <a:ln/>
        </p:spPr>
      </p:sp>
      <p:sp>
        <p:nvSpPr>
          <p:cNvPr id="16" name="Text 14"/>
          <p:cNvSpPr/>
          <p:nvPr/>
        </p:nvSpPr>
        <p:spPr>
          <a:xfrm>
            <a:off x="770839" y="2350008"/>
            <a:ext cx="3108960" cy="457200"/>
          </a:xfrm>
          <a:prstGeom prst="rect">
            <a:avLst/>
          </a:prstGeom>
          <a:noFill/>
          <a:ln/>
        </p:spPr>
        <p:txBody>
          <a:bodyPr wrap="square" lIns="0" tIns="0" rIns="0" bIns="0" rtlCol="0" anchor="ctr"/>
          <a:lstStyle/>
          <a:p>
            <a:pPr rtl="1" algn="r" indent="0" marL="0">
              <a:buNone/>
            </a:pPr>
            <a:r>
              <a:rPr lang="ar-SA" altLang="en-US" sz="1450" b="1" dirty="0">
                <a:solidFill>
                  <a:srgbClr val="0A3540"/>
                </a:solidFill>
                <a:latin typeface="Arial" pitchFamily="34" charset="0"/>
                <a:ea typeface="Arial" pitchFamily="34" charset="-122"/>
                <a:cs typeface="Arial" pitchFamily="34" charset="-120"/>
              </a:rPr>
              <a:t>توسيع نماذج الذكاء</a:t>
            </a:r>
            <a:endParaRPr lang="ar-SA" sz="1450" dirty="0"/>
          </a:p>
        </p:txBody>
      </p:sp>
      <p:sp>
        <p:nvSpPr>
          <p:cNvPr id="17" name="Text 15"/>
          <p:cNvSpPr/>
          <p:nvPr/>
        </p:nvSpPr>
        <p:spPr>
          <a:xfrm>
            <a:off x="770839" y="2807208"/>
            <a:ext cx="3108960" cy="777240"/>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نماذج جديدة وإعادة تدريبٍ على بياناتٍ محلية حقيقية لرفع الدقّة.</a:t>
            </a:r>
            <a:endParaRPr lang="ar-SA" sz="1150" dirty="0"/>
          </a:p>
        </p:txBody>
      </p:sp>
      <p:sp>
        <p:nvSpPr>
          <p:cNvPr id="18" name="Shape 16"/>
          <p:cNvSpPr/>
          <p:nvPr/>
        </p:nvSpPr>
        <p:spPr>
          <a:xfrm>
            <a:off x="8076895" y="3931920"/>
            <a:ext cx="3566160" cy="1965960"/>
          </a:xfrm>
          <a:prstGeom prst="roundRect">
            <a:avLst>
              <a:gd name="adj" fmla="val 3721"/>
            </a:avLst>
          </a:prstGeom>
          <a:solidFill>
            <a:srgbClr val="F2F8F8"/>
          </a:solidFill>
          <a:ln w="9525">
            <a:solidFill>
              <a:srgbClr val="D9E7E9"/>
            </a:solidFill>
            <a:prstDash val="solid"/>
          </a:ln>
        </p:spPr>
      </p:sp>
      <p:sp>
        <p:nvSpPr>
          <p:cNvPr id="19" name="Shape 17"/>
          <p:cNvSpPr/>
          <p:nvPr/>
        </p:nvSpPr>
        <p:spPr>
          <a:xfrm>
            <a:off x="10984687" y="4133088"/>
            <a:ext cx="402336" cy="402336"/>
          </a:xfrm>
          <a:prstGeom prst="ellipse">
            <a:avLst/>
          </a:prstGeom>
          <a:solidFill>
            <a:srgbClr val="02C39A"/>
          </a:solidFill>
          <a:ln/>
        </p:spPr>
      </p:sp>
      <p:sp>
        <p:nvSpPr>
          <p:cNvPr id="20" name="Text 18"/>
          <p:cNvSpPr/>
          <p:nvPr/>
        </p:nvSpPr>
        <p:spPr>
          <a:xfrm>
            <a:off x="8305495" y="4590288"/>
            <a:ext cx="3108960" cy="457200"/>
          </a:xfrm>
          <a:prstGeom prst="rect">
            <a:avLst/>
          </a:prstGeom>
          <a:noFill/>
          <a:ln/>
        </p:spPr>
        <p:txBody>
          <a:bodyPr wrap="square" lIns="0" tIns="0" rIns="0" bIns="0" rtlCol="0" anchor="ctr"/>
          <a:lstStyle/>
          <a:p>
            <a:pPr rtl="1" algn="r" indent="0" marL="0">
              <a:buNone/>
            </a:pPr>
            <a:r>
              <a:rPr lang="ar-SA" altLang="en-US" sz="1450" b="1" dirty="0">
                <a:solidFill>
                  <a:srgbClr val="0A3540"/>
                </a:solidFill>
                <a:latin typeface="Arial" pitchFamily="34" charset="0"/>
                <a:ea typeface="Arial" pitchFamily="34" charset="-122"/>
                <a:cs typeface="Arial" pitchFamily="34" charset="-120"/>
              </a:rPr>
              <a:t>تطبيق موبايل</a:t>
            </a:r>
            <a:endParaRPr lang="ar-SA" sz="1450" dirty="0"/>
          </a:p>
        </p:txBody>
      </p:sp>
      <p:sp>
        <p:nvSpPr>
          <p:cNvPr id="21" name="Text 19"/>
          <p:cNvSpPr/>
          <p:nvPr/>
        </p:nvSpPr>
        <p:spPr>
          <a:xfrm>
            <a:off x="8305495" y="5047488"/>
            <a:ext cx="3108960" cy="777240"/>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تطبيق محمول للمرضى والكادر يعزّز انخراط المريض في رعايته.</a:t>
            </a:r>
            <a:endParaRPr lang="ar-SA" sz="1150" dirty="0"/>
          </a:p>
        </p:txBody>
      </p:sp>
      <p:sp>
        <p:nvSpPr>
          <p:cNvPr id="22" name="Shape 20"/>
          <p:cNvSpPr/>
          <p:nvPr/>
        </p:nvSpPr>
        <p:spPr>
          <a:xfrm>
            <a:off x="4309567" y="3931920"/>
            <a:ext cx="3566160" cy="1965960"/>
          </a:xfrm>
          <a:prstGeom prst="roundRect">
            <a:avLst>
              <a:gd name="adj" fmla="val 3721"/>
            </a:avLst>
          </a:prstGeom>
          <a:solidFill>
            <a:srgbClr val="F2F8F8"/>
          </a:solidFill>
          <a:ln w="9525">
            <a:solidFill>
              <a:srgbClr val="D9E7E9"/>
            </a:solidFill>
            <a:prstDash val="solid"/>
          </a:ln>
        </p:spPr>
      </p:sp>
      <p:sp>
        <p:nvSpPr>
          <p:cNvPr id="23" name="Shape 21"/>
          <p:cNvSpPr/>
          <p:nvPr/>
        </p:nvSpPr>
        <p:spPr>
          <a:xfrm>
            <a:off x="7217359" y="4133088"/>
            <a:ext cx="402336" cy="402336"/>
          </a:xfrm>
          <a:prstGeom prst="ellipse">
            <a:avLst/>
          </a:prstGeom>
          <a:solidFill>
            <a:srgbClr val="02C39A"/>
          </a:solidFill>
          <a:ln/>
        </p:spPr>
      </p:sp>
      <p:sp>
        <p:nvSpPr>
          <p:cNvPr id="24" name="Text 22"/>
          <p:cNvSpPr/>
          <p:nvPr/>
        </p:nvSpPr>
        <p:spPr>
          <a:xfrm>
            <a:off x="4538167" y="4590288"/>
            <a:ext cx="3108960" cy="457200"/>
          </a:xfrm>
          <a:prstGeom prst="rect">
            <a:avLst/>
          </a:prstGeom>
          <a:noFill/>
          <a:ln/>
        </p:spPr>
        <p:txBody>
          <a:bodyPr wrap="square" lIns="0" tIns="0" rIns="0" bIns="0" rtlCol="0" anchor="ctr"/>
          <a:lstStyle/>
          <a:p>
            <a:pPr rtl="1" algn="r" indent="0" marL="0">
              <a:buNone/>
            </a:pPr>
            <a:r>
              <a:rPr lang="ar-SA" altLang="en-US" sz="1450" b="1" dirty="0">
                <a:solidFill>
                  <a:srgbClr val="0A3540"/>
                </a:solidFill>
                <a:latin typeface="Arial" pitchFamily="34" charset="0"/>
                <a:ea typeface="Arial" pitchFamily="34" charset="-122"/>
                <a:cs typeface="Arial" pitchFamily="34" charset="-120"/>
              </a:rPr>
              <a:t>الأمان والتشغيل البيني</a:t>
            </a:r>
            <a:endParaRPr lang="ar-SA" sz="1450" dirty="0"/>
          </a:p>
        </p:txBody>
      </p:sp>
      <p:sp>
        <p:nvSpPr>
          <p:cNvPr id="25" name="Text 23"/>
          <p:cNvSpPr/>
          <p:nvPr/>
        </p:nvSpPr>
        <p:spPr>
          <a:xfrm>
            <a:off x="4538167" y="5047488"/>
            <a:ext cx="3108960" cy="777240"/>
          </a:xfrm>
          <a:prstGeom prst="rect">
            <a:avLst/>
          </a:prstGeom>
          <a:noFill/>
          <a:ln/>
        </p:spPr>
        <p:txBody>
          <a:bodyPr wrap="square" lIns="0" tIns="0" rIns="0" bIns="0" rtlCol="0" anchor="t"/>
          <a:lstStyle/>
          <a:p>
            <a:pPr rtl="1" algn="r" indent="0" marL="0">
              <a:lnSpc>
                <a:spcPct val="120000"/>
              </a:lnSpc>
              <a:buNone/>
            </a:pPr>
            <a:r>
              <a:rPr lang="ar-SA" altLang="en-US" sz="1150" dirty="0">
                <a:solidFill>
                  <a:srgbClr val="587078"/>
                </a:solidFill>
                <a:latin typeface="Arial" pitchFamily="34" charset="0"/>
                <a:ea typeface="Arial" pitchFamily="34" charset="-122"/>
                <a:cs typeface="Arial" pitchFamily="34" charset="-120"/>
              </a:rPr>
              <a:t>سجلّ تدقيق وتشفير عند التخزين ودعم حِزَم ‏</a:t>
            </a:r>
            <a:r>
              <a:rPr lang="en-US" altLang="en-US" sz="1150" dirty="0">
                <a:solidFill>
                  <a:srgbClr val="587078"/>
                </a:solidFill>
                <a:latin typeface="Arial" pitchFamily="34" charset="0"/>
                <a:ea typeface="Arial" pitchFamily="34" charset="-122"/>
                <a:cs typeface="Arial" pitchFamily="34" charset="-120"/>
              </a:rPr>
              <a:t>FHIR</a:t>
            </a:r>
            <a:r>
              <a:rPr lang="ar-SA" altLang="en-US" sz="1150" dirty="0">
                <a:solidFill>
                  <a:srgbClr val="587078"/>
                </a:solidFill>
                <a:latin typeface="Arial" pitchFamily="34" charset="0"/>
                <a:ea typeface="Arial" pitchFamily="34" charset="-122"/>
                <a:cs typeface="Arial" pitchFamily="34" charset="-120"/>
              </a:rPr>
              <a:t>‏ و</a:t>
            </a:r>
            <a:r>
              <a:rPr lang="en-US" altLang="en-US" sz="1150" dirty="0">
                <a:solidFill>
                  <a:srgbClr val="587078"/>
                </a:solidFill>
                <a:latin typeface="Arial" pitchFamily="34" charset="0"/>
                <a:ea typeface="Arial" pitchFamily="34" charset="-122"/>
                <a:cs typeface="Arial" pitchFamily="34" charset="-120"/>
              </a:rPr>
              <a:t>SMART</a:t>
            </a:r>
            <a:r>
              <a:rPr lang="ar-SA" altLang="en-US" sz="1150" dirty="0">
                <a:solidFill>
                  <a:srgbClr val="587078"/>
                </a:solidFill>
                <a:latin typeface="Arial" pitchFamily="34" charset="0"/>
                <a:ea typeface="Arial" pitchFamily="34" charset="-122"/>
                <a:cs typeface="Arial" pitchFamily="34" charset="-120"/>
              </a:rPr>
              <a:t>‏ الكاملة.</a:t>
            </a:r>
            <a:endParaRPr lang="ar-SA"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3540"/>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CFE8EA"/>
                </a:solidFill>
                <a:latin typeface="Arial" pitchFamily="34" charset="0"/>
                <a:ea typeface="Arial" pitchFamily="34" charset="-122"/>
                <a:cs typeface="Arial" pitchFamily="34" charset="-120"/>
              </a:rPr>
              <a:t>نبض — نظام السجلات الطبية الرقمية</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CFE8EA"/>
                </a:solidFill>
                <a:latin typeface="Arial" pitchFamily="34" charset="0"/>
                <a:ea typeface="Arial" pitchFamily="34" charset="-122"/>
                <a:cs typeface="Arial" pitchFamily="34" charset="-120"/>
              </a:rPr>
              <a:t>19</a:t>
            </a:r>
            <a:endParaRPr lang="en-US" sz="900" dirty="0"/>
          </a:p>
        </p:txBody>
      </p:sp>
      <p:sp>
        <p:nvSpPr>
          <p:cNvPr id="4" name="Shape 2"/>
          <p:cNvSpPr/>
          <p:nvPr/>
        </p:nvSpPr>
        <p:spPr>
          <a:xfrm>
            <a:off x="-1463040" y="4480560"/>
            <a:ext cx="4754880" cy="4754880"/>
          </a:xfrm>
          <a:prstGeom prst="ellipse">
            <a:avLst/>
          </a:prstGeom>
          <a:solidFill>
            <a:srgbClr val="FFFFFF">
              <a:alpha val="5000"/>
            </a:srgbClr>
          </a:solidFill>
          <a:ln/>
        </p:spPr>
      </p:sp>
      <p:sp>
        <p:nvSpPr>
          <p:cNvPr id="5" name="Shape 3"/>
          <p:cNvSpPr/>
          <p:nvPr/>
        </p:nvSpPr>
        <p:spPr>
          <a:xfrm>
            <a:off x="9692640" y="-2194560"/>
            <a:ext cx="4206240" cy="4206240"/>
          </a:xfrm>
          <a:prstGeom prst="ellipse">
            <a:avLst/>
          </a:prstGeom>
          <a:solidFill>
            <a:srgbClr val="02C39A">
              <a:alpha val="12000"/>
            </a:srgbClr>
          </a:solidFill>
          <a:ln/>
        </p:spPr>
      </p:sp>
      <p:sp>
        <p:nvSpPr>
          <p:cNvPr id="6" name="Shape 4"/>
          <p:cNvSpPr/>
          <p:nvPr/>
        </p:nvSpPr>
        <p:spPr>
          <a:xfrm>
            <a:off x="10881360" y="5394960"/>
            <a:ext cx="2194560" cy="2194560"/>
          </a:xfrm>
          <a:prstGeom prst="ellipse">
            <a:avLst/>
          </a:prstGeom>
          <a:solidFill>
            <a:srgbClr val="E9B44C">
              <a:alpha val="12000"/>
            </a:srgbClr>
          </a:solidFill>
          <a:ln/>
        </p:spPr>
      </p:sp>
      <p:sp>
        <p:nvSpPr>
          <p:cNvPr id="7" name="Text 5"/>
          <p:cNvSpPr/>
          <p:nvPr/>
        </p:nvSpPr>
        <p:spPr>
          <a:xfrm>
            <a:off x="548640" y="640080"/>
            <a:ext cx="11094415" cy="640080"/>
          </a:xfrm>
          <a:prstGeom prst="rect">
            <a:avLst/>
          </a:prstGeom>
          <a:noFill/>
          <a:ln/>
        </p:spPr>
        <p:txBody>
          <a:bodyPr wrap="square" rtlCol="0" anchor="ctr"/>
          <a:lstStyle/>
          <a:p>
            <a:pPr rtl="1" algn="ctr" indent="0" marL="0">
              <a:buNone/>
            </a:pPr>
            <a:r>
              <a:rPr lang="ar-SA" altLang="en-US" sz="3400" b="1" dirty="0">
                <a:solidFill>
                  <a:srgbClr val="FFFFFF"/>
                </a:solidFill>
                <a:latin typeface="Arial" pitchFamily="34" charset="0"/>
                <a:ea typeface="Arial" pitchFamily="34" charset="-122"/>
                <a:cs typeface="Arial" pitchFamily="34" charset="-120"/>
              </a:rPr>
              <a:t>الخاتمة</a:t>
            </a:r>
            <a:endParaRPr lang="ar-SA" sz="3400" dirty="0"/>
          </a:p>
        </p:txBody>
      </p:sp>
      <p:sp>
        <p:nvSpPr>
          <p:cNvPr id="8" name="Text 6"/>
          <p:cNvSpPr/>
          <p:nvPr/>
        </p:nvSpPr>
        <p:spPr>
          <a:xfrm>
            <a:off x="1371600" y="1691640"/>
            <a:ext cx="9448495" cy="2377440"/>
          </a:xfrm>
          <a:prstGeom prst="rect">
            <a:avLst/>
          </a:prstGeom>
          <a:noFill/>
          <a:ln/>
        </p:spPr>
        <p:txBody>
          <a:bodyPr wrap="square" rtlCol="0" anchor="t"/>
          <a:lstStyle/>
          <a:p>
            <a:pPr rtl="1" algn="ctr" indent="0" marL="0">
              <a:lnSpc>
                <a:spcPct val="150000"/>
              </a:lnSpc>
              <a:buNone/>
            </a:pPr>
            <a:r>
              <a:rPr lang="ar-SA" altLang="en-US" sz="1700" dirty="0">
                <a:solidFill>
                  <a:srgbClr val="CFE8EA"/>
                </a:solidFill>
                <a:latin typeface="Arial" pitchFamily="34" charset="0"/>
                <a:ea typeface="Arial" pitchFamily="34" charset="-122"/>
                <a:cs typeface="Arial" pitchFamily="34" charset="-120"/>
              </a:rPr>
              <a:t>قدّم هذا المشروع نظاماً متكاملاً لإدارة السجلات الطبية الرقمية يجمع بين سجلٍّ قائم على معيار ‏</a:t>
            </a:r>
            <a:r>
              <a:rPr lang="en-US" altLang="en-US" sz="1700" dirty="0">
                <a:solidFill>
                  <a:srgbClr val="CFE8EA"/>
                </a:solidFill>
                <a:latin typeface="Arial" pitchFamily="34" charset="0"/>
                <a:ea typeface="Arial" pitchFamily="34" charset="-122"/>
                <a:cs typeface="Arial" pitchFamily="34" charset="-120"/>
              </a:rPr>
              <a:t>HL7 FHIR R5</a:t>
            </a:r>
            <a:r>
              <a:rPr lang="ar-SA" altLang="en-US" sz="1700" dirty="0">
                <a:solidFill>
                  <a:srgbClr val="CFE8EA"/>
                </a:solidFill>
                <a:latin typeface="Arial" pitchFamily="34" charset="0"/>
                <a:ea typeface="Arial" pitchFamily="34" charset="-122"/>
                <a:cs typeface="Arial" pitchFamily="34" charset="-120"/>
              </a:rPr>
              <a:t>‏، ومحرّك دعم قرارٍ سريري قابل للتهيئة، وثلاثة نماذج ذكاءٍ اصطناعي تعمل على بيانات المريض الحقيقية، إضافةً إلى سجلّ النماذج الخارجية وبوابة المريض وواجهةٍ ثنائية اللغة. وبذلك يعالج المشروع تشتّت البيانات وغياب الدعم الاستباقي للقرار، ويثبت عملياً جدوى البناء فوق معيارٍ عالمي، ويضع أساساً تقنياً موثوقاً وقابلاً للتوسّع نحو تطبيقاتٍ صحية أوسع.</a:t>
            </a:r>
            <a:endParaRPr lang="ar-SA" sz="1700" dirty="0"/>
          </a:p>
        </p:txBody>
      </p:sp>
      <p:sp>
        <p:nvSpPr>
          <p:cNvPr id="9" name="Shape 7"/>
          <p:cNvSpPr/>
          <p:nvPr/>
        </p:nvSpPr>
        <p:spPr>
          <a:xfrm>
            <a:off x="10507828" y="4709160"/>
            <a:ext cx="1234440" cy="475488"/>
          </a:xfrm>
          <a:prstGeom prst="roundRect">
            <a:avLst>
              <a:gd name="adj" fmla="val 50000"/>
            </a:avLst>
          </a:prstGeom>
          <a:solidFill>
            <a:srgbClr val="10485A"/>
          </a:solidFill>
          <a:ln w="12700">
            <a:solidFill>
              <a:srgbClr val="02C39A"/>
            </a:solidFill>
            <a:prstDash val="solid"/>
          </a:ln>
        </p:spPr>
      </p:sp>
      <p:sp>
        <p:nvSpPr>
          <p:cNvPr id="10" name="Text 8"/>
          <p:cNvSpPr/>
          <p:nvPr/>
        </p:nvSpPr>
        <p:spPr>
          <a:xfrm>
            <a:off x="10507828" y="4709160"/>
            <a:ext cx="1234440" cy="475488"/>
          </a:xfrm>
          <a:prstGeom prst="rect">
            <a:avLst/>
          </a:prstGeom>
          <a:noFill/>
          <a:ln/>
        </p:spPr>
        <p:txBody>
          <a:bodyPr wrap="square" lIns="0" tIns="0" rIns="0" bIns="0" rtlCol="0" anchor="ctr"/>
          <a:lstStyle/>
          <a:p>
            <a:pPr rtl="1" algn="ctr" indent="0" marL="0">
              <a:buNone/>
            </a:pPr>
            <a:r>
              <a:rPr lang="en-US" altLang="en-US" sz="1150" b="1" dirty="0">
                <a:solidFill>
                  <a:srgbClr val="FFFFFF"/>
                </a:solidFill>
                <a:latin typeface="Arial" pitchFamily="34" charset="0"/>
                <a:ea typeface="Arial" pitchFamily="34" charset="-122"/>
                <a:cs typeface="Arial" pitchFamily="34" charset="-120"/>
              </a:rPr>
              <a:t>FHIR R5</a:t>
            </a:r>
            <a:endParaRPr lang="ar-SA" sz="1150" dirty="0"/>
          </a:p>
        </p:txBody>
      </p:sp>
      <p:sp>
        <p:nvSpPr>
          <p:cNvPr id="11" name="Shape 9"/>
          <p:cNvSpPr/>
          <p:nvPr/>
        </p:nvSpPr>
        <p:spPr>
          <a:xfrm>
            <a:off x="8816188" y="4709160"/>
            <a:ext cx="1463040" cy="475488"/>
          </a:xfrm>
          <a:prstGeom prst="roundRect">
            <a:avLst>
              <a:gd name="adj" fmla="val 50000"/>
            </a:avLst>
          </a:prstGeom>
          <a:solidFill>
            <a:srgbClr val="10485A"/>
          </a:solidFill>
          <a:ln w="12700">
            <a:solidFill>
              <a:srgbClr val="02C39A"/>
            </a:solidFill>
            <a:prstDash val="solid"/>
          </a:ln>
        </p:spPr>
      </p:sp>
      <p:sp>
        <p:nvSpPr>
          <p:cNvPr id="12" name="Text 10"/>
          <p:cNvSpPr/>
          <p:nvPr/>
        </p:nvSpPr>
        <p:spPr>
          <a:xfrm>
            <a:off x="8816188" y="4709160"/>
            <a:ext cx="1463040" cy="475488"/>
          </a:xfrm>
          <a:prstGeom prst="rect">
            <a:avLst/>
          </a:prstGeom>
          <a:noFill/>
          <a:ln/>
        </p:spPr>
        <p:txBody>
          <a:bodyPr wrap="square" lIns="0" tIns="0" rIns="0" bIns="0" rtlCol="0" anchor="ctr"/>
          <a:lstStyle/>
          <a:p>
            <a:pPr rtl="1" algn="ctr" indent="0" marL="0">
              <a:buNone/>
            </a:pPr>
            <a:r>
              <a:rPr lang="en-US" altLang="en-US" sz="1150" b="1" dirty="0">
                <a:solidFill>
                  <a:srgbClr val="FFFFFF"/>
                </a:solidFill>
                <a:latin typeface="Arial" pitchFamily="34" charset="0"/>
                <a:ea typeface="Arial" pitchFamily="34" charset="-122"/>
                <a:cs typeface="Arial" pitchFamily="34" charset="-120"/>
              </a:rPr>
              <a:t>CDS Hooks</a:t>
            </a:r>
            <a:endParaRPr lang="ar-SA" sz="1150" dirty="0"/>
          </a:p>
        </p:txBody>
      </p:sp>
      <p:sp>
        <p:nvSpPr>
          <p:cNvPr id="13" name="Shape 11"/>
          <p:cNvSpPr/>
          <p:nvPr/>
        </p:nvSpPr>
        <p:spPr>
          <a:xfrm>
            <a:off x="7398868" y="4709160"/>
            <a:ext cx="1188720" cy="475488"/>
          </a:xfrm>
          <a:prstGeom prst="roundRect">
            <a:avLst>
              <a:gd name="adj" fmla="val 50000"/>
            </a:avLst>
          </a:prstGeom>
          <a:solidFill>
            <a:srgbClr val="10485A"/>
          </a:solidFill>
          <a:ln w="12700">
            <a:solidFill>
              <a:srgbClr val="02C39A"/>
            </a:solidFill>
            <a:prstDash val="solid"/>
          </a:ln>
        </p:spPr>
      </p:sp>
      <p:sp>
        <p:nvSpPr>
          <p:cNvPr id="14" name="Text 12"/>
          <p:cNvSpPr/>
          <p:nvPr/>
        </p:nvSpPr>
        <p:spPr>
          <a:xfrm>
            <a:off x="7398868" y="4709160"/>
            <a:ext cx="1188720" cy="475488"/>
          </a:xfrm>
          <a:prstGeom prst="rect">
            <a:avLst/>
          </a:prstGeom>
          <a:noFill/>
          <a:ln/>
        </p:spPr>
        <p:txBody>
          <a:bodyPr wrap="square" lIns="0" tIns="0" rIns="0" bIns="0" rtlCol="0" anchor="ctr"/>
          <a:lstStyle/>
          <a:p>
            <a:pPr rtl="1" algn="ctr" indent="0" marL="0">
              <a:buNone/>
            </a:pPr>
            <a:r>
              <a:rPr lang="en-US" altLang="en-US" sz="1150" b="1" dirty="0">
                <a:solidFill>
                  <a:srgbClr val="FFFFFF"/>
                </a:solidFill>
                <a:latin typeface="Arial" pitchFamily="34" charset="0"/>
                <a:ea typeface="Arial" pitchFamily="34" charset="-122"/>
                <a:cs typeface="Arial" pitchFamily="34" charset="-120"/>
              </a:rPr>
              <a:t>AI Risk</a:t>
            </a:r>
            <a:endParaRPr lang="ar-SA" sz="1150" dirty="0"/>
          </a:p>
        </p:txBody>
      </p:sp>
      <p:sp>
        <p:nvSpPr>
          <p:cNvPr id="15" name="Shape 13"/>
          <p:cNvSpPr/>
          <p:nvPr/>
        </p:nvSpPr>
        <p:spPr>
          <a:xfrm>
            <a:off x="5752948" y="4709160"/>
            <a:ext cx="1417320" cy="475488"/>
          </a:xfrm>
          <a:prstGeom prst="roundRect">
            <a:avLst>
              <a:gd name="adj" fmla="val 50000"/>
            </a:avLst>
          </a:prstGeom>
          <a:solidFill>
            <a:srgbClr val="10485A"/>
          </a:solidFill>
          <a:ln w="12700">
            <a:solidFill>
              <a:srgbClr val="02C39A"/>
            </a:solidFill>
            <a:prstDash val="solid"/>
          </a:ln>
        </p:spPr>
      </p:sp>
      <p:sp>
        <p:nvSpPr>
          <p:cNvPr id="16" name="Text 14"/>
          <p:cNvSpPr/>
          <p:nvPr/>
        </p:nvSpPr>
        <p:spPr>
          <a:xfrm>
            <a:off x="5752948" y="4709160"/>
            <a:ext cx="1417320" cy="475488"/>
          </a:xfrm>
          <a:prstGeom prst="rect">
            <a:avLst/>
          </a:prstGeom>
          <a:noFill/>
          <a:ln/>
        </p:spPr>
        <p:txBody>
          <a:bodyPr wrap="square" lIns="0" tIns="0" rIns="0" bIns="0" rtlCol="0" anchor="ctr"/>
          <a:lstStyle/>
          <a:p>
            <a:pPr rtl="1" algn="ctr" indent="0" marL="0">
              <a:buNone/>
            </a:pPr>
            <a:r>
              <a:rPr lang="en-US" altLang="en-US" sz="1150" b="1" dirty="0">
                <a:solidFill>
                  <a:srgbClr val="FFFFFF"/>
                </a:solidFill>
                <a:latin typeface="Arial" pitchFamily="34" charset="0"/>
                <a:ea typeface="Arial" pitchFamily="34" charset="-122"/>
                <a:cs typeface="Arial" pitchFamily="34" charset="-120"/>
              </a:rPr>
              <a:t>External AI</a:t>
            </a:r>
            <a:endParaRPr lang="ar-SA" sz="1150" dirty="0"/>
          </a:p>
        </p:txBody>
      </p:sp>
      <p:sp>
        <p:nvSpPr>
          <p:cNvPr id="17" name="Shape 15"/>
          <p:cNvSpPr/>
          <p:nvPr/>
        </p:nvSpPr>
        <p:spPr>
          <a:xfrm>
            <a:off x="3558388" y="4709160"/>
            <a:ext cx="1965960" cy="475488"/>
          </a:xfrm>
          <a:prstGeom prst="roundRect">
            <a:avLst>
              <a:gd name="adj" fmla="val 50000"/>
            </a:avLst>
          </a:prstGeom>
          <a:solidFill>
            <a:srgbClr val="10485A"/>
          </a:solidFill>
          <a:ln w="12700">
            <a:solidFill>
              <a:srgbClr val="02C39A"/>
            </a:solidFill>
            <a:prstDash val="solid"/>
          </a:ln>
        </p:spPr>
      </p:sp>
      <p:sp>
        <p:nvSpPr>
          <p:cNvPr id="18" name="Text 16"/>
          <p:cNvSpPr/>
          <p:nvPr/>
        </p:nvSpPr>
        <p:spPr>
          <a:xfrm>
            <a:off x="3558388" y="4709160"/>
            <a:ext cx="1965960" cy="475488"/>
          </a:xfrm>
          <a:prstGeom prst="rect">
            <a:avLst/>
          </a:prstGeom>
          <a:noFill/>
          <a:ln/>
        </p:spPr>
        <p:txBody>
          <a:bodyPr wrap="square" lIns="0" tIns="0" rIns="0" bIns="0" rtlCol="0" anchor="ctr"/>
          <a:lstStyle/>
          <a:p>
            <a:pPr rtl="1" algn="ctr" indent="0" marL="0">
              <a:buNone/>
            </a:pPr>
            <a:r>
              <a:rPr lang="en-US" altLang="en-US" sz="1150" b="1" dirty="0">
                <a:solidFill>
                  <a:srgbClr val="FFFFFF"/>
                </a:solidFill>
                <a:latin typeface="Arial" pitchFamily="34" charset="0"/>
                <a:ea typeface="Arial" pitchFamily="34" charset="-122"/>
                <a:cs typeface="Arial" pitchFamily="34" charset="-120"/>
              </a:rPr>
              <a:t>Keycloak / SMART</a:t>
            </a:r>
            <a:endParaRPr lang="ar-SA" sz="1150" dirty="0"/>
          </a:p>
        </p:txBody>
      </p:sp>
      <p:sp>
        <p:nvSpPr>
          <p:cNvPr id="19" name="Shape 17"/>
          <p:cNvSpPr/>
          <p:nvPr/>
        </p:nvSpPr>
        <p:spPr>
          <a:xfrm>
            <a:off x="2278228" y="4709160"/>
            <a:ext cx="1051560" cy="475488"/>
          </a:xfrm>
          <a:prstGeom prst="roundRect">
            <a:avLst>
              <a:gd name="adj" fmla="val 50000"/>
            </a:avLst>
          </a:prstGeom>
          <a:solidFill>
            <a:srgbClr val="10485A"/>
          </a:solidFill>
          <a:ln w="12700">
            <a:solidFill>
              <a:srgbClr val="02C39A"/>
            </a:solidFill>
            <a:prstDash val="solid"/>
          </a:ln>
        </p:spPr>
      </p:sp>
      <p:sp>
        <p:nvSpPr>
          <p:cNvPr id="20" name="Text 18"/>
          <p:cNvSpPr/>
          <p:nvPr/>
        </p:nvSpPr>
        <p:spPr>
          <a:xfrm>
            <a:off x="2278228" y="4709160"/>
            <a:ext cx="1051560" cy="475488"/>
          </a:xfrm>
          <a:prstGeom prst="rect">
            <a:avLst/>
          </a:prstGeom>
          <a:noFill/>
          <a:ln/>
        </p:spPr>
        <p:txBody>
          <a:bodyPr wrap="square" lIns="0" tIns="0" rIns="0" bIns="0" rtlCol="0" anchor="ctr"/>
          <a:lstStyle/>
          <a:p>
            <a:pPr rtl="1" algn="ctr" indent="0" marL="0">
              <a:buNone/>
            </a:pPr>
            <a:r>
              <a:rPr lang="en-US" altLang="en-US" sz="1150" b="1" dirty="0">
                <a:solidFill>
                  <a:srgbClr val="FFFFFF"/>
                </a:solidFill>
                <a:latin typeface="Arial" pitchFamily="34" charset="0"/>
                <a:ea typeface="Arial" pitchFamily="34" charset="-122"/>
                <a:cs typeface="Arial" pitchFamily="34" charset="-120"/>
              </a:rPr>
              <a:t>Blazor</a:t>
            </a:r>
            <a:endParaRPr lang="ar-SA" sz="1150" dirty="0"/>
          </a:p>
        </p:txBody>
      </p:sp>
      <p:sp>
        <p:nvSpPr>
          <p:cNvPr id="21" name="Shape 19"/>
          <p:cNvSpPr/>
          <p:nvPr/>
        </p:nvSpPr>
        <p:spPr>
          <a:xfrm>
            <a:off x="449428" y="4709160"/>
            <a:ext cx="1600200" cy="475488"/>
          </a:xfrm>
          <a:prstGeom prst="roundRect">
            <a:avLst>
              <a:gd name="adj" fmla="val 50000"/>
            </a:avLst>
          </a:prstGeom>
          <a:solidFill>
            <a:srgbClr val="10485A"/>
          </a:solidFill>
          <a:ln w="12700">
            <a:solidFill>
              <a:srgbClr val="02C39A"/>
            </a:solidFill>
            <a:prstDash val="solid"/>
          </a:ln>
        </p:spPr>
      </p:sp>
      <p:sp>
        <p:nvSpPr>
          <p:cNvPr id="22" name="Text 20"/>
          <p:cNvSpPr/>
          <p:nvPr/>
        </p:nvSpPr>
        <p:spPr>
          <a:xfrm>
            <a:off x="449428" y="4709160"/>
            <a:ext cx="1600200" cy="475488"/>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Arial" pitchFamily="34" charset="0"/>
                <a:ea typeface="Arial" pitchFamily="34" charset="-122"/>
                <a:cs typeface="Arial" pitchFamily="34" charset="-120"/>
              </a:rPr>
              <a:t>عربي / إنجليزي</a:t>
            </a:r>
            <a:endParaRPr lang="ar-SA" sz="1150" dirty="0"/>
          </a:p>
        </p:txBody>
      </p:sp>
      <p:sp>
        <p:nvSpPr>
          <p:cNvPr id="23" name="Text 21"/>
          <p:cNvSpPr/>
          <p:nvPr/>
        </p:nvSpPr>
        <p:spPr>
          <a:xfrm>
            <a:off x="548640" y="5623560"/>
            <a:ext cx="11094415" cy="457200"/>
          </a:xfrm>
          <a:prstGeom prst="rect">
            <a:avLst/>
          </a:prstGeom>
          <a:noFill/>
          <a:ln/>
        </p:spPr>
        <p:txBody>
          <a:bodyPr wrap="square" rtlCol="0" anchor="ctr"/>
          <a:lstStyle/>
          <a:p>
            <a:pPr rtl="1" algn="ctr" indent="0" marL="0">
              <a:buNone/>
            </a:pPr>
            <a:r>
              <a:rPr lang="ar-SA" altLang="en-US" sz="1500" i="1" dirty="0">
                <a:solidFill>
                  <a:srgbClr val="E9B44C"/>
                </a:solidFill>
                <a:latin typeface="Arial" pitchFamily="34" charset="0"/>
                <a:ea typeface="Arial" pitchFamily="34" charset="-122"/>
                <a:cs typeface="Arial" pitchFamily="34" charset="-120"/>
              </a:rPr>
              <a:t>«من سجلٍّ موحّد… إلى قرارٍ سريري أذكى ورعايةٍ استباقية»</a:t>
            </a:r>
            <a:endParaRPr lang="ar-SA"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36815" y="6473952"/>
            <a:ext cx="4206240" cy="274320"/>
          </a:xfrm>
          <a:prstGeom prst="rect">
            <a:avLst/>
          </a:prstGeom>
          <a:noFill/>
          <a:ln/>
        </p:spPr>
        <p:txBody>
          <a:bodyPr wrap="square" lIns="0" tIns="0" rIns="0" bIns="0" rtlCol="0" anchor="ctr"/>
          <a:lstStyle/>
          <a:p>
            <a:pPr rtl="1" algn="r" indent="0" marL="0">
              <a:buNone/>
            </a:pPr>
            <a:r>
              <a:rPr lang="ar-SA" altLang="en-US" sz="900" dirty="0">
                <a:solidFill>
                  <a:srgbClr val="587078"/>
                </a:solidFill>
                <a:latin typeface="Arial" pitchFamily="34" charset="0"/>
                <a:ea typeface="Arial" pitchFamily="34" charset="-122"/>
                <a:cs typeface="Arial" pitchFamily="34" charset="-120"/>
              </a:rPr>
              <a:t>نبض — نظام السجلات الطبية الرقمية</a:t>
            </a:r>
            <a:endParaRPr lang="ar-SA" sz="900" dirty="0"/>
          </a:p>
        </p:txBody>
      </p:sp>
      <p:sp>
        <p:nvSpPr>
          <p:cNvPr id="3" name="Text 1"/>
          <p:cNvSpPr/>
          <p:nvPr/>
        </p:nvSpPr>
        <p:spPr>
          <a:xfrm>
            <a:off x="548640" y="6473952"/>
            <a:ext cx="548640" cy="274320"/>
          </a:xfrm>
          <a:prstGeom prst="rect">
            <a:avLst/>
          </a:prstGeom>
          <a:noFill/>
          <a:ln/>
        </p:spPr>
        <p:txBody>
          <a:bodyPr wrap="square" lIns="0" tIns="0" rIns="0" bIns="0" rtlCol="0" anchor="ctr"/>
          <a:lstStyle/>
          <a:p>
            <a:pPr algn="l" indent="0" marL="0">
              <a:buNone/>
            </a:pPr>
            <a:r>
              <a:rPr lang="en-US" sz="900" dirty="0">
                <a:solidFill>
                  <a:srgbClr val="587078"/>
                </a:solidFill>
                <a:latin typeface="Arial" pitchFamily="34" charset="0"/>
                <a:ea typeface="Arial" pitchFamily="34" charset="-122"/>
                <a:cs typeface="Arial" pitchFamily="34" charset="-120"/>
              </a:rPr>
              <a:t>20</a:t>
            </a:r>
            <a:endParaRPr lang="en-US" sz="900" dirty="0"/>
          </a:p>
        </p:txBody>
      </p:sp>
      <p:sp>
        <p:nvSpPr>
          <p:cNvPr id="4" name="Text 2"/>
          <p:cNvSpPr/>
          <p:nvPr/>
        </p:nvSpPr>
        <p:spPr>
          <a:xfrm>
            <a:off x="548640" y="292608"/>
            <a:ext cx="11094415" cy="566928"/>
          </a:xfrm>
          <a:prstGeom prst="rect">
            <a:avLst/>
          </a:prstGeom>
          <a:noFill/>
          <a:ln/>
        </p:spPr>
        <p:txBody>
          <a:bodyPr wrap="square" lIns="0" tIns="0" rIns="0" bIns="0" rtlCol="0" anchor="ctr"/>
          <a:lstStyle/>
          <a:p>
            <a:pPr rtl="1" algn="r" indent="0" marL="0">
              <a:buNone/>
            </a:pPr>
            <a:r>
              <a:rPr lang="ar-SA" altLang="en-US" sz="2900" b="1" dirty="0">
                <a:solidFill>
                  <a:srgbClr val="0A3540"/>
                </a:solidFill>
                <a:latin typeface="Arial" pitchFamily="34" charset="0"/>
                <a:ea typeface="Arial" pitchFamily="34" charset="-122"/>
                <a:cs typeface="Arial" pitchFamily="34" charset="-120"/>
              </a:rPr>
              <a:t>المراجع</a:t>
            </a:r>
            <a:endParaRPr lang="ar-SA" sz="2900" dirty="0"/>
          </a:p>
        </p:txBody>
      </p:sp>
      <p:sp>
        <p:nvSpPr>
          <p:cNvPr id="5" name="Text 3"/>
          <p:cNvSpPr/>
          <p:nvPr/>
        </p:nvSpPr>
        <p:spPr>
          <a:xfrm>
            <a:off x="548640" y="859536"/>
            <a:ext cx="11094415" cy="347472"/>
          </a:xfrm>
          <a:prstGeom prst="rect">
            <a:avLst/>
          </a:prstGeom>
          <a:noFill/>
          <a:ln/>
        </p:spPr>
        <p:txBody>
          <a:bodyPr wrap="square" lIns="0" tIns="0" rIns="0" bIns="0" rtlCol="0" anchor="ctr"/>
          <a:lstStyle/>
          <a:p>
            <a:pPr rtl="1" algn="r" indent="0" marL="0">
              <a:buNone/>
            </a:pPr>
            <a:r>
              <a:rPr lang="ar-SA" altLang="en-US" sz="1400" dirty="0">
                <a:solidFill>
                  <a:srgbClr val="0E7C86"/>
                </a:solidFill>
                <a:latin typeface="Arial" pitchFamily="34" charset="0"/>
                <a:ea typeface="Arial" pitchFamily="34" charset="-122"/>
                <a:cs typeface="Arial" pitchFamily="34" charset="-120"/>
              </a:rPr>
              <a:t>أبرز المصادر — والقائمة الكاملة (٣٥ مرجعاً) في كتاب المشروع</a:t>
            </a:r>
            <a:endParaRPr lang="ar-SA" sz="1400" dirty="0"/>
          </a:p>
        </p:txBody>
      </p:sp>
      <p:sp>
        <p:nvSpPr>
          <p:cNvPr id="6" name="Text 4"/>
          <p:cNvSpPr/>
          <p:nvPr/>
        </p:nvSpPr>
        <p:spPr>
          <a:xfrm>
            <a:off x="6193231" y="1737360"/>
            <a:ext cx="5449824" cy="4480560"/>
          </a:xfrm>
          <a:prstGeom prst="rect">
            <a:avLst/>
          </a:prstGeom>
          <a:noFill/>
          <a:ln/>
        </p:spPr>
        <p:txBody>
          <a:bodyPr wrap="square" rtlCol="0" anchor="t"/>
          <a:lstStyle/>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[1] HL7 International — FHIR Release 5 (R5) — hl7.org/fhir</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[2] Firely .NET SDK (HL7.Fhir) — docs.fire.ly</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[3] Microsoft — ASP.NET Core — learn.microsoft.com/aspnet/core</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[5] Microsoft — Entity Framework Core — learn.microsoft.com/ef/core</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[6] PostgreSQL — postgresql.org/docs</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[7] Microsoft — Blazor — learn.microsoft.com/aspnet/core/blazor</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[8] Keycloak — keycloak.org/documentation</a:t>
            </a:r>
            <a:endParaRPr lang="en-US" sz="1200" dirty="0"/>
          </a:p>
        </p:txBody>
      </p:sp>
      <p:sp>
        <p:nvSpPr>
          <p:cNvPr id="7" name="Text 5"/>
          <p:cNvSpPr/>
          <p:nvPr/>
        </p:nvSpPr>
        <p:spPr>
          <a:xfrm>
            <a:off x="548640" y="1737360"/>
            <a:ext cx="5449824" cy="4480560"/>
          </a:xfrm>
          <a:prstGeom prst="rect">
            <a:avLst/>
          </a:prstGeom>
          <a:noFill/>
          <a:ln/>
        </p:spPr>
        <p:txBody>
          <a:bodyPr wrap="square" rtlCol="0" anchor="t"/>
          <a:lstStyle/>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[9] ONNX Runtime — onnxruntime.ai</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[10] Pedregosa et al. — Scikit-learn, JMLR 2011 — scikit-learn.org</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[13] CDS Hooks Specification — cds-hooks.org</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[17] MITRE — Synthea Synthetic Patients — synthetichealth.github.io</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[19] HL7 — SMART App Launch — hl7.org/fhir/smart-app-launch</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[21] JsonLogic — jsonlogic.com</a:t>
            </a:r>
            <a:endParaRPr lang="en-US" sz="1200" dirty="0"/>
          </a:p>
          <a:p>
            <a:pPr algn="l" indent="0" marL="0">
              <a:spcAft>
                <a:spcPts val="1400"/>
              </a:spcAft>
              <a:buNone/>
            </a:pPr>
            <a:r>
              <a:rPr lang="en-US" sz="1200" dirty="0">
                <a:solidFill>
                  <a:srgbClr val="12333C"/>
                </a:solidFill>
                <a:latin typeface="Arial" pitchFamily="34" charset="0"/>
                <a:ea typeface="Arial" pitchFamily="34" charset="-122"/>
                <a:cs typeface="Arial" pitchFamily="34" charset="-120"/>
              </a:rPr>
              <a:t>[22] NLM — RxNorm — nlm.nih.gov/research/umls/rxnorm</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3540"/>
        </a:solidFill>
      </p:bgPr>
    </p:bg>
    <p:spTree>
      <p:nvGrpSpPr>
        <p:cNvPr id="1" name=""/>
        <p:cNvGrpSpPr/>
        <p:nvPr/>
      </p:nvGrpSpPr>
      <p:grpSpPr>
        <a:xfrm>
          <a:off x="0" y="0"/>
          <a:ext cx="0" cy="0"/>
          <a:chOff x="0" y="0"/>
          <a:chExt cx="0" cy="0"/>
        </a:xfrm>
      </p:grpSpPr>
      <p:sp>
        <p:nvSpPr>
          <p:cNvPr id="2" name="Shape 0"/>
          <p:cNvSpPr/>
          <p:nvPr/>
        </p:nvSpPr>
        <p:spPr>
          <a:xfrm>
            <a:off x="-1463040" y="4480560"/>
            <a:ext cx="4754880" cy="4754880"/>
          </a:xfrm>
          <a:prstGeom prst="ellipse">
            <a:avLst/>
          </a:prstGeom>
          <a:solidFill>
            <a:srgbClr val="FFFFFF">
              <a:alpha val="5000"/>
            </a:srgbClr>
          </a:solidFill>
          <a:ln/>
        </p:spPr>
      </p:sp>
      <p:sp>
        <p:nvSpPr>
          <p:cNvPr id="3" name="Shape 1"/>
          <p:cNvSpPr/>
          <p:nvPr/>
        </p:nvSpPr>
        <p:spPr>
          <a:xfrm>
            <a:off x="9692640" y="-2194560"/>
            <a:ext cx="4206240" cy="4206240"/>
          </a:xfrm>
          <a:prstGeom prst="ellipse">
            <a:avLst/>
          </a:prstGeom>
          <a:solidFill>
            <a:srgbClr val="02C39A">
              <a:alpha val="12000"/>
            </a:srgbClr>
          </a:solidFill>
          <a:ln/>
        </p:spPr>
      </p:sp>
      <p:sp>
        <p:nvSpPr>
          <p:cNvPr id="4" name="Shape 2"/>
          <p:cNvSpPr/>
          <p:nvPr/>
        </p:nvSpPr>
        <p:spPr>
          <a:xfrm>
            <a:off x="10881360" y="5394960"/>
            <a:ext cx="2194560" cy="2194560"/>
          </a:xfrm>
          <a:prstGeom prst="ellipse">
            <a:avLst/>
          </a:prstGeom>
          <a:solidFill>
            <a:srgbClr val="E9B44C">
              <a:alpha val="12000"/>
            </a:srgbClr>
          </a:solidFill>
          <a:ln/>
        </p:spPr>
      </p:sp>
      <p:sp>
        <p:nvSpPr>
          <p:cNvPr id="5" name="Text 3"/>
          <p:cNvSpPr/>
          <p:nvPr/>
        </p:nvSpPr>
        <p:spPr>
          <a:xfrm>
            <a:off x="548640" y="2468880"/>
            <a:ext cx="11094415" cy="1005840"/>
          </a:xfrm>
          <a:prstGeom prst="rect">
            <a:avLst/>
          </a:prstGeom>
          <a:noFill/>
          <a:ln/>
        </p:spPr>
        <p:txBody>
          <a:bodyPr wrap="square" rtlCol="0" anchor="ctr"/>
          <a:lstStyle/>
          <a:p>
            <a:pPr rtl="1" algn="ctr" indent="0" marL="0">
              <a:buNone/>
            </a:pPr>
            <a:r>
              <a:rPr lang="ar-SA" altLang="en-US" sz="4800" b="1" dirty="0">
                <a:solidFill>
                  <a:srgbClr val="FFFFFF"/>
                </a:solidFill>
                <a:latin typeface="Arial" pitchFamily="34" charset="0"/>
                <a:ea typeface="Arial" pitchFamily="34" charset="-122"/>
                <a:cs typeface="Arial" pitchFamily="34" charset="-120"/>
              </a:rPr>
              <a:t>شكراً لحسن إصغائكم</a:t>
            </a:r>
            <a:endParaRPr lang="ar-SA" sz="4800" dirty="0"/>
          </a:p>
        </p:txBody>
      </p:sp>
      <p:sp>
        <p:nvSpPr>
          <p:cNvPr id="6" name="Text 4"/>
          <p:cNvSpPr/>
          <p:nvPr/>
        </p:nvSpPr>
        <p:spPr>
          <a:xfrm>
            <a:off x="548640" y="3657600"/>
            <a:ext cx="11094415" cy="548640"/>
          </a:xfrm>
          <a:prstGeom prst="rect">
            <a:avLst/>
          </a:prstGeom>
          <a:noFill/>
          <a:ln/>
        </p:spPr>
        <p:txBody>
          <a:bodyPr wrap="square" rtlCol="0" anchor="ctr"/>
          <a:lstStyle/>
          <a:p>
            <a:pPr rtl="1" algn="ctr" indent="0" marL="0">
              <a:buNone/>
            </a:pPr>
            <a:r>
              <a:rPr lang="ar-SA" altLang="en-US" sz="2000" dirty="0">
                <a:solidFill>
                  <a:srgbClr val="02C39A"/>
                </a:solidFill>
                <a:latin typeface="Arial" pitchFamily="34" charset="0"/>
                <a:ea typeface="Arial" pitchFamily="34" charset="-122"/>
                <a:cs typeface="Arial" pitchFamily="34" charset="-120"/>
              </a:rPr>
              <a:t>نسعد بأسئلتكم وملاحظاتكم</a:t>
            </a:r>
            <a:endParaRPr lang="ar-SA" sz="2000" dirty="0"/>
          </a:p>
        </p:txBody>
      </p:sp>
      <p:sp>
        <p:nvSpPr>
          <p:cNvPr id="7" name="Text 5"/>
          <p:cNvSpPr/>
          <p:nvPr/>
        </p:nvSpPr>
        <p:spPr>
          <a:xfrm>
            <a:off x="548640" y="6035040"/>
            <a:ext cx="11094415" cy="365760"/>
          </a:xfrm>
          <a:prstGeom prst="rect">
            <a:avLst/>
          </a:prstGeom>
          <a:noFill/>
          <a:ln/>
        </p:spPr>
        <p:txBody>
          <a:bodyPr wrap="square" rtlCol="0" anchor="ctr"/>
          <a:lstStyle/>
          <a:p>
            <a:pPr rtl="1" algn="ctr" indent="0" marL="0">
              <a:buNone/>
            </a:pPr>
            <a:r>
              <a:rPr lang="ar-SA" altLang="en-US" sz="1300" dirty="0">
                <a:solidFill>
                  <a:srgbClr val="CFE8EA"/>
                </a:solidFill>
                <a:latin typeface="Arial" pitchFamily="34" charset="0"/>
                <a:ea typeface="Arial" pitchFamily="34" charset="-122"/>
                <a:cs typeface="Arial" pitchFamily="34" charset="-120"/>
              </a:rPr>
              <a:t>نبض — نظام السجلات الطبية الرقمية</a:t>
            </a:r>
            <a:endParaRPr lang="ar-SA"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2026-07-21T18:49:55Z</dcterms:created>
  <dcterms:modified xsi:type="dcterms:W3CDTF">2026-07-21T18:49:55Z</dcterms:modified>
</cp:coreProperties>
</file>